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Build a Human-AI Workforce with Autonomous AI Agents</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TGS-2024043854</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v1.1  ·  14 July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It is mandatory to take the AM, PM and Assessment digital attendance for WSQ-funded courses.</a:t>
            </a:r>
          </a:p>
          <a:p>
            <a:pPr>
              <a:spcAft>
                <a:spcPts val="1000"/>
              </a:spcAft>
            </a:pPr>
            <a:r>
              <a:rPr sz="2000" b="0">
                <a:solidFill>
                  <a:srgbClr val="161B26"/>
                </a:solidFill>
                <a:latin typeface="Arial"/>
              </a:rPr>
              <a:t>•  The trainer/administrator displays the digital attendance QR code from the SSG portal.</a:t>
            </a:r>
          </a:p>
          <a:p>
            <a:pPr>
              <a:spcAft>
                <a:spcPts val="1000"/>
              </a:spcAft>
            </a:pPr>
            <a:r>
              <a:rPr sz="2000" b="0">
                <a:solidFill>
                  <a:srgbClr val="161B26"/>
                </a:solidFill>
                <a:latin typeface="Arial"/>
              </a:rPr>
              <a:t>•  Scan the QR code with your mobile phone camera and submit your attendance.</a:t>
            </a:r>
          </a:p>
          <a:p>
            <a:pPr>
              <a:spcAft>
                <a:spcPts val="1000"/>
              </a:spcAft>
            </a:pPr>
            <a:r>
              <a:rPr sz="2000" b="0">
                <a:solidFill>
                  <a:srgbClr val="161B26"/>
                </a:solidFill>
                <a:latin typeface="Arial"/>
              </a:rPr>
              <a:t>•  A minimum of 75% attendance is required to be eligible for assessment and funding.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AI, automation and cloud certified — building autonomous AI agents and agentic workflows.</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AI agents, automation, data engineering and cloud.</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name and organisation / role.</a:t>
            </a:r>
          </a:p>
          <a:p>
            <a:pPr>
              <a:spcAft>
                <a:spcPts val="1000"/>
              </a:spcAft>
            </a:pPr>
            <a:r>
              <a:rPr sz="2000" b="0">
                <a:solidFill>
                  <a:srgbClr val="161B26"/>
                </a:solidFill>
                <a:latin typeface="Arial"/>
              </a:rPr>
              <a:t>•  Your experience with AI, automation or coding (if any).</a:t>
            </a:r>
          </a:p>
          <a:p>
            <a:pPr>
              <a:spcAft>
                <a:spcPts val="1000"/>
              </a:spcAft>
            </a:pPr>
            <a:r>
              <a:rPr sz="2000" b="0">
                <a:solidFill>
                  <a:srgbClr val="161B26"/>
                </a:solidFill>
                <a:latin typeface="Arial"/>
              </a:rPr>
              <a:t>•  What you want to be able to automate with AI agents after this course.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in at lms-tms.tertiaryinfotech.com</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this course from your dashboard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Go to the Courseware tab</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(PPT/PDF), Learner Guide and Lesson Plan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them open for the open-book assessment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Lesson Plan — 2 Days, 8 hours/day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Hermes Agent (Topic 1) &amp; OpenClaw (Topic 2)</a:t>
            </a:r>
          </a:p>
          <a:p>
            <a:pPr>
              <a:spcAft>
                <a:spcPts val="1000"/>
              </a:spcAft>
            </a:pPr>
            <a:r>
              <a:rPr sz="1400" b="0">
                <a:solidFill>
                  <a:srgbClr val="5B6372"/>
                </a:solidFill>
                <a:latin typeface="Arial"/>
              </a:rPr>
              <a:t>–  Topic 1: Hermes Agent (Labs 1–14)</a:t>
            </a:r>
          </a:p>
          <a:p>
            <a:pPr>
              <a:spcAft>
                <a:spcPts val="1000"/>
              </a:spcAft>
            </a:pPr>
            <a:r>
              <a:rPr sz="1400" b="0">
                <a:solidFill>
                  <a:srgbClr val="5B6372"/>
                </a:solidFill>
                <a:latin typeface="Arial"/>
              </a:rPr>
              <a:t>–  Topic 2: OpenClaw (Labs 15–26)</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Paperclip (Topic 3) &amp; Final Assessment</a:t>
            </a:r>
          </a:p>
          <a:p>
            <a:pPr>
              <a:spcAft>
                <a:spcPts val="1000"/>
              </a:spcAft>
            </a:pPr>
            <a:r>
              <a:rPr sz="1400" b="0">
                <a:solidFill>
                  <a:srgbClr val="5B6372"/>
                </a:solidFill>
                <a:latin typeface="Arial"/>
              </a:rPr>
              <a:t>–  Topic 3: Paperclip (Labs 27–34)</a:t>
            </a:r>
          </a:p>
          <a:p>
            <a:pPr>
              <a:spcAft>
                <a:spcPts val="1000"/>
              </a:spcAft>
            </a:pPr>
            <a:r>
              <a:rPr sz="1400" b="0">
                <a:solidFill>
                  <a:srgbClr val="5B6372"/>
                </a:solidFill>
                <a:latin typeface="Arial"/>
              </a:rPr>
              <a:t>–  Final Assessment (WA + PP)</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9:30am–6:30pm · 1-hour lunch · tea breaks within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Analyze AI Applications</a:t>
            </a:r>
          </a:p>
          <a:p>
            <a:pPr algn="l">
              <a:spcAft>
                <a:spcPts val="300"/>
              </a:spcAft>
            </a:pPr>
            <a:r>
              <a:rPr sz="1300" b="0">
                <a:solidFill>
                  <a:srgbClr val="5B6372"/>
                </a:solidFill>
                <a:latin typeface="Arial"/>
              </a:rPr>
              <a:t>Analyse AI (LLM-based) applications across a range of industries to identify their capabilities and limitations.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Design &amp; Chatbot Efficiency</a:t>
            </a:r>
          </a:p>
          <a:p>
            <a:pPr algn="l">
              <a:spcAft>
                <a:spcPts val="300"/>
              </a:spcAft>
            </a:pPr>
            <a:r>
              <a:rPr sz="1300" b="0">
                <a:solidFill>
                  <a:srgbClr val="5B6372"/>
                </a:solidFill>
                <a:latin typeface="Arial"/>
              </a:rPr>
              <a:t>Establish the relationship between AI algorithm/agent design and chatbot/agent efficiency.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Evaluate &amp; Improve RAG</a:t>
            </a:r>
          </a:p>
          <a:p>
            <a:pPr algn="l">
              <a:spcAft>
                <a:spcPts val="300"/>
              </a:spcAft>
            </a:pPr>
            <a:r>
              <a:rPr sz="1300" b="0">
                <a:solidFill>
                  <a:srgbClr val="5B6372"/>
                </a:solidFill>
                <a:latin typeface="Arial"/>
              </a:rPr>
              <a:t>Evaluate and improve the effectiveness of AI (RAG and agent) applications in product development.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Briefing for Assessment</a:t>
            </a:r>
          </a:p>
        </p:txBody>
      </p:sp>
      <p:sp>
        <p:nvSpPr>
          <p:cNvPr id="5" name="Rectangle 4"/>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Place phones and other materials under the table or on the floor.</a:t>
            </a:r>
          </a:p>
          <a:p>
            <a:pPr>
              <a:spcAft>
                <a:spcPts val="1000"/>
              </a:spcAft>
            </a:pPr>
            <a:r>
              <a:rPr sz="2000" b="0">
                <a:solidFill>
                  <a:srgbClr val="161B26"/>
                </a:solidFill>
                <a:latin typeface="Arial"/>
              </a:rPr>
              <a:t>•  No photos or recording of assessment scripts.</a:t>
            </a:r>
          </a:p>
          <a:p>
            <a:pPr>
              <a:spcAft>
                <a:spcPts val="1000"/>
              </a:spcAft>
            </a:pPr>
            <a:r>
              <a:rPr sz="2000" b="0">
                <a:solidFill>
                  <a:srgbClr val="161B26"/>
                </a:solidFill>
                <a:latin typeface="Arial"/>
              </a:rPr>
              <a:t>•  No discussion during the assessment.</a:t>
            </a:r>
          </a:p>
          <a:p>
            <a:pPr>
              <a:spcAft>
                <a:spcPts val="1000"/>
              </a:spcAft>
            </a:pPr>
            <a:r>
              <a:rPr sz="2000" b="0">
                <a:solidFill>
                  <a:srgbClr val="161B26"/>
                </a:solidFill>
                <a:latin typeface="Arial"/>
              </a:rPr>
              <a:t>•  Use a black/blue pen for hard-copy assessments.</a:t>
            </a:r>
          </a:p>
          <a:p>
            <a:pPr>
              <a:spcAft>
                <a:spcPts val="1000"/>
              </a:spcAft>
            </a:pPr>
            <a:r>
              <a:rPr sz="2000" b="0">
                <a:solidFill>
                  <a:srgbClr val="161B26"/>
                </a:solidFill>
                <a:latin typeface="Arial"/>
              </a:rPr>
              <a:t>•  No liquid paper / correction tape.</a:t>
            </a:r>
          </a:p>
          <a:p>
            <a:pPr>
              <a:spcAft>
                <a:spcPts val="1000"/>
              </a:spcAft>
            </a:pPr>
            <a:r>
              <a:rPr sz="2000" b="0">
                <a:solidFill>
                  <a:srgbClr val="161B26"/>
                </a:solidFill>
                <a:latin typeface="Arial"/>
              </a:rPr>
              <a:t>•  Scripts are collected when time is up.</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Written Assessment (WA) — Short-Answer Questions (SAQ), 1 hour, open book.</a:t>
            </a:r>
          </a:p>
          <a:p>
            <a:pPr>
              <a:spcAft>
                <a:spcPts val="1000"/>
              </a:spcAft>
            </a:pPr>
            <a:r>
              <a:rPr sz="2000" b="0">
                <a:solidFill>
                  <a:srgbClr val="161B26"/>
                </a:solidFill>
                <a:latin typeface="Arial"/>
              </a:rPr>
              <a:t>•  Practical Performance (PP) — hands-on agent-building tasks that follow the course labs, 1 hour, open book.</a:t>
            </a:r>
          </a:p>
          <a:p>
            <a:pPr>
              <a:spcAft>
                <a:spcPts val="1000"/>
              </a:spcAft>
            </a:pPr>
            <a:r>
              <a:rPr sz="2000" b="0">
                <a:solidFill>
                  <a:srgbClr val="161B26"/>
                </a:solidFill>
                <a:latin typeface="Arial"/>
              </a:rPr>
              <a:t>•  Format: Open Book — slides, Learner Guide and approved materials only.</a:t>
            </a:r>
          </a:p>
          <a:p>
            <a:pPr>
              <a:spcAft>
                <a:spcPts val="1000"/>
              </a:spcAft>
            </a:pPr>
            <a:r>
              <a:rPr sz="2000" b="0">
                <a:solidFill>
                  <a:srgbClr val="161B26"/>
                </a:solidFill>
                <a:latin typeface="Arial"/>
              </a:rPr>
              <a:t>•  A minimum of 75% attendance is required to be eligible for assessment and funding.</a:t>
            </a:r>
          </a:p>
          <a:p>
            <a:pPr>
              <a:spcAft>
                <a:spcPts val="1000"/>
              </a:spcAft>
            </a:pPr>
            <a:r>
              <a:rPr sz="2000" b="0">
                <a:solidFill>
                  <a:srgbClr val="161B26"/>
                </a:solidFill>
                <a:latin typeface="Arial"/>
              </a:rPr>
              <a:t>•  An appeal process is available if required.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WA (SAQ) then PP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Autonomous AI Agents Fundamentals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is an Autonomous AI Agent?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Perceive → reason → act → remember</a:t>
            </a:r>
          </a:p>
          <a:p>
            <a:pPr algn="l">
              <a:spcAft>
                <a:spcPts val="300"/>
              </a:spcAft>
            </a:pPr>
            <a:r>
              <a:rPr sz="1300" b="0">
                <a:solidFill>
                  <a:srgbClr val="5B6372"/>
                </a:solidFill>
                <a:latin typeface="Arial"/>
              </a:rPr>
              <a:t>An LLM-driven loop: it takes in a request, decides what to do, acts, then remembers the outcome.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Uses tools &amp; skills</a:t>
            </a:r>
          </a:p>
          <a:p>
            <a:pPr algn="l">
              <a:spcAft>
                <a:spcPts val="300"/>
              </a:spcAft>
            </a:pPr>
            <a:r>
              <a:rPr sz="1300" b="0">
                <a:solidFill>
                  <a:srgbClr val="5B6372"/>
                </a:solidFill>
                <a:latin typeface="Arial"/>
              </a:rPr>
              <a:t>It calls web search, images, email, code and integrations — not just chat — to get real work done.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Runs across channels</a:t>
            </a:r>
          </a:p>
          <a:p>
            <a:pPr algn="l">
              <a:spcAft>
                <a:spcPts val="300"/>
              </a:spcAft>
            </a:pPr>
            <a:r>
              <a:rPr sz="1300" b="0">
                <a:solidFill>
                  <a:srgbClr val="5B6372"/>
                </a:solidFill>
                <a:latin typeface="Arial"/>
              </a:rPr>
              <a:t>The same agent is reachable on Telegram, WhatsApp, Discord, Slack and the terminal.</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Autonomy under oversight</a:t>
            </a:r>
          </a:p>
          <a:p>
            <a:pPr algn="l">
              <a:spcAft>
                <a:spcPts val="300"/>
              </a:spcAft>
            </a:pPr>
            <a:r>
              <a:rPr sz="1300" b="0">
                <a:solidFill>
                  <a:srgbClr val="5B6372"/>
                </a:solidFill>
                <a:latin typeface="Arial"/>
              </a:rPr>
              <a:t>It works on its own, but important actions pause for human approval.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Agent Stack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Model / LLM</a:t>
            </a:r>
          </a:p>
          <a:p>
            <a:pPr algn="l">
              <a:spcAft>
                <a:spcPts val="300"/>
              </a:spcAft>
            </a:pPr>
            <a:r>
              <a:rPr sz="1200" b="0">
                <a:solidFill>
                  <a:srgbClr val="5B6372"/>
                </a:solidFill>
                <a:latin typeface="Arial"/>
              </a:rPr>
              <a:t>The reasoning engine — Claude, OpenAI, OpenRouter, MiniMax or DeepSeek.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Memory</a:t>
            </a:r>
          </a:p>
          <a:p>
            <a:pPr algn="l">
              <a:spcAft>
                <a:spcPts val="300"/>
              </a:spcAft>
            </a:pPr>
            <a:r>
              <a:rPr sz="1200" b="0">
                <a:solidFill>
                  <a:srgbClr val="5B6372"/>
                </a:solidFill>
                <a:latin typeface="Arial"/>
              </a:rPr>
              <a:t>Durable, user- or company-scoped recall across sessions and surfaces.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Skills &amp; Tools</a:t>
            </a:r>
          </a:p>
          <a:p>
            <a:pPr algn="l">
              <a:spcAft>
                <a:spcPts val="300"/>
              </a:spcAft>
            </a:pPr>
            <a:r>
              <a:rPr sz="1200" b="0">
                <a:solidFill>
                  <a:srgbClr val="5B6372"/>
                </a:solidFill>
                <a:latin typeface="Arial"/>
              </a:rPr>
              <a:t>Reusable capabilities plus tool and third-party integration calls.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Channels</a:t>
            </a:r>
          </a:p>
          <a:p>
            <a:pPr algn="l">
              <a:spcAft>
                <a:spcPts val="300"/>
              </a:spcAft>
            </a:pPr>
            <a:r>
              <a:rPr sz="1200" b="0">
                <a:solidFill>
                  <a:srgbClr val="5B6372"/>
                </a:solidFill>
                <a:latin typeface="Arial"/>
              </a:rPr>
              <a:t>Where the agent meets people: Telegram, WhatsApp, Discord, Slack.</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Scheduler &amp; Security</a:t>
            </a:r>
          </a:p>
          <a:p>
            <a:pPr algn="l">
              <a:spcAft>
                <a:spcPts val="300"/>
              </a:spcAft>
            </a:pPr>
            <a:r>
              <a:rPr sz="1200" b="0">
                <a:solidFill>
                  <a:srgbClr val="5B6372"/>
                </a:solidFill>
                <a:latin typeface="Arial"/>
              </a:rPr>
              <a:t>Crons and a heartbeat automate work; sandboxes, budgets and approvals contain it.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HUMAN-IN-THE-LOOP GOVERNANCE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Powerful, but always under human oversight.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Approvals gate risky actions, budgets cap spend (warn at 80%, pause at 100%), and sandboxes isolate execution — so an agent stays safe as it scales.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BUILD</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Three Platforms, One Skillset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Hermes Agent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Your personal chief-of-staff</a:t>
            </a:r>
          </a:p>
          <a:p>
            <a:pPr>
              <a:spcAft>
                <a:spcPts val="900"/>
              </a:spcAft>
            </a:pPr>
            <a:r>
              <a:rPr sz="1400" b="0">
                <a:solidFill>
                  <a:srgbClr val="161B26"/>
                </a:solidFill>
                <a:latin typeface="Arial"/>
              </a:rPr>
              <a:t>•  Lives across your messaging apps</a:t>
            </a:r>
          </a:p>
          <a:p>
            <a:pPr>
              <a:spcAft>
                <a:spcPts val="900"/>
              </a:spcAft>
            </a:pPr>
            <a:r>
              <a:rPr sz="1400" b="0">
                <a:solidFill>
                  <a:srgbClr val="161B26"/>
                </a:solidFill>
                <a:latin typeface="Arial"/>
              </a:rPr>
              <a:t>•  Cross-channel, memory, crons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OpenClaw</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Automates a business back-office</a:t>
            </a:r>
          </a:p>
          <a:p>
            <a:pPr>
              <a:spcAft>
                <a:spcPts val="900"/>
              </a:spcAft>
            </a:pPr>
            <a:r>
              <a:rPr sz="1400" b="0">
                <a:solidFill>
                  <a:srgbClr val="161B26"/>
                </a:solidFill>
                <a:latin typeface="Arial"/>
              </a:rPr>
              <a:t>•  Node.js gateway daemon</a:t>
            </a:r>
          </a:p>
          <a:p>
            <a:pPr>
              <a:spcAft>
                <a:spcPts val="900"/>
              </a:spcAft>
            </a:pPr>
            <a:r>
              <a:rPr sz="1400" b="0">
                <a:solidFill>
                  <a:srgbClr val="161B26"/>
                </a:solidFill>
                <a:latin typeface="Arial"/>
              </a:rPr>
              <a:t>•  Skills, tools, nightly reports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Paperclip</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company of AI agents you govern</a:t>
            </a:r>
          </a:p>
          <a:p>
            <a:pPr>
              <a:spcAft>
                <a:spcPts val="900"/>
              </a:spcAft>
            </a:pPr>
            <a:r>
              <a:rPr sz="1400" b="0">
                <a:solidFill>
                  <a:srgbClr val="161B26"/>
                </a:solidFill>
                <a:latin typeface="Arial"/>
              </a:rPr>
              <a:t>•  Self-hosted with Docker</a:t>
            </a:r>
          </a:p>
          <a:p>
            <a:pPr>
              <a:spcAft>
                <a:spcPts val="900"/>
              </a:spcAft>
            </a:pPr>
            <a:r>
              <a:rPr sz="1400" b="0">
                <a:solidFill>
                  <a:srgbClr val="161B26"/>
                </a:solidFill>
                <a:latin typeface="Arial"/>
              </a:rPr>
              <a:t>•  Hiring, budgets, audit trail</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HOW EVERY LAB PROGRESSES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Build Arc</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Install the runtime → connect a model → add channels → give it memory.</a:t>
            </a:r>
          </a:p>
          <a:p>
            <a:pPr>
              <a:spcAft>
                <a:spcPts val="1000"/>
              </a:spcAft>
            </a:pPr>
            <a:r>
              <a:rPr sz="2000" b="0">
                <a:solidFill>
                  <a:srgbClr val="161B26"/>
                </a:solidFill>
                <a:latin typeface="Arial"/>
              </a:rPr>
              <a:t>•  Extend it with skills → wire in tools and integrations → schedule work with crons.</a:t>
            </a:r>
          </a:p>
          <a:p>
            <a:pPr>
              <a:spcAft>
                <a:spcPts val="1000"/>
              </a:spcAft>
            </a:pPr>
            <a:r>
              <a:rPr sz="2000" b="0">
                <a:solidFill>
                  <a:srgbClr val="161B26"/>
                </a:solidFill>
                <a:latin typeface="Arial"/>
              </a:rPr>
              <a:t>•  Secure it with sandboxing, secrets and approvals → drive it through commands.</a:t>
            </a:r>
          </a:p>
          <a:p>
            <a:pPr>
              <a:spcAft>
                <a:spcPts val="1000"/>
              </a:spcAft>
            </a:pPr>
            <a:r>
              <a:rPr sz="2000" b="0">
                <a:solidFill>
                  <a:srgbClr val="161B26"/>
                </a:solidFill>
                <a:latin typeface="Arial"/>
              </a:rPr>
              <a:t>•  Finish each platform by orchestrating a multi-agent team for an end-to-end outcome.</a:t>
            </a:r>
          </a:p>
          <a:p>
            <a:pPr>
              <a:spcAft>
                <a:spcPts val="1000"/>
              </a:spcAft>
            </a:pPr>
            <a:r>
              <a:rPr sz="2000" b="0">
                <a:solidFill>
                  <a:srgbClr val="161B26"/>
                </a:solidFill>
                <a:latin typeface="Arial"/>
              </a:rPr>
              <a:t>•  The same arc repeats on Hermes, OpenClaw and Paperclip — so the skillset transfers.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Hermes Agent — Your Autonomous Personal Chief-of-Staff</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Install &amp; Setup · Deployment · Memory &amp; Plugins · Skills · Providers &amp; Model · MCP &amp; Tools · Crons · Subagents · Profile &amp; Kanban · Security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EXAM WEIGHTING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Hermes Agent — Your Autonomous Personal Chief-of-Staff</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Hermes Agent (Nous Research) installs on your own machine — via the install script or the Hermes Desktop app — and requires a model with a &gt;=64,000-token context window.</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Memory and plugins make the agent stateful and extensible: a three-layer memory (agent-curated notes, FTS5 cross-session recall, Honcho user modelling) plus installable skills and MCP tools.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Providers &amp; models are swappable with no lock-in (Nous Portal, OpenRouter, OpenAI, any endpoint); MCP servers and the Tool Gateway (web search, image, TTS) give the agent real-world reach.</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Cron jobs automate recurring work; subagents &amp; delegation split work across isolated backends; the profile and Kanban board let you supervise the agent's tasks — all under security controls.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Hermes Agent — Your Autonomous Personal Chief-of-Staff</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1–5</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Install and Setup Hermes</a:t>
            </a:r>
          </a:p>
          <a:p>
            <a:pPr>
              <a:spcAft>
                <a:spcPts val="900"/>
              </a:spcAft>
            </a:pPr>
            <a:r>
              <a:rPr sz="1400" b="0">
                <a:solidFill>
                  <a:srgbClr val="161B26"/>
                </a:solidFill>
                <a:latin typeface="Arial"/>
              </a:rPr>
              <a:t>•  Deployment — Local Install &amp; Hermes Desktop App</a:t>
            </a:r>
          </a:p>
          <a:p>
            <a:pPr>
              <a:spcAft>
                <a:spcPts val="900"/>
              </a:spcAft>
            </a:pPr>
            <a:r>
              <a:rPr sz="1400" b="0">
                <a:solidFill>
                  <a:srgbClr val="161B26"/>
                </a:solidFill>
                <a:latin typeface="Arial"/>
              </a:rPr>
              <a:t>•  Memory and Plugins</a:t>
            </a:r>
          </a:p>
          <a:p>
            <a:pPr>
              <a:spcAft>
                <a:spcPts val="900"/>
              </a:spcAft>
            </a:pPr>
            <a:r>
              <a:rPr sz="1400" b="0">
                <a:solidFill>
                  <a:srgbClr val="161B26"/>
                </a:solidFill>
                <a:latin typeface="Arial"/>
              </a:rPr>
              <a:t>•  Skills</a:t>
            </a:r>
          </a:p>
          <a:p>
            <a:pPr>
              <a:spcAft>
                <a:spcPts val="900"/>
              </a:spcAft>
            </a:pPr>
            <a:r>
              <a:rPr sz="1400" b="0">
                <a:solidFill>
                  <a:srgbClr val="161B26"/>
                </a:solidFill>
                <a:latin typeface="Arial"/>
              </a:rPr>
              <a:t>•  Providers &amp; Model</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6–10</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MCP and Tools</a:t>
            </a:r>
          </a:p>
          <a:p>
            <a:pPr>
              <a:spcAft>
                <a:spcPts val="900"/>
              </a:spcAft>
            </a:pPr>
            <a:r>
              <a:rPr sz="1400" b="0">
                <a:solidFill>
                  <a:srgbClr val="161B26"/>
                </a:solidFill>
                <a:latin typeface="Arial"/>
              </a:rPr>
              <a:t>•  Cron Jobs &amp; Automation</a:t>
            </a:r>
          </a:p>
          <a:p>
            <a:pPr>
              <a:spcAft>
                <a:spcPts val="900"/>
              </a:spcAft>
            </a:pPr>
            <a:r>
              <a:rPr sz="1400" b="0">
                <a:solidFill>
                  <a:srgbClr val="161B26"/>
                </a:solidFill>
                <a:latin typeface="Arial"/>
              </a:rPr>
              <a:t>•  Subagents &amp; Delegation</a:t>
            </a:r>
          </a:p>
          <a:p>
            <a:pPr>
              <a:spcAft>
                <a:spcPts val="900"/>
              </a:spcAft>
            </a:pPr>
            <a:r>
              <a:rPr sz="1400" b="0">
                <a:solidFill>
                  <a:srgbClr val="161B26"/>
                </a:solidFill>
                <a:latin typeface="Arial"/>
              </a:rPr>
              <a:t>•  Profile and Kanban</a:t>
            </a:r>
          </a:p>
          <a:p>
            <a:pPr>
              <a:spcAft>
                <a:spcPts val="900"/>
              </a:spcAft>
            </a:pPr>
            <a:r>
              <a:rPr sz="1400" b="0">
                <a:solidFill>
                  <a:srgbClr val="161B26"/>
                </a:solidFill>
                <a:latin typeface="Arial"/>
              </a:rPr>
              <a:t>•  Security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11–14</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Case — Make a Video with Hyperframe</a:t>
            </a:r>
          </a:p>
          <a:p>
            <a:pPr>
              <a:spcAft>
                <a:spcPts val="900"/>
              </a:spcAft>
            </a:pPr>
            <a:r>
              <a:rPr sz="1400" b="0">
                <a:solidFill>
                  <a:srgbClr val="161B26"/>
                </a:solidFill>
                <a:latin typeface="Arial"/>
              </a:rPr>
              <a:t>•  Visualization</a:t>
            </a:r>
          </a:p>
          <a:p>
            <a:pPr>
              <a:spcAft>
                <a:spcPts val="900"/>
              </a:spcAft>
            </a:pPr>
            <a:r>
              <a:rPr sz="1400" b="0">
                <a:solidFill>
                  <a:srgbClr val="161B26"/>
                </a:solidFill>
                <a:latin typeface="Arial"/>
              </a:rPr>
              <a:t>•  Build a Multi-Agent Workflow</a:t>
            </a:r>
          </a:p>
          <a:p>
            <a:pPr>
              <a:spcAft>
                <a:spcPts val="900"/>
              </a:spcAft>
            </a:pPr>
            <a:r>
              <a:rPr sz="1400" b="0">
                <a:solidFill>
                  <a:srgbClr val="161B26"/>
                </a:solidFill>
                <a:latin typeface="Arial"/>
              </a:rPr>
              <a:t>•  Webhook</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and Setup Hermes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Install Hermes Agent on your laptop, run the first-time setup wizard, and confirm a healthy install. This is the foundation for the Athena chief-of-staff agent you build across the track.</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working Hermes Agent install that passes 'hermes doctor' and opens the TUI.</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Hermes Agent, Nous Portal, terminal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and Setup Hermes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the reference video for this lab</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https://www.youtube.com/watch?v=KtlY6ETPyKo&amp;list=PLmpUb_PWAkDx-VWjh00tVCji794xAa_IX&amp;index=11</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and Setup Hermes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Install Hermes (macOS/Linux/WSL2)</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curl -fsSL https://hermes-agent.nousresearch.com/install.sh | bash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and Setup Hermes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Reload your shell so the 'hermes' command is on PATH</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source ~/.zshrc</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and Setup Hermes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the first-time setup wizard</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setup --portal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and Setup Hermes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Check the install is healthy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doctor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and Setup Hermes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Launch the agent and say hello</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--tui</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and Setup Hermes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'hermes doctor' reports all green and the TUI opens and replies to a message.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Run Hermes as a persistent local deployment (preferred) and also install the Hermes Desktop app for a GUI experience. Confirm the local gateway is serving and keep the runtime up to date.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local Hermes deployment plus the Desktop app, both talking to the same agent.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Hermes Agent, Hermes Desktop, terminal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the reference video for this lab</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https://www.youtube.com/watch?v=dcXmUUZvDLE&amp;list=PLmpUb_PWAkDx-VWjh00tVCji794xAa_IX&amp;index=3</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Additional walkthrough (also refer)</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https://www.youtube.com/watch?v=3ObcurqJJA0&amp;list=PLmpUb_PWAkDxewld5ZYyKifuHxgIbiq2d&amp;index=17</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the local install runs (preferred deployment)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--version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Download and install the Hermes Desktop app</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 from https://hermes-agent.nousresearch.com/ (GUI)</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Desktop app and sign in with the same Nous Portal account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Verify the local gateway is serving</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gateway status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Keep the runtime up to date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update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Both the local CLI and the Desktop app drive the same agent; 'hermes gateway status' is healthy.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Memory and Plugins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Explore Hermes' three-layer memory (agent-curated notes, FTS5 cross-session recall, Honcho user modelling). Teach Athena a preference, recall it in a fresh session, and enable a plugin to extend behaviour.</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Athena remembers a stated preference across sessions and runs an enabled plugin.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Hermes Agent, memory, plugins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Memory and Plugins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the reference video for this lab</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https://www.youtube.com/watch?v=ZKZLko9kLm4&amp;list=PLmpUb_PWAkDx-VWjh00tVCji794xAa_IX&amp;index=4</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Memory and Plugins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 a session, teach Athena a durable preference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 e.g. 'Remember I prefer concise, bulleted summaries.'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Memory and Plugins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Start a new session and confirm the preference is recalled</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--continue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Memory and Plugins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Inspect stored memory/sessions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sessions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Memory and Plugins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Enable a plugin to extend the agent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 enable a plugin from the Hermes plugins UI/config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Memory and Plugins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 preference taught in one session is recalled in a new session, and the enabled plugin is active.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Skills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Browse and install open-standard skills (agentskills.io / Skills Hub) so Athena can perform new tasks. Skills are portable and can self-improve as the agent uses them.</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Athena equipped with at least one installed skill that it can invoke on request.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Hermes Agent, agentskills.io, Skills Hub</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Skills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the reference video for this lab</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https://www.youtube.com/watch?v=L3WdVeMaYZM&amp;list=PLmpUb_PWAkDx-VWjh00tVCji794xAa_IX&amp;index=5</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Skills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Browse the skills hub</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skills browse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Skills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Search for a skill by keyword</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skills search &lt;keyword&gt;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Skills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Install a skill</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skills install &lt;owner/skills/name&gt;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Skills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the agent to use the new skill and observe self-improvement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Skills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installed skill appears in the agent's toolset and runs when invoked.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Providers &amp; Model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Connect a model provider (Nous Portal, OpenRouter, OpenAI or any endpoint) and select a model that meets the &gt;=64,000-token context requirement. Switch providers to compare speed and quality.</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Athena running on a chosen provider/model, with the ability to switch on demand.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Hermes Agent, Nous Portal, OpenRouter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Providers &amp; Model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the reference video for this lab</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https://www.youtube.com/watch?v=1oaaOWy7wSI&amp;list=PLmpUb_PWAkDx-VWjh00tVCji794xAa_IX&amp;index=6</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Providers &amp; Model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interactive provider/model picker</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model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Providers &amp; Model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Set a model explicitly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config set model anthropic/claude-opus-4.6</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Providers &amp; Model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Add a provider key if using a cloud endpoint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config set OPENROUTER_API_KEY sk-or-...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Providers &amp; Model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the active model meets the &gt;=64k context rule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model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Providers &amp; Model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agent starts on the selected model and can be switched to another provider without reinstalling.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MCP and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Add Model Context Protocol (MCP) servers in the Hermes config and use the bundled Tool Gateway (web search, image generation, TTS) so Athena can act on the outside world.</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Athena wired to an MCP server (e.g. GitHub) and able to use a Tool Gateway tool.</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Hermes Agent, MCP, Tool Gateway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MCP and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the reference video for this lab</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https://www.youtube.com/watch?v=U140gP-1bEI&amp;list=PLmpUb_PWAkDx-VWjh00tVCji794xAa_IX&amp;index=7</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MCP and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Hermes config to add an MCP server</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 edit ~/.hermes/config.yaml -&gt; mcp_servers: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MCP and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Add a GitHub MCP server entry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npx -y @modelcontextprotocol/server-github</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MCP and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Restart so the MCP server is picked up, then verify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doctor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MCP and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Use a Tool Gateway tool (web search / image / TTS) from a chat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MCP and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agent lists the new MCP server's tools and completes a task using a Tool Gateway tool.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Cron Jobs &amp; Automation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Schedule Athena to run recurring jobs — for example an 8am daily briefing sent to your messaging app — and verify the scheduled run fires and produces output.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scheduled job (e.g. a daily briefing) that runs automatically and delivers a result.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Hermes Agent, scheduler/crons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Cron Jobs &amp; Automation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the reference video for this lab</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https://www.youtube.com/watch?v=grMNnzCv2gY&amp;list=PLmpUb_PWAkDx-VWjh00tVCji794xAa_IX&amp;index=8</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Cron Jobs &amp; Automation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Define a recurring job (daily 8am briefing) in the Hermes automation/cron config</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 see the automations/crons section (verify exact syntax in docs)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Cron Jobs &amp; Automation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the automation is registered</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doctor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Cron Jobs &amp; Automation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Trigger the job once to confirm it produces output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Cron Jobs &amp; Automation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the next scheduled run is queued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Cron Jobs &amp; Automation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scheduled job runs at its time (or on manual trigger) and delivers the expected briefing.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Subagents &amp; Delegation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Turn Athena into a coordinator that delegates tasks to worker subagents running on isolated terminal backends (local, docker, ssh, modal), then aggregates their results.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coordinator agent that delegates a task to one or more worker subagents and combines the output.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Hermes Agent, terminal backends (docker/ssh/modal)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Subagents &amp; Delegation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the reference video for this lab</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https://www.youtube.com/watch?v=KPsMThlFb8Y&amp;list=PLmpUb_PWAkDx-VWjh00tVCji794xAa_IX&amp;index=10</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Subagents &amp; Delegation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Choose an isolated backend for worker agents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config set terminal.backend docker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Subagents &amp; Delegation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the coordinator to delegate a multi-part task to subagents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Subagents &amp; Delegation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Observe each subagent run in isolation and report back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Subagents &amp; Delegation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Review the coordinator's aggregated result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Subagents &amp; Delegation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coordinator delegates to worker subagents on an isolated backend and returns a combined result.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Profile and Kanban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Configure the agent's profile and use the Hermes Kanban board to watch tasks move through todo -&gt; in progress -&gt; done, giving you human oversight of what Athena is working on.</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configured agent profile and a Kanban board tracking the agent's live tasks.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Hermes Agent, profile, Kanban board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Profile and Kanban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the reference video for this lab</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https://www.youtube.com/watch?v=KPsMThlFb8Y&amp;list=PLmpUb_PWAkDx-VWjh00tVCji794xAa_IX&amp;index=10</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Profile and Kanban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Set up the agent profile (identity, defaults, preferences)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Profile and Kanban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Kanban board view</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Profile and Kanban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Assign a task and watch it move todo -&gt; in progress -&gt; done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Profile and Kanban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Use the board to review and accept completed work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Profile and Kanban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profile is set and the Kanban board shows tasks progressing across its columns.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Harden Athena: run risky work in an isolated terminal backend, manage secrets safely, and require approval before sensitive actions — applying least privilege throughout.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hardened agent that sandboxes execution, protects secrets and prompts for approval on risky actions.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Hermes Agent, terminal backends, secrets management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the reference video for this lab</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https://www.youtube.com/watch?v=KtlY6ETPyKo&amp;list=PLmpUb_PWAkDx-VWjh00tVCji794xAa_IX&amp;index=11</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Isolate execution in a sandboxed backend</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config set terminal.backend docker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Store provider/tool secrets via config rather than plain text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config set &lt;PROVIDER&gt;_API_KEY &lt;value&gt;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Require approval before the agent runs risky actions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 enable approval prompts in the security settings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Apply least privilege — grant only the tools/skills the task needs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Risky actions run only in the sandbox and only after approval; secrets are not stored in plain text.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Put Athena to work on an end-to-end creative task: use the agent to drive the Hyperframe tool and generate a short video from a concept brief, then review and refine the result.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short video generated end-to-end by the agent using Hyperframe.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Hermes Agent, Hyperframe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the reference video for this lab</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https://www.youtube.com/watch?v=dcXmUUZvDLE&amp;list=PLmpUb_PWAkDx-VWjh00tVCji794xAa_IX&amp;index=3</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Connect / set up the Hyperframe video tool for the agent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Brief the agent with a short video concept (topic, style, length)</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Have the agent generate the video with Hyperframe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Review the output and refine the brief to regenerate if needed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agent produces a playable video from your brief using Hyperframe.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Visualization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Use Hermes' visualization capability to see the agent's workflow, task flow and data at a glance, making the agent's behaviour transparent and easier to supervise.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visualization of the agent's workflow / activity you can read and interpret.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Hermes Agent, visualization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Visualization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the reference video for this lab</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https://www.youtube.com/watch?v=JX2RYeKugrc&amp;list=PLmpUb_PWAkDxewld5ZYyKifuHxgIbiq2d&amp;index=27</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Visualization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visualization view for the agent's activity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Visualization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Generate a visualization of a workflow or dataset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Visualization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Interpret the visualization to understand what the agent did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Visualization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 visualization of the agent's workflow/data renders and communicates the agent's activity.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a Multi-Agent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Design a multi-agent workflow in which several agents take on distinct roles and hand off tasks to one another to complete a larger goal, building on the subagents and delegation concepts from earlier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working multi-agent workflow where agents hand off tasks to complete a goal.</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Hermes Agent, subagents, workflow</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a Multi-Agent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the reference video for this lab</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https://www.youtube.com/watch?v=GzlbC75bYtU&amp;list=PLmpUb_PWAkDxewld5ZYyKifuHxgIbiq2d&amp;index=19</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a Multi-Agent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Define the agents and their roles in the workflow</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a Multi-Agent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Connect the agents so outputs hand off between them</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a Multi-Agent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the workflow end-to-end on a sample goal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a Multi-Agent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Verify each stage completed and the final result is correct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a Multi-Agent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multi-agent workflow runs end-to-end with each agent handing off to the next and producing the final result.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Webhook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Wire the agent to the outside world with webhooks: trigger the agent from an incoming webhook payload and/or have it call an outgoing webhook, then secure the endpoint.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webhook that triggers the agent (or that the agent calls), verified end-to-end.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Hermes Agent, webhooks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Webhook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the reference video for this lab</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https://www.youtube.com/watch?v=WNYe5mD4fY8&amp;list=PLmpUb_PWAkDxewld5ZYyKifuHxgIbiq2d&amp;index=31</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Webhook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Configure a webhook trigger/endpoint for the agent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Webhook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Send a test payload to the webhook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Webhook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the agent receives the event and responds/acts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Webhook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Secure the webhook (secret/token, allowlist)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Webhook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 test payload to the webhook triggers the agent and produces the expected action, with the endpoint secured.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Recap — Hermes Agent — Your Autonomous Personal Chief-of-Staff</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now: LO1: Install and configure Hermes Agent on a local machine.</a:t>
            </a:r>
          </a:p>
          <a:p>
            <a:pPr>
              <a:spcAft>
                <a:spcPts val="1000"/>
              </a:spcAft>
            </a:pPr>
            <a:r>
              <a:rPr sz="1700" b="0">
                <a:solidFill>
                  <a:srgbClr val="161B26"/>
                </a:solidFill>
                <a:latin typeface="Arial"/>
              </a:rPr>
              <a:t>•  You can now: LO1: Deploy Hermes locally and run it through the Hermes Desktop app.</a:t>
            </a:r>
          </a:p>
          <a:p>
            <a:pPr>
              <a:spcAft>
                <a:spcPts val="1000"/>
              </a:spcAft>
            </a:pPr>
            <a:r>
              <a:rPr sz="1700" b="0">
                <a:solidFill>
                  <a:srgbClr val="161B26"/>
                </a:solidFill>
                <a:latin typeface="Arial"/>
              </a:rPr>
              <a:t>•  You can now: LO2: Give the agent persistent memory and extend it with plugins.</a:t>
            </a:r>
          </a:p>
          <a:p>
            <a:pPr>
              <a:spcAft>
                <a:spcPts val="1000"/>
              </a:spcAft>
            </a:pPr>
            <a:r>
              <a:rPr sz="1700" b="0">
                <a:solidFill>
                  <a:srgbClr val="161B26"/>
                </a:solidFill>
                <a:latin typeface="Arial"/>
              </a:rPr>
              <a:t>•  You can now: LO3: Extend the agent with installable, self-improving skills.</a:t>
            </a:r>
          </a:p>
          <a:p>
            <a:pPr>
              <a:spcAft>
                <a:spcPts val="1000"/>
              </a:spcAft>
            </a:pPr>
            <a:r>
              <a:rPr sz="1700" b="0">
                <a:solidFill>
                  <a:srgbClr val="161B26"/>
                </a:solidFill>
                <a:latin typeface="Arial"/>
              </a:rPr>
              <a:t>•  You can now: LO2: Connect an LLM provider and switch models with no lock-in.</a:t>
            </a:r>
          </a:p>
          <a:p>
            <a:pPr>
              <a:spcAft>
                <a:spcPts val="1000"/>
              </a:spcAft>
            </a:pPr>
            <a:r>
              <a:rPr sz="1700" b="0">
                <a:solidFill>
                  <a:srgbClr val="161B26"/>
                </a:solidFill>
                <a:latin typeface="Arial"/>
              </a:rPr>
              <a:t>•  You can now: LO3: Give the agent real-world reach with MCP servers and the Tool Gateway.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OpenClaw — Automating a Business Back-Office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Install · Providers · Channels · Skills · Tools · Commands · Crons · Memory · Dreaming · Security · Multi-Agent · Use Cases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EXAM WEIGHTING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OpenClaw — Automating a Business Back-Office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OpenClaw runs on Node.js 24 LTS as a long-running gateway daemon that hosts every channel, tool, cron and skill for the Nimbus Supplies back office.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Providers are connected by OAuth sign-in (OpenAI Codex, MiniMax) or API key (Anthropic, DeepSeek, OpenRouter); skills from skills.sh and integrations such as Firecrawl and AgentMail extend the agent.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'Dreaming' lets the agent reflect during idle time — reviewing memory and generating follow-ups — while profiles and allow/deny lists keep every channel least-privileged and audited.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Crons schedule recurring work, a heartbeat auto-restarts the gateway, and a multi-agent capstone splits work across cooperating Sales, Research and Ops agents for real back-office use cases.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OpenClaw — Automating a Business Back-Office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15–18</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Install OpenClaw</a:t>
            </a:r>
          </a:p>
          <a:p>
            <a:pPr>
              <a:spcAft>
                <a:spcPts val="900"/>
              </a:spcAft>
            </a:pPr>
            <a:r>
              <a:rPr sz="1400" b="0">
                <a:solidFill>
                  <a:srgbClr val="161B26"/>
                </a:solidFill>
                <a:latin typeface="Arial"/>
              </a:rPr>
              <a:t>•  Models &amp; Providers</a:t>
            </a:r>
          </a:p>
          <a:p>
            <a:pPr>
              <a:spcAft>
                <a:spcPts val="900"/>
              </a:spcAft>
            </a:pPr>
            <a:r>
              <a:rPr sz="1400" b="0">
                <a:solidFill>
                  <a:srgbClr val="161B26"/>
                </a:solidFill>
                <a:latin typeface="Arial"/>
              </a:rPr>
              <a:t>•  Channels</a:t>
            </a:r>
          </a:p>
          <a:p>
            <a:pPr>
              <a:spcAft>
                <a:spcPts val="900"/>
              </a:spcAft>
            </a:pPr>
            <a:r>
              <a:rPr sz="1400" b="0">
                <a:solidFill>
                  <a:srgbClr val="161B26"/>
                </a:solidFill>
                <a:latin typeface="Arial"/>
              </a:rPr>
              <a:t>•  Skills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19–22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Tools &amp; Integrations</a:t>
            </a:r>
          </a:p>
          <a:p>
            <a:pPr>
              <a:spcAft>
                <a:spcPts val="900"/>
              </a:spcAft>
            </a:pPr>
            <a:r>
              <a:rPr sz="1400" b="0">
                <a:solidFill>
                  <a:srgbClr val="161B26"/>
                </a:solidFill>
                <a:latin typeface="Arial"/>
              </a:rPr>
              <a:t>•  Commands</a:t>
            </a:r>
          </a:p>
          <a:p>
            <a:pPr>
              <a:spcAft>
                <a:spcPts val="900"/>
              </a:spcAft>
            </a:pPr>
            <a:r>
              <a:rPr sz="1400" b="0">
                <a:solidFill>
                  <a:srgbClr val="161B26"/>
                </a:solidFill>
                <a:latin typeface="Arial"/>
              </a:rPr>
              <a:t>•  Cron Jobs &amp; Heartbeat</a:t>
            </a:r>
          </a:p>
          <a:p>
            <a:pPr>
              <a:spcAft>
                <a:spcPts val="900"/>
              </a:spcAft>
            </a:pPr>
            <a:r>
              <a:rPr sz="1400" b="0">
                <a:solidFill>
                  <a:srgbClr val="161B26"/>
                </a:solidFill>
                <a:latin typeface="Arial"/>
              </a:rPr>
              <a:t>•  Memory &amp; Context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23–26</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Security</a:t>
            </a:r>
          </a:p>
          <a:p>
            <a:pPr>
              <a:spcAft>
                <a:spcPts val="900"/>
              </a:spcAft>
            </a:pPr>
            <a:r>
              <a:rPr sz="1400" b="0">
                <a:solidFill>
                  <a:srgbClr val="161B26"/>
                </a:solidFill>
                <a:latin typeface="Arial"/>
              </a:rPr>
              <a:t>•  Multi-Agent Workforce</a:t>
            </a:r>
          </a:p>
          <a:p>
            <a:pPr>
              <a:spcAft>
                <a:spcPts val="900"/>
              </a:spcAft>
            </a:pPr>
            <a:r>
              <a:rPr sz="1400" b="0">
                <a:solidFill>
                  <a:srgbClr val="161B26"/>
                </a:solidFill>
                <a:latin typeface="Arial"/>
              </a:rPr>
              <a:t>•  Dreaming — Idle Reflection &amp; Self-Improvement</a:t>
            </a:r>
          </a:p>
          <a:p>
            <a:pPr>
              <a:spcAft>
                <a:spcPts val="900"/>
              </a:spcAft>
            </a:pPr>
            <a:r>
              <a:rPr sz="1400" b="0">
                <a:solidFill>
                  <a:srgbClr val="161B26"/>
                </a:solidFill>
                <a:latin typeface="Arial"/>
              </a:rPr>
              <a:t>•  Use Cases &amp; Key Functions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OpenClaw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installs the OpenClaw platform on their own machine (or a cloud VPS) by first installing Node.js 24 LTS, then installing OpenClaw via npm and running the onboarding wizard, and verifies the install with doctor and gateway status. This gateway becomes the back-office brain of the Nimbus Supplies running example.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running OpenClaw gateway daemon (local or VPS) verified with openclaw doctor</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OpenClaw, Node.js 24 LTS, npm, openclaw gateway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OpenClaw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the OpenClaw reference playlist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https://www.youtube.com/watch?v=q5YFlpVlmkI&amp;list=PLHutrxqbP1BwAQf6dROCLZqK0PLpGu35J</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OpenClaw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Install Node.js 24 LTS on macOS with Homebrew and verify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brew install node@24</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OpenClaw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Install OpenClaw globally via npm</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npm install -g openclaw@latest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OpenClaw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the interactive onboarding wizard that creates ~/.openclaw and the gateway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onboard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OpenClaw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Verify the install version</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--version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OpenClaw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the health check (Node, gateway daemon, providers, channels)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doctor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OpenClaw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the gateway is running, starting it if needed</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start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OpenClaw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openclaw --version prints a version, openclaw doctor shows green checks for Node 24 and the gateway daemon (provider/channel checks pending until Labs 16-17), and openclaw gateway status reports running.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Models &amp; Providers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connects a language model to OpenClaw, trying the supported provider options — OAuth sign-ins (OpenAI Codex, MiniMax) and API-key providers (Anthropic, DeepSeek, OpenRouter) — learns where credentials are stored under ~/.openclaw/auth/, hot-swaps between models, and runs a Nimbus Supplies smoke test.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Nimbus Supplies agent wired to a working model provider that passes openclaw model test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OpenClaw, OpenAI Codex / MiniMax (OAuth), Anthropic / DeepSeek / OpenRouter (API key)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Models &amp; Providers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the OpenClaw reference playlist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https://www.youtube.com/watch?v=q5YFlpVlmkI&amp;list=PLHutrxqbP1BwAQf6dROCLZqK0PLpGu35J</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Models &amp; Providers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See the available models and the current selection</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models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Models &amp; Providers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Option A - sign in to OpenAI Codex via OAuth</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models auth login --provider openai-codex</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Models &amp; Providers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Option C - set an Anthropic API key and select a Claude model</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config set model anthropic/claude-opus-4-7</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Models &amp; Providers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Test that the active model responds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model test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Models &amp; Providers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Persist an API key so it survives reboots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echo 'export ANTHROPIC_API_KEY="sk-ant-..."' &gt;&gt; ~/.zshrc</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Models &amp; Providers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Hot-swap the global default model and confirm</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model use deepseek/deepseek-v4</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Models &amp; Providers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Give the agent a Nimbus Supplies smoke test from CLI chat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Models &amp; Providers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openclaw models list shows the connected models, openclaw model current prints the active one, openclaw model test returns a short successful completion with no auth error, and OAuth credentials appear under ~/.openclaw/auth/.</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Channels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gives customers a way to reach the Nimbus Supplies agent by creating a Telegram bot end-to-end via BotFather, registering it with a token, pairing a WhatsApp number by scanning a QR code, and running both channels at once through a single OpenClaw gateway so the same agent answers on either platform.</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Telegram and WhatsApp both live on one OpenClaw gateway, answered by the same Nimbus Supplies agent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OpenClaw, Telegram (BotFather), WhatsApp, openclaw channel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Channels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the OpenClaw reference playlist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https://www.youtube.com/watch?v=q5YFlpVlmkI&amp;list=PLHutrxqbP1BwAQf6dROCLZqK0PLpGu35J</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Channels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Create a Telegram bot in BotFather with /newbot and copy the HTTP API token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Channels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Register the Telegram channel with the bot token</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add telegram --token 123456789:ABC-DEF1234ghIkl-zyx57W2v1u123ew11</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Channels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Start the Telegram channel</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start telegram</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Channels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Add the WhatsApp channel to print a pairing QR code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add whatsapp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Channels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Start WhatsApp, then scan the QR from WhatsApp -&gt; Linked Devices -&gt; Link a Device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start whatsapp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Channels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both channels are running simultaneously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Channels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openclaw channel list shows telegram and whatsapp both running, a message to the Telegram bot gets an agent reply, a message to the linked WhatsApp account gets an agent reply, and openclaw gateway status shows both connected.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Skills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installs and removes skills from the skills.sh registry, invokes them from chat, and builds a custom Nimbus Supplies skill (nimbus-quote) under ~/.openclaw/skills/ so the agent handles a recurring back-office task — drafting an itemised customer quote with GST — the same way every time.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Registry skills plus a custom nimbus-quote skill that produces itemised, GST-inclusive quotes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OpenClaw, skills.sh registry, ~/.openclaw/skills/, openclaw skills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Skills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the OpenClaw reference playlist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https://www.youtube.com/watch?v=q5YFlpVlmkI&amp;list=PLHutrxqbP1BwAQf6dROCLZqK0PLpGu35J</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Skills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List the skills currently installed</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skills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Skills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Install a useful skill from the skills.sh registry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skills add web-research --source skills.sh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Skills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Invoke a skill from a channel with the /skill slash command</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/skill web-research "Who are the main office-supplies wholesalers in Singapore?"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Skills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Create the folder for a custom Nimbus Supplies skill</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mkdir -p ~/.openclaw/skills/nimbus-quote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Skills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Author skill.md with front-matter (name, description) and the quoting instructions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Skills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Restart the gateway so the new skill is picked up</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restart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Skills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Test the custom skill from a channel</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/skill nimbus-quote "Customer: Acme Cafe. 10 reams recycled A4 paper, 5 boxes black pens."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Skills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openclaw skills list shows the registry skills plus the custom nimbus-quote, /skill web-research runs end-to-end, and /skill nimbus-quote produces an itemised quote with a 9% GST line and standard terms, marking any unknown price as TBC instead of guessing.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Tools &amp; Integrations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extends the Nimbus Supplies agent with two real integrations — Firecrawl (JS-rendered web scraping) and AgentMail (its own inbox/outbox) — then runs an end-to-end back-office task: research a supplier's website prices, draft an itemised quote with the Lab 18 skill, and email it to a customer. Tool profiles and allow/deny lists scope tools per channel.</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Firecrawl + AgentMail integrated agent that scrapes supplier prices and emails an itemised quote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OpenClaw, Firecrawl, AgentMail, openclaw tools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Tools &amp; Integrations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the OpenClaw reference playlist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https://www.youtube.com/watch?v=q5YFlpVlmkI&amp;list=PLHutrxqbP1BwAQf6dROCLZqK0PLpGu35J</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Tools &amp; Integrations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Inspect the built-in tool groups (fs, web, runtime, media)</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tools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Tools &amp; Integrations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Enable Firecrawl with its API key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tools enable firecrawl --api-key "$FIRECRAWL_API_KEY"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Tools &amp; Integrations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Enable AgentMail with its API key and inbox address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tools enable agentmail --api-key "$AGENTMAIL_API_KEY" --inbox bot@yourname.agentmail.to</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Tools &amp; Integrations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the end-to-end task from a channel: scrape prices, draft the quote, email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Tools &amp; Integrations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Scope tools on a public channel by denying shell exec</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set telegram --deny exec</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Tools &amp; Integrations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Allow only the web tool group on that channel</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set telegram --allow group:web</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Tools &amp; Integrations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openclaw tools list --enabled shows firecrawl and agentmail, the agent scrapes a supplier URL and returns structured prices, an AgentMail send arrives in a real inbox, the end-to-end task produces an itemised quote email, and a channel set to --deny exec refuses shell-exec requests.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Commands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becomes fluent in the two ways to drive OpenClaw daily: the CLI commands (config, model, doctor, gateway, channel, tools, skills, cron) and the in-chat slash commands operators and customers use inside a channel, building a personal quick-reference table for running the Nimbus Supplies back office and streaming live gateway logs.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personal quick-reference of the CLI and slash commands used to run Nimbus Supplies day to day</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OpenClaw, openclaw CLI, in-chat slash commands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Commands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the OpenClaw reference playlist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https://www.youtube.com/watch?v=q5YFlpVlmkI&amp;list=PLHutrxqbP1BwAQf6dROCLZqK0PLpGu35J</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Commands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Read and change settings with config</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config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Commands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the health check with auto-fix</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doctor --fix</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Commands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Control the gateway daemon that runs everything</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restart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Commands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Get your channel user ID for the Lab 23 allowlist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/whoami</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Commands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Switch the model for one conversation only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/model deepseek/deepseek-v4</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Commands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activity live while you chat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logs --follow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Commands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can switch the model both from chat (/model, per-conversation) and globally from the CLI (openclaw model use), /whoami returns your platform user ID, openclaw gateway logs --follow streams live activity, and /help lists the available slash commands.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Cron Jobs &amp; Heartbeat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makes Nimbus Supplies run unattended by scheduling recurring tasks with cron (a nightly sales report and a weekly supplier price-check using Firecrawl) and monitoring uptime with the heartbeat, so the gateway self-checks, auto-restarts on failure, and can page an external monitor if it dies.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nightly sales-report cron, a weekly price-check cron, and an enabled self-healing heartbeat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OpenClaw, openclaw cron, gateway heartbeat, Firecrawl + AgentMail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Cron Jobs &amp; Heartbeat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the OpenClaw reference playlist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https://www.youtube.com/watch?v=q5YFlpVlmkI&amp;list=PLHutrxqbP1BwAQf6dROCLZqK0PLpGu35J</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Cron Jobs &amp; Heartbeat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Create the nightly sales-report cron posting to Telegram at 21:00</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cron create --schedule "0 21 * * *" --prompt "Summarise today's Nimbus Supplies customer chats and any quotes sent." --channel telegram --name nightly-sales-report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Cron Jobs &amp; Heartbeat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List and inspect your crons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cron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Cron Jobs &amp; Heartbeat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Fire a cron on demand to test it now, ignoring the schedule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cron run nightly-sales-report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Cron Jobs &amp; Heartbeat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Enable the heartbeat self-check at a 60s interval</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heartbeat enable --interval 60s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Cron Jobs &amp; Heartbeat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Check the heartbeat status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heartbeat status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Cron Jobs &amp; Heartbeat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auto-restart by stopping the gateway and waiting ~60s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stop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Cron Jobs &amp; Heartbeat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openclaw cron list shows nightly-sales-report and weekly-price-check, openclaw cron run delivers a summary to Telegram immediately, openclaw gateway heartbeat status reports healthy, and after openclaw gateway stop the service manager restarts the gateway within about a minute.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Memory &amp; Context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gives the Nimbus Supplies agent durable memory so it recalls customer preferences across conversations: using the in-chat /memory command, inspecting where OpenClaw persists state under ~/.openclaw/, teaching a customer's standing preference, clearing the conversation to prove it is real memory, and confirming recall in a later separate chat.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agent that persistently remembers a customer's standing preferences and applies them in a fresh conversation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OpenClaw, /memory, /clear, ~/.openclaw/ state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Memory &amp; Context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the OpenClaw reference playlist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https://www.youtube.com/watch?v=q5YFlpVlmkI&amp;list=PLHutrxqbP1BwAQf6dROCLZqK0PLpGu35J</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Memory &amp; Context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See what OpenClaw stores on disk</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ls -la ~/.openclaw/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Memory &amp; Context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Inspect your current per-user memory from chat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/memory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Memory &amp; Context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Teach the agent a durable customer preference in plain language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Memory &amp; Context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Clear the conversation to prove it is real memory, not just context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/clear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Memory &amp; Context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Recall in the cleared chat by requesting a quote that needs the remembered facts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Memory &amp; Context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Back up memory before major changes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cp -R ~/.openclaw/ ~/openclaw-backup-$(date +%F)/openclaw-state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Memory &amp; Context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/memory shows the customer preferences after you teach them, after /clear the /memory list still shows them (short-term context cleared, long-term memory retained), and a fresh quote request for the customer automatically applies recycled paper, Tuesday delivery and the correct recipient name without repetition.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hardens the Nimbus Supplies deployment before real customers: storing API keys as environment variables (never in cleartext config), restricting who can DM the bot with allowlists, applying per-channel tool deny lists, tightening the code-execution sandbox (timeout/memory/network), reviewing the audit log, and rotating provider keys.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hardened agent with keys in env, DM allowlists, per-channel deny lists, a capped sandbox and an exported audit log</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OpenClaw, allowlists, tool deny lists, exec/python sandbox, gateway logs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the OpenClaw reference playlist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https://www.youtube.com/watch?v=q5YFlpVlmkI&amp;list=PLHutrxqbP1BwAQf6dROCLZqK0PLpGu35J</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Restrict who can DM the Telegram bot to known user IDs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set telegram --allow-users 12345678,87654321 --pair-mode allowlist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Apply a per-channel tool deny list (no shell or destructive file ops)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set telegram --deny exec,fs.write,fs.delete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Tighten the code-execution sandbox (time, memory, no network)</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tools config exec --timeout 10s --memory 256mb --network deny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keys are not sitting in cleartext in the config</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cat ~/.openclaw/config.toml | grep -i key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Review the audit log, filtering for blocked exec attempts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logs --filter tool=exec</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Export the audit log for weekly review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logs --export ~/openclaw-audit-$(date +%F).log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cat ~/.openclaw/config.toml does not contain raw API keys, a user not on the Telegram allowlist gets a not-authorized response, openclaw channel show telegram lists the deny list and messaging profile, and the audit log shows blocked exec attempts on a locked channel.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Multi-Agent Workforce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In the OpenClaw capstone the learner splits the single agent into three cooperating agents — Sales (customer-facing on Telegram/WhatsApp), Research (supplier scouting with Firecrawl), and Ops (email, quotes, nightly crons) — each with least-privilege tools, and runs one end-to-end business scenario across all three, with a verified fallback using isolated OPENCLAW_HOME instances that cooperate via AgentMail and a shared folder.</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three-agent Sales/Research/Ops workforce that runs a customer order end-to-end into a real quote email</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OpenClaw, openclaw agent (or isolated OPENCLAW_HOME instances), Firecrawl, AgentMail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Multi-Agent Workforce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the OpenClaw multi-agent setup reference video</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https://www.youtube.com/watch?v=q5YFlpVlmkI&amp;list=PLHutrxqbP1BwAQf6dROCLZqK0PLpGu35J&amp;index=1</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Multi-Agent Workforce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Create three named agents (or use isolated instances if unavailable)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agent create sales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Multi-Agent Workforce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Give the Sales agent least-privilege tools (web + quoting, no shell/fs)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agent set sales --allow group:web --deny exec,fs.write,fs.delete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Multi-Agent Workforce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Restrict Research to scraping only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agent set research --allow firecrawl,web_search,browser --deny exec,fs.write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Multi-Agent Workforce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Attach the customer channels to the Sales agent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set telegram --agent sales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Multi-Agent Workforce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a Research fallback instance with an isolated config dir</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OPENCLAW_HOME=~/.openclaw-research openclaw onboard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Multi-Agent Workforce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Give Ops the nightly consolidation cron</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cron create --schedule "0 21 * * *" --prompt "Compile today's Nimbus Supplies orders and quotes sent, and list anything waiting on Research." --channel telegram --name ops-nightly-report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Multi-Agent Workforce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Three agents (or isolated instances) each have a distinct least-privilege tool set (Sales cannot exec, Research cannot write files, Ops is not on a public channel), a customer Telegram message produces a real quote email combining memory, the nimbus-quote skill, a Firecrawl price lookup and AgentMail delivery, and the nightly cron posts a summary referencing the same order.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Dreaming — Idle Reflection &amp; Self-Improvement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Enable OpenClaw's 'dreaming' feature so the Nimbus Supplies agent uses idle time to review its memory, consolidate what it has learned, and generate useful follow-up actions and skill improvements — then inspect what it produced. Reference the OpenClaw functions playlist for the walkthrough.</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agent that, when idle, 'dreams' — reflecting on memory and proposing follow-ups you can review.</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OpenClaw, dreaming, memory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Dreaming — Idle Reflection &amp; Self-Improvement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the OpenClaw functions reference video</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https://www.youtube.com/watch?v=q5YFlpVlmkI&amp;list=PLHutrxqbP1BwAQf6dROCLZqK0PLpGu35J</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Dreaming — Idle Reflection &amp; Self-Improvement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Enable the dreaming feature in OpenClaw settings/config</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config set dreaming.enabled true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Dreaming — Idle Reflection &amp; Self-Improvement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Let the agent sit idle so a dream cycle runs (or trigger one)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dream run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Dreaming — Idle Reflection &amp; Self-Improvement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Review what the dream produced (insights, follow-ups, skill tweaks)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dream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Dreaming — Idle Reflection &amp; Self-Improvement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Accept a useful follow-up the agent proposed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Dreaming — Idle Reflection &amp; Self-Improvement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 dream cycle runs during idle time and produces reviewable insights/follow-ups from the agent's memory.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Use Cases &amp; Key Functions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Tie the OpenClaw track together with practical use cases for Nimbus Supplies — a Google Workspace CLI assistant, a data-analytics agent, and a social-media-marketing agent — combining channels, skills, tools, memory, dreaming and crons into end-to-end automations. Each use case has its own reference video.</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One or more end-to-end OpenClaw automations (Workspace, analytics or social media) solving a real use case.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OpenClaw, skills, tools, Google Workspace, crons, memory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Use Cases &amp; Key Functions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Use case A — Google Workspace CLI assistant (reference video)</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https://www.youtube.com/watch?v=_ssB1YXRRtk&amp;list=PLHutrxqbP1BwAQf6dROCLZqK0PLpGu35J&amp;index=9</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Use Cases &amp; Key Functions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Use case B — Data Analytics agent (reference video)</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https://www.youtube.com/watch?v=RLUa-j-MpgQ&amp;list=PLHutrxqbP1BwAQf6dROCLZqK0PLpGu35J&amp;index=10</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Use Cases &amp; Key Functions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Use case C — Social Media Marketing agent (reference video)</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https://www.youtube.com/watch?v=q5YFlpVlmkI&amp;list=PLHutrxqbP1BwAQf6dROCLZqK0PLpGu35J&amp;index=1</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Use Cases &amp; Key Functions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Pick a use case and compose the channels, skills and tools needed for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Use Cases &amp; Key Functions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the automation end-to-end and verify the outcome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Use Cases &amp; Key Functions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Schedule it or hand it to the multi-agent team from Lab 24</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231</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Use Cases &amp; Key Functions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 real use case (Google Workspace, data analytics or social media) runs end-to-end using OpenClaw's channels, skills, tools and crons.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232</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OpenClaw — Automating a Business Back-Office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now: LO1: Install and configure an autonomous AI agent platform locally and on a container/VPS.</a:t>
            </a:r>
          </a:p>
          <a:p>
            <a:pPr>
              <a:spcAft>
                <a:spcPts val="1000"/>
              </a:spcAft>
            </a:pPr>
            <a:r>
              <a:rPr sz="1700" b="0">
                <a:solidFill>
                  <a:srgbClr val="161B26"/>
                </a:solidFill>
                <a:latin typeface="Arial"/>
              </a:rPr>
              <a:t>•  You can now: LO2: Connect an LLM model/provider to an agent via OAuth or API key.</a:t>
            </a:r>
          </a:p>
          <a:p>
            <a:pPr>
              <a:spcAft>
                <a:spcPts val="1000"/>
              </a:spcAft>
            </a:pPr>
            <a:r>
              <a:rPr sz="1700" b="0">
                <a:solidFill>
                  <a:srgbClr val="161B26"/>
                </a:solidFill>
                <a:latin typeface="Arial"/>
              </a:rPr>
              <a:t>•  You can now: LO2: Connect multiple messaging channels to one agent gateway.</a:t>
            </a:r>
          </a:p>
          <a:p>
            <a:pPr>
              <a:spcAft>
                <a:spcPts val="1000"/>
              </a:spcAft>
            </a:pPr>
            <a:r>
              <a:rPr sz="1700" b="0">
                <a:solidFill>
                  <a:srgbClr val="161B26"/>
                </a:solidFill>
                <a:latin typeface="Arial"/>
              </a:rPr>
              <a:t>•  You can now: LO3: Extend an agent with registry and custom skills.</a:t>
            </a:r>
          </a:p>
          <a:p>
            <a:pPr>
              <a:spcAft>
                <a:spcPts val="1000"/>
              </a:spcAft>
            </a:pPr>
            <a:r>
              <a:rPr sz="1700" b="0">
                <a:solidFill>
                  <a:srgbClr val="161B26"/>
                </a:solidFill>
                <a:latin typeface="Arial"/>
              </a:rPr>
              <a:t>•  You can now: LO3: Extend an agent with third-party tool integrations.</a:t>
            </a:r>
          </a:p>
          <a:p>
            <a:pPr>
              <a:spcAft>
                <a:spcPts val="1000"/>
              </a:spcAft>
            </a:pPr>
            <a:r>
              <a:rPr sz="1700" b="0">
                <a:solidFill>
                  <a:srgbClr val="161B26"/>
                </a:solidFill>
                <a:latin typeface="Arial"/>
              </a:rPr>
              <a:t>•  You can now: LO4: Operate an agent through its CLI and in-chat command surface.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233</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Paperclip — Running &amp; Governing a Company of AI Agents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Setup · Connect OpenAI Codex · Configure · Track Tasks · Automate Hiring · Setup Agents · Security · Assign Tasks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234</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WEIGHTING 34%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Paperclip — Running &amp; Governing a Company of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Paperclip is an operating system for a company of AI agents, self-hosted with Docker Compose; you are the Board, a CEO agent reports to you, and specialists report to the CEO.</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You connect a coding model such as OpenAI Codex as the agents' engine, configure the company, and track AI tasks on a board: todo -&gt; in_progress -&gt; in_review -&gt; done.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Hiring is automated behind human approval gates; all durable state lives in an embedded PostgreSQL database whose activity_log (tagged by actor_type) and cost_events tables give a CFO-style audit trail.</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Security is enforced with budget caps (an 80% warning and a 100% pause rail) and approvals; you set up agents and assign tasks to deliver the company goal.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235</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Paperclip — Running &amp; Governing a Company of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27–29</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Setup Paperclip</a:t>
            </a:r>
          </a:p>
          <a:p>
            <a:pPr>
              <a:spcAft>
                <a:spcPts val="900"/>
              </a:spcAft>
            </a:pPr>
            <a:r>
              <a:rPr sz="1400" b="0">
                <a:solidFill>
                  <a:srgbClr val="161B26"/>
                </a:solidFill>
                <a:latin typeface="Arial"/>
              </a:rPr>
              <a:t>•  Connect OpenAI Codex to Paperclip</a:t>
            </a:r>
          </a:p>
          <a:p>
            <a:pPr>
              <a:spcAft>
                <a:spcPts val="900"/>
              </a:spcAft>
            </a:pPr>
            <a:r>
              <a:rPr sz="1400" b="0">
                <a:solidFill>
                  <a:srgbClr val="161B26"/>
                </a:solidFill>
                <a:latin typeface="Arial"/>
              </a:rPr>
              <a:t>•  Configure Paperclip</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30–32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Track AI Tasks</a:t>
            </a:r>
          </a:p>
          <a:p>
            <a:pPr>
              <a:spcAft>
                <a:spcPts val="900"/>
              </a:spcAft>
            </a:pPr>
            <a:r>
              <a:rPr sz="1400" b="0">
                <a:solidFill>
                  <a:srgbClr val="161B26"/>
                </a:solidFill>
                <a:latin typeface="Arial"/>
              </a:rPr>
              <a:t>•  Automate AI Hiring</a:t>
            </a:r>
          </a:p>
          <a:p>
            <a:pPr>
              <a:spcAft>
                <a:spcPts val="900"/>
              </a:spcAft>
            </a:pPr>
            <a:r>
              <a:rPr sz="1400" b="0">
                <a:solidFill>
                  <a:srgbClr val="161B26"/>
                </a:solidFill>
                <a:latin typeface="Arial"/>
              </a:rPr>
              <a:t>•  Setup AI Agents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33–34</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Security</a:t>
            </a:r>
          </a:p>
          <a:p>
            <a:pPr>
              <a:spcAft>
                <a:spcPts val="900"/>
              </a:spcAft>
            </a:pPr>
            <a:r>
              <a:rPr sz="1400" b="0">
                <a:solidFill>
                  <a:srgbClr val="161B26"/>
                </a:solidFill>
                <a:latin typeface="Arial"/>
              </a:rPr>
              <a:t>•  Assign Task</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236</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Setup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Watch the Paperclip overview, then self-host Paperclip with Docker Compose and create the Nimbus Coffee company with a single goal and a monthly budget.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running Paperclip at http://localhost:3100 with a company (goal + budget).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Paperclip, Docker Compose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237</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Setup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the Paperclip overview (Explain Paperclip)</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https://www.youtube.com/watch?v=WNYe5mD4fY8&amp;list=PLmpUb_PWAkDxewld5ZYyKifuHxgIbiq2d&amp;index=31</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238</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Setup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the setup reference video for this lab</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https://www.youtube.com/watch?v=f2eian-bR_U&amp;list=PLZslvC3k6NibmbMzfuyc3UGXkIC5k6YvC&amp;index=2</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239</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Setup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Clone the Paperclip repository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git clone https://github.com/paperclipai/paperclip.git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240</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Setup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Start Paperclip with the quickstart compose file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docker compose -f docker-compose.quickstart.yml up --build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241</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Setup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dashboard</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 http://localhost:3100</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242</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Setup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Create the company with a single goal and a monthly budget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243</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Setup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dashboard loads at http://localhost:3100 and a company exists with a goal and budget.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244</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Connect OpenAI Codex to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Give Paperclip's agents a brain by connecting the OpenAI Codex adapter, so the agents can reason and act. Confirm the adapter is detected and available.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Paperclip using the OpenAI Codex adapter as the agents' model.</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Paperclip, OpenAI Codex</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245</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Connect OpenAI Codex to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the reference video for this lab</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https://www.youtube.com/watch?v=gU5BrKo_iHk&amp;list=PLZslvC3k6NibmbMzfuyc3UGXkIC5k6YvC&amp;index=3</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246</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Connect OpenAI Codex to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Install/log in to the OpenAI Codex CLI so Paperclip can detect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247</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Connect OpenAI Codex to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Settings -&gt; Agents / Adapters in the dashboard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248</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Connect OpenAI Codex to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the OpenAI Codex adapter shows as 'available'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249</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Connect OpenAI Codex to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Restart Paperclip if the adapter is not detected</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docker compose -f docker-compose.quickstart.yml restart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250</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Connect OpenAI Codex to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OpenAI Codex adapter is detected and shows as available in Settings.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251</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Configure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Configure Nimbus Coffee: set the monthly budget, connect a workspace folder so agents write real files, and adjust company settings.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configured company with a budget and a connected workspace folder.</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Paperclip, workspace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252</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Configure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the reference video for this lab</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https://www.youtube.com/watch?v=WItGcCiQRKw&amp;list=PLZslvC3k6NibmbMzfuyc3UGXkIC5k6YvC&amp;index=4</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253</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Configure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company's settings in the dashboard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254</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Configure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Set or adjust the monthly budget cap</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255</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Configure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Connect a workspace folder so agents create real deliverables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mkdir -p ~/paperclip-workspace/nimbus-coffee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256</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Configure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the configuration and confirm it persists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257</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Configure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company shows the configured budget and a connected workspace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258</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Track AI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Use Paperclip's task board to track work through its four states — todo, in_progress, in_review, done — giving you visibility and control over what the agents are doing.</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task board showing AI tasks moving across the four states.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Paperclip, task board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259</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Track AI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the reference video for this lab</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https://www.youtube.com/watch?v=FrYvRd0KX_I&amp;list=PLZslvC3k6NibmbMzfuyc3UGXkIC5k6YvC&amp;index=5</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260</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Track AI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task board for the company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261</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Track AI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Create or observe a task in the 'todo' column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262</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Track AI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a task move todo -&gt; in_progress -&gt; in_review</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263</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Track AI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a shell to review the task activity log</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docker compose -f docker-compose.quickstart.yml exec paperclip sh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264</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Track AI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Tasks are visible on the board and move through todo -&gt; in_progress -&gt; in_review -&gt; done.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265</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Automate AI Hiring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Hire your CEO agent and let it propose specialist hires, each passing a human approval gate. This is how the company staffs itself automatically while you stay in control.</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approved CEO agent and one or more approved specialist agents.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Paperclip, approval gates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266</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Automate AI Hiring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the reference video for this lab</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https://www.youtube.com/watch?v=tgqcHHxiwfk&amp;list=PLZslvC3k6NibmbMzfuyc3UGXkIC5k6YvC&amp;index=6</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267</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Automate AI Hiring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Hire the CEO agent from the company page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268</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Automate AI Hiring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Approve the CEO hire (you are the Board)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269</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Automate AI Hiring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Let the CEO propose specialist hires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270</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Automate AI Hiring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Review and approve each specialist at the approval gate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271</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Automate AI Hiring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CEO and approved specialists are active; each hire is logged as an actor_type=user decision.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272</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Setup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Configure the hired agents — their mandate, tools and per-agent budget caps — so each specialist can carry out the delegated work for Nimbus Coffee.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Configured agents with mandates, tools and per-agent budgets.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Paperclip, agents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273</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Setup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the reference video for this lab</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https://www.youtube.com/watch?v=JLnGSWK4bJY&amp;list=PLZslvC3k6NibmbMzfuyc3UGXkIC5k6YvC&amp;index=7</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274</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Setup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an agent's configuration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275</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Setup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Set the agent's mandate and the tools it may use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276</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Setup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Set a per-agent budget cap</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277</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Setup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and confirm the agent is ready to receive tasks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278</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Setup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Each agent has a mandate, allowed tools and a budget cap, and is ready for tasks.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279</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Apply Paperclip's governance: company-wide and per-agent budget caps trigger an 80% warning and a 100% pause; approvals gate risky decisions; the audit trail records everything.</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Budget caps with the 80% warning and 100% pause rails demonstrated, plus an audit review.</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Paperclip, budgets, PostgreSQL audit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280</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the reference video for this lab</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https://www.youtube.com/watch?v=77uTzIqw8SQ&amp;list=PLZslvC3k6NibmbMzfuyc3UGXkIC5k6YvC&amp;index=8</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281</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Set a company and/or per-agent budget cap</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282</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Trigger the 80% warning and 100% pause, then resume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283</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Audit actions and spend in the embedded PostgreSQL</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psql "postgresql://postgres@localhost:5432/paperclip"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284</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Separate human vs agent actions with actor_type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SELECT actor_type, COUNT(*) FROM activity_log GROUP BY actor_type;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285</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80% warning and 100% pause fire, resume works, and the audit shows actions by actor_type and total spend.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286</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Assign Task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Delegate real work: assign tasks to specialists, watch them execute and produce deliverables in the workspace, and review and accept the results to complete the Nimbus Coffee goal.</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Assigned tasks executed by agents, producing real deliverables you review and accept.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Paperclip, task board, workspace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287</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Assign Task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the reference video for this lab</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https://www.youtube.com/watch?v=kAGzMnQ3_Cs&amp;list=PLZslvC3k6NibmbMzfuyc3UGXkIC5k6YvC&amp;index=9</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288</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Assign Task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Assign a task to a specialist agent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289</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Assign Task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the agent execute and write output to the workspace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ls -R ~/paperclip-workspace/nimbus-coffee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290</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Assign Task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Review the deliverable in the in_review state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291</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Assign Task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Approve to move it to done, or send it back for revision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292</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Assign Task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An assigned task is executed by an agent, produces a real file, and is reviewed and accepted to done.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293</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Recap — Paperclip — Running &amp; Governing a Company of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now: LO1: Install and self-host Paperclip, then found your company.</a:t>
            </a:r>
          </a:p>
          <a:p>
            <a:pPr>
              <a:spcAft>
                <a:spcPts val="1000"/>
              </a:spcAft>
            </a:pPr>
            <a:r>
              <a:rPr sz="1700" b="0">
                <a:solidFill>
                  <a:srgbClr val="161B26"/>
                </a:solidFill>
                <a:latin typeface="Arial"/>
              </a:rPr>
              <a:t>•  You can now: LO2: Connect a coding model (OpenAI Codex) as the agents' engine.</a:t>
            </a:r>
          </a:p>
          <a:p>
            <a:pPr>
              <a:spcAft>
                <a:spcPts val="1000"/>
              </a:spcAft>
            </a:pPr>
            <a:r>
              <a:rPr sz="1700" b="0">
                <a:solidFill>
                  <a:srgbClr val="161B26"/>
                </a:solidFill>
                <a:latin typeface="Arial"/>
              </a:rPr>
              <a:t>•  You can now: LO2: Configure the company — settings, budget and workspace.</a:t>
            </a:r>
          </a:p>
          <a:p>
            <a:pPr>
              <a:spcAft>
                <a:spcPts val="1000"/>
              </a:spcAft>
            </a:pPr>
            <a:r>
              <a:rPr sz="1700" b="0">
                <a:solidFill>
                  <a:srgbClr val="161B26"/>
                </a:solidFill>
                <a:latin typeface="Arial"/>
              </a:rPr>
              <a:t>•  You can now: LO3: Track AI work on the task board.</a:t>
            </a:r>
          </a:p>
          <a:p>
            <a:pPr>
              <a:spcAft>
                <a:spcPts val="1000"/>
              </a:spcAft>
            </a:pPr>
            <a:r>
              <a:rPr sz="1700" b="0">
                <a:solidFill>
                  <a:srgbClr val="161B26"/>
                </a:solidFill>
                <a:latin typeface="Arial"/>
              </a:rPr>
              <a:t>•  You can now: LO3: Automate hiring of the CEO and specialist agents behind approval gates.</a:t>
            </a:r>
          </a:p>
          <a:p>
            <a:pPr>
              <a:spcAft>
                <a:spcPts val="1000"/>
              </a:spcAft>
            </a:pPr>
            <a:r>
              <a:rPr sz="1700" b="0">
                <a:solidFill>
                  <a:srgbClr val="161B26"/>
                </a:solidFill>
                <a:latin typeface="Arial"/>
              </a:rPr>
              <a:t>•  You can now: LO2: Set up and configure the AI agents and their capabilities.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294</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295</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Analyzed AI Applications</a:t>
            </a:r>
          </a:p>
          <a:p>
            <a:pPr algn="l">
              <a:spcAft>
                <a:spcPts val="300"/>
              </a:spcAft>
            </a:pPr>
            <a:r>
              <a:rPr sz="1300" b="0">
                <a:solidFill>
                  <a:srgbClr val="5B6372"/>
                </a:solidFill>
                <a:latin typeface="Arial"/>
              </a:rPr>
              <a:t>Analyse AI (LLM-based) applications across a range of industries to identify their capabilities and limitations.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Design &amp; Chatbot Efficiency</a:t>
            </a:r>
          </a:p>
          <a:p>
            <a:pPr algn="l">
              <a:spcAft>
                <a:spcPts val="300"/>
              </a:spcAft>
            </a:pPr>
            <a:r>
              <a:rPr sz="1300" b="0">
                <a:solidFill>
                  <a:srgbClr val="5B6372"/>
                </a:solidFill>
                <a:latin typeface="Arial"/>
              </a:rPr>
              <a:t>Establish the relationship between AI algorithm/agent design and chatbot/agent efficiency.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Evaluated &amp; Improved RAG</a:t>
            </a:r>
          </a:p>
          <a:p>
            <a:pPr algn="l">
              <a:spcAft>
                <a:spcPts val="300"/>
              </a:spcAft>
            </a:pPr>
            <a:r>
              <a:rPr sz="1300" b="0">
                <a:solidFill>
                  <a:srgbClr val="5B6372"/>
                </a:solidFill>
                <a:latin typeface="Arial"/>
              </a:rPr>
              <a:t>Evaluate and improve the effectiveness of AI (RAG and agent) applications in product development.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296</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Continuing Your AI-Agent Journey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Deploy an agent on a VPS or cloud backend for round-the-clock, 24/7 operation.</a:t>
            </a:r>
          </a:p>
          <a:p>
            <a:pPr>
              <a:spcAft>
                <a:spcPts val="1000"/>
              </a:spcAft>
            </a:pPr>
            <a:r>
              <a:rPr sz="2000" b="0">
                <a:solidFill>
                  <a:srgbClr val="161B26"/>
                </a:solidFill>
                <a:latin typeface="Arial"/>
              </a:rPr>
              <a:t>•  Extend the labs with your own skills, tools and integrations for a workflow you care about.</a:t>
            </a:r>
          </a:p>
          <a:p>
            <a:pPr>
              <a:spcAft>
                <a:spcPts val="1000"/>
              </a:spcAft>
            </a:pPr>
            <a:r>
              <a:rPr sz="2000" b="0">
                <a:solidFill>
                  <a:srgbClr val="161B26"/>
                </a:solidFill>
                <a:latin typeface="Arial"/>
              </a:rPr>
              <a:t>•  Apply governance in production — budgets, approvals and an audit trail.</a:t>
            </a:r>
          </a:p>
          <a:p>
            <a:pPr>
              <a:spcAft>
                <a:spcPts val="1000"/>
              </a:spcAft>
            </a:pPr>
            <a:r>
              <a:rPr sz="2000" b="0">
                <a:solidFill>
                  <a:srgbClr val="161B26"/>
                </a:solidFill>
                <a:latin typeface="Arial"/>
              </a:rPr>
              <a:t>•  Explore multi-agent orchestration to deliver real end-to-end business workflows.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297</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Written Assessment (SAQ) — 1 hour.  Practical Performance (PP) — 1 hour.</a:t>
            </a:r>
          </a:p>
          <a:p>
            <a:pPr>
              <a:spcAft>
                <a:spcPts val="1000"/>
              </a:spcAft>
            </a:pPr>
            <a:r>
              <a:rPr sz="2000" b="0">
                <a:solidFill>
                  <a:srgbClr val="161B26"/>
                </a:solidFill>
                <a:latin typeface="Arial"/>
              </a:rPr>
              <a:t>•  Open book: slides, Learner Guide and approved materials only.</a:t>
            </a:r>
          </a:p>
          <a:p>
            <a:pPr>
              <a:spcAft>
                <a:spcPts val="1000"/>
              </a:spcAft>
            </a:pPr>
            <a:r>
              <a:rPr sz="2000" b="0">
                <a:solidFill>
                  <a:srgbClr val="161B26"/>
                </a:solidFill>
                <a:latin typeface="Arial"/>
              </a:rPr>
              <a:t>•  Remember to take the Assessment digital attendance (TRAQOM).</a:t>
            </a:r>
          </a:p>
          <a:p>
            <a:pPr>
              <a:spcAft>
                <a:spcPts val="1000"/>
              </a:spcAft>
            </a:pPr>
            <a:r>
              <a:rPr sz="2000" b="0">
                <a:solidFill>
                  <a:srgbClr val="161B26"/>
                </a:solidFill>
                <a:latin typeface="Arial"/>
              </a:rPr>
              <a:t>•  Submit your completed answers on the LMS at https://lms-tms.tertiaryinfotech.com/.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298</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WA (SAQ) then PP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299</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It is mandatory to take the AM, PM and Assessment digital attendance for WSQ-funded courses.</a:t>
            </a:r>
          </a:p>
          <a:p>
            <a:pPr>
              <a:spcAft>
                <a:spcPts val="1000"/>
              </a:spcAft>
            </a:pPr>
            <a:r>
              <a:rPr sz="2000" b="0">
                <a:solidFill>
                  <a:srgbClr val="161B26"/>
                </a:solidFill>
                <a:latin typeface="Arial"/>
              </a:rPr>
              <a:t>•  The trainer/administrator displays the digital attendance QR code from the SSG portal.</a:t>
            </a:r>
          </a:p>
          <a:p>
            <a:pPr>
              <a:spcAft>
                <a:spcPts val="1000"/>
              </a:spcAft>
            </a:pPr>
            <a:r>
              <a:rPr sz="2000" b="0">
                <a:solidFill>
                  <a:srgbClr val="161B26"/>
                </a:solidFill>
                <a:latin typeface="Arial"/>
              </a:rPr>
              <a:t>•  Scan the QR code with your mobile phone camera and submit your attendance.</a:t>
            </a:r>
          </a:p>
          <a:p>
            <a:pPr>
              <a:spcAft>
                <a:spcPts val="1000"/>
              </a:spcAft>
            </a:pPr>
            <a:r>
              <a:rPr sz="2000" b="0">
                <a:solidFill>
                  <a:srgbClr val="161B26"/>
                </a:solidFill>
                <a:latin typeface="Arial"/>
              </a:rPr>
              <a:t>•  A minimum of 75% attendance is required to be eligible for assessment and funding.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300</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BUILD YOUR AI WORKFORCE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build, secure and orchestrate autonomous AI agents — from a single assistant to a company of agents.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