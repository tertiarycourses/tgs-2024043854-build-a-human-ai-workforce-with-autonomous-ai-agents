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Build a Human-AI Workforce with Autonomous AI Agents</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TGS-2024043854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  ·  14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AI, automation and cloud certified — building autonomous AI agents and agentic workflows.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agents, automation, data engineering and cloud.</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AI, automation or coding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automate with AI agents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for the open-book assessment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Hermes Agent (Topic 1) &amp; OpenClaw (Topic 2)</a:t>
            </a:r>
          </a:p>
          <a:p>
            <a:pPr>
              <a:spcAft>
                <a:spcPts val="1000"/>
              </a:spcAft>
            </a:pPr>
            <a:r>
              <a:rPr sz="1400" b="0">
                <a:solidFill>
                  <a:srgbClr val="5B6372"/>
                </a:solidFill>
                <a:latin typeface="Arial"/>
              </a:rPr>
              <a:t>–  Topic 1: Hermes Agent (Labs 1–14)</a:t>
            </a:r>
          </a:p>
          <a:p>
            <a:pPr>
              <a:spcAft>
                <a:spcPts val="1000"/>
              </a:spcAft>
            </a:pPr>
            <a:r>
              <a:rPr sz="1400" b="0">
                <a:solidFill>
                  <a:srgbClr val="5B6372"/>
                </a:solidFill>
                <a:latin typeface="Arial"/>
              </a:rPr>
              <a:t>–  Topic 2: OpenClaw (Labs 15–26)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Paperclip (Topic 3) &amp; Final Assessment</a:t>
            </a:r>
          </a:p>
          <a:p>
            <a:pPr>
              <a:spcAft>
                <a:spcPts val="1000"/>
              </a:spcAft>
            </a:pPr>
            <a:r>
              <a:rPr sz="1400" b="0">
                <a:solidFill>
                  <a:srgbClr val="5B6372"/>
                </a:solidFill>
                <a:latin typeface="Arial"/>
              </a:rPr>
              <a:t>–  Topic 3: Paperclip (Labs 27–34)</a:t>
            </a:r>
          </a:p>
          <a:p>
            <a:pPr>
              <a:spcAft>
                <a:spcPts val="1000"/>
              </a:spcAft>
            </a:pPr>
            <a:r>
              <a:rPr sz="1400" b="0">
                <a:solidFill>
                  <a:srgbClr val="5B6372"/>
                </a:solidFill>
                <a:latin typeface="Arial"/>
              </a:rPr>
              <a:t>–  Final Assessment (WA + PP)</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Analyze AI Applications</a:t>
            </a:r>
          </a:p>
          <a:p>
            <a:pPr algn="l">
              <a:spcAft>
                <a:spcPts val="300"/>
              </a:spcAft>
            </a:pPr>
            <a:r>
              <a:rPr sz="1300" b="0">
                <a:solidFill>
                  <a:srgbClr val="5B6372"/>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&amp; Chatbot Efficiency</a:t>
            </a:r>
          </a:p>
          <a:p>
            <a:pPr algn="l">
              <a:spcAft>
                <a:spcPts val="300"/>
              </a:spcAft>
            </a:pPr>
            <a:r>
              <a:rPr sz="1300" b="0">
                <a:solidFill>
                  <a:srgbClr val="5B6372"/>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Evaluate &amp; Improve RAG</a:t>
            </a:r>
          </a:p>
          <a:p>
            <a:pPr algn="l">
              <a:spcAft>
                <a:spcPts val="300"/>
              </a:spcAft>
            </a:pPr>
            <a:r>
              <a:rPr sz="1300" b="0">
                <a:solidFill>
                  <a:srgbClr val="5B6372"/>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0" name="TextBox 9"/>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Place phones and other materials under the table or on the floor.</a:t>
            </a:r>
          </a:p>
        </p:txBody>
      </p:sp>
      <p:sp>
        <p:nvSpPr>
          <p:cNvPr id="11" name="Rectangle 10"/>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5" name="TextBox 14"/>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photos or recording of assessment scripts.</a:t>
            </a:r>
          </a:p>
        </p:txBody>
      </p:sp>
      <p:sp>
        <p:nvSpPr>
          <p:cNvPr id="16" name="Rectangle 15"/>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0" name="TextBox 19"/>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discussion during the assessment.</a:t>
            </a:r>
          </a:p>
        </p:txBody>
      </p:sp>
      <p:sp>
        <p:nvSpPr>
          <p:cNvPr id="21" name="Rectangle 20"/>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5" name="TextBox 24"/>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Use a black/blue pen for hard-copy assessments.</a:t>
            </a:r>
          </a:p>
        </p:txBody>
      </p:sp>
      <p:sp>
        <p:nvSpPr>
          <p:cNvPr id="26" name="Rectangle 25"/>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0" name="TextBox 29"/>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No liquid paper / correction tape.</a:t>
            </a:r>
          </a:p>
        </p:txBody>
      </p:sp>
      <p:sp>
        <p:nvSpPr>
          <p:cNvPr id="31" name="Rectangle 30"/>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5" name="TextBox 34"/>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Written Assessment (WA) — Short-Answer Questions (SAQ), 1 hour, open book.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Practical Performance (PP) — hands-on agent-building tasks that follow the course labs, 1 hour, open book.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Format: Open Book — slides, Learner Guide and approved materials only.</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 minimum of 75% attendance is required to be eligible for assessment and funding.</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Autonomous AI Agents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is an Autonomous AI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Perceive → reason → act → remember</a:t>
            </a:r>
          </a:p>
          <a:p>
            <a:pPr algn="l">
              <a:spcAft>
                <a:spcPts val="300"/>
              </a:spcAft>
            </a:pPr>
            <a:r>
              <a:rPr sz="1300" b="0">
                <a:solidFill>
                  <a:srgbClr val="5B6372"/>
                </a:solidFill>
                <a:latin typeface="Arial"/>
              </a:rPr>
              <a:t>An LLM-driven loop: it takes in a request, decides what to do, acts, then remembers the outcome.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Uses tools &amp; skills</a:t>
            </a:r>
          </a:p>
          <a:p>
            <a:pPr algn="l">
              <a:spcAft>
                <a:spcPts val="300"/>
              </a:spcAft>
            </a:pPr>
            <a:r>
              <a:rPr sz="1300" b="0">
                <a:solidFill>
                  <a:srgbClr val="5B6372"/>
                </a:solidFill>
                <a:latin typeface="Arial"/>
              </a:rPr>
              <a:t>It calls web search, images, email, code and integrations — not just chat — to get real work done.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Runs across channels</a:t>
            </a:r>
          </a:p>
          <a:p>
            <a:pPr algn="l">
              <a:spcAft>
                <a:spcPts val="300"/>
              </a:spcAft>
            </a:pPr>
            <a:r>
              <a:rPr sz="1300" b="0">
                <a:solidFill>
                  <a:srgbClr val="5B6372"/>
                </a:solidFill>
                <a:latin typeface="Arial"/>
              </a:rPr>
              <a:t>The same agent is reachable on Telegram, WhatsApp, Discord, Slack and the terminal.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Autonomy under oversight</a:t>
            </a:r>
          </a:p>
          <a:p>
            <a:pPr algn="l">
              <a:spcAft>
                <a:spcPts val="300"/>
              </a:spcAft>
            </a:pPr>
            <a:r>
              <a:rPr sz="1300" b="0">
                <a:solidFill>
                  <a:srgbClr val="5B6372"/>
                </a:solidFill>
                <a:latin typeface="Arial"/>
              </a:rPr>
              <a:t>It works on its own, but important actions pause for human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Agent Stack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 LLM</a:t>
            </a:r>
          </a:p>
          <a:p>
            <a:pPr algn="l">
              <a:spcAft>
                <a:spcPts val="300"/>
              </a:spcAft>
            </a:pPr>
            <a:r>
              <a:rPr sz="1200" b="0">
                <a:solidFill>
                  <a:srgbClr val="5B6372"/>
                </a:solidFill>
                <a:latin typeface="Arial"/>
              </a:rPr>
              <a:t>The reasoning engine — Claude, OpenAI, OpenRouter, MiniMax or DeepSeek.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Durable, user- or company-scoped recall across sessions and surfaces.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Skills &amp; Tools</a:t>
            </a:r>
          </a:p>
          <a:p>
            <a:pPr algn="l">
              <a:spcAft>
                <a:spcPts val="300"/>
              </a:spcAft>
            </a:pPr>
            <a:r>
              <a:rPr sz="1200" b="0">
                <a:solidFill>
                  <a:srgbClr val="5B6372"/>
                </a:solidFill>
                <a:latin typeface="Arial"/>
              </a:rPr>
              <a:t>Reusable capabilities plus tool and third-party integration calls.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Channels</a:t>
            </a:r>
          </a:p>
          <a:p>
            <a:pPr algn="l">
              <a:spcAft>
                <a:spcPts val="300"/>
              </a:spcAft>
            </a:pPr>
            <a:r>
              <a:rPr sz="1200" b="0">
                <a:solidFill>
                  <a:srgbClr val="5B6372"/>
                </a:solidFill>
                <a:latin typeface="Arial"/>
              </a:rPr>
              <a:t>Where the agent meets people: Telegram, WhatsApp, Discord, Slack.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Scheduler &amp; Security</a:t>
            </a:r>
          </a:p>
          <a:p>
            <a:pPr algn="l">
              <a:spcAft>
                <a:spcPts val="300"/>
              </a:spcAft>
            </a:pPr>
            <a:r>
              <a:rPr sz="1200" b="0">
                <a:solidFill>
                  <a:srgbClr val="5B6372"/>
                </a:solidFill>
                <a:latin typeface="Arial"/>
              </a:rPr>
              <a:t>Crons and a heartbeat automate work; sandboxes, budgets and approvals contain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HUMAN-IN-THE-LOOP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Powerful, but always under human oversight.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Approvals gate risky actions, budgets cap spend (warn at 80%, pause at 100%), and sandboxes isolate execution — so an agent stays safe as it scales.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Three Platforms, One Skillset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Hermes Agent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Your personal chief-of-staff</a:t>
            </a:r>
          </a:p>
          <a:p>
            <a:pPr>
              <a:spcAft>
                <a:spcPts val="900"/>
              </a:spcAft>
            </a:pPr>
            <a:r>
              <a:rPr sz="1400" b="0">
                <a:solidFill>
                  <a:srgbClr val="161B26"/>
                </a:solidFill>
                <a:latin typeface="Arial"/>
              </a:rPr>
              <a:t>•  Lives across your messaging apps</a:t>
            </a:r>
          </a:p>
          <a:p>
            <a:pPr>
              <a:spcAft>
                <a:spcPts val="900"/>
              </a:spcAft>
            </a:pPr>
            <a:r>
              <a:rPr sz="1400" b="0">
                <a:solidFill>
                  <a:srgbClr val="161B26"/>
                </a:solidFill>
                <a:latin typeface="Arial"/>
              </a:rPr>
              <a:t>•  Cross-channel, memory, crons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OpenClaw</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Automates a business back-office</a:t>
            </a:r>
          </a:p>
          <a:p>
            <a:pPr>
              <a:spcAft>
                <a:spcPts val="900"/>
              </a:spcAft>
            </a:pPr>
            <a:r>
              <a:rPr sz="1400" b="0">
                <a:solidFill>
                  <a:srgbClr val="161B26"/>
                </a:solidFill>
                <a:latin typeface="Arial"/>
              </a:rPr>
              <a:t>•  Node.js gateway daemon</a:t>
            </a:r>
          </a:p>
          <a:p>
            <a:pPr>
              <a:spcAft>
                <a:spcPts val="900"/>
              </a:spcAft>
            </a:pPr>
            <a:r>
              <a:rPr sz="1400" b="0">
                <a:solidFill>
                  <a:srgbClr val="161B26"/>
                </a:solidFill>
                <a:latin typeface="Arial"/>
              </a:rPr>
              <a:t>•  Skills, tools, nightly reports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Paperclip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company of AI agents you govern</a:t>
            </a:r>
          </a:p>
          <a:p>
            <a:pPr>
              <a:spcAft>
                <a:spcPts val="900"/>
              </a:spcAft>
            </a:pPr>
            <a:r>
              <a:rPr sz="1400" b="0">
                <a:solidFill>
                  <a:srgbClr val="161B26"/>
                </a:solidFill>
                <a:latin typeface="Arial"/>
              </a:rPr>
              <a:t>•  Self-hosted with Docker</a:t>
            </a:r>
          </a:p>
          <a:p>
            <a:pPr>
              <a:spcAft>
                <a:spcPts val="900"/>
              </a:spcAft>
            </a:pPr>
            <a:r>
              <a:rPr sz="1400" b="0">
                <a:solidFill>
                  <a:srgbClr val="161B26"/>
                </a:solidFill>
                <a:latin typeface="Arial"/>
              </a:rPr>
              <a:t>•  Hiring, budgets, audit trail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HOW EVERY LAB PROGRESSES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Build Arc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Install the runtime → connect a model → add channels → give it memory.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Extend it with skills → wire in tools and integrations → schedule work with crons.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Secure it with sandboxing, secrets and approvals → drive it through commands.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Finish each platform by orchestrating a multi-agent team for an end-to-end outcome.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same arc repeats on Hermes, OpenClaw and Paperclip — so the skillset transfers.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Hermes Agent — Your Autonomous Personal Chief-of-Staff</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&amp; Setup · Deployment · Memory &amp; Plugins · Skills · Providers &amp; Model · MCP &amp; Tools · Crons · Subagents · Profile &amp; Kanban ·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Hermes Agent — Your Autonomous Personal Chief-of-Staff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Hermes Agent (Nous Research) installs on your own machine — via the install script or the Hermes Desktop app — and requires a model with a &gt;=64,000-token context window.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Memory and plugins make the agent stateful and extensible: a three-layer memory (agent-curated notes, FTS5 cross-session recall, Honcho user modelling) plus installable skills and MCP tools.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Providers &amp; models are swappable with no lock-in (Nous Portal, OpenRouter, OpenAI, any endpoint); MCP servers and the Tool Gateway (web search, image, TTS) give the agent real-world reach.</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Cron jobs automate recurring work; subagents &amp; delegation split work across isolated backends; the profile and Kanban board let you supervise the agent's tasks — all under security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Hermes Agent — Your Autonomous Personal Chief-of-Staff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and Setup Hermes</a:t>
            </a:r>
          </a:p>
          <a:p>
            <a:pPr>
              <a:spcAft>
                <a:spcPts val="900"/>
              </a:spcAft>
            </a:pPr>
            <a:r>
              <a:rPr sz="1400" b="0">
                <a:solidFill>
                  <a:srgbClr val="161B26"/>
                </a:solidFill>
                <a:latin typeface="Arial"/>
              </a:rPr>
              <a:t>•  Deployment — Local Install &amp; Hermes Desktop App</a:t>
            </a:r>
          </a:p>
          <a:p>
            <a:pPr>
              <a:spcAft>
                <a:spcPts val="900"/>
              </a:spcAft>
            </a:pPr>
            <a:r>
              <a:rPr sz="1400" b="0">
                <a:solidFill>
                  <a:srgbClr val="161B26"/>
                </a:solidFill>
                <a:latin typeface="Arial"/>
              </a:rPr>
              <a:t>•  Memory and Plugins</a:t>
            </a:r>
          </a:p>
          <a:p>
            <a:pPr>
              <a:spcAft>
                <a:spcPts val="900"/>
              </a:spcAft>
            </a:pPr>
            <a:r>
              <a:rPr sz="1400" b="0">
                <a:solidFill>
                  <a:srgbClr val="161B26"/>
                </a:solidFill>
                <a:latin typeface="Arial"/>
              </a:rPr>
              <a:t>•  Skills</a:t>
            </a:r>
          </a:p>
          <a:p>
            <a:pPr>
              <a:spcAft>
                <a:spcPts val="900"/>
              </a:spcAft>
            </a:pPr>
            <a:r>
              <a:rPr sz="1400" b="0">
                <a:solidFill>
                  <a:srgbClr val="161B26"/>
                </a:solidFill>
                <a:latin typeface="Arial"/>
              </a:rPr>
              <a:t>•  Providers &amp; Model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6–10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MCP and Tools</a:t>
            </a:r>
          </a:p>
          <a:p>
            <a:pPr>
              <a:spcAft>
                <a:spcPts val="900"/>
              </a:spcAft>
            </a:pPr>
            <a:r>
              <a:rPr sz="1400" b="0">
                <a:solidFill>
                  <a:srgbClr val="161B26"/>
                </a:solidFill>
                <a:latin typeface="Arial"/>
              </a:rPr>
              <a:t>•  Cron Jobs &amp; Automation</a:t>
            </a:r>
          </a:p>
          <a:p>
            <a:pPr>
              <a:spcAft>
                <a:spcPts val="900"/>
              </a:spcAft>
            </a:pPr>
            <a:r>
              <a:rPr sz="1400" b="0">
                <a:solidFill>
                  <a:srgbClr val="161B26"/>
                </a:solidFill>
                <a:latin typeface="Arial"/>
              </a:rPr>
              <a:t>•  Subagents &amp; Delegation</a:t>
            </a:r>
          </a:p>
          <a:p>
            <a:pPr>
              <a:spcAft>
                <a:spcPts val="900"/>
              </a:spcAft>
            </a:pPr>
            <a:r>
              <a:rPr sz="1400" b="0">
                <a:solidFill>
                  <a:srgbClr val="161B26"/>
                </a:solidFill>
                <a:latin typeface="Arial"/>
              </a:rPr>
              <a:t>•  Profile and Kanban</a:t>
            </a:r>
          </a:p>
          <a:p>
            <a:pPr>
              <a:spcAft>
                <a:spcPts val="900"/>
              </a:spcAft>
            </a:pPr>
            <a:r>
              <a:rPr sz="1400" b="0">
                <a:solidFill>
                  <a:srgbClr val="161B26"/>
                </a:solidFill>
                <a:latin typeface="Arial"/>
              </a:rPr>
              <a:t>•  Security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Case — Make a Video with Hyperframe</a:t>
            </a:r>
          </a:p>
          <a:p>
            <a:pPr>
              <a:spcAft>
                <a:spcPts val="900"/>
              </a:spcAft>
            </a:pPr>
            <a:r>
              <a:rPr sz="1400" b="0">
                <a:solidFill>
                  <a:srgbClr val="161B26"/>
                </a:solidFill>
                <a:latin typeface="Arial"/>
              </a:rPr>
              <a:t>•  Visualization</a:t>
            </a:r>
          </a:p>
          <a:p>
            <a:pPr>
              <a:spcAft>
                <a:spcPts val="900"/>
              </a:spcAft>
            </a:pPr>
            <a:r>
              <a:rPr sz="1400" b="0">
                <a:solidFill>
                  <a:srgbClr val="161B26"/>
                </a:solidFill>
                <a:latin typeface="Arial"/>
              </a:rPr>
              <a:t>•  Build a Multi-Agent Workflow</a:t>
            </a:r>
          </a:p>
          <a:p>
            <a:pPr>
              <a:spcAft>
                <a:spcPts val="900"/>
              </a:spcAft>
            </a:pPr>
            <a:r>
              <a:rPr sz="1400" b="0">
                <a:solidFill>
                  <a:srgbClr val="161B26"/>
                </a:solidFill>
                <a:latin typeface="Arial"/>
              </a:rPr>
              <a:t>•  Webhook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Install Hermes Agent on your laptop using any of the official install methods (Desktop installer, install script, PowerShell, from source, or Nix), run the first-time setup wizard, and confirm a healthy install. This is the foundation for the Athena chief-of-staff agent you build across the track. Prerequisite: Git; the installer auto-handles Python 3.11, Node.js v22, ripgrep and ffmpeg.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Hermes Agent install that passes 'hermes doctor' and opens the TUI.</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Nous Portal,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on macOS / Linux / WSL2 — run the official install script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-fsSL https://hermes-agent.nousresearch.com/install.sh | bash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on Windows — run the PowerShell installer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iex (irm https://hermes-agent.nousresearch.com/install.ps1)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Hermes Desktop — download the installer from hermes-agent.nousresearch.com, or launch it from an existing CLI install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desktop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Other install options: from source (Development Setup) or Nix/NixOS (flake + module)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Reload your shell so the 'hermes' command is on PATH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source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first-time setup wizard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setup --portal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install is healthy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Launch the agent and say hello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--tui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and Setup Hermes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'hermes doctor' reports all green and the TUI opens and replies to a message.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Run Hermes as a persistent local deployment (preferred) and also install the Hermes Desktop app for a GUI experience. Confirm the local gateway is serving and keep the runtime up to date.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local Hermes deployment plus the Desktop app, both talking to the same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Hermes Desktop,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Hermes in the Browser —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dashboard.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The Hermes Dashboard (http://127.0.0.1:9119) — your local deployment's sessions 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local install runs (preferred deployment)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Download and install the Hermes Desktop app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Desktop app and sign in with the same Nous Portal account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local gateway is serving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Keep the runtime up to date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update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Both the local CLI and the Desktop app drive the same agent; 'hermes gateway status' is healthy.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Explore Hermes' three-layer memory (agent-curated notes, FTS5 cross-session recall, Honcho user modelling). Teach Athena a preference, recall it in a fresh session, and enable a plugin to extend behaviour.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remembers a stated preference across sessions and runs an enabled plugin.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memory, plugins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a session, teach Athena a durable preference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a new session and confirm the preference is recalled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--continue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Inspect stored memory/sessions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a plugin to extend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and Plugins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preference taught in one session is recalled in a new session, and the enabled plugin is active.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Browse and install open-standard skills (agentskills.io / Skills Hub) so Athena can perform new tasks. Skills are portable and can self-improve as the agent uses them.</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equipped with at least one installed skill that it can invoke on request.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agentskills.io, Skills Hub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Hermes in the Browser — 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skil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The Skills page of a live Hermes install — 97 skills, filterable by category, plus Learn-a-skill and New-skill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FROM A LIVE HERMES INSTALL · 97 SKILLS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Hermes Skill Categories (1 of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Creative</a:t>
            </a:r>
          </a:p>
          <a:p>
            <a:pPr algn="l">
              <a:spcAft>
                <a:spcPts val="300"/>
              </a:spcAft>
            </a:pPr>
            <a:r>
              <a:rPr sz="900" b="0">
                <a:solidFill>
                  <a:srgbClr val="5B6372"/>
                </a:solidFill>
                <a:latin typeface="Arial"/>
              </a:rPr>
              <a:t>20 skills · e.g. architecture-diagram, ascii-art, ascii-video</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Mlops</a:t>
            </a:r>
          </a:p>
          <a:p>
            <a:pPr algn="l">
              <a:spcAft>
                <a:spcPts val="300"/>
              </a:spcAft>
            </a:pPr>
            <a:r>
              <a:rPr sz="900" b="0">
                <a:solidFill>
                  <a:srgbClr val="5B6372"/>
                </a:solidFill>
                <a:latin typeface="Arial"/>
              </a:rPr>
              <a:t>13 skills · e.g. evaluating-llms-harness, weights-and-biases, huggingface-hub</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Software Development</a:t>
            </a:r>
          </a:p>
          <a:p>
            <a:pPr algn="l">
              <a:spcAft>
                <a:spcPts val="300"/>
              </a:spcAft>
            </a:pPr>
            <a:r>
              <a:rPr sz="900" b="0">
                <a:solidFill>
                  <a:srgbClr val="5B6372"/>
                </a:solidFill>
                <a:latin typeface="Arial"/>
              </a:rPr>
              <a:t>13 skills · e.g. debugging-hermes-tui-commands, hermes-agent-skill-authoring, hermes-s6-container-supervision</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Productivity</a:t>
            </a:r>
          </a:p>
          <a:p>
            <a:pPr algn="l">
              <a:spcAft>
                <a:spcPts val="300"/>
              </a:spcAft>
            </a:pPr>
            <a:r>
              <a:rPr sz="900" b="0">
                <a:solidFill>
                  <a:srgbClr val="5B6372"/>
                </a:solidFill>
                <a:latin typeface="Arial"/>
              </a:rPr>
              <a:t>10 skills · e.g. airtable, google-workspace, linear</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Github</a:t>
            </a:r>
          </a:p>
          <a:p>
            <a:pPr algn="l">
              <a:spcAft>
                <a:spcPts val="300"/>
              </a:spcAft>
            </a:pPr>
            <a:r>
              <a:rPr sz="900" b="0">
                <a:solidFill>
                  <a:srgbClr val="5B6372"/>
                </a:solidFill>
                <a:latin typeface="Arial"/>
              </a:rPr>
              <a:t>6 skills · e.g. codebase-inspection, github-auth, github-code-review</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Media</a:t>
            </a:r>
          </a:p>
          <a:p>
            <a:pPr algn="l">
              <a:spcAft>
                <a:spcPts val="300"/>
              </a:spcAft>
            </a:pPr>
            <a:r>
              <a:rPr sz="900" b="0">
                <a:solidFill>
                  <a:srgbClr val="5B6372"/>
                </a:solidFill>
                <a:latin typeface="Arial"/>
              </a:rPr>
              <a:t>6 skills · e.g. gif-search, heartmula, songsee</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Apple</a:t>
            </a:r>
          </a:p>
          <a:p>
            <a:pPr algn="l">
              <a:spcAft>
                <a:spcPts val="300"/>
              </a:spcAft>
            </a:pPr>
            <a:r>
              <a:rPr sz="900" b="0">
                <a:solidFill>
                  <a:srgbClr val="5B6372"/>
                </a:solidFill>
                <a:latin typeface="Arial"/>
              </a:rPr>
              <a:t>5 skills · e.g. apple-notes, apple-reminders, findmy</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Autonomous Ai Agents</a:t>
            </a:r>
          </a:p>
          <a:p>
            <a:pPr algn="l">
              <a:spcAft>
                <a:spcPts val="300"/>
              </a:spcAft>
            </a:pPr>
            <a:r>
              <a:rPr sz="900" b="0">
                <a:solidFill>
                  <a:srgbClr val="5B6372"/>
                </a:solidFill>
                <a:latin typeface="Arial"/>
              </a:rPr>
              <a:t>5 skills · e.g. claude-code, codex, hermes-agent</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Research</a:t>
            </a:r>
          </a:p>
          <a:p>
            <a:pPr algn="l">
              <a:spcAft>
                <a:spcPts val="300"/>
              </a:spcAft>
            </a:pPr>
            <a:r>
              <a:rPr sz="900" b="0">
                <a:solidFill>
                  <a:srgbClr val="5B6372"/>
                </a:solidFill>
                <a:latin typeface="Arial"/>
              </a:rPr>
              <a:t>5 skills · e.g. arxiv, blogwatcher, llm-wiki</a:t>
            </a:r>
          </a:p>
        </p:txBody>
      </p:sp>
      <p:sp>
        <p:nvSpPr>
          <p:cNvPr id="52" name="Rectangle 51"/>
          <p:cNvSpPr/>
          <p:nvPr/>
        </p:nvSpPr>
        <p:spPr>
          <a:xfrm>
            <a:off x="6231636"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6994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553760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559795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Other</a:t>
            </a:r>
          </a:p>
          <a:p>
            <a:pPr algn="l">
              <a:spcAft>
                <a:spcPts val="300"/>
              </a:spcAft>
            </a:pPr>
            <a:r>
              <a:rPr sz="900" b="0">
                <a:solidFill>
                  <a:srgbClr val="5B6372"/>
                </a:solidFill>
                <a:latin typeface="Arial"/>
              </a:rPr>
              <a:t>3 skills · e.g. computer-use, dogfood, yuanbao</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FROM A LIVE HERMES INSTALL · 97 SKILLS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Hermes Skill Categories (2 of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Devops</a:t>
            </a:r>
          </a:p>
          <a:p>
            <a:pPr algn="l">
              <a:spcAft>
                <a:spcPts val="300"/>
              </a:spcAft>
            </a:pPr>
            <a:r>
              <a:rPr sz="900" b="0">
                <a:solidFill>
                  <a:srgbClr val="5B6372"/>
                </a:solidFill>
                <a:latin typeface="Arial"/>
              </a:rPr>
              <a:t>2 skills · e.g. agent-infrastructure-ops, webhook-subscriptions</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Gaming</a:t>
            </a:r>
          </a:p>
          <a:p>
            <a:pPr algn="l">
              <a:spcAft>
                <a:spcPts val="300"/>
              </a:spcAft>
            </a:pPr>
            <a:r>
              <a:rPr sz="900" b="0">
                <a:solidFill>
                  <a:srgbClr val="5B6372"/>
                </a:solidFill>
                <a:latin typeface="Arial"/>
              </a:rPr>
              <a:t>2 skills · e.g. minecraft-modpack-server, pokemon-player</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Data Science</a:t>
            </a:r>
          </a:p>
          <a:p>
            <a:pPr algn="l">
              <a:spcAft>
                <a:spcPts val="300"/>
              </a:spcAft>
            </a:pPr>
            <a:r>
              <a:rPr sz="900" b="0">
                <a:solidFill>
                  <a:srgbClr val="5B6372"/>
                </a:solidFill>
                <a:latin typeface="Arial"/>
              </a:rPr>
              <a:t>1 skill · e.g. jupyter-live-kernel</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Email</a:t>
            </a:r>
          </a:p>
          <a:p>
            <a:pPr algn="l">
              <a:spcAft>
                <a:spcPts val="300"/>
              </a:spcAft>
            </a:pPr>
            <a:r>
              <a:rPr sz="900" b="0">
                <a:solidFill>
                  <a:srgbClr val="5B6372"/>
                </a:solidFill>
                <a:latin typeface="Arial"/>
              </a:rPr>
              <a:t>1 skill · e.g. himalaya</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Mcp</a:t>
            </a:r>
          </a:p>
          <a:p>
            <a:pPr algn="l">
              <a:spcAft>
                <a:spcPts val="300"/>
              </a:spcAft>
            </a:pPr>
            <a:r>
              <a:rPr sz="900" b="0">
                <a:solidFill>
                  <a:srgbClr val="5B6372"/>
                </a:solidFill>
                <a:latin typeface="Arial"/>
              </a:rPr>
              <a:t>1 skill · e.g. native-mcp</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Note Taking</a:t>
            </a:r>
          </a:p>
          <a:p>
            <a:pPr algn="l">
              <a:spcAft>
                <a:spcPts val="300"/>
              </a:spcAft>
            </a:pPr>
            <a:r>
              <a:rPr sz="900" b="0">
                <a:solidFill>
                  <a:srgbClr val="5B6372"/>
                </a:solidFill>
                <a:latin typeface="Arial"/>
              </a:rPr>
              <a:t>1 skill · e.g. obsidian</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Red Teaming</a:t>
            </a:r>
          </a:p>
          <a:p>
            <a:pPr algn="l">
              <a:spcAft>
                <a:spcPts val="300"/>
              </a:spcAft>
            </a:pPr>
            <a:r>
              <a:rPr sz="900" b="0">
                <a:solidFill>
                  <a:srgbClr val="5B6372"/>
                </a:solidFill>
                <a:latin typeface="Arial"/>
              </a:rPr>
              <a:t>1 skill · e.g. godmode</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Smart Home</a:t>
            </a:r>
          </a:p>
          <a:p>
            <a:pPr algn="l">
              <a:spcAft>
                <a:spcPts val="300"/>
              </a:spcAft>
            </a:pPr>
            <a:r>
              <a:rPr sz="900" b="0">
                <a:solidFill>
                  <a:srgbClr val="5B6372"/>
                </a:solidFill>
                <a:latin typeface="Arial"/>
              </a:rPr>
              <a:t>1 skill · e.g. openhue</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300" b="1">
                <a:solidFill>
                  <a:srgbClr val="161B26"/>
                </a:solidFill>
                <a:latin typeface="Arial"/>
              </a:rPr>
              <a:t>Social Media</a:t>
            </a:r>
          </a:p>
          <a:p>
            <a:pPr algn="l">
              <a:spcAft>
                <a:spcPts val="300"/>
              </a:spcAft>
            </a:pPr>
            <a:r>
              <a:rPr sz="900" b="0">
                <a:solidFill>
                  <a:srgbClr val="5B6372"/>
                </a:solidFill>
                <a:latin typeface="Arial"/>
              </a:rPr>
              <a:t>1 skill · e.g. xurl</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Browse the skills hub</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browse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Search for a skill by keyword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&lt;keyword&gt;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a skill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install &lt;owner/skills/name&gt;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the agent to use the new skill and observe self-improvement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installed skill appears in the agent's toolset and runs when invoked.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Connect a model provider (Nous Portal, OpenRouter, OpenAI or any endpoint) and select a model that meets the &gt;=64,000-token context requirement. Switch providers to compare speed and quality.</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running on a chosen provider/model, with the ability to switch on demand.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Nous Portal, OpenRouter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interactive provider/model picker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 model explicitly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model anthropic/claude-opus-4.6</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provider key if using a cloud endpoint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OPENROUTER_API_KEY sk-or-...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active model meets the &gt;=64k context rule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Providers &amp;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agent starts on the selected model and can be switched to another provider without reinstalling.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Add Model Context Protocol (MCP) servers in the Hermes config and use the bundled Tool Gateway (web search, image generation, TTS) so Athena can act on the outside world.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Athena wired to an MCP server (e.g. GitHub) and able to use a Tool Gateway tool.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MCP, Tool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Hermes config to add an MCP server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GitHub MCP server entry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npx -y @modelcontextprotocol/server-github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Restart so the MCP server is picked up, then verify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a Tool Gateway tool (web search / image / TTS) from a chat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MCP and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agent lists the new MCP server's tools and completes a task using a Tool Gateway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Schedule Athena to run recurring jobs — for example an 8am daily briefing sent to your messaging app — and verify the scheduled run fires and produces output.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scheduled job (e.g. a daily briefing) that runs automatically and delivers a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scheduler/crons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a recurring job (daily 8am briefing) in the Hermes automation/cron config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automation is registered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Trigger the job once to confirm it produces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next scheduled run is queued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scheduled job runs at its time (or on manual trigger) and delivers the expected briefing.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Athena into a coordinator that delegates tasks to worker subagents running on isolated terminal backends (local, docker, ssh, modal), then aggregates their results.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coordinator agent that delegates a task to one or more worker subagents and combines the output.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terminal backends (docker/ssh/modal)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an isolated backend for worker agents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the coordinator to delegate a multi-part task to subagents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Observe each subagent run in isolation and report back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coordinator's aggregated result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Subagents &amp; Delegation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coordinator delegates to worker subagents on an isolated backend and returns a combined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the agent's profile and use the Hermes Kanban board to watch tasks move through todo -&gt; in progress -&gt; done, giving you human oversight of what Athena is working 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configured agent profile and a Kanban board tracking the agent's live tasks.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profile, Kanban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Hermes in the Browser —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kanban.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5B6372"/>
                </a:solidFill>
                <a:latin typeface="Arial"/>
              </a:rPr>
              <a:t>The Kanban board — supervise the agent's tasks as they move across the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up the agent profile (identity, defaults, preferences)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Kanban board 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Assign a task and watch it move todo -&gt; in progress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the board to review and accept completed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and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profile is set and the Kanban board shows tasks progressing across its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Harden Athena: run risky work in an isolated terminal backend, manage secrets safely, and require approval before sensitive actions — applying least privilege throughout.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agent that sandboxes execution, protects secrets and prompts for approval on risky actions.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terminal backends, secrets management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Isolate execution in a sandboxed backend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Store provider/tool secrets via config rather than plain text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&lt;PROVIDER&gt;_API_KEY &lt;value&gt;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Require approval before the agent runs risky actions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least privilege — grant only the tools/skills the task needs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Risky actions run only in the sandbox and only after approval; secrets are not stored in plain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Put Athena to work on an end-to-end creative task: use the agent to drive the Hyperframe tool and generate a short video from a concept brief, then review and refine the result.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short video generated end-to-end by the agent using Hyperframe.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Hyperframe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Connect / set up the Hyperframe video tool for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Brief the agent with a short video concept (topic, style, length)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Have the agent generate the video with Hyperframe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output and refine the brief to regenerate if needed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agent produces a playable video from your brief using Hyperframe.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Use Hermes' visualization capability to see the agent's workflow, task flow and data at a glance, making the agent's behaviour transparent and easier to supervise.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visualization of the agent's workflow / activity you can read and interpret.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visualization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visualization view for the agent's activity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visualization of a workflow or dataset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Interpret the visualization to understand what the agent did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Visualization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visualization of the agent's workflow/data renders and communicates the agent's activity.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Design a multi-agent workflow in which several agents take on distinct roles and hand off tasks to one another to complete a larger goal, building on the subagents and delegation concepts from earlier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multi-agent workflow where agents hand off tasks to complete a goal.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subagents, workflow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the agents and their roles in the workflow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Connect the agents so outputs hand off between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workflow end-to-end on a sample goal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each stage completed and the final result is correct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Multi-Agent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multi-agent workflow runs end-to-end with each agent handing off to the next and producing the final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Wire the agent to the outside world with webhooks: trigger the agent from an incoming webhook payload and/or have it call an outgoing webhook, then secure the endpoint.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webhook that triggers the agent (or that the agent calls), verified end-to-end.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Hermes Agent, webhooks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Configure a webhook trigger/endpoint for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Send a test payload to the webhook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agent receives the event and responds/acts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Secure the webhook (secret/token, allowlist)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Webhook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test payload to the webhook triggers the agent and produces the expected action, with the endpoint secured.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Hermes Agent — Your Autonomous Personal Chief-of-Staff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LO1: Install and configure Hermes Agent on a local machine.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LO1: Deploy Hermes locally and run it through the Hermes Desktop app.</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Give the agent persistent memory and extend it with plugins.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LO3: Extend the agent with installable, self-improving skills.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Connect an LLM provider and switch models with no lock-in.</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LO3: Give the agent real-world reach with MCP servers and the Tool Gateway.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OpenClaw — Automating a Business Back-Office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 Providers · Channels · Skills · Tools · Commands · Crons · Memory · Dreaming · Security · Multi-Agent · Use Cases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OpenClaw — Automating a Business Back-Office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OpenClaw runs on Node.js 24 LTS as a long-running gateway daemon that hosts every channel, tool, cron and skill for the Nimbus Supplies back office.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Providers are connected by OAuth sign-in (OpenAI Codex, MiniMax) or API key (Anthropic, DeepSeek, OpenRouter); skills from skills.sh and integrations such as Firecrawl and AgentMail extend the agent.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'Dreaming' lets the agent reflect during idle time — reviewing memory and generating follow-ups — while profiles and allow/deny lists keep every channel least-privileged and audited.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Crons schedule recurring work, a heartbeat auto-restarts the gateway, and a multi-agent capstone splits work across cooperating Sales, Research and Ops agents for real back-office use cases.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OpenClaw — Automating a Business Back-Office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OpenClaw</a:t>
            </a:r>
          </a:p>
          <a:p>
            <a:pPr>
              <a:spcAft>
                <a:spcPts val="900"/>
              </a:spcAft>
            </a:pPr>
            <a:r>
              <a:rPr sz="1400" b="0">
                <a:solidFill>
                  <a:srgbClr val="161B26"/>
                </a:solidFill>
                <a:latin typeface="Arial"/>
              </a:rPr>
              <a:t>•  Models &amp; Providers</a:t>
            </a:r>
          </a:p>
          <a:p>
            <a:pPr>
              <a:spcAft>
                <a:spcPts val="900"/>
              </a:spcAft>
            </a:pPr>
            <a:r>
              <a:rPr sz="1400" b="0">
                <a:solidFill>
                  <a:srgbClr val="161B26"/>
                </a:solidFill>
                <a:latin typeface="Arial"/>
              </a:rPr>
              <a:t>•  Channels</a:t>
            </a:r>
          </a:p>
          <a:p>
            <a:pPr>
              <a:spcAft>
                <a:spcPts val="900"/>
              </a:spcAft>
            </a:pPr>
            <a:r>
              <a:rPr sz="1400" b="0">
                <a:solidFill>
                  <a:srgbClr val="161B26"/>
                </a:solidFill>
                <a:latin typeface="Arial"/>
              </a:rPr>
              <a:t>•  Skills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Tools &amp; Integrations</a:t>
            </a:r>
          </a:p>
          <a:p>
            <a:pPr>
              <a:spcAft>
                <a:spcPts val="900"/>
              </a:spcAft>
            </a:pPr>
            <a:r>
              <a:rPr sz="1400" b="0">
                <a:solidFill>
                  <a:srgbClr val="161B26"/>
                </a:solidFill>
                <a:latin typeface="Arial"/>
              </a:rPr>
              <a:t>•  Commands</a:t>
            </a:r>
          </a:p>
          <a:p>
            <a:pPr>
              <a:spcAft>
                <a:spcPts val="900"/>
              </a:spcAft>
            </a:pPr>
            <a:r>
              <a:rPr sz="1400" b="0">
                <a:solidFill>
                  <a:srgbClr val="161B26"/>
                </a:solidFill>
                <a:latin typeface="Arial"/>
              </a:rPr>
              <a:t>•  Cron Jobs &amp; Heartbeat</a:t>
            </a:r>
          </a:p>
          <a:p>
            <a:pPr>
              <a:spcAft>
                <a:spcPts val="900"/>
              </a:spcAft>
            </a:pPr>
            <a:r>
              <a:rPr sz="1400" b="0">
                <a:solidFill>
                  <a:srgbClr val="161B26"/>
                </a:solidFill>
                <a:latin typeface="Arial"/>
              </a:rPr>
              <a:t>•  Memory &amp; Context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23–26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Security</a:t>
            </a:r>
          </a:p>
          <a:p>
            <a:pPr>
              <a:spcAft>
                <a:spcPts val="900"/>
              </a:spcAft>
            </a:pPr>
            <a:r>
              <a:rPr sz="1400" b="0">
                <a:solidFill>
                  <a:srgbClr val="161B26"/>
                </a:solidFill>
                <a:latin typeface="Arial"/>
              </a:rPr>
              <a:t>•  Multi-Agent Workforce</a:t>
            </a:r>
          </a:p>
          <a:p>
            <a:pPr>
              <a:spcAft>
                <a:spcPts val="900"/>
              </a:spcAft>
            </a:pPr>
            <a:r>
              <a:rPr sz="1400" b="0">
                <a:solidFill>
                  <a:srgbClr val="161B26"/>
                </a:solidFill>
                <a:latin typeface="Arial"/>
              </a:rPr>
              <a:t>•  Dreaming — Idle Reflection &amp; Self-Improvement</a:t>
            </a:r>
          </a:p>
          <a:p>
            <a:pPr>
              <a:spcAft>
                <a:spcPts val="900"/>
              </a:spcAft>
            </a:pPr>
            <a:r>
              <a:rPr sz="1400" b="0">
                <a:solidFill>
                  <a:srgbClr val="161B26"/>
                </a:solidFill>
                <a:latin typeface="Arial"/>
              </a:rPr>
              <a:t>•  Use Cases &amp; Key Functions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installs the OpenClaw platform on their own machine (or a cloud VPS) by first installing Node.js 24 LTS, then installing OpenClaw via npm and running the onboarding wizard, and verifies the install with doctor and gateway status. This gateway becomes the back-office brain of the Nimbus Supplies running example.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running OpenClaw gateway daemon (local or VPS) verified with openclaw doctor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Node.js 24 LTS, npm, openclaw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Node.js 24 LTS on macOS with Homebrew and verify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brew install node@24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OpenClaw globally via npm</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npm install -g openclaw@latest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interactive onboarding wizard that creates ~/.openclaw and the gateway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install version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health check (Node, gateway daemon, providers, channels)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gateway is running, starting it if needed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OpenClaw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--version prints a version, openclaw doctor shows green checks for Node 24 and the gateway daemon (provider/channel checks pending until Labs 16-17), and openclaw gateway status reports running.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connects a language model to OpenClaw, trying the supported provider options — OAuth sign-ins (OpenAI Codex, MiniMax) and API-key providers (Anthropic, DeepSeek, OpenRouter) — learns where credentials are stored under ~/.openclaw/auth/, hot-swaps between models, and runs a Nimbus Supplies smoke test.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Nimbus Supplies agent wired to a working model provider that passes openclaw model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OpenAI Codex / MiniMax (OAuth), Anthropic / DeepSeek / OpenRouter (API key)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See the available models and the current selection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Option A - sign in to OpenAI Codex via OAuth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auth login --provider openai-codex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Option C - set an Anthropic API key and select a Claude model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model anthropic/claude-opus-4-7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that the active model responds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Persist an API key so it survives reboots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echo 'export ANTHROPIC_API_KEY="sk-ant-..."' &gt;&gt;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Hot-swap the global default model and confirm</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use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agent a Nimbus Supplies smoke test from CLI chat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Models &amp; Providers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models list shows the connected models, openclaw model current prints the active one, openclaw model test returns a short successful completion with no auth error, and OAuth credentials appear under ~/.openclaw/auth/.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gives customers a way to reach the Nimbus Supplies agent by creating a Telegram bot end-to-end via BotFather, registering it with a token, pairing a WhatsApp number by scanning a QR code, and running both channels at once through a single OpenClaw gateway so the same agent answers on either platform.</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Telegram and WhatsApp both live on one OpenClaw gateway, answered by the same Nimbus Supplies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Telegram (BotFather), WhatsApp, openclaw channel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Telegram bot in BotFather with /newbot and copy the HTTP API token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Register the Telegram channel with the bot token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telegram --token 123456789:ABC-DEF1234ghIkl-zyx57W2v1u123ew11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the Telegram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telegram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WhatsApp channel to print a pairing QR code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WhatsApp, then scan the QR from WhatsApp -&gt; Linked Devices -&gt; Link a Device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both channels are running simultaneously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channel list shows telegram and whatsapp both running, a message to the Telegram bot gets an agent reply, a message to the linked WhatsApp account gets an agent reply, and openclaw gateway status shows both connected.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installs and removes skills from the skills.sh registry, invokes them from chat, and builds a custom Nimbus Supplies skill (nimbus-quote) under ~/.openclaw/skills/ so the agent handles a recurring back-office task — drafting an itemised customer quote with GST — the same way every time.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Registry skills plus a custom nimbus-quote skill that produces itemised, GST-inclusive quotes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skills.sh registry, ~/.openclaw/skills/, openclaw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List the skills currently installed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 a useful skill from the skills.sh registry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add web-research --source skills.sh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Invoke a skill from a channel with the /skill slash command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web-research "Who are the main office-supplies wholesalers in Singapore?"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folder for a custom Nimbus Supplies skill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~/.openclaw/skills/nimbus-quote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Author skill.md with front-matter (name, description) and the quoting instructions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Restart the gateway so the new skill is picked up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the custom skill from a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nimbus-quote "Customer: Acme Cafe. 10 reams recycled A4 paper, 5 boxes black pens."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skills list shows the registry skills plus the custom nimbus-quote, /skill web-research runs end-to-end, and /skill nimbus-quote produces an itemised quote with a 9% GST line and standard terms, marking any unknown price as TBC instead of guessing.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extends the Nimbus Supplies agent with two real integrations — Firecrawl (JS-rendered web scraping) and AgentMail (its own inbox/outbox) — then runs an end-to-end back-office task: research a supplier's website prices, draft an itemised quote with the Lab 18 skill, and email it to a customer. Tool profiles and allow/deny lists scope tools per channel.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Firecrawl + AgentMail integrated agent that scrapes supplier prices and emails an itemised quote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Firecrawl, AgentMail, openclaw 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Inspect the built-in tool groups (fs, web, runtime, media)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Firecrawl with its API key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firecrawl --api-key "$FIRECRAWL_API_KEY"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AgentMail with its API key and inbox address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agentmail --api-key "$AGENTMAIL_API_KEY" --inbox bot@yourname.agentmail.to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end-to-end task from a channel: scrape prices, draft the quote, email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Scope tools on a public channel by denying shell exec</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Allow only the web tool group on that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 group:web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Tools &amp; Integrations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tools list --enabled shows firecrawl and agentmail, the agent scrapes a supplier URL and returns structured prices, an AgentMail send arrives in a real inbox, the end-to-end task produces an itemised quote email, and a channel set to --deny exec refuses shell-exec requests.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becomes fluent in the two ways to drive OpenClaw daily: the CLI commands (config, model, doctor, gateway, channel, tools, skills, cron) and the in-chat slash commands operators and customers use inside a channel, building a personal quick-reference table for running the Nimbus Supplies back office and streaming live gateway logs.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personal quick-reference of the CLI and slash commands used to run Nimbus Supplies day to day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openclaw CLI, in-chat slash commands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and change settings with 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health check with auto-fix</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Control the gateway daemon that runs everything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Get your channel user ID for the Lab 23 allowlist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/whoami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Switch the model for one conversation only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/model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activity live while you chat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Commands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switch the model both from chat (/model, per-conversation) and globally from the CLI (openclaw model use), /whoami returns your platform user ID, openclaw gateway logs --follow streams live activity, and /help lists the available slash commands.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makes Nimbus Supplies run unattended by scheduling recurring tasks with cron (a nightly sales report and a weekly supplier price-check using Firecrawl) and monitoring uptime with the heartbeat, so the gateway self-checks, auto-restarts on failure, and can page an external monitor if it dies.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nightly sales-report cron, a weekly price-check cron, and an enabled self-healing heartbeat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openclaw cron, gateway heartbeat, Firecrawl +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nightly sales-report cron posting to Telegram at 21:00</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"Summarise today's Nimbus Supplies customer chats and any quotes sent." --channel telegram --name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List and inspect your crons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Fire a cron on demand to test it now, ignoring the schedule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run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the heartbeat self-check at a 60s interval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enable --interval 60s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heartbeat status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auto-restart by stopping the gateway and waiting ~60s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Cron Jobs &amp; Heartbeat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openclaw cron list shows nightly-sales-report and weekly-price-check, openclaw cron run delivers a summary to Telegram immediately, openclaw gateway heartbeat status reports healthy, and after openclaw gateway stop the service manager restarts the gateway within about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gives the Nimbus Supplies agent durable memory so it recalls customer preferences across conversations: using the in-chat /memory command, inspecting where OpenClaw persists state under ~/.openclaw/, teaching a customer's standing preference, clearing the conversation to prove it is real memory, and confirming recall in a later separate chat.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agent that persistently remembers a customer's standing preferences and applies them in a fresh conversation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/memory, /clear, ~/.openclaw/ state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See what OpenClaw stores on disk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-la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Inspect your current per-user memory from chat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/memory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Teach the agent a durable customer preference in plain language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Clear the conversation to prove it is real memory, not just context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/clear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Recall in the cleared chat by requesting a quote that needs the remembered facts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Back up memory before major changes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cp -R ~/.openclaw/ ~/openclaw-backup-$(date +%F)/openclaw-state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Memory &amp; Context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/memory shows the customer preferences after you teach them, after /clear the /memory list still shows them (short-term context cleared, long-term memory retained), and a fresh quote request for the customer automatically applies recycled paper, Tuesday delivery and the correct recipient name without repetition.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learner hardens the Nimbus Supplies deployment before real customers: storing API keys as environment variables (never in cleartext config), restricting who can DM the bot with allowlists, applying per-channel tool deny lists, tightening the code-execution sandbox (timeout/memory/network), reviewing the audit log, and rotating provider keys.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hardened agent with keys in env, DM allowlists, per-channel deny lists, a capped sandbox and an exported audit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allowlists, tool deny lists, exec/python sandbox, gateway logs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Restrict who can DM the Telegram bot to known user IDs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--allow-users 12345678,87654321 --pair-mode allowlist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a per-channel tool deny list (no shell or destructive file ops)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Tighten the code-execution sandbox (time, memory, no network)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config exec --timeout 10s --memory 256mb --network deny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keys are not sitting in cleartext in the 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cat ~/.openclaw/config.toml | grep -i 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audit log, filtering for blocked exec attempts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--filter tool=exec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Export the audit log for weekly review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--export ~/openclaw-audit-$(date +%F).log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cat ~/.openclaw/config.toml does not contain raw API keys, a user not on the Telegram allowlist gets a not-authorized response, openclaw channel show telegram lists the deny list and messaging profile, and the audit log shows blocked exec attempts on a locked channel.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In the OpenClaw capstone the learner splits the single agent into three cooperating agents — Sales (customer-facing on Telegram/WhatsApp), Research (supplier scouting with Firecrawl), and Ops (email, quotes, nightly crons) — each with least-privilege tools, and runs one end-to-end business scenario across all three, with a verified fallback using isolated OPENCLAW_HOME instances that cooperate via AgentMail and a shared folder.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three-agent Sales/Research/Ops workforce that runs a customer order end-to-end into a real quote email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openclaw agent (or isolated OPENCLAW_HOME instances), Firecrawl,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three named agents (or use isolated instances if unavailable)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create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Sales agent least-privilege tools (web + quoting, no shell/fs)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sales --allow group:web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Restrict Research to scraping only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research --allow firecrawl,web_search,browser --deny exec,fs.write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Attach the customer channels to the Sales agent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--agent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Research fallback instance with an isolated config dir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OPENCLAW_HOME=~/.openclaw-research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Ops the nightly consolidation cron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"Compile today's Nimbus Supplies orders and quotes sent, and list anything waiting on Research." --channel telegram --name ops-nightly-report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Multi-Agent Workforce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Three agents (or isolated instances) each have a distinct least-privilege tool set (Sales cannot exec, Research cannot write files, Ops is not on a public channel), a customer Telegram message produces a real quote email combining memory, the nimbus-quote skill, a Firecrawl price lookup and AgentMail delivery, and the nightly cron posts a summary referencing the same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Enable OpenClaw's 'dreaming' feature so the Nimbus Supplies agent uses idle time to review its memory, consolidate what it has learned, and generate useful follow-up actions and skill improvements — then inspect what it produced. Reference the OpenClaw functions playlist for the walkthrough.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agent that, when idle, 'dreams' — reflecting on memory and proposing follow-ups you can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dreaming,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Enable the dreaming feature in OpenClaw settings/config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dreaming.enabled true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Let the agent sit idle so a dream cycle runs (or trigger one)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run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what the dream produced (insights, follow-ups, skill tweaks)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Accept a useful follow-up the agent proposed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dream cycle runs during idle time and produces reviewable insights/follow-ups from the agent's memory.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Tie the OpenClaw track together with practical use cases for Nimbus Supplies — a Google Workspace CLI assistant, a data-analytics agent, and a social-media-marketing agent — combining channels, skills, tools, memory, dreaming and crons into end-to-end automations. Each use case has its own reference video.</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One or more end-to-end OpenClaw automations (Workspace, analytics or social media) solving a real use case.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OpenClaw, skills, tools, Google Workspace, crons,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Pick a use case and compose the channels, skills and tools needed for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automation end-to-end and verify the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Schedule it or hand it to the multi-agent team from Lab 24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Use Cases &amp; Key Functions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 real use case (Google Workspace, data analytics or social media) runs end-to-end using OpenClaw's channels, skills, tools and crons.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OpenClaw — Automating a Business Back-Office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LO1: Install and configure an autonomous AI agent platform locally and on a container/VPS.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Connect an LLM model/provider to an agent via OAuth or API key.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Connect multiple messaging channels to one agent gateway.</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LO3: Extend an agent with registry and custom skills.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LO3: Extend an agent with third-party tool integrations.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LO4: Operate an agent through its CLI and in-chat command surface.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Paperclip — Running &amp; Governing a Company of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Setup · Connect OpenAI Codex · Configure · Track Tasks · Automate Hiring · Setup Agents · Security · Assign Tasks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EXAM WEIGHTING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Paperclip — Running &amp; Governing a Company of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Paperclip is an operating system for a company of AI agents, self-hosted with Docker Compose; you are the Board, a CEO agent reports to you, and specialists report to the CEO.</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You connect a coding model such as OpenAI Codex as the agents' engine, configure the company, and track AI tasks on a board: todo -&gt; in_progress -&gt; in_review -&gt; done.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Hiring is automated behind human approval gates; all durable state lives in an embedded PostgreSQL database whose activity_log (tagged by actor_type) and cost_events tables give a CFO-style audit trail.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Security is enforced with budget caps (an 80% warning and a 100% pause rail) and approvals; you set up agents and assign tasks to deliver the company goal.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Paperclip — Running &amp; Governing a Company of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27–29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Setup Paperclip</a:t>
            </a:r>
          </a:p>
          <a:p>
            <a:pPr>
              <a:spcAft>
                <a:spcPts val="900"/>
              </a:spcAft>
            </a:pPr>
            <a:r>
              <a:rPr sz="1400" b="0">
                <a:solidFill>
                  <a:srgbClr val="161B26"/>
                </a:solidFill>
                <a:latin typeface="Arial"/>
              </a:rPr>
              <a:t>•  Connect OpenAI Codex to Paperclip</a:t>
            </a:r>
          </a:p>
          <a:p>
            <a:pPr>
              <a:spcAft>
                <a:spcPts val="900"/>
              </a:spcAft>
            </a:pPr>
            <a:r>
              <a:rPr sz="1400" b="0">
                <a:solidFill>
                  <a:srgbClr val="161B26"/>
                </a:solidFill>
                <a:latin typeface="Arial"/>
              </a:rPr>
              <a:t>•  Configure Paperclip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30–32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Track AI Tasks</a:t>
            </a:r>
          </a:p>
          <a:p>
            <a:pPr>
              <a:spcAft>
                <a:spcPts val="900"/>
              </a:spcAft>
            </a:pPr>
            <a:r>
              <a:rPr sz="1400" b="0">
                <a:solidFill>
                  <a:srgbClr val="161B26"/>
                </a:solidFill>
                <a:latin typeface="Arial"/>
              </a:rPr>
              <a:t>•  Automate AI Hiring</a:t>
            </a:r>
          </a:p>
          <a:p>
            <a:pPr>
              <a:spcAft>
                <a:spcPts val="900"/>
              </a:spcAft>
            </a:pPr>
            <a:r>
              <a:rPr sz="1400" b="0">
                <a:solidFill>
                  <a:srgbClr val="161B26"/>
                </a:solidFill>
                <a:latin typeface="Arial"/>
              </a:rPr>
              <a:t>•  Setup AI Agents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33–34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Security</a:t>
            </a:r>
          </a:p>
          <a:p>
            <a:pPr>
              <a:spcAft>
                <a:spcPts val="900"/>
              </a:spcAft>
            </a:pPr>
            <a:r>
              <a:rPr sz="1400" b="0">
                <a:solidFill>
                  <a:srgbClr val="161B26"/>
                </a:solidFill>
                <a:latin typeface="Arial"/>
              </a:rPr>
              <a:t>•  Assign Task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Watch the Paperclip overview, then self-host Paperclip with Docker Compose and create the Nimbus Coffee company with a single goal and a monthly budget.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running Paperclip at http://localhost:3100 with a company (goal + budget).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Docker Compose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Clone the Paperclip repository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git clone https://github.com/paperclipai/paperclip.git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Start Paperclip with the quickstart compose file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up --build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the company with a single goal and a monthly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dashboard loads at http://localhost:3100 and a company exists with a goal and budget.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Give Paperclip's agents a brain by connecting the OpenAI Codex adapter, so the agents can reason and act. Confirm the adapter is detected and available.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Paperclip using the OpenAI Codex adapter as the agents'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OpenAI Codex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Install/log in to the OpenAI Codex CLI so Paperclip can detect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Settings -&gt; Agents / Adapters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OpenAI Codex adapter shows as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Restart Paperclip if the adapter is not detected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Connect OpenAI Codex to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OpenAI Codex adapter is detected and shows as available in Settings.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Nimbus Coffee: set the monthly budget, connect a workspace folder so agents write real files, and adjust company settings.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configured company with a budget and a connected workspace folder.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company's settings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or adjust the monthly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Connect a workspace folder so agents create real deliverables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configuration and confirm it persists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Configure Paperclip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company shows the configured budget and a connected workspace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Use Paperclip's task board to track work through its four states — todo, in_progress, in_review, done — giving you visibility and control over what the agents are doing.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task board showing AI tasks moving across the four states.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task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task board for the company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or observe a task in the 'todo' column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a task move todo -&gt; in_progress -&gt; in_review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a shell to review the task activity log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exec paperclip 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Track AI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Tasks are visible on the board and move through todo -&gt; in_progress -&gt; in_review -&gt;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Hire your CEO agent and let it propose specialist hires, each passing a human approval gate. This is how the company staffs itself automatically while you stay in control.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approved CEO agent and one or more approved specialist agents.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approval gates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Hire the CEO agent from the company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Approve the CEO hire (you are the 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Let the CEO propose specialist hires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and approve each specialist at the approval gate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AI Hiring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CEO and approved specialists are active; each hire is logged as an actor_type=user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Configure the hired agents — their mandate, tools and per-agent budget caps — so each specialist can carry out the delegated work for Nimbus Coffee.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Configured agents with mandates, tools and per-agent budgets.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agents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an agent's configuration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agent's mandate and the tools it may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and confirm the agent is ready to receive tasks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Setup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agent has a mandate, allowed tools and a budget cap, and is ready for tasks.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Apply Paperclip's governance: company-wide and per-agent budget caps trigger an 80% warning and a 100% pause; approvals gate risky decisions; the audit trail records everything.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Budget caps with the 80% warning and 100% pause rails demonstrated, plus an audit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budgets, PostgreSQL audit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a company and/or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Trigger the 80% warning and 100% pause, then resume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Audit actions and spend in the embedded PostgreSQL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psql "postgresql://postgres@localhost:5432/paperclip"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Separate human vs agent actions with actor_type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SELECT actor_type, COUNT(*) FROM activity_log GROUP BY actor_type;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80% warning and 100% pause fire, resume works, and the audit shows actions by actor_type and total spend.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Delegate real work: assign tasks to specialists, watch them execute and produce deliverables in the workspace, and review and accept the results to complete the Nimbus Coffee goal.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Assigned tasks executed by agents, producing real deliverables you review and accept.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Paperclip, task board,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Assign a task to a specialist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Watch the agent execute and write output to the workspace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-R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deliverable in the in_review state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Approve to move it to done, or send it back for revision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Assign Task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An assigned task is executed by an agent, produces a real file, and is reviewed and accepted to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Paperclip — Running &amp; Governing a Company of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LO1: Install and self-host Paperclip, then found your company.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Connect a coding model (OpenAI Codex) as the agents' engine.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Configure the company — settings, budget and workspace.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LO3: Track AI work on the task board.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LO3: Automate hiring of the CEO and specialist agents behind approval gates.</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can now: LO2: Set up and configure the AI agents and their capabilities.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Analyzed AI Applications</a:t>
            </a:r>
          </a:p>
          <a:p>
            <a:pPr algn="l">
              <a:spcAft>
                <a:spcPts val="300"/>
              </a:spcAft>
            </a:pPr>
            <a:r>
              <a:rPr sz="1300" b="0">
                <a:solidFill>
                  <a:srgbClr val="5B6372"/>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&amp; Chatbot Efficiency</a:t>
            </a:r>
          </a:p>
          <a:p>
            <a:pPr algn="l">
              <a:spcAft>
                <a:spcPts val="300"/>
              </a:spcAft>
            </a:pPr>
            <a:r>
              <a:rPr sz="1300" b="0">
                <a:solidFill>
                  <a:srgbClr val="5B6372"/>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Evaluated &amp; Improved RAG</a:t>
            </a:r>
          </a:p>
          <a:p>
            <a:pPr algn="l">
              <a:spcAft>
                <a:spcPts val="300"/>
              </a:spcAft>
            </a:pPr>
            <a:r>
              <a:rPr sz="1300" b="0">
                <a:solidFill>
                  <a:srgbClr val="5B6372"/>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Continuing Your AI-Agent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Deploy an agent on a VPS or cloud backend for round-the-clock, 24/7 operation.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Extend the labs with your own skills, tools and integrations for a workflow you care about.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governance in production — budgets, approvals and an audit trail.</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multi-agent orchestration to deliver real end-to-end business workflows.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Written Assessment (SAQ) — 1 hour.  Practical Performance (PP) — 1 hour.</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book: slides, Learner Guide and approved materials only.</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Remember to take the Assessment digital attendance (TRAQOM).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Submit your completed answers on the LMS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BUILD YOUR AI WORKFORCE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secure and orchestrate autonomous AI agents — from a single assistant to a company of agents.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