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part-04/telegram-setup</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TELEGRAM.</a:t>
            </a:r>
          </a:p>
        </p:txBody>
      </p:sp>
      <p:sp>
        <p:nvSpPr>
          <p:cNvPr id="6" name="TextBox 5"/>
          <p:cNvSpPr txBox="1"/>
          <p:nvPr/>
        </p:nvSpPr>
        <p:spPr>
          <a:xfrm>
            <a:off x="777240" y="1664208"/>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Five steps. Phone → bot → VPS.</a:t>
            </a:r>
          </a:p>
        </p:txBody>
      </p:sp>
      <p:sp>
        <p:nvSpPr>
          <p:cNvPr id="7" name="Rectangle 6"/>
          <p:cNvSpPr/>
          <p:nvPr/>
        </p:nvSpPr>
        <p:spPr>
          <a:xfrm>
            <a:off x="777240" y="2231136"/>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136"/>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0" name="TextBox 9"/>
          <p:cNvSpPr txBox="1"/>
          <p:nvPr/>
        </p:nvSpPr>
        <p:spPr>
          <a:xfrm>
            <a:off x="1737360" y="2231136"/>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@BotFather → /newbot → </a:t>
            </a:r>
            <a:r>
              <a:rPr sz="1600" b="0">
                <a:solidFill>
                  <a:srgbClr val="E8E6DD"/>
                </a:solidFill>
                <a:latin typeface="Arial"/>
              </a:rPr>
              <a:t>copy token</a:t>
            </a:r>
          </a:p>
        </p:txBody>
      </p:sp>
      <p:sp>
        <p:nvSpPr>
          <p:cNvPr id="11" name="Rectangle 10"/>
          <p:cNvSpPr/>
          <p:nvPr/>
        </p:nvSpPr>
        <p:spPr>
          <a:xfrm>
            <a:off x="777240" y="2971800"/>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71800"/>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4" name="TextBox 13"/>
          <p:cNvSpPr txBox="1"/>
          <p:nvPr/>
        </p:nvSpPr>
        <p:spPr>
          <a:xfrm>
            <a:off x="1737360" y="2971800"/>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@userinfobot → </a:t>
            </a:r>
            <a:r>
              <a:rPr sz="1600" b="0">
                <a:solidFill>
                  <a:srgbClr val="E8E6DD"/>
                </a:solidFill>
                <a:latin typeface="Arial"/>
              </a:rPr>
              <a:t>copy your Telegram user ID</a:t>
            </a:r>
          </a:p>
        </p:txBody>
      </p:sp>
      <p:sp>
        <p:nvSpPr>
          <p:cNvPr id="15" name="Rectangle 14"/>
          <p:cNvSpPr/>
          <p:nvPr/>
        </p:nvSpPr>
        <p:spPr>
          <a:xfrm>
            <a:off x="777240" y="3712464"/>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712464"/>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12464"/>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8" name="TextBox 17"/>
          <p:cNvSpPr txBox="1"/>
          <p:nvPr/>
        </p:nvSpPr>
        <p:spPr>
          <a:xfrm>
            <a:off x="1737360" y="3712464"/>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hermes setup gateway </a:t>
            </a:r>
            <a:r>
              <a:rPr sz="1600" b="0">
                <a:solidFill>
                  <a:srgbClr val="E8E6DD"/>
                </a:solidFill>
                <a:latin typeface="Arial"/>
              </a:rPr>
              <a:t>on VPS → Telegram → paste token</a:t>
            </a:r>
          </a:p>
        </p:txBody>
      </p:sp>
      <p:sp>
        <p:nvSpPr>
          <p:cNvPr id="19" name="Rectangle 18"/>
          <p:cNvSpPr/>
          <p:nvPr/>
        </p:nvSpPr>
        <p:spPr>
          <a:xfrm>
            <a:off x="777240" y="4453128"/>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53128"/>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453128"/>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2" name="TextBox 21"/>
          <p:cNvSpPr txBox="1"/>
          <p:nvPr/>
        </p:nvSpPr>
        <p:spPr>
          <a:xfrm>
            <a:off x="1737360" y="4453128"/>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TELEGRAM_ALLOWED_USERS → </a:t>
            </a:r>
            <a:r>
              <a:rPr sz="1600" b="0">
                <a:solidFill>
                  <a:srgbClr val="E8E6DD"/>
                </a:solidFill>
                <a:latin typeface="Arial"/>
              </a:rPr>
              <a:t>paste your user ID (allowlist mode)</a:t>
            </a:r>
          </a:p>
        </p:txBody>
      </p:sp>
      <p:sp>
        <p:nvSpPr>
          <p:cNvPr id="23" name="Rectangle 22"/>
          <p:cNvSpPr/>
          <p:nvPr/>
        </p:nvSpPr>
        <p:spPr>
          <a:xfrm>
            <a:off x="777240" y="5193792"/>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193792"/>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193792"/>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05</a:t>
            </a:r>
          </a:p>
        </p:txBody>
      </p:sp>
      <p:sp>
        <p:nvSpPr>
          <p:cNvPr id="26" name="TextBox 25"/>
          <p:cNvSpPr txBox="1"/>
          <p:nvPr/>
        </p:nvSpPr>
        <p:spPr>
          <a:xfrm>
            <a:off x="1737360" y="5193792"/>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save + restart </a:t>
            </a:r>
            <a:r>
              <a:rPr sz="1600" b="0">
                <a:solidFill>
                  <a:srgbClr val="E8E6DD"/>
                </a:solidFill>
                <a:latin typeface="Arial"/>
              </a:rPr>
              <a:t>gateway</a:t>
            </a:r>
          </a:p>
        </p:txBody>
      </p:sp>
      <p:sp>
        <p:nvSpPr>
          <p:cNvPr id="27" name="Rectangle 26"/>
          <p:cNvSpPr/>
          <p:nvPr/>
        </p:nvSpPr>
        <p:spPr>
          <a:xfrm>
            <a:off x="777240" y="6007607"/>
            <a:ext cx="1051560" cy="310896"/>
          </a:xfrm>
          <a:prstGeom prst="rect">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25895"/>
            <a:ext cx="1051560" cy="274320"/>
          </a:xfrm>
          <a:prstGeom prst="rect">
            <a:avLst/>
          </a:prstGeom>
          <a:noFill/>
        </p:spPr>
        <p:txBody>
          <a:bodyPr wrap="square" anchor="t">
            <a:spAutoFit/>
          </a:bodyPr>
          <a:lstStyle/>
          <a:p>
            <a:pPr algn="ctr">
              <a:spcAft>
                <a:spcPts val="400"/>
              </a:spcAft>
            </a:pPr>
            <a:r>
              <a:rPr sz="1200" b="1">
                <a:solidFill>
                  <a:srgbClr val="0D0E0B"/>
                </a:solidFill>
                <a:latin typeface="Arial"/>
              </a:rPr>
              <a:t>NEVER</a:t>
            </a:r>
          </a:p>
        </p:txBody>
      </p:sp>
      <p:sp>
        <p:nvSpPr>
          <p:cNvPr id="29" name="TextBox 28"/>
          <p:cNvSpPr txBox="1"/>
          <p:nvPr/>
        </p:nvSpPr>
        <p:spPr>
          <a:xfrm>
            <a:off x="2011680" y="6007607"/>
            <a:ext cx="9326880" cy="310896"/>
          </a:xfrm>
          <a:prstGeom prst="rect">
            <a:avLst/>
          </a:prstGeom>
          <a:noFill/>
        </p:spPr>
        <p:txBody>
          <a:bodyPr wrap="square" anchor="ctr">
            <a:spAutoFit/>
          </a:bodyPr>
          <a:lstStyle/>
          <a:p>
            <a:pPr algn="l">
              <a:spcAft>
                <a:spcPts val="400"/>
              </a:spcAft>
            </a:pPr>
            <a:r>
              <a:rPr sz="1300" b="0">
                <a:solidFill>
                  <a:srgbClr val="E8E6DD"/>
                </a:solidFill>
                <a:latin typeface="Arial"/>
              </a:rPr>
              <a:t>set GATEWAY_ALLOW_ALL_USERS=true. Anyone who guesses your bot's username = full access.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channe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Channels page (127.0.0.1:9119/channels) — 31 channels from one gateway; credentials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6EA8FF"/>
                </a:solidFill>
                <a:latin typeface="Arial"/>
              </a:rPr>
              <a:t>&gt; part-05/session-search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SEARCH YOUR OWN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HISTORY.</a:t>
            </a:r>
          </a:p>
        </p:txBody>
      </p:sp>
      <p:sp>
        <p:nvSpPr>
          <p:cNvPr id="7" name="Rectangle 6"/>
          <p:cNvSpPr/>
          <p:nvPr/>
        </p:nvSpPr>
        <p:spPr>
          <a:xfrm>
            <a:off x="777240" y="256032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60320"/>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0" name="TextBox 9"/>
          <p:cNvSpPr txBox="1"/>
          <p:nvPr/>
        </p:nvSpPr>
        <p:spPr>
          <a:xfrm>
            <a:off x="1417320" y="2560320"/>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Every CLI + gateway session indexed in </a:t>
            </a:r>
            <a:r>
              <a:rPr sz="1600" b="1">
                <a:solidFill>
                  <a:srgbClr val="6EA8FF"/>
                </a:solidFill>
                <a:latin typeface="Arial"/>
              </a:rPr>
              <a:t>~/.hermes/state.db</a:t>
            </a:r>
          </a:p>
        </p:txBody>
      </p:sp>
      <p:sp>
        <p:nvSpPr>
          <p:cNvPr id="11" name="Rectangle 10"/>
          <p:cNvSpPr/>
          <p:nvPr/>
        </p:nvSpPr>
        <p:spPr>
          <a:xfrm>
            <a:off x="777240" y="340156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01568"/>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401568"/>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4" name="TextBox 13"/>
          <p:cNvSpPr txBox="1"/>
          <p:nvPr/>
        </p:nvSpPr>
        <p:spPr>
          <a:xfrm>
            <a:off x="1417320" y="3401568"/>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Tool: </a:t>
            </a:r>
            <a:r>
              <a:rPr sz="1600" b="1">
                <a:solidFill>
                  <a:srgbClr val="6EA8FF"/>
                </a:solidFill>
                <a:latin typeface="Arial"/>
              </a:rPr>
              <a:t>session_search</a:t>
            </a:r>
            <a:r>
              <a:rPr sz="1600" b="0">
                <a:solidFill>
                  <a:srgbClr val="E8E6DD"/>
                </a:solidFill>
                <a:latin typeface="Arial"/>
              </a:rPr>
              <a:t>  —  full-text + Gemini Flash summarization</a:t>
            </a:r>
          </a:p>
        </p:txBody>
      </p:sp>
      <p:sp>
        <p:nvSpPr>
          <p:cNvPr id="15" name="Rectangle 14"/>
          <p:cNvSpPr/>
          <p:nvPr/>
        </p:nvSpPr>
        <p:spPr>
          <a:xfrm>
            <a:off x="777240" y="424281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42816"/>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42816"/>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8" name="TextBox 17"/>
          <p:cNvSpPr txBox="1"/>
          <p:nvPr/>
        </p:nvSpPr>
        <p:spPr>
          <a:xfrm>
            <a:off x="1417320" y="4242816"/>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The agent calls it </a:t>
            </a:r>
            <a:r>
              <a:rPr sz="1600" b="1">
                <a:solidFill>
                  <a:srgbClr val="F5A623"/>
                </a:solidFill>
                <a:latin typeface="Arial"/>
              </a:rPr>
              <a:t>autonomously</a:t>
            </a:r>
            <a:r>
              <a:rPr sz="1600" b="0">
                <a:solidFill>
                  <a:srgbClr val="E8E6DD"/>
                </a:solidFill>
                <a:latin typeface="Arial"/>
              </a:rPr>
              <a:t> when it suspects a prior conversation is relevant</a:t>
            </a:r>
          </a:p>
        </p:txBody>
      </p:sp>
      <p:sp>
        <p:nvSpPr>
          <p:cNvPr id="19" name="Rectangle 18"/>
          <p:cNvSpPr/>
          <p:nvPr/>
        </p:nvSpPr>
        <p:spPr>
          <a:xfrm>
            <a:off x="777240" y="5084064"/>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084064"/>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084064"/>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22" name="TextBox 21"/>
          <p:cNvSpPr txBox="1"/>
          <p:nvPr/>
        </p:nvSpPr>
        <p:spPr>
          <a:xfrm>
            <a:off x="1417320" y="5084064"/>
            <a:ext cx="9784080" cy="713232"/>
          </a:xfrm>
          <a:prstGeom prst="rect">
            <a:avLst/>
          </a:prstGeom>
          <a:noFill/>
        </p:spPr>
        <p:txBody>
          <a:bodyPr wrap="square" anchor="ctr">
            <a:spAutoFit/>
          </a:bodyPr>
          <a:lstStyle/>
          <a:p>
            <a:pPr algn="l">
              <a:spcAft>
                <a:spcPts val="400"/>
              </a:spcAft>
            </a:pPr>
            <a:r>
              <a:rPr sz="1600" b="1">
                <a:solidFill>
                  <a:srgbClr val="4ADE80"/>
                </a:solidFill>
                <a:latin typeface="Arial"/>
              </a:rPr>
              <a:t>v0.11.0</a:t>
            </a:r>
            <a:r>
              <a:rPr sz="1600" b="0">
                <a:solidFill>
                  <a:srgbClr val="E8E6DD"/>
                </a:solidFill>
                <a:latin typeface="Arial"/>
              </a:rPr>
              <a:t>  State.db now </a:t>
            </a:r>
            <a:r>
              <a:rPr sz="1600" b="1">
                <a:solidFill>
                  <a:srgbClr val="F5A623"/>
                </a:solidFill>
                <a:latin typeface="Arial"/>
              </a:rPr>
              <a:t>auto-prunes + VACUUMs at startup</a:t>
            </a:r>
            <a:r>
              <a:rPr sz="1600" b="0">
                <a:solidFill>
                  <a:srgbClr val="E8E6DD"/>
                </a:solidFill>
                <a:latin typeface="Arial"/>
              </a:rPr>
              <a:t>. No more cron-prune needed.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memory vs session_search</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WHEN TO USE WHICH</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14400"/>
            <a:ext cx="10881360" cy="731520"/>
          </a:xfrm>
          <a:prstGeom prst="rect">
            <a:avLst/>
          </a:prstGeom>
          <a:noFill/>
        </p:spPr>
        <p:txBody>
          <a:bodyPr wrap="square" anchor="t">
            <a:spAutoFit/>
          </a:bodyPr>
          <a:lstStyle/>
          <a:p>
            <a:pPr algn="l">
              <a:spcAft>
                <a:spcPts val="400"/>
              </a:spcAft>
            </a:pPr>
            <a:r>
              <a:rPr sz="4000" b="1">
                <a:solidFill>
                  <a:srgbClr val="F5A623"/>
                </a:solidFill>
                <a:latin typeface="Arial"/>
              </a:rPr>
              <a:t>L1 VS L2.</a:t>
            </a:r>
          </a:p>
        </p:txBody>
      </p:sp>
      <p:sp>
        <p:nvSpPr>
          <p:cNvPr id="7" name="TextBox 6"/>
          <p:cNvSpPr txBox="1"/>
          <p:nvPr/>
        </p:nvSpPr>
        <p:spPr>
          <a:xfrm>
            <a:off x="3017520" y="1874519"/>
            <a:ext cx="4206240" cy="365760"/>
          </a:xfrm>
          <a:prstGeom prst="rect">
            <a:avLst/>
          </a:prstGeom>
          <a:noFill/>
        </p:spPr>
        <p:txBody>
          <a:bodyPr wrap="square" anchor="t">
            <a:spAutoFit/>
          </a:bodyPr>
          <a:lstStyle/>
          <a:p>
            <a:pPr algn="l">
              <a:spcAft>
                <a:spcPts val="400"/>
              </a:spcAft>
            </a:pPr>
            <a:r>
              <a:rPr sz="1500" b="1">
                <a:solidFill>
                  <a:srgbClr val="F5A623"/>
                </a:solidFill>
                <a:latin typeface="Arial"/>
              </a:rPr>
              <a:t>PERSISTENT MEMORY (L1)</a:t>
            </a:r>
          </a:p>
        </p:txBody>
      </p:sp>
      <p:sp>
        <p:nvSpPr>
          <p:cNvPr id="8" name="TextBox 7"/>
          <p:cNvSpPr txBox="1"/>
          <p:nvPr/>
        </p:nvSpPr>
        <p:spPr>
          <a:xfrm>
            <a:off x="7406640" y="1874519"/>
            <a:ext cx="3931920" cy="365760"/>
          </a:xfrm>
          <a:prstGeom prst="rect">
            <a:avLst/>
          </a:prstGeom>
          <a:noFill/>
        </p:spPr>
        <p:txBody>
          <a:bodyPr wrap="square" anchor="t">
            <a:spAutoFit/>
          </a:bodyPr>
          <a:lstStyle/>
          <a:p>
            <a:pPr algn="l">
              <a:spcAft>
                <a:spcPts val="400"/>
              </a:spcAft>
            </a:pPr>
            <a:r>
              <a:rPr sz="1500" b="1">
                <a:solidFill>
                  <a:srgbClr val="6EA8FF"/>
                </a:solidFill>
                <a:latin typeface="Arial"/>
              </a:rPr>
              <a:t>SESSION SEARCH (L2)</a:t>
            </a:r>
          </a:p>
        </p:txBody>
      </p:sp>
      <p:sp>
        <p:nvSpPr>
          <p:cNvPr id="9" name="Rectangle 8"/>
          <p:cNvSpPr/>
          <p:nvPr/>
        </p:nvSpPr>
        <p:spPr>
          <a:xfrm>
            <a:off x="777240" y="233172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Capacity</a:t>
            </a:r>
          </a:p>
        </p:txBody>
      </p:sp>
      <p:sp>
        <p:nvSpPr>
          <p:cNvPr id="11" name="TextBox 10"/>
          <p:cNvSpPr txBox="1"/>
          <p:nvPr/>
        </p:nvSpPr>
        <p:spPr>
          <a:xfrm>
            <a:off x="3017520" y="2404872"/>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~1,300 tokens total</a:t>
            </a:r>
          </a:p>
        </p:txBody>
      </p:sp>
      <p:sp>
        <p:nvSpPr>
          <p:cNvPr id="12" name="TextBox 11"/>
          <p:cNvSpPr txBox="1"/>
          <p:nvPr/>
        </p:nvSpPr>
        <p:spPr>
          <a:xfrm>
            <a:off x="7406640" y="2404872"/>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Unlimited (all sessions)</a:t>
            </a:r>
          </a:p>
        </p:txBody>
      </p:sp>
      <p:sp>
        <p:nvSpPr>
          <p:cNvPr id="13" name="Rectangle 12"/>
          <p:cNvSpPr/>
          <p:nvPr/>
        </p:nvSpPr>
        <p:spPr>
          <a:xfrm>
            <a:off x="777240" y="2898648"/>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71800"/>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Speed</a:t>
            </a:r>
          </a:p>
        </p:txBody>
      </p:sp>
      <p:sp>
        <p:nvSpPr>
          <p:cNvPr id="15" name="TextBox 14"/>
          <p:cNvSpPr txBox="1"/>
          <p:nvPr/>
        </p:nvSpPr>
        <p:spPr>
          <a:xfrm>
            <a:off x="3017520" y="2971800"/>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Instant — already in context</a:t>
            </a:r>
          </a:p>
        </p:txBody>
      </p:sp>
      <p:sp>
        <p:nvSpPr>
          <p:cNvPr id="16" name="TextBox 15"/>
          <p:cNvSpPr txBox="1"/>
          <p:nvPr/>
        </p:nvSpPr>
        <p:spPr>
          <a:xfrm>
            <a:off x="7406640" y="2971800"/>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Search + LLM summarization</a:t>
            </a:r>
          </a:p>
        </p:txBody>
      </p:sp>
      <p:sp>
        <p:nvSpPr>
          <p:cNvPr id="17" name="Rectangle 16"/>
          <p:cNvSpPr/>
          <p:nvPr/>
        </p:nvSpPr>
        <p:spPr>
          <a:xfrm>
            <a:off x="777240" y="3465576"/>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538728"/>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Use case</a:t>
            </a:r>
          </a:p>
        </p:txBody>
      </p:sp>
      <p:sp>
        <p:nvSpPr>
          <p:cNvPr id="19" name="TextBox 18"/>
          <p:cNvSpPr txBox="1"/>
          <p:nvPr/>
        </p:nvSpPr>
        <p:spPr>
          <a:xfrm>
            <a:off x="3017520" y="3538728"/>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Key facts always available</a:t>
            </a:r>
          </a:p>
        </p:txBody>
      </p:sp>
      <p:sp>
        <p:nvSpPr>
          <p:cNvPr id="20" name="TextBox 19"/>
          <p:cNvSpPr txBox="1"/>
          <p:nvPr/>
        </p:nvSpPr>
        <p:spPr>
          <a:xfrm>
            <a:off x="7406640" y="3538728"/>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“Did we discuss X last week?”</a:t>
            </a:r>
          </a:p>
        </p:txBody>
      </p:sp>
      <p:sp>
        <p:nvSpPr>
          <p:cNvPr id="21" name="Rectangle 20"/>
          <p:cNvSpPr/>
          <p:nvPr/>
        </p:nvSpPr>
        <p:spPr>
          <a:xfrm>
            <a:off x="777240" y="4032504"/>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05656"/>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Management</a:t>
            </a:r>
          </a:p>
        </p:txBody>
      </p:sp>
      <p:sp>
        <p:nvSpPr>
          <p:cNvPr id="23" name="TextBox 22"/>
          <p:cNvSpPr txBox="1"/>
          <p:nvPr/>
        </p:nvSpPr>
        <p:spPr>
          <a:xfrm>
            <a:off x="3017520" y="4105656"/>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Curated by the agent</a:t>
            </a:r>
          </a:p>
        </p:txBody>
      </p:sp>
      <p:sp>
        <p:nvSpPr>
          <p:cNvPr id="24" name="TextBox 23"/>
          <p:cNvSpPr txBox="1"/>
          <p:nvPr/>
        </p:nvSpPr>
        <p:spPr>
          <a:xfrm>
            <a:off x="7406640" y="4105656"/>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Automatic — every session stored</a:t>
            </a:r>
          </a:p>
        </p:txBody>
      </p:sp>
      <p:sp>
        <p:nvSpPr>
          <p:cNvPr id="25" name="Rectangle 24"/>
          <p:cNvSpPr/>
          <p:nvPr/>
        </p:nvSpPr>
        <p:spPr>
          <a:xfrm>
            <a:off x="777240" y="4599432"/>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672584"/>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Token cost</a:t>
            </a:r>
          </a:p>
        </p:txBody>
      </p:sp>
      <p:sp>
        <p:nvSpPr>
          <p:cNvPr id="27" name="TextBox 26"/>
          <p:cNvSpPr txBox="1"/>
          <p:nvPr/>
        </p:nvSpPr>
        <p:spPr>
          <a:xfrm>
            <a:off x="3017520" y="4672584"/>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Fixed (~1,300 / session)</a:t>
            </a:r>
          </a:p>
        </p:txBody>
      </p:sp>
      <p:sp>
        <p:nvSpPr>
          <p:cNvPr id="28" name="TextBox 27"/>
          <p:cNvSpPr txBox="1"/>
          <p:nvPr/>
        </p:nvSpPr>
        <p:spPr>
          <a:xfrm>
            <a:off x="7406640" y="4672584"/>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On-demand — only when searched</a:t>
            </a:r>
          </a:p>
        </p:txBody>
      </p:sp>
      <p:sp>
        <p:nvSpPr>
          <p:cNvPr id="29" name="Rectangle 28"/>
          <p:cNvSpPr/>
          <p:nvPr/>
        </p:nvSpPr>
        <p:spPr>
          <a:xfrm>
            <a:off x="777240" y="516636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440680"/>
            <a:ext cx="10634472" cy="411480"/>
          </a:xfrm>
          <a:prstGeom prst="rect">
            <a:avLst/>
          </a:prstGeom>
          <a:noFill/>
        </p:spPr>
        <p:txBody>
          <a:bodyPr wrap="square" anchor="t">
            <a:spAutoFit/>
          </a:bodyPr>
          <a:lstStyle/>
          <a:p>
            <a:pPr algn="ctr">
              <a:spcAft>
                <a:spcPts val="400"/>
              </a:spcAft>
            </a:pPr>
            <a:r>
              <a:rPr sz="1500" b="0">
                <a:solidFill>
                  <a:srgbClr val="8A8D86"/>
                </a:solidFill>
                <a:latin typeface="Arial"/>
              </a:rPr>
              <a:t>L1 is </a:t>
            </a:r>
            <a:r>
              <a:rPr sz="1500" b="1">
                <a:solidFill>
                  <a:srgbClr val="F5A623"/>
                </a:solidFill>
                <a:latin typeface="Arial"/>
              </a:rPr>
              <a:t>what's curated</a:t>
            </a:r>
            <a:r>
              <a:rPr sz="1500" b="0">
                <a:solidFill>
                  <a:srgbClr val="8A8D86"/>
                </a:solidFill>
                <a:latin typeface="Arial"/>
              </a:rPr>
              <a:t>.  L2 is </a:t>
            </a:r>
            <a:r>
              <a:rPr sz="1500" b="1">
                <a:solidFill>
                  <a:srgbClr val="6EA8FF"/>
                </a:solidFill>
                <a:latin typeface="Arial"/>
              </a:rPr>
              <a:t>what's archived</a:t>
            </a:r>
            <a:r>
              <a:rPr sz="1500" b="0">
                <a:solidFill>
                  <a:srgbClr val="8A8D86"/>
                </a:solidFill>
                <a:latin typeface="Arial"/>
              </a:rPr>
              <a:t>.  Use both.</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1-2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Creative  (21)</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architecture-diagram, ascii-art, …</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Mlops  (13)</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evaluating-llms-harness, weights-and-biases, …</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Software Development  (13)</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debugging-hermes-tui-commands, hermes-agent-skill-authoring, …</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Productivity  (10)</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airtable, google-workspace, …</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Github  (6)</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codebase-inspection, github-auth, …</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Media  (6)</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gif-search, heartmula, …</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Apple  (5)</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apple-notes, apple-reminders, …</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Autonomous Ai Agents  (5)</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claude-code, codex, …</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Research  (5)</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arxiv, blogwatcher, …</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General  (3)</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computer-use, dogfood, …</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2-2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Devops  (2)</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agent-infrastructure-ops, webhook-subscriptions</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Gaming  (2)</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minecraft-modpack-server, pokemon-player</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Data Science  (1)</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jupyter-live-kernel</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Email  (1)</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himalaya</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Mcp  (1)</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native-mcp</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Note Taking  (1)</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obsidian</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Red Teaming  (1)</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godmode</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Smart Home  (1)</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openhue</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Social Media  (1)</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xurl</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Hermes in the Browser — Providers &amp; API Keys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env.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Keys page (127.0.0.1:9119/env) — OAuth provider logins (Nous Portal, OpenAI, MiniMax, Anthropic, …) and API keys, stored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masterclass/module-06/what-is-a-tool</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THE CORE IDEA</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WHAT IS A TOOL?</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function the model can ask Hermes to run. That's it.</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a tool = three small pieces</a:t>
            </a:r>
          </a:p>
        </p:txBody>
      </p:sp>
      <p:sp>
        <p:nvSpPr>
          <p:cNvPr id="13" name="Rectangle 12"/>
          <p:cNvSpPr/>
          <p:nvPr/>
        </p:nvSpPr>
        <p:spPr>
          <a:xfrm>
            <a:off x="777240" y="2304288"/>
            <a:ext cx="10634472" cy="3602736"/>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310896"/>
          </a:xfrm>
          <a:prstGeom prst="rect">
            <a:avLst/>
          </a:prstGeom>
          <a:noFill/>
        </p:spPr>
        <p:txBody>
          <a:bodyPr wrap="none">
            <a:spAutoFit/>
          </a:bodyPr>
          <a:lstStyle/>
          <a:p>
            <a:r>
              <a:rPr sz="1250" b="0">
                <a:solidFill>
                  <a:srgbClr val="8A8D86"/>
                </a:solidFill>
                <a:latin typeface="Courier New"/>
              </a:rPr>
              <a:t># 1 — THE FUNCTION · plain Python, does the real work</a:t>
            </a:r>
          </a:p>
        </p:txBody>
      </p:sp>
      <p:sp>
        <p:nvSpPr>
          <p:cNvPr id="15" name="TextBox 14"/>
          <p:cNvSpPr txBox="1"/>
          <p:nvPr/>
        </p:nvSpPr>
        <p:spPr>
          <a:xfrm>
            <a:off x="1005840" y="2688336"/>
            <a:ext cx="10149840" cy="310896"/>
          </a:xfrm>
          <a:prstGeom prst="rect">
            <a:avLst/>
          </a:prstGeom>
          <a:noFill/>
        </p:spPr>
        <p:txBody>
          <a:bodyPr wrap="none">
            <a:spAutoFit/>
          </a:bodyPr>
          <a:lstStyle/>
          <a:p>
            <a:r>
              <a:rPr sz="1250" b="1">
                <a:solidFill>
                  <a:srgbClr val="6EA8FF"/>
                </a:solidFill>
                <a:latin typeface="Courier New"/>
              </a:rPr>
              <a:t>def </a:t>
            </a:r>
            <a:r>
              <a:rPr sz="1250" b="1">
                <a:solidFill>
                  <a:srgbClr val="F5A623"/>
                </a:solidFill>
                <a:latin typeface="Courier New"/>
              </a:rPr>
              <a:t>read_file</a:t>
            </a:r>
            <a:r>
              <a:rPr sz="1250" b="0">
                <a:solidFill>
                  <a:srgbClr val="E8E6DD"/>
                </a:solidFill>
                <a:latin typeface="Courier New"/>
              </a:rPr>
              <a:t>(path):</a:t>
            </a:r>
          </a:p>
        </p:txBody>
      </p:sp>
      <p:sp>
        <p:nvSpPr>
          <p:cNvPr id="16" name="TextBox 15"/>
          <p:cNvSpPr txBox="1"/>
          <p:nvPr/>
        </p:nvSpPr>
        <p:spPr>
          <a:xfrm>
            <a:off x="1005840" y="2999232"/>
            <a:ext cx="10149840" cy="310896"/>
          </a:xfrm>
          <a:prstGeom prst="rect">
            <a:avLst/>
          </a:prstGeom>
          <a:noFill/>
        </p:spPr>
        <p:txBody>
          <a:bodyPr wrap="none">
            <a:spAutoFit/>
          </a:bodyPr>
          <a:lstStyle/>
          <a:p>
            <a:r>
              <a:rPr sz="1250" b="1">
                <a:solidFill>
                  <a:srgbClr val="6EA8FF"/>
                </a:solidFill>
                <a:latin typeface="Courier New"/>
              </a:rPr>
              <a:t>    return </a:t>
            </a:r>
            <a:r>
              <a:rPr sz="1250" b="0">
                <a:solidFill>
                  <a:srgbClr val="E8E6DD"/>
                </a:solidFill>
                <a:latin typeface="Courier New"/>
              </a:rPr>
              <a:t>open(path).read()</a:t>
            </a:r>
          </a:p>
        </p:txBody>
      </p:sp>
      <p:sp>
        <p:nvSpPr>
          <p:cNvPr id="17" name="TextBox 16"/>
          <p:cNvSpPr txBox="1"/>
          <p:nvPr/>
        </p:nvSpPr>
        <p:spPr>
          <a:xfrm>
            <a:off x="1005840" y="3310128"/>
            <a:ext cx="10149840" cy="310896"/>
          </a:xfrm>
          <a:prstGeom prst="rect">
            <a:avLst/>
          </a:prstGeom>
          <a:noFill/>
        </p:spPr>
        <p:txBody>
          <a:bodyPr wrap="none">
            <a:spAutoFit/>
          </a:bodyPr>
          <a:lstStyle/>
          <a:p>
            <a:r>
              <a:rPr sz="1250" b="0">
                <a:solidFill>
                  <a:srgbClr val="E8E6DD"/>
                </a:solidFill>
                <a:latin typeface="Courier New"/>
              </a:rPr>
              <a:t/>
            </a:r>
          </a:p>
        </p:txBody>
      </p:sp>
      <p:sp>
        <p:nvSpPr>
          <p:cNvPr id="18" name="TextBox 17"/>
          <p:cNvSpPr txBox="1"/>
          <p:nvPr/>
        </p:nvSpPr>
        <p:spPr>
          <a:xfrm>
            <a:off x="1005840" y="3621024"/>
            <a:ext cx="10149840" cy="310896"/>
          </a:xfrm>
          <a:prstGeom prst="rect">
            <a:avLst/>
          </a:prstGeom>
          <a:noFill/>
        </p:spPr>
        <p:txBody>
          <a:bodyPr wrap="none">
            <a:spAutoFit/>
          </a:bodyPr>
          <a:lstStyle/>
          <a:p>
            <a:r>
              <a:rPr sz="1250" b="0">
                <a:solidFill>
                  <a:srgbClr val="8A8D86"/>
                </a:solidFill>
                <a:latin typeface="Courier New"/>
              </a:rPr>
              <a:t># 2 — THE DESCRIPTION · what the model reads to decide</a:t>
            </a:r>
          </a:p>
        </p:txBody>
      </p:sp>
      <p:sp>
        <p:nvSpPr>
          <p:cNvPr id="19" name="TextBox 18"/>
          <p:cNvSpPr txBox="1"/>
          <p:nvPr/>
        </p:nvSpPr>
        <p:spPr>
          <a:xfrm>
            <a:off x="1005840" y="3931920"/>
            <a:ext cx="10149840" cy="310896"/>
          </a:xfrm>
          <a:prstGeom prst="rect">
            <a:avLst/>
          </a:prstGeom>
          <a:noFill/>
        </p:spPr>
        <p:txBody>
          <a:bodyPr wrap="none">
            <a:spAutoFit/>
          </a:bodyPr>
          <a:lstStyle/>
          <a:p>
            <a:r>
              <a:rPr sz="1250" b="0">
                <a:solidFill>
                  <a:srgbClr val="E8E6DD"/>
                </a:solidFill>
                <a:latin typeface="Courier New"/>
              </a:rPr>
              <a:t>SCHEMA = {</a:t>
            </a:r>
            <a:r>
              <a:rPr sz="1250" b="1">
                <a:solidFill>
                  <a:srgbClr val="6EA8FF"/>
                </a:solidFill>
                <a:latin typeface="Courier New"/>
              </a:rPr>
              <a:t>"name"</a:t>
            </a:r>
            <a:r>
              <a:rPr sz="1250" b="0">
                <a:solidFill>
                  <a:srgbClr val="E8E6DD"/>
                </a:solidFill>
                <a:latin typeface="Courier New"/>
              </a:rPr>
              <a:t>: </a:t>
            </a:r>
            <a:r>
              <a:rPr sz="1250" b="1">
                <a:solidFill>
                  <a:srgbClr val="4ADE80"/>
                </a:solidFill>
                <a:latin typeface="Courier New"/>
              </a:rPr>
              <a:t>"read_file"</a:t>
            </a:r>
            <a:r>
              <a:rPr sz="1250" b="0">
                <a:solidFill>
                  <a:srgbClr val="E8E6DD"/>
                </a:solidFill>
                <a:latin typeface="Courier New"/>
              </a:rPr>
              <a:t>,</a:t>
            </a:r>
          </a:p>
        </p:txBody>
      </p:sp>
      <p:sp>
        <p:nvSpPr>
          <p:cNvPr id="20" name="TextBox 19"/>
          <p:cNvSpPr txBox="1"/>
          <p:nvPr/>
        </p:nvSpPr>
        <p:spPr>
          <a:xfrm>
            <a:off x="1005840" y="4242816"/>
            <a:ext cx="10149840" cy="310896"/>
          </a:xfrm>
          <a:prstGeom prst="rect">
            <a:avLst/>
          </a:prstGeom>
          <a:noFill/>
        </p:spPr>
        <p:txBody>
          <a:bodyPr wrap="none">
            <a:spAutoFit/>
          </a:bodyPr>
          <a:lstStyle/>
          <a:p>
            <a:r>
              <a:rPr sz="1250" b="1">
                <a:solidFill>
                  <a:srgbClr val="6EA8FF"/>
                </a:solidFill>
                <a:latin typeface="Courier New"/>
              </a:rPr>
              <a:t>    "description"</a:t>
            </a:r>
            <a:r>
              <a:rPr sz="1250" b="0">
                <a:solidFill>
                  <a:srgbClr val="E8E6DD"/>
                </a:solidFill>
                <a:latin typeface="Courier New"/>
              </a:rPr>
              <a:t>: </a:t>
            </a:r>
            <a:r>
              <a:rPr sz="1250" b="1">
                <a:solidFill>
                  <a:srgbClr val="4ADE80"/>
                </a:solidFill>
                <a:latin typeface="Courier New"/>
              </a:rPr>
              <a:t>"Read a text file."</a:t>
            </a:r>
            <a:r>
              <a:rPr sz="1250" b="0">
                <a:solidFill>
                  <a:srgbClr val="E8E6DD"/>
                </a:solidFill>
                <a:latin typeface="Courier New"/>
              </a:rPr>
              <a:t>,</a:t>
            </a:r>
          </a:p>
        </p:txBody>
      </p:sp>
      <p:sp>
        <p:nvSpPr>
          <p:cNvPr id="21" name="TextBox 20"/>
          <p:cNvSpPr txBox="1"/>
          <p:nvPr/>
        </p:nvSpPr>
        <p:spPr>
          <a:xfrm>
            <a:off x="1005840" y="4553712"/>
            <a:ext cx="10149840" cy="310896"/>
          </a:xfrm>
          <a:prstGeom prst="rect">
            <a:avLst/>
          </a:prstGeom>
          <a:noFill/>
        </p:spPr>
        <p:txBody>
          <a:bodyPr wrap="none">
            <a:spAutoFit/>
          </a:bodyPr>
          <a:lstStyle/>
          <a:p>
            <a:r>
              <a:rPr sz="1250" b="1">
                <a:solidFill>
                  <a:srgbClr val="6EA8FF"/>
                </a:solidFill>
                <a:latin typeface="Courier New"/>
              </a:rPr>
              <a:t>    "parameters"</a:t>
            </a:r>
            <a:r>
              <a:rPr sz="1250" b="0">
                <a:solidFill>
                  <a:srgbClr val="E8E6DD"/>
                </a:solidFill>
                <a:latin typeface="Courier New"/>
              </a:rPr>
              <a:t>: {</a:t>
            </a:r>
            <a:r>
              <a:rPr sz="1250" b="1">
                <a:solidFill>
                  <a:srgbClr val="6EA8FF"/>
                </a:solidFill>
                <a:latin typeface="Courier New"/>
              </a:rPr>
              <a:t>"path"</a:t>
            </a:r>
            <a:r>
              <a:rPr sz="1250" b="0">
                <a:solidFill>
                  <a:srgbClr val="E8E6DD"/>
                </a:solidFill>
                <a:latin typeface="Courier New"/>
              </a:rPr>
              <a:t>: </a:t>
            </a:r>
            <a:r>
              <a:rPr sz="1250" b="1">
                <a:solidFill>
                  <a:srgbClr val="4ADE80"/>
                </a:solidFill>
                <a:latin typeface="Courier New"/>
              </a:rPr>
              <a:t>"string"</a:t>
            </a:r>
            <a:r>
              <a:rPr sz="1250" b="0">
                <a:solidFill>
                  <a:srgbClr val="E8E6DD"/>
                </a:solidFill>
                <a:latin typeface="Courier New"/>
              </a:rPr>
              <a:t>}}</a:t>
            </a:r>
          </a:p>
        </p:txBody>
      </p:sp>
      <p:sp>
        <p:nvSpPr>
          <p:cNvPr id="22" name="TextBox 21"/>
          <p:cNvSpPr txBox="1"/>
          <p:nvPr/>
        </p:nvSpPr>
        <p:spPr>
          <a:xfrm>
            <a:off x="1005840" y="4864608"/>
            <a:ext cx="10149840" cy="310896"/>
          </a:xfrm>
          <a:prstGeom prst="rect">
            <a:avLst/>
          </a:prstGeom>
          <a:noFill/>
        </p:spPr>
        <p:txBody>
          <a:bodyPr wrap="none">
            <a:spAutoFit/>
          </a:bodyPr>
          <a:lstStyle/>
          <a:p>
            <a:r>
              <a:rPr sz="1250" b="0">
                <a:solidFill>
                  <a:srgbClr val="E8E6DD"/>
                </a:solidFill>
                <a:latin typeface="Courier New"/>
              </a:rPr>
              <a:t/>
            </a:r>
          </a:p>
        </p:txBody>
      </p:sp>
      <p:sp>
        <p:nvSpPr>
          <p:cNvPr id="23" name="TextBox 22"/>
          <p:cNvSpPr txBox="1"/>
          <p:nvPr/>
        </p:nvSpPr>
        <p:spPr>
          <a:xfrm>
            <a:off x="1005840" y="5175504"/>
            <a:ext cx="10149840" cy="310896"/>
          </a:xfrm>
          <a:prstGeom prst="rect">
            <a:avLst/>
          </a:prstGeom>
          <a:noFill/>
        </p:spPr>
        <p:txBody>
          <a:bodyPr wrap="none">
            <a:spAutoFit/>
          </a:bodyPr>
          <a:lstStyle/>
          <a:p>
            <a:r>
              <a:rPr sz="1250" b="0">
                <a:solidFill>
                  <a:srgbClr val="8A8D86"/>
                </a:solidFill>
                <a:latin typeface="Courier New"/>
              </a:rPr>
              <a:t># 3 — REGISTER · hand both to Hermes</a:t>
            </a:r>
          </a:p>
        </p:txBody>
      </p:sp>
      <p:sp>
        <p:nvSpPr>
          <p:cNvPr id="24" name="TextBox 23"/>
          <p:cNvSpPr txBox="1"/>
          <p:nvPr/>
        </p:nvSpPr>
        <p:spPr>
          <a:xfrm>
            <a:off x="1005840" y="5486400"/>
            <a:ext cx="10149840" cy="310896"/>
          </a:xfrm>
          <a:prstGeom prst="rect">
            <a:avLst/>
          </a:prstGeom>
          <a:noFill/>
        </p:spPr>
        <p:txBody>
          <a:bodyPr wrap="none">
            <a:spAutoFit/>
          </a:bodyPr>
          <a:lstStyle/>
          <a:p>
            <a:r>
              <a:rPr sz="1250" b="1">
                <a:solidFill>
                  <a:srgbClr val="6EA8FF"/>
                </a:solidFill>
                <a:latin typeface="Courier New"/>
              </a:rPr>
              <a:t>registry</a:t>
            </a:r>
            <a:r>
              <a:rPr sz="1250" b="0">
                <a:solidFill>
                  <a:srgbClr val="E8E6DD"/>
                </a:solidFill>
                <a:latin typeface="Courier New"/>
              </a:rPr>
              <a:t>.register(</a:t>
            </a:r>
            <a:r>
              <a:rPr sz="1250" b="1">
                <a:solidFill>
                  <a:srgbClr val="4ADE80"/>
                </a:solidFill>
                <a:latin typeface="Courier New"/>
              </a:rPr>
              <a:t>"read_file"</a:t>
            </a:r>
            <a:r>
              <a:rPr sz="1250" b="0">
                <a:solidFill>
                  <a:srgbClr val="E8E6DD"/>
                </a:solidFill>
                <a:latin typeface="Courier New"/>
              </a:rPr>
              <a:t>, SCHEMA, read_file)</a:t>
            </a:r>
          </a:p>
        </p:txBody>
      </p:sp>
      <p:sp>
        <p:nvSpPr>
          <p:cNvPr id="25" name="TextBox 24"/>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The model never runs it. It asks for it by name — Hermes runs the function and hands back whatever it returns.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tools/registry.py</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~70 TOOLS · ~30 TOOLSETS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BUILT-IN CATALOG.</a:t>
            </a:r>
          </a:p>
        </p:txBody>
      </p:sp>
      <p:sp>
        <p:nvSpPr>
          <p:cNvPr id="7" name="Rectangle 6"/>
          <p:cNvSpPr/>
          <p:nvPr/>
        </p:nvSpPr>
        <p:spPr>
          <a:xfrm>
            <a:off x="777240"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5417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FILES &amp; TERM</a:t>
            </a:r>
          </a:p>
        </p:txBody>
      </p:sp>
      <p:sp>
        <p:nvSpPr>
          <p:cNvPr id="13" name="TextBox 12"/>
          <p:cNvSpPr txBox="1"/>
          <p:nvPr/>
        </p:nvSpPr>
        <p:spPr>
          <a:xfrm>
            <a:off x="941832"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read_file</a:t>
            </a:r>
          </a:p>
          <a:p>
            <a:pPr algn="l">
              <a:spcAft>
                <a:spcPts val="600"/>
              </a:spcAft>
            </a:pPr>
            <a:r>
              <a:rPr sz="1200" b="0">
                <a:solidFill>
                  <a:srgbClr val="E8E6DD"/>
                </a:solidFill>
                <a:latin typeface="Arial"/>
              </a:rPr>
              <a:t>write_file</a:t>
            </a:r>
          </a:p>
          <a:p>
            <a:pPr algn="l">
              <a:spcAft>
                <a:spcPts val="600"/>
              </a:spcAft>
            </a:pPr>
            <a:r>
              <a:rPr sz="1200" b="0">
                <a:solidFill>
                  <a:srgbClr val="E8E6DD"/>
                </a:solidFill>
                <a:latin typeface="Arial"/>
              </a:rPr>
              <a:t>patch</a:t>
            </a:r>
          </a:p>
          <a:p>
            <a:pPr algn="l">
              <a:spcAft>
                <a:spcPts val="600"/>
              </a:spcAft>
            </a:pPr>
            <a:r>
              <a:rPr sz="1200" b="0">
                <a:solidFill>
                  <a:srgbClr val="E8E6DD"/>
                </a:solidFill>
                <a:latin typeface="Arial"/>
              </a:rPr>
              <a:t>search_files</a:t>
            </a:r>
          </a:p>
          <a:p>
            <a:pPr algn="l">
              <a:spcAft>
                <a:spcPts val="600"/>
              </a:spcAft>
            </a:pPr>
            <a:r>
              <a:rPr sz="1200" b="0">
                <a:solidFill>
                  <a:srgbClr val="E8E6DD"/>
                </a:solidFill>
                <a:latin typeface="Arial"/>
              </a:rPr>
              <a:t>terminal</a:t>
            </a:r>
          </a:p>
          <a:p>
            <a:pPr algn="l">
              <a:spcAft>
                <a:spcPts val="600"/>
              </a:spcAft>
            </a:pPr>
            <a:r>
              <a:rPr sz="1200" b="0">
                <a:solidFill>
                  <a:srgbClr val="E8E6DD"/>
                </a:solidFill>
                <a:latin typeface="Arial"/>
              </a:rPr>
              <a:t>process</a:t>
            </a:r>
          </a:p>
        </p:txBody>
      </p:sp>
      <p:sp>
        <p:nvSpPr>
          <p:cNvPr id="14" name="Rectangle 13"/>
          <p:cNvSpPr/>
          <p:nvPr/>
        </p:nvSpPr>
        <p:spPr>
          <a:xfrm>
            <a:off x="2937052"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37052"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37052"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3705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1398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7052"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WEB &amp; BROWSER</a:t>
            </a:r>
          </a:p>
        </p:txBody>
      </p:sp>
      <p:sp>
        <p:nvSpPr>
          <p:cNvPr id="20" name="TextBox 19"/>
          <p:cNvSpPr txBox="1"/>
          <p:nvPr/>
        </p:nvSpPr>
        <p:spPr>
          <a:xfrm>
            <a:off x="3101644"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web_search</a:t>
            </a:r>
          </a:p>
          <a:p>
            <a:pPr algn="l">
              <a:spcAft>
                <a:spcPts val="600"/>
              </a:spcAft>
            </a:pPr>
            <a:r>
              <a:rPr sz="1200" b="0">
                <a:solidFill>
                  <a:srgbClr val="E8E6DD"/>
                </a:solidFill>
                <a:latin typeface="Arial"/>
              </a:rPr>
              <a:t>web_extract</a:t>
            </a:r>
          </a:p>
          <a:p>
            <a:pPr algn="l">
              <a:spcAft>
                <a:spcPts val="600"/>
              </a:spcAft>
            </a:pPr>
            <a:r>
              <a:rPr sz="1200" b="0">
                <a:solidFill>
                  <a:srgbClr val="E8E6DD"/>
                </a:solidFill>
                <a:latin typeface="Arial"/>
              </a:rPr>
              <a:t>browser_navigate</a:t>
            </a:r>
          </a:p>
          <a:p>
            <a:pPr algn="l">
              <a:spcAft>
                <a:spcPts val="600"/>
              </a:spcAft>
            </a:pPr>
            <a:r>
              <a:rPr sz="1200" b="0">
                <a:solidFill>
                  <a:srgbClr val="E8E6DD"/>
                </a:solidFill>
                <a:latin typeface="Arial"/>
              </a:rPr>
              <a:t>browser_snapshot</a:t>
            </a:r>
          </a:p>
          <a:p>
            <a:pPr algn="l">
              <a:spcAft>
                <a:spcPts val="600"/>
              </a:spcAft>
            </a:pPr>
            <a:r>
              <a:rPr sz="1200" b="0">
                <a:solidFill>
                  <a:srgbClr val="E8E6DD"/>
                </a:solidFill>
                <a:latin typeface="Arial"/>
              </a:rPr>
              <a:t>browser_click</a:t>
            </a:r>
          </a:p>
          <a:p>
            <a:pPr algn="l">
              <a:spcAft>
                <a:spcPts val="600"/>
              </a:spcAft>
            </a:pPr>
            <a:r>
              <a:rPr sz="1200" b="0">
                <a:solidFill>
                  <a:srgbClr val="8A8D86"/>
                </a:solidFill>
                <a:latin typeface="Arial"/>
              </a:rPr>
              <a:t>+ 7 browser tools</a:t>
            </a:r>
          </a:p>
        </p:txBody>
      </p:sp>
      <p:sp>
        <p:nvSpPr>
          <p:cNvPr id="21" name="Rectangle 20"/>
          <p:cNvSpPr/>
          <p:nvPr/>
        </p:nvSpPr>
        <p:spPr>
          <a:xfrm>
            <a:off x="5096864"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96864"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96864"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9686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7379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6864"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MEDIA</a:t>
            </a:r>
          </a:p>
        </p:txBody>
      </p:sp>
      <p:sp>
        <p:nvSpPr>
          <p:cNvPr id="27" name="TextBox 26"/>
          <p:cNvSpPr txBox="1"/>
          <p:nvPr/>
        </p:nvSpPr>
        <p:spPr>
          <a:xfrm>
            <a:off x="5261456"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vision_analyze</a:t>
            </a:r>
          </a:p>
          <a:p>
            <a:pPr algn="l">
              <a:spcAft>
                <a:spcPts val="600"/>
              </a:spcAft>
            </a:pPr>
            <a:r>
              <a:rPr sz="1200" b="0">
                <a:solidFill>
                  <a:srgbClr val="E8E6DD"/>
                </a:solidFill>
                <a:latin typeface="Arial"/>
              </a:rPr>
              <a:t>image_generate</a:t>
            </a:r>
          </a:p>
          <a:p>
            <a:pPr algn="l">
              <a:spcAft>
                <a:spcPts val="600"/>
              </a:spcAft>
            </a:pPr>
            <a:r>
              <a:rPr sz="1200" b="0">
                <a:solidFill>
                  <a:srgbClr val="E8E6DD"/>
                </a:solidFill>
                <a:latin typeface="Arial"/>
              </a:rPr>
              <a:t>text_to_speech</a:t>
            </a:r>
          </a:p>
        </p:txBody>
      </p:sp>
      <p:sp>
        <p:nvSpPr>
          <p:cNvPr id="28" name="Rectangle 27"/>
          <p:cNvSpPr/>
          <p:nvPr/>
        </p:nvSpPr>
        <p:spPr>
          <a:xfrm>
            <a:off x="7256676"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56676"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56676"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25667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3360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56676"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ORCHESTRATION</a:t>
            </a:r>
          </a:p>
        </p:txBody>
      </p:sp>
      <p:sp>
        <p:nvSpPr>
          <p:cNvPr id="34" name="TextBox 33"/>
          <p:cNvSpPr txBox="1"/>
          <p:nvPr/>
        </p:nvSpPr>
        <p:spPr>
          <a:xfrm>
            <a:off x="7421268"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todo</a:t>
            </a:r>
          </a:p>
          <a:p>
            <a:pPr algn="l">
              <a:spcAft>
                <a:spcPts val="600"/>
              </a:spcAft>
            </a:pPr>
            <a:r>
              <a:rPr sz="1200" b="0">
                <a:solidFill>
                  <a:srgbClr val="E8E6DD"/>
                </a:solidFill>
                <a:latin typeface="Arial"/>
              </a:rPr>
              <a:t>clarify</a:t>
            </a:r>
          </a:p>
          <a:p>
            <a:pPr algn="l">
              <a:spcAft>
                <a:spcPts val="600"/>
              </a:spcAft>
            </a:pPr>
            <a:r>
              <a:rPr sz="1200" b="0">
                <a:solidFill>
                  <a:srgbClr val="E8E6DD"/>
                </a:solidFill>
                <a:latin typeface="Arial"/>
              </a:rPr>
              <a:t>execute_code</a:t>
            </a:r>
          </a:p>
          <a:p>
            <a:pPr algn="l">
              <a:spcAft>
                <a:spcPts val="600"/>
              </a:spcAft>
            </a:pPr>
            <a:r>
              <a:rPr sz="1200" b="0">
                <a:solidFill>
                  <a:srgbClr val="E8E6DD"/>
                </a:solidFill>
                <a:latin typeface="Arial"/>
              </a:rPr>
              <a:t>delegate_task</a:t>
            </a:r>
          </a:p>
          <a:p>
            <a:pPr algn="l">
              <a:spcAft>
                <a:spcPts val="600"/>
              </a:spcAft>
            </a:pPr>
            <a:r>
              <a:rPr sz="1200" b="0">
                <a:solidFill>
                  <a:srgbClr val="E8E6DD"/>
                </a:solidFill>
                <a:latin typeface="Arial"/>
              </a:rPr>
              <a:t>mixture_of_agents</a:t>
            </a:r>
          </a:p>
        </p:txBody>
      </p:sp>
      <p:sp>
        <p:nvSpPr>
          <p:cNvPr id="35" name="Rectangle 34"/>
          <p:cNvSpPr/>
          <p:nvPr/>
        </p:nvSpPr>
        <p:spPr>
          <a:xfrm>
            <a:off x="9416488"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416488"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16488"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41648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39342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6488"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MEMORY &amp; MORE</a:t>
            </a:r>
          </a:p>
        </p:txBody>
      </p:sp>
      <p:sp>
        <p:nvSpPr>
          <p:cNvPr id="41" name="TextBox 40"/>
          <p:cNvSpPr txBox="1"/>
          <p:nvPr/>
        </p:nvSpPr>
        <p:spPr>
          <a:xfrm>
            <a:off x="9581080"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memory</a:t>
            </a:r>
          </a:p>
          <a:p>
            <a:pPr algn="l">
              <a:spcAft>
                <a:spcPts val="600"/>
              </a:spcAft>
            </a:pPr>
            <a:r>
              <a:rPr sz="1200" b="0">
                <a:solidFill>
                  <a:srgbClr val="E8E6DD"/>
                </a:solidFill>
                <a:latin typeface="Arial"/>
              </a:rPr>
              <a:t>session_search</a:t>
            </a:r>
          </a:p>
          <a:p>
            <a:pPr algn="l">
              <a:spcAft>
                <a:spcPts val="600"/>
              </a:spcAft>
            </a:pPr>
            <a:r>
              <a:rPr sz="1200" b="0">
                <a:solidFill>
                  <a:srgbClr val="E8E6DD"/>
                </a:solidFill>
                <a:latin typeface="Arial"/>
              </a:rPr>
              <a:t>cronjob</a:t>
            </a:r>
          </a:p>
          <a:p>
            <a:pPr algn="l">
              <a:spcAft>
                <a:spcPts val="600"/>
              </a:spcAft>
            </a:pPr>
            <a:r>
              <a:rPr sz="1200" b="0">
                <a:solidFill>
                  <a:srgbClr val="E8E6DD"/>
                </a:solidFill>
                <a:latin typeface="Arial"/>
              </a:rPr>
              <a:t>send_message</a:t>
            </a:r>
          </a:p>
          <a:p>
            <a:pPr algn="l">
              <a:spcAft>
                <a:spcPts val="600"/>
              </a:spcAft>
            </a:pPr>
            <a:r>
              <a:rPr sz="1200" b="0">
                <a:solidFill>
                  <a:srgbClr val="8A8D86"/>
                </a:solidFill>
                <a:latin typeface="Arial"/>
              </a:rPr>
              <a:t>ha_* · rl_* · mcp_*</a:t>
            </a:r>
          </a:p>
        </p:txBody>
      </p:sp>
      <p:sp>
        <p:nvSpPr>
          <p:cNvPr id="42" name="Rectangle 41"/>
          <p:cNvSpPr/>
          <p:nvPr/>
        </p:nvSpPr>
        <p:spPr>
          <a:xfrm>
            <a:off x="777240" y="4754880"/>
            <a:ext cx="10634472" cy="105156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77240" y="4754880"/>
            <a:ext cx="45720" cy="105156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5840" y="4864608"/>
            <a:ext cx="1188720" cy="320040"/>
          </a:xfrm>
          <a:prstGeom prst="rect">
            <a:avLst/>
          </a:prstGeom>
          <a:noFill/>
        </p:spPr>
        <p:txBody>
          <a:bodyPr wrap="square" anchor="t">
            <a:spAutoFit/>
          </a:bodyPr>
          <a:lstStyle/>
          <a:p>
            <a:pPr algn="l">
              <a:spcAft>
                <a:spcPts val="400"/>
              </a:spcAft>
            </a:pPr>
            <a:r>
              <a:rPr sz="1500" b="1">
                <a:solidFill>
                  <a:srgbClr val="F5A623"/>
                </a:solidFill>
                <a:latin typeface="Arial"/>
              </a:rPr>
              <a:t>SCOPE</a:t>
            </a:r>
          </a:p>
        </p:txBody>
      </p:sp>
      <p:sp>
        <p:nvSpPr>
          <p:cNvPr id="45" name="TextBox 44"/>
          <p:cNvSpPr txBox="1"/>
          <p:nvPr/>
        </p:nvSpPr>
        <p:spPr>
          <a:xfrm>
            <a:off x="2286000" y="4846320"/>
            <a:ext cx="8869680" cy="896112"/>
          </a:xfrm>
          <a:prstGeom prst="rect">
            <a:avLst/>
          </a:prstGeom>
          <a:noFill/>
        </p:spPr>
        <p:txBody>
          <a:bodyPr wrap="square" anchor="t">
            <a:spAutoFit/>
          </a:bodyPr>
          <a:lstStyle/>
          <a:p>
            <a:pPr algn="l">
              <a:spcAft>
                <a:spcPts val="400"/>
              </a:spcAft>
            </a:pPr>
            <a:r>
              <a:rPr sz="1250" b="0">
                <a:solidFill>
                  <a:srgbClr val="E8E6DD"/>
                </a:solidFill>
                <a:latin typeface="Arial"/>
              </a:rPr>
              <a:t>~70 tools across ~30 toolsets in the full registry — but your profile loads a subset. Plugin/platform toolsets (Spotify, Feishu, Kanban) only appear when active. read_file / search_files / patch exist so the agent never shells out to cat / grep / sed — structured, paginated, safer.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hermes chat</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LIVE SESSION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TOOLS IN ACTION.</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real session — the agent picks tools by name and you watch every call live.</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hermes chat</a:t>
            </a:r>
          </a:p>
        </p:txBody>
      </p:sp>
      <p:sp>
        <p:nvSpPr>
          <p:cNvPr id="13" name="Rectangle 12"/>
          <p:cNvSpPr/>
          <p:nvPr/>
        </p:nvSpPr>
        <p:spPr>
          <a:xfrm>
            <a:off x="777240" y="2304288"/>
            <a:ext cx="10634472" cy="3685032"/>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291846"/>
          </a:xfrm>
          <a:prstGeom prst="rect">
            <a:avLst/>
          </a:prstGeom>
          <a:noFill/>
        </p:spPr>
        <p:txBody>
          <a:bodyPr wrap="none">
            <a:spAutoFit/>
          </a:bodyPr>
          <a:lstStyle/>
          <a:p>
            <a:r>
              <a:rPr sz="1250" b="0">
                <a:solidFill>
                  <a:srgbClr val="8A8D86"/>
                </a:solidFill>
                <a:latin typeface="Courier New"/>
              </a:rPr>
              <a:t>30 tools · 41 skills · /help for commands</a:t>
            </a:r>
          </a:p>
        </p:txBody>
      </p:sp>
      <p:sp>
        <p:nvSpPr>
          <p:cNvPr id="15" name="TextBox 14"/>
          <p:cNvSpPr txBox="1"/>
          <p:nvPr/>
        </p:nvSpPr>
        <p:spPr>
          <a:xfrm>
            <a:off x="1005840" y="2669286"/>
            <a:ext cx="10149840" cy="291846"/>
          </a:xfrm>
          <a:prstGeom prst="rect">
            <a:avLst/>
          </a:prstGeom>
          <a:noFill/>
        </p:spPr>
        <p:txBody>
          <a:bodyPr wrap="none">
            <a:spAutoFit/>
          </a:bodyPr>
          <a:lstStyle/>
          <a:p>
            <a:r>
              <a:rPr sz="1250" b="0">
                <a:solidFill>
                  <a:srgbClr val="E8E6DD"/>
                </a:solidFill>
                <a:latin typeface="Courier New"/>
              </a:rPr>
              <a:t>Welcome to Hermes Agent! Type your message or /help for commands.</a:t>
            </a:r>
          </a:p>
        </p:txBody>
      </p:sp>
      <p:sp>
        <p:nvSpPr>
          <p:cNvPr id="16" name="TextBox 15"/>
          <p:cNvSpPr txBox="1"/>
          <p:nvPr/>
        </p:nvSpPr>
        <p:spPr>
          <a:xfrm>
            <a:off x="1005840" y="2961132"/>
            <a:ext cx="10149840" cy="291846"/>
          </a:xfrm>
          <a:prstGeom prst="rect">
            <a:avLst/>
          </a:prstGeom>
          <a:noFill/>
        </p:spPr>
        <p:txBody>
          <a:bodyPr wrap="none">
            <a:spAutoFit/>
          </a:bodyPr>
          <a:lstStyle/>
          <a:p>
            <a:r>
              <a:rPr sz="1250" b="0">
                <a:solidFill>
                  <a:srgbClr val="E8E6DD"/>
                </a:solidFill>
                <a:latin typeface="Courier New"/>
              </a:rPr>
              <a:t/>
            </a:r>
          </a:p>
        </p:txBody>
      </p:sp>
      <p:sp>
        <p:nvSpPr>
          <p:cNvPr id="17" name="TextBox 16"/>
          <p:cNvSpPr txBox="1"/>
          <p:nvPr/>
        </p:nvSpPr>
        <p:spPr>
          <a:xfrm>
            <a:off x="1005840" y="3252978"/>
            <a:ext cx="10149840" cy="291846"/>
          </a:xfrm>
          <a:prstGeom prst="rect">
            <a:avLst/>
          </a:prstGeom>
          <a:noFill/>
        </p:spPr>
        <p:txBody>
          <a:bodyPr wrap="none">
            <a:spAutoFit/>
          </a:bodyPr>
          <a:lstStyle/>
          <a:p>
            <a:r>
              <a:rPr sz="1250" b="1">
                <a:solidFill>
                  <a:srgbClr val="F5A623"/>
                </a:solidFill>
                <a:latin typeface="Courier New"/>
              </a:rPr>
              <a:t>● Review the files in this directory</a:t>
            </a:r>
          </a:p>
        </p:txBody>
      </p:sp>
      <p:sp>
        <p:nvSpPr>
          <p:cNvPr id="18" name="TextBox 17"/>
          <p:cNvSpPr txBox="1"/>
          <p:nvPr/>
        </p:nvSpPr>
        <p:spPr>
          <a:xfrm>
            <a:off x="1005840" y="3544824"/>
            <a:ext cx="10149840" cy="291846"/>
          </a:xfrm>
          <a:prstGeom prst="rect">
            <a:avLst/>
          </a:prstGeom>
          <a:noFill/>
        </p:spPr>
        <p:txBody>
          <a:bodyPr wrap="none">
            <a:spAutoFit/>
          </a:bodyPr>
          <a:lstStyle/>
          <a:p>
            <a:r>
              <a:rPr sz="1250" b="0">
                <a:solidFill>
                  <a:srgbClr val="8A8D86"/>
                </a:solidFill>
                <a:latin typeface="Courier New"/>
              </a:rPr>
              <a:t>Initializing agent...</a:t>
            </a:r>
          </a:p>
        </p:txBody>
      </p:sp>
      <p:sp>
        <p:nvSpPr>
          <p:cNvPr id="19" name="TextBox 18"/>
          <p:cNvSpPr txBox="1"/>
          <p:nvPr/>
        </p:nvSpPr>
        <p:spPr>
          <a:xfrm>
            <a:off x="1005840" y="3836669"/>
            <a:ext cx="10149840" cy="291846"/>
          </a:xfrm>
          <a:prstGeom prst="rect">
            <a:avLst/>
          </a:prstGeom>
          <a:noFill/>
        </p:spPr>
        <p:txBody>
          <a:bodyPr wrap="none">
            <a:spAutoFit/>
          </a:bodyPr>
          <a:lstStyle/>
          <a:p>
            <a:r>
              <a:rPr sz="1250" b="0">
                <a:solidFill>
                  <a:srgbClr val="E8E6DD"/>
                </a:solidFill>
                <a:latin typeface="Courier New"/>
              </a:rPr>
              <a:t/>
            </a:r>
          </a:p>
        </p:txBody>
      </p:sp>
      <p:sp>
        <p:nvSpPr>
          <p:cNvPr id="20" name="TextBox 19"/>
          <p:cNvSpPr txBox="1"/>
          <p:nvPr/>
        </p:nvSpPr>
        <p:spPr>
          <a:xfrm>
            <a:off x="1005840" y="4128516"/>
            <a:ext cx="10149840" cy="291846"/>
          </a:xfrm>
          <a:prstGeom prst="rect">
            <a:avLst/>
          </a:prstGeom>
          <a:noFill/>
        </p:spPr>
        <p:txBody>
          <a:bodyPr wrap="none">
            <a:spAutoFit/>
          </a:bodyPr>
          <a:lstStyle/>
          <a:p>
            <a:r>
              <a:rPr sz="1250" b="1">
                <a:solidFill>
                  <a:srgbClr val="4ADE80"/>
                </a:solidFill>
                <a:latin typeface="Courier New"/>
              </a:rPr>
              <a:t>  skill   software-development-methods        0.1s</a:t>
            </a:r>
          </a:p>
        </p:txBody>
      </p:sp>
      <p:sp>
        <p:nvSpPr>
          <p:cNvPr id="21" name="TextBox 20"/>
          <p:cNvSpPr txBox="1"/>
          <p:nvPr/>
        </p:nvSpPr>
        <p:spPr>
          <a:xfrm>
            <a:off x="1005840" y="4420362"/>
            <a:ext cx="10149840" cy="291846"/>
          </a:xfrm>
          <a:prstGeom prst="rect">
            <a:avLst/>
          </a:prstGeom>
          <a:noFill/>
        </p:spPr>
        <p:txBody>
          <a:bodyPr wrap="none">
            <a:spAutoFit/>
          </a:bodyPr>
          <a:lstStyle/>
          <a:p>
            <a:r>
              <a:rPr sz="1250" b="1">
                <a:solidFill>
                  <a:srgbClr val="6EA8FF"/>
                </a:solidFill>
                <a:latin typeface="Courier New"/>
              </a:rPr>
              <a:t>  find    *                                    1.9s</a:t>
            </a:r>
          </a:p>
        </p:txBody>
      </p:sp>
      <p:sp>
        <p:nvSpPr>
          <p:cNvPr id="22" name="TextBox 21"/>
          <p:cNvSpPr txBox="1"/>
          <p:nvPr/>
        </p:nvSpPr>
        <p:spPr>
          <a:xfrm>
            <a:off x="1005840" y="4712208"/>
            <a:ext cx="10149840" cy="291846"/>
          </a:xfrm>
          <a:prstGeom prst="rect">
            <a:avLst/>
          </a:prstGeom>
          <a:noFill/>
        </p:spPr>
        <p:txBody>
          <a:bodyPr wrap="none">
            <a:spAutoFit/>
          </a:bodyPr>
          <a:lstStyle/>
          <a:p>
            <a:r>
              <a:rPr sz="1250" b="0">
                <a:solidFill>
                  <a:srgbClr val="E8E6DD"/>
                </a:solidFill>
                <a:latin typeface="Courier New"/>
              </a:rPr>
              <a:t>  exec    from hermes_tools import terminal    0.6s</a:t>
            </a:r>
          </a:p>
        </p:txBody>
      </p:sp>
      <p:sp>
        <p:nvSpPr>
          <p:cNvPr id="23" name="TextBox 22"/>
          <p:cNvSpPr txBox="1"/>
          <p:nvPr/>
        </p:nvSpPr>
        <p:spPr>
          <a:xfrm>
            <a:off x="1005840" y="5004054"/>
            <a:ext cx="10149840" cy="291846"/>
          </a:xfrm>
          <a:prstGeom prst="rect">
            <a:avLst/>
          </a:prstGeom>
          <a:noFill/>
        </p:spPr>
        <p:txBody>
          <a:bodyPr wrap="none">
            <a:spAutoFit/>
          </a:bodyPr>
          <a:lstStyle/>
          <a:p>
            <a:r>
              <a:rPr sz="1250" b="1">
                <a:solidFill>
                  <a:srgbClr val="F5A623"/>
                </a:solidFill>
                <a:latin typeface="Courier New"/>
              </a:rPr>
              <a:t>  ( •_•)&gt;⌐■-■  ruminating...</a:t>
            </a:r>
          </a:p>
        </p:txBody>
      </p:sp>
      <p:sp>
        <p:nvSpPr>
          <p:cNvPr id="24" name="TextBox 23"/>
          <p:cNvSpPr txBox="1"/>
          <p:nvPr/>
        </p:nvSpPr>
        <p:spPr>
          <a:xfrm>
            <a:off x="1005840" y="5295899"/>
            <a:ext cx="10149840" cy="291846"/>
          </a:xfrm>
          <a:prstGeom prst="rect">
            <a:avLst/>
          </a:prstGeom>
          <a:noFill/>
        </p:spPr>
        <p:txBody>
          <a:bodyPr wrap="none">
            <a:spAutoFit/>
          </a:bodyPr>
          <a:lstStyle/>
          <a:p>
            <a:r>
              <a:rPr sz="1250" b="0">
                <a:solidFill>
                  <a:srgbClr val="E8E6DD"/>
                </a:solidFill>
                <a:latin typeface="Courier New"/>
              </a:rPr>
              <a:t/>
            </a:r>
          </a:p>
        </p:txBody>
      </p:sp>
      <p:sp>
        <p:nvSpPr>
          <p:cNvPr id="25" name="TextBox 24"/>
          <p:cNvSpPr txBox="1"/>
          <p:nvPr/>
        </p:nvSpPr>
        <p:spPr>
          <a:xfrm>
            <a:off x="1005840" y="5587746"/>
            <a:ext cx="10149840" cy="291846"/>
          </a:xfrm>
          <a:prstGeom prst="rect">
            <a:avLst/>
          </a:prstGeom>
          <a:noFill/>
        </p:spPr>
        <p:txBody>
          <a:bodyPr wrap="none">
            <a:spAutoFit/>
          </a:bodyPr>
          <a:lstStyle/>
          <a:p>
            <a:r>
              <a:rPr sz="1250" b="1">
                <a:solidFill>
                  <a:srgbClr val="6EA8FF"/>
                </a:solidFill>
                <a:latin typeface="Courier New"/>
              </a:rPr>
              <a:t>gpt-5.5 | 21.4K/272K | 8% | 59s</a:t>
            </a:r>
          </a:p>
        </p:txBody>
      </p:sp>
      <p:sp>
        <p:nvSpPr>
          <p:cNvPr id="26" name="TextBox 25"/>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Every tool call is visible — name, arguments and per-call timing — while the status bar tracks model, context and cost.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masterclass/module-07/entry-points</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THREE WAYS IN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THREE WAYS TO SCHEDULE.</a:t>
            </a:r>
          </a:p>
        </p:txBody>
      </p:sp>
      <p:sp>
        <p:nvSpPr>
          <p:cNvPr id="7" name="Rectangle 6"/>
          <p:cNvSpPr/>
          <p:nvPr/>
        </p:nvSpPr>
        <p:spPr>
          <a:xfrm>
            <a:off x="777240" y="1828800"/>
            <a:ext cx="3392424"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3392424"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28032"/>
            <a:ext cx="3392424"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51376"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2" y="2011680"/>
            <a:ext cx="2935224" cy="365760"/>
          </a:xfrm>
          <a:prstGeom prst="rect">
            <a:avLst/>
          </a:prstGeom>
          <a:noFill/>
        </p:spPr>
        <p:txBody>
          <a:bodyPr wrap="square" anchor="t">
            <a:spAutoFit/>
          </a:bodyPr>
          <a:lstStyle/>
          <a:p>
            <a:pPr algn="l">
              <a:spcAft>
                <a:spcPts val="400"/>
              </a:spcAft>
            </a:pPr>
            <a:r>
              <a:rPr sz="1500" b="1">
                <a:solidFill>
                  <a:srgbClr val="F5A623"/>
                </a:solidFill>
                <a:latin typeface="Arial"/>
              </a:rPr>
              <a:t>// CLI</a:t>
            </a:r>
          </a:p>
        </p:txBody>
      </p:sp>
      <p:sp>
        <p:nvSpPr>
          <p:cNvPr id="13" name="TextBox 12"/>
          <p:cNvSpPr txBox="1"/>
          <p:nvPr/>
        </p:nvSpPr>
        <p:spPr>
          <a:xfrm>
            <a:off x="1033272" y="2487168"/>
            <a:ext cx="2916936" cy="2194560"/>
          </a:xfrm>
          <a:prstGeom prst="rect">
            <a:avLst/>
          </a:prstGeom>
          <a:noFill/>
        </p:spPr>
        <p:txBody>
          <a:bodyPr wrap="square" anchor="t">
            <a:spAutoFit/>
          </a:bodyPr>
          <a:lstStyle/>
          <a:p>
            <a:pPr algn="l">
              <a:spcAft>
                <a:spcPts val="600"/>
              </a:spcAft>
            </a:pPr>
            <a:r>
              <a:rPr sz="1300" b="1">
                <a:solidFill>
                  <a:srgbClr val="F5A623"/>
                </a:solidFill>
                <a:latin typeface="Arial"/>
              </a:rPr>
              <a:t>hermes cron create</a:t>
            </a:r>
          </a:p>
          <a:p>
            <a:pPr algn="l">
              <a:spcAft>
                <a:spcPts val="600"/>
              </a:spcAft>
            </a:pPr>
            <a:r>
              <a:rPr sz="1300" b="1">
                <a:solidFill>
                  <a:srgbClr val="F5A623"/>
                </a:solidFill>
                <a:latin typeface="Arial"/>
              </a:rPr>
              <a:t>list · pause · resume</a:t>
            </a:r>
          </a:p>
          <a:p>
            <a:pPr algn="l">
              <a:spcAft>
                <a:spcPts val="600"/>
              </a:spcAft>
            </a:pPr>
            <a:r>
              <a:rPr sz="1300" b="1">
                <a:solidFill>
                  <a:srgbClr val="F5A623"/>
                </a:solidFill>
                <a:latin typeface="Arial"/>
              </a:rPr>
              <a:t>run · remove · status</a:t>
            </a:r>
          </a:p>
          <a:p>
            <a:pPr algn="l">
              <a:spcAft>
                <a:spcPts val="600"/>
              </a:spcAft>
            </a:pPr>
            <a:r>
              <a:rPr sz="1300" b="0">
                <a:solidFill>
                  <a:srgbClr val="E8E6DD"/>
                </a:solidFill>
                <a:latin typeface="Arial"/>
              </a:rPr>
              <a:t/>
            </a:r>
          </a:p>
          <a:p>
            <a:pPr algn="l">
              <a:spcAft>
                <a:spcPts val="600"/>
              </a:spcAft>
            </a:pPr>
            <a:r>
              <a:rPr sz="1300" b="0">
                <a:solidFill>
                  <a:srgbClr val="8A8D86"/>
                </a:solidFill>
                <a:latin typeface="Arial"/>
              </a:rPr>
              <a:t>The standalone command.</a:t>
            </a:r>
          </a:p>
        </p:txBody>
      </p:sp>
      <p:sp>
        <p:nvSpPr>
          <p:cNvPr id="14" name="Rectangle 13"/>
          <p:cNvSpPr/>
          <p:nvPr/>
        </p:nvSpPr>
        <p:spPr>
          <a:xfrm>
            <a:off x="4398264" y="1828800"/>
            <a:ext cx="3392424"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8264" y="1828800"/>
            <a:ext cx="3392424" cy="18288"/>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4828032"/>
            <a:ext cx="3392424" cy="18288"/>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1828800"/>
            <a:ext cx="18288" cy="3017520"/>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0" y="1828800"/>
            <a:ext cx="18288" cy="3017520"/>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54296" y="2011680"/>
            <a:ext cx="2935224" cy="365760"/>
          </a:xfrm>
          <a:prstGeom prst="rect">
            <a:avLst/>
          </a:prstGeom>
          <a:noFill/>
        </p:spPr>
        <p:txBody>
          <a:bodyPr wrap="square" anchor="t">
            <a:spAutoFit/>
          </a:bodyPr>
          <a:lstStyle/>
          <a:p>
            <a:pPr algn="l">
              <a:spcAft>
                <a:spcPts val="400"/>
              </a:spcAft>
            </a:pPr>
            <a:r>
              <a:rPr sz="1500" b="1">
                <a:solidFill>
                  <a:srgbClr val="6EA8FF"/>
                </a:solidFill>
                <a:latin typeface="Arial"/>
              </a:rPr>
              <a:t>// CHAT</a:t>
            </a:r>
          </a:p>
        </p:txBody>
      </p:sp>
      <p:sp>
        <p:nvSpPr>
          <p:cNvPr id="20" name="TextBox 19"/>
          <p:cNvSpPr txBox="1"/>
          <p:nvPr/>
        </p:nvSpPr>
        <p:spPr>
          <a:xfrm>
            <a:off x="4654296" y="2487168"/>
            <a:ext cx="2916936" cy="2194560"/>
          </a:xfrm>
          <a:prstGeom prst="rect">
            <a:avLst/>
          </a:prstGeom>
          <a:noFill/>
        </p:spPr>
        <p:txBody>
          <a:bodyPr wrap="square" anchor="t">
            <a:spAutoFit/>
          </a:bodyPr>
          <a:lstStyle/>
          <a:p>
            <a:pPr algn="l">
              <a:spcAft>
                <a:spcPts val="600"/>
              </a:spcAft>
            </a:pPr>
            <a:r>
              <a:rPr sz="1300" b="1">
                <a:solidFill>
                  <a:srgbClr val="6EA8FF"/>
                </a:solidFill>
                <a:latin typeface="Arial"/>
              </a:rPr>
              <a:t>/cron add 30m "..."</a:t>
            </a:r>
          </a:p>
          <a:p>
            <a:pPr algn="l">
              <a:spcAft>
                <a:spcPts val="600"/>
              </a:spcAft>
            </a:pPr>
            <a:r>
              <a:rPr sz="1300" b="0">
                <a:solidFill>
                  <a:srgbClr val="E8E6DD"/>
                </a:solidFill>
                <a:latin typeface="Arial"/>
              </a:rPr>
              <a:t/>
            </a:r>
          </a:p>
          <a:p>
            <a:pPr algn="l">
              <a:spcAft>
                <a:spcPts val="600"/>
              </a:spcAft>
            </a:pPr>
            <a:r>
              <a:rPr sz="1300" b="0">
                <a:solidFill>
                  <a:srgbClr val="E8E6DD"/>
                </a:solidFill>
                <a:latin typeface="Arial"/>
              </a:rPr>
              <a:t>From any messaging platform — Telegram, Discord, the CLI chat.</a:t>
            </a:r>
          </a:p>
          <a:p>
            <a:pPr algn="l">
              <a:spcAft>
                <a:spcPts val="600"/>
              </a:spcAft>
            </a:pPr>
            <a:r>
              <a:rPr sz="1300" b="0">
                <a:solidFill>
                  <a:srgbClr val="E8E6DD"/>
                </a:solidFill>
                <a:latin typeface="Arial"/>
              </a:rPr>
              <a:t/>
            </a:r>
          </a:p>
          <a:p>
            <a:pPr algn="l">
              <a:spcAft>
                <a:spcPts val="600"/>
              </a:spcAft>
            </a:pPr>
            <a:r>
              <a:rPr sz="1300" b="0">
                <a:solidFill>
                  <a:srgbClr val="8A8D86"/>
                </a:solidFill>
                <a:latin typeface="Arial"/>
              </a:rPr>
              <a:t>Same engine, slash command.</a:t>
            </a:r>
          </a:p>
        </p:txBody>
      </p:sp>
      <p:sp>
        <p:nvSpPr>
          <p:cNvPr id="21" name="Rectangle 20"/>
          <p:cNvSpPr/>
          <p:nvPr/>
        </p:nvSpPr>
        <p:spPr>
          <a:xfrm>
            <a:off x="8019288" y="1828800"/>
            <a:ext cx="3392424"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1828800"/>
            <a:ext cx="3392424" cy="18288"/>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4828032"/>
            <a:ext cx="3392424" cy="18288"/>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9288" y="1828800"/>
            <a:ext cx="18288" cy="30175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393424" y="1828800"/>
            <a:ext cx="18288" cy="30175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20" y="2011680"/>
            <a:ext cx="2935224" cy="365760"/>
          </a:xfrm>
          <a:prstGeom prst="rect">
            <a:avLst/>
          </a:prstGeom>
          <a:noFill/>
        </p:spPr>
        <p:txBody>
          <a:bodyPr wrap="square" anchor="t">
            <a:spAutoFit/>
          </a:bodyPr>
          <a:lstStyle/>
          <a:p>
            <a:pPr algn="l">
              <a:spcAft>
                <a:spcPts val="400"/>
              </a:spcAft>
            </a:pPr>
            <a:r>
              <a:rPr sz="1500" b="1">
                <a:solidFill>
                  <a:srgbClr val="4ADE80"/>
                </a:solidFill>
                <a:latin typeface="Arial"/>
              </a:rPr>
              <a:t>// THE AGENT</a:t>
            </a:r>
          </a:p>
        </p:txBody>
      </p:sp>
      <p:sp>
        <p:nvSpPr>
          <p:cNvPr id="27" name="TextBox 26"/>
          <p:cNvSpPr txBox="1"/>
          <p:nvPr/>
        </p:nvSpPr>
        <p:spPr>
          <a:xfrm>
            <a:off x="8275320" y="2487168"/>
            <a:ext cx="2916936" cy="2194560"/>
          </a:xfrm>
          <a:prstGeom prst="rect">
            <a:avLst/>
          </a:prstGeom>
          <a:noFill/>
        </p:spPr>
        <p:txBody>
          <a:bodyPr wrap="square" anchor="t">
            <a:spAutoFit/>
          </a:bodyPr>
          <a:lstStyle/>
          <a:p>
            <a:pPr algn="l">
              <a:spcAft>
                <a:spcPts val="600"/>
              </a:spcAft>
            </a:pPr>
            <a:r>
              <a:rPr sz="1300" b="0">
                <a:solidFill>
                  <a:srgbClr val="E8E6DD"/>
                </a:solidFill>
                <a:latin typeface="Arial"/>
              </a:rPr>
              <a:t>The </a:t>
            </a:r>
            <a:r>
              <a:rPr sz="1300" b="1">
                <a:solidFill>
                  <a:srgbClr val="4ADE80"/>
                </a:solidFill>
                <a:latin typeface="Arial"/>
              </a:rPr>
              <a:t>cronjob</a:t>
            </a:r>
            <a:r>
              <a:rPr sz="1300" b="0">
                <a:solidFill>
                  <a:srgbClr val="E8E6DD"/>
                </a:solidFill>
                <a:latin typeface="Arial"/>
              </a:rPr>
              <a:t> tool.</a:t>
            </a:r>
          </a:p>
          <a:p>
            <a:pPr algn="l">
              <a:spcAft>
                <a:spcPts val="600"/>
              </a:spcAft>
            </a:pPr>
            <a:r>
              <a:rPr sz="1300" b="0">
                <a:solidFill>
                  <a:srgbClr val="E8E6DD"/>
                </a:solidFill>
                <a:latin typeface="Arial"/>
              </a:rPr>
              <a:t/>
            </a:r>
          </a:p>
          <a:p>
            <a:pPr algn="l">
              <a:spcAft>
                <a:spcPts val="600"/>
              </a:spcAft>
            </a:pPr>
            <a:r>
              <a:rPr sz="1300" b="0">
                <a:solidFill>
                  <a:srgbClr val="E8E6DD"/>
                </a:solidFill>
                <a:latin typeface="Arial"/>
              </a:rPr>
              <a:t>"Every morning, summarize X and send it to me." → it </a:t>
            </a:r>
            <a:r>
              <a:rPr sz="1300" b="1">
                <a:solidFill>
                  <a:srgbClr val="4ADE80"/>
                </a:solidFill>
                <a:latin typeface="Arial"/>
              </a:rPr>
              <a:t>schedules itself</a:t>
            </a:r>
            <a:r>
              <a:rPr sz="1300" b="0">
                <a:solidFill>
                  <a:srgbClr val="E8E6DD"/>
                </a:solidFill>
                <a:latin typeface="Arial"/>
              </a:rPr>
              <a:t>.</a:t>
            </a:r>
          </a:p>
          <a:p>
            <a:pPr algn="l">
              <a:spcAft>
                <a:spcPts val="600"/>
              </a:spcAft>
            </a:pPr>
            <a:r>
              <a:rPr sz="1300" b="0">
                <a:solidFill>
                  <a:srgbClr val="E8E6DD"/>
                </a:solidFill>
                <a:latin typeface="Arial"/>
              </a:rPr>
              <a:t/>
            </a:r>
          </a:p>
          <a:p>
            <a:pPr algn="l">
              <a:spcAft>
                <a:spcPts val="600"/>
              </a:spcAft>
            </a:pPr>
            <a:r>
              <a:rPr sz="1300" b="0">
                <a:solidFill>
                  <a:srgbClr val="8A8D86"/>
                </a:solidFill>
                <a:latin typeface="Arial"/>
              </a:rPr>
              <a:t>No CLI required.</a:t>
            </a:r>
          </a:p>
        </p:txBody>
      </p:sp>
      <p:sp>
        <p:nvSpPr>
          <p:cNvPr id="28" name="TextBox 27"/>
          <p:cNvSpPr txBox="1"/>
          <p:nvPr/>
        </p:nvSpPr>
        <p:spPr>
          <a:xfrm>
            <a:off x="777240" y="5102352"/>
            <a:ext cx="10634472" cy="411480"/>
          </a:xfrm>
          <a:prstGeom prst="rect">
            <a:avLst/>
          </a:prstGeom>
          <a:noFill/>
        </p:spPr>
        <p:txBody>
          <a:bodyPr wrap="square" anchor="t">
            <a:spAutoFit/>
          </a:bodyPr>
          <a:lstStyle/>
          <a:p>
            <a:pPr algn="ctr">
              <a:spcAft>
                <a:spcPts val="400"/>
              </a:spcAft>
            </a:pPr>
            <a:r>
              <a:rPr sz="1500" b="0">
                <a:solidFill>
                  <a:srgbClr val="E8E6DD"/>
                </a:solidFill>
                <a:latin typeface="Arial"/>
              </a:rPr>
              <a:t>Safety rail: a cron-run session </a:t>
            </a:r>
            <a:r>
              <a:rPr sz="1500" b="1">
                <a:solidFill>
                  <a:srgbClr val="F5A623"/>
                </a:solidFill>
                <a:latin typeface="Arial"/>
              </a:rPr>
              <a:t>can't create more cron jobs</a:t>
            </a:r>
            <a:r>
              <a:rPr sz="1500" b="0">
                <a:solidFill>
                  <a:srgbClr val="E8E6DD"/>
                </a:solidFill>
                <a:latin typeface="Arial"/>
              </a:rPr>
              <a:t>. No runaway scheduling loops.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the gateway scheduler</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EVERY 60 SECONDS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60120"/>
            <a:ext cx="10881360" cy="777240"/>
          </a:xfrm>
          <a:prstGeom prst="rect">
            <a:avLst/>
          </a:prstGeom>
          <a:noFill/>
        </p:spPr>
        <p:txBody>
          <a:bodyPr wrap="square" anchor="t">
            <a:spAutoFit/>
          </a:bodyPr>
          <a:lstStyle/>
          <a:p>
            <a:pPr algn="l">
              <a:spcAft>
                <a:spcPts val="400"/>
              </a:spcAft>
            </a:pPr>
            <a:r>
              <a:rPr sz="4400" b="1">
                <a:solidFill>
                  <a:srgbClr val="F5A623"/>
                </a:solidFill>
                <a:latin typeface="Arial"/>
              </a:rPr>
              <a:t>THE TICK.</a:t>
            </a:r>
          </a:p>
        </p:txBody>
      </p:sp>
      <p:sp>
        <p:nvSpPr>
          <p:cNvPr id="7" name="Rectangle 6"/>
          <p:cNvSpPr/>
          <p:nvPr/>
        </p:nvSpPr>
        <p:spPr>
          <a:xfrm>
            <a:off x="777240"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607868"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GATEWAY TICKS</a:t>
            </a:r>
          </a:p>
        </p:txBody>
      </p:sp>
      <p:sp>
        <p:nvSpPr>
          <p:cNvPr id="13" name="TextBox 12"/>
          <p:cNvSpPr txBox="1"/>
          <p:nvPr/>
        </p:nvSpPr>
        <p:spPr>
          <a:xfrm>
            <a:off x="886968"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the daemon, every 60s</a:t>
            </a:r>
          </a:p>
        </p:txBody>
      </p:sp>
      <p:sp>
        <p:nvSpPr>
          <p:cNvPr id="14" name="TextBox 13"/>
          <p:cNvSpPr txBox="1"/>
          <p:nvPr/>
        </p:nvSpPr>
        <p:spPr>
          <a:xfrm>
            <a:off x="2626156"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15" name="Rectangle 14"/>
          <p:cNvSpPr/>
          <p:nvPr/>
        </p:nvSpPr>
        <p:spPr>
          <a:xfrm>
            <a:off x="2973628"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73628"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3628"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73628"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04256"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3628"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DUE?</a:t>
            </a:r>
          </a:p>
        </p:txBody>
      </p:sp>
      <p:sp>
        <p:nvSpPr>
          <p:cNvPr id="21" name="TextBox 20"/>
          <p:cNvSpPr txBox="1"/>
          <p:nvPr/>
        </p:nvSpPr>
        <p:spPr>
          <a:xfrm>
            <a:off x="3083356"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checks each job's next_run_at</a:t>
            </a:r>
          </a:p>
        </p:txBody>
      </p:sp>
      <p:sp>
        <p:nvSpPr>
          <p:cNvPr id="22" name="TextBox 21"/>
          <p:cNvSpPr txBox="1"/>
          <p:nvPr/>
        </p:nvSpPr>
        <p:spPr>
          <a:xfrm>
            <a:off x="4822544"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23" name="Rectangle 22"/>
          <p:cNvSpPr/>
          <p:nvPr/>
        </p:nvSpPr>
        <p:spPr>
          <a:xfrm>
            <a:off x="5170016"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70016"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70016"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70016"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00644"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70016"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FRESH SESSION</a:t>
            </a:r>
          </a:p>
        </p:txBody>
      </p:sp>
      <p:sp>
        <p:nvSpPr>
          <p:cNvPr id="29" name="TextBox 28"/>
          <p:cNvSpPr txBox="1"/>
          <p:nvPr/>
        </p:nvSpPr>
        <p:spPr>
          <a:xfrm>
            <a:off x="5279744"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a clean agent — no chat memory</a:t>
            </a:r>
          </a:p>
        </p:txBody>
      </p:sp>
      <p:sp>
        <p:nvSpPr>
          <p:cNvPr id="30" name="TextBox 29"/>
          <p:cNvSpPr txBox="1"/>
          <p:nvPr/>
        </p:nvSpPr>
        <p:spPr>
          <a:xfrm>
            <a:off x="7018932"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31" name="Rectangle 30"/>
          <p:cNvSpPr/>
          <p:nvPr/>
        </p:nvSpPr>
        <p:spPr>
          <a:xfrm>
            <a:off x="7366404"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6404"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66404"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66404"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97032"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66404"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DELIVER</a:t>
            </a:r>
          </a:p>
        </p:txBody>
      </p:sp>
      <p:sp>
        <p:nvSpPr>
          <p:cNvPr id="37" name="TextBox 36"/>
          <p:cNvSpPr txBox="1"/>
          <p:nvPr/>
        </p:nvSpPr>
        <p:spPr>
          <a:xfrm>
            <a:off x="7476132"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final response → your channel</a:t>
            </a:r>
          </a:p>
        </p:txBody>
      </p:sp>
      <p:sp>
        <p:nvSpPr>
          <p:cNvPr id="38" name="TextBox 37"/>
          <p:cNvSpPr txBox="1"/>
          <p:nvPr/>
        </p:nvSpPr>
        <p:spPr>
          <a:xfrm>
            <a:off x="9215320"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39" name="Rectangle 38"/>
          <p:cNvSpPr/>
          <p:nvPr/>
        </p:nvSpPr>
        <p:spPr>
          <a:xfrm>
            <a:off x="9562792"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62792"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62792"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62792"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393420"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62792"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ARCHIVE</a:t>
            </a:r>
          </a:p>
        </p:txBody>
      </p:sp>
      <p:sp>
        <p:nvSpPr>
          <p:cNvPr id="45" name="TextBox 44"/>
          <p:cNvSpPr txBox="1"/>
          <p:nvPr/>
        </p:nvSpPr>
        <p:spPr>
          <a:xfrm>
            <a:off x="9672520"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cron/output/&lt;id&gt;/</a:t>
            </a:r>
          </a:p>
        </p:txBody>
      </p:sp>
      <p:sp>
        <p:nvSpPr>
          <p:cNvPr id="46" name="TextBox 45"/>
          <p:cNvSpPr txBox="1"/>
          <p:nvPr/>
        </p:nvSpPr>
        <p:spPr>
          <a:xfrm>
            <a:off x="777240" y="4160520"/>
            <a:ext cx="10634472" cy="731520"/>
          </a:xfrm>
          <a:prstGeom prst="rect">
            <a:avLst/>
          </a:prstGeom>
          <a:noFill/>
        </p:spPr>
        <p:txBody>
          <a:bodyPr wrap="square" anchor="t">
            <a:spAutoFit/>
          </a:bodyPr>
          <a:lstStyle/>
          <a:p>
            <a:pPr algn="ctr">
              <a:spcAft>
                <a:spcPts val="400"/>
              </a:spcAft>
            </a:pPr>
            <a:r>
              <a:rPr sz="1500" b="0">
                <a:solidFill>
                  <a:srgbClr val="E8E6DD"/>
                </a:solidFill>
                <a:latin typeface="Arial"/>
              </a:rPr>
              <a:t>The </a:t>
            </a:r>
            <a:r>
              <a:rPr sz="1500" b="1">
                <a:solidFill>
                  <a:srgbClr val="F5A623"/>
                </a:solidFill>
                <a:latin typeface="Arial"/>
              </a:rPr>
              <a:t>gateway must be running</a:t>
            </a:r>
            <a:r>
              <a:rPr sz="1500" b="0">
                <a:solidFill>
                  <a:srgbClr val="E8E6DD"/>
                </a:solidFill>
                <a:latin typeface="Arial"/>
              </a:rPr>
              <a:t> — it's the heartbeat. </a:t>
            </a:r>
            <a:r>
              <a:rPr sz="1500" b="1">
                <a:solidFill>
                  <a:srgbClr val="F5A623"/>
                </a:solidFill>
                <a:latin typeface="Arial"/>
              </a:rPr>
              <a:t>hermes gateway install</a:t>
            </a:r>
            <a:r>
              <a:rPr sz="1500" b="0">
                <a:solidFill>
                  <a:srgbClr val="E8E6DD"/>
                </a:solidFill>
                <a:latin typeface="Arial"/>
              </a:rPr>
              <a:t> makes it a service. A grace window catches up jobs missed during a short restart.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masterclass/module-08/the-problem</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TWO LIMITS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TWO PROBLEMS, ONE TOOL.</a:t>
            </a:r>
          </a:p>
        </p:txBody>
      </p:sp>
      <p:sp>
        <p:nvSpPr>
          <p:cNvPr id="7" name="Rectangle 6"/>
          <p:cNvSpPr/>
          <p:nvPr/>
        </p:nvSpPr>
        <p:spPr>
          <a:xfrm>
            <a:off x="777240" y="1828800"/>
            <a:ext cx="5202936"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202936" cy="18288"/>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28032"/>
            <a:ext cx="5202936" cy="18288"/>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828800"/>
            <a:ext cx="18288" cy="3017520"/>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61888" y="1828800"/>
            <a:ext cx="18288" cy="3017520"/>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2" y="2011680"/>
            <a:ext cx="4745736" cy="365760"/>
          </a:xfrm>
          <a:prstGeom prst="rect">
            <a:avLst/>
          </a:prstGeom>
          <a:noFill/>
        </p:spPr>
        <p:txBody>
          <a:bodyPr wrap="square" anchor="t">
            <a:spAutoFit/>
          </a:bodyPr>
          <a:lstStyle/>
          <a:p>
            <a:pPr algn="l">
              <a:spcAft>
                <a:spcPts val="400"/>
              </a:spcAft>
            </a:pPr>
            <a:r>
              <a:rPr sz="1500" b="1">
                <a:solidFill>
                  <a:srgbClr val="E86A8A"/>
                </a:solidFill>
                <a:latin typeface="Arial"/>
              </a:rPr>
              <a:t>// CONTEXT POISONING</a:t>
            </a:r>
          </a:p>
        </p:txBody>
      </p:sp>
      <p:sp>
        <p:nvSpPr>
          <p:cNvPr id="13" name="TextBox 12"/>
          <p:cNvSpPr txBox="1"/>
          <p:nvPr/>
        </p:nvSpPr>
        <p:spPr>
          <a:xfrm>
            <a:off x="1033272" y="2487168"/>
            <a:ext cx="4727448" cy="2194560"/>
          </a:xfrm>
          <a:prstGeom prst="rect">
            <a:avLst/>
          </a:prstGeom>
          <a:noFill/>
        </p:spPr>
        <p:txBody>
          <a:bodyPr wrap="square" anchor="t">
            <a:spAutoFit/>
          </a:bodyPr>
          <a:lstStyle/>
          <a:p>
            <a:pPr algn="l">
              <a:spcAft>
                <a:spcPts val="600"/>
              </a:spcAft>
            </a:pPr>
            <a:r>
              <a:rPr sz="1300" b="0">
                <a:solidFill>
                  <a:srgbClr val="E8E6DD"/>
                </a:solidFill>
                <a:latin typeface="Arial"/>
              </a:rPr>
              <a:t>A long subtask — debugging, a 30-file refactor, deep research — </a:t>
            </a:r>
            <a:r>
              <a:rPr sz="1300" b="1">
                <a:solidFill>
                  <a:srgbClr val="E86A8A"/>
                </a:solidFill>
                <a:latin typeface="Arial"/>
              </a:rPr>
              <a:t>floods the parent's window</a:t>
            </a:r>
            <a:r>
              <a:rPr sz="1300" b="0">
                <a:solidFill>
                  <a:srgbClr val="E8E6DD"/>
                </a:solidFill>
                <a:latin typeface="Arial"/>
              </a:rPr>
              <a:t> with tool output it will never need again. Quality drops as the window fills.</a:t>
            </a:r>
          </a:p>
        </p:txBody>
      </p:sp>
      <p:sp>
        <p:nvSpPr>
          <p:cNvPr id="14" name="Rectangle 13"/>
          <p:cNvSpPr/>
          <p:nvPr/>
        </p:nvSpPr>
        <p:spPr>
          <a:xfrm>
            <a:off x="6208776" y="1828800"/>
            <a:ext cx="5202936"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1828800"/>
            <a:ext cx="520293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8776" y="4828032"/>
            <a:ext cx="520293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8776"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393424"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2011680"/>
            <a:ext cx="4745736" cy="365760"/>
          </a:xfrm>
          <a:prstGeom prst="rect">
            <a:avLst/>
          </a:prstGeom>
          <a:noFill/>
        </p:spPr>
        <p:txBody>
          <a:bodyPr wrap="square" anchor="t">
            <a:spAutoFit/>
          </a:bodyPr>
          <a:lstStyle/>
          <a:p>
            <a:pPr algn="l">
              <a:spcAft>
                <a:spcPts val="400"/>
              </a:spcAft>
            </a:pPr>
            <a:r>
              <a:rPr sz="1500" b="1">
                <a:solidFill>
                  <a:srgbClr val="F5A623"/>
                </a:solidFill>
                <a:latin typeface="Arial"/>
              </a:rPr>
              <a:t>// SERIAL SLOWNESS</a:t>
            </a:r>
          </a:p>
        </p:txBody>
      </p:sp>
      <p:sp>
        <p:nvSpPr>
          <p:cNvPr id="20" name="TextBox 19"/>
          <p:cNvSpPr txBox="1"/>
          <p:nvPr/>
        </p:nvSpPr>
        <p:spPr>
          <a:xfrm>
            <a:off x="6464808" y="2487168"/>
            <a:ext cx="4727448" cy="2194560"/>
          </a:xfrm>
          <a:prstGeom prst="rect">
            <a:avLst/>
          </a:prstGeom>
          <a:noFill/>
        </p:spPr>
        <p:txBody>
          <a:bodyPr wrap="square" anchor="t">
            <a:spAutoFit/>
          </a:bodyPr>
          <a:lstStyle/>
          <a:p>
            <a:pPr algn="l">
              <a:spcAft>
                <a:spcPts val="600"/>
              </a:spcAft>
            </a:pPr>
            <a:r>
              <a:rPr sz="1300" b="0">
                <a:solidFill>
                  <a:srgbClr val="E8E6DD"/>
                </a:solidFill>
                <a:latin typeface="Arial"/>
              </a:rPr>
              <a:t>Researching 10 things one-at-a-time is </a:t>
            </a:r>
            <a:r>
              <a:rPr sz="1300" b="1">
                <a:solidFill>
                  <a:srgbClr val="F5A623"/>
                </a:solidFill>
                <a:latin typeface="Arial"/>
              </a:rPr>
              <a:t>10× the wall-clock</a:t>
            </a:r>
            <a:r>
              <a:rPr sz="1300" b="0">
                <a:solidFill>
                  <a:srgbClr val="E8E6DD"/>
                </a:solidFill>
                <a:latin typeface="Arial"/>
              </a:rPr>
              <a:t>. A single loop can only do one thing at a time.</a:t>
            </a:r>
          </a:p>
        </p:txBody>
      </p:sp>
      <p:sp>
        <p:nvSpPr>
          <p:cNvPr id="21" name="TextBox 20"/>
          <p:cNvSpPr txBox="1"/>
          <p:nvPr/>
        </p:nvSpPr>
        <p:spPr>
          <a:xfrm>
            <a:off x="777240" y="5102352"/>
            <a:ext cx="10634472" cy="411480"/>
          </a:xfrm>
          <a:prstGeom prst="rect">
            <a:avLst/>
          </a:prstGeom>
          <a:noFill/>
        </p:spPr>
        <p:txBody>
          <a:bodyPr wrap="square" anchor="t">
            <a:spAutoFit/>
          </a:bodyPr>
          <a:lstStyle/>
          <a:p>
            <a:pPr algn="ctr">
              <a:spcAft>
                <a:spcPts val="400"/>
              </a:spcAft>
            </a:pPr>
            <a:r>
              <a:rPr sz="1500" b="1">
                <a:solidFill>
                  <a:srgbClr val="F5A623"/>
                </a:solidFill>
                <a:latin typeface="Arial"/>
              </a:rPr>
              <a:t>Delegation fixes both at once — clean isolated contexts, running in parallel.</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hermes chat</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LIVE SESSION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DELEGATION IN ACTION.</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real session — the agent spins up isolated subagents to work in parallel.</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hermes chat</a:t>
            </a:r>
          </a:p>
        </p:txBody>
      </p:sp>
      <p:sp>
        <p:nvSpPr>
          <p:cNvPr id="13" name="Rectangle 12"/>
          <p:cNvSpPr/>
          <p:nvPr/>
        </p:nvSpPr>
        <p:spPr>
          <a:xfrm>
            <a:off x="777240" y="2304288"/>
            <a:ext cx="10634472" cy="3602736"/>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310896"/>
          </a:xfrm>
          <a:prstGeom prst="rect">
            <a:avLst/>
          </a:prstGeom>
          <a:noFill/>
        </p:spPr>
        <p:txBody>
          <a:bodyPr wrap="none">
            <a:spAutoFit/>
          </a:bodyPr>
          <a:lstStyle/>
          <a:p>
            <a:r>
              <a:rPr sz="1250" b="0">
                <a:solidFill>
                  <a:srgbClr val="8A8D86"/>
                </a:solidFill>
                <a:latin typeface="Courier New"/>
              </a:rPr>
              <a:t>Hermes Agent v0.17.0 · Available Tools: browser, clarify, …</a:t>
            </a:r>
          </a:p>
        </p:txBody>
      </p:sp>
      <p:sp>
        <p:nvSpPr>
          <p:cNvPr id="15" name="TextBox 14"/>
          <p:cNvSpPr txBox="1"/>
          <p:nvPr/>
        </p:nvSpPr>
        <p:spPr>
          <a:xfrm>
            <a:off x="1005840" y="2688336"/>
            <a:ext cx="10149840" cy="310896"/>
          </a:xfrm>
          <a:prstGeom prst="rect">
            <a:avLst/>
          </a:prstGeom>
          <a:noFill/>
        </p:spPr>
        <p:txBody>
          <a:bodyPr wrap="none">
            <a:spAutoFit/>
          </a:bodyPr>
          <a:lstStyle/>
          <a:p>
            <a:r>
              <a:rPr sz="1250" b="0">
                <a:solidFill>
                  <a:srgbClr val="E8E6DD"/>
                </a:solidFill>
                <a:latin typeface="Courier New"/>
              </a:rPr>
              <a:t/>
            </a:r>
          </a:p>
        </p:txBody>
      </p:sp>
      <p:sp>
        <p:nvSpPr>
          <p:cNvPr id="16" name="TextBox 15"/>
          <p:cNvSpPr txBox="1"/>
          <p:nvPr/>
        </p:nvSpPr>
        <p:spPr>
          <a:xfrm>
            <a:off x="1005840" y="2999232"/>
            <a:ext cx="10149840" cy="310896"/>
          </a:xfrm>
          <a:prstGeom prst="rect">
            <a:avLst/>
          </a:prstGeom>
          <a:noFill/>
        </p:spPr>
        <p:txBody>
          <a:bodyPr wrap="none">
            <a:spAutoFit/>
          </a:bodyPr>
          <a:lstStyle/>
          <a:p>
            <a:r>
              <a:rPr sz="1250" b="1">
                <a:solidFill>
                  <a:srgbClr val="F5A623"/>
                </a:solidFill>
                <a:latin typeface="Courier New"/>
              </a:rPr>
              <a:t>● Delegate subagents to check the quants used for all qwen models tested in this experiment</a:t>
            </a:r>
          </a:p>
        </p:txBody>
      </p:sp>
      <p:sp>
        <p:nvSpPr>
          <p:cNvPr id="17" name="TextBox 16"/>
          <p:cNvSpPr txBox="1"/>
          <p:nvPr/>
        </p:nvSpPr>
        <p:spPr>
          <a:xfrm>
            <a:off x="1005840" y="3310128"/>
            <a:ext cx="10149840" cy="310896"/>
          </a:xfrm>
          <a:prstGeom prst="rect">
            <a:avLst/>
          </a:prstGeom>
          <a:noFill/>
        </p:spPr>
        <p:txBody>
          <a:bodyPr wrap="none">
            <a:spAutoFit/>
          </a:bodyPr>
          <a:lstStyle/>
          <a:p>
            <a:r>
              <a:rPr sz="1250" b="0">
                <a:solidFill>
                  <a:srgbClr val="8A8D86"/>
                </a:solidFill>
                <a:latin typeface="Courier New"/>
              </a:rPr>
              <a:t>Initializing agent...</a:t>
            </a:r>
          </a:p>
        </p:txBody>
      </p:sp>
      <p:sp>
        <p:nvSpPr>
          <p:cNvPr id="18" name="TextBox 17"/>
          <p:cNvSpPr txBox="1"/>
          <p:nvPr/>
        </p:nvSpPr>
        <p:spPr>
          <a:xfrm>
            <a:off x="1005840" y="3621024"/>
            <a:ext cx="10149840" cy="310896"/>
          </a:xfrm>
          <a:prstGeom prst="rect">
            <a:avLst/>
          </a:prstGeom>
          <a:noFill/>
        </p:spPr>
        <p:txBody>
          <a:bodyPr wrap="none">
            <a:spAutoFit/>
          </a:bodyPr>
          <a:lstStyle/>
          <a:p>
            <a:r>
              <a:rPr sz="1250" b="0">
                <a:solidFill>
                  <a:srgbClr val="E8E6DD"/>
                </a:solidFill>
                <a:latin typeface="Courier New"/>
              </a:rPr>
              <a:t/>
            </a:r>
          </a:p>
        </p:txBody>
      </p:sp>
      <p:sp>
        <p:nvSpPr>
          <p:cNvPr id="19" name="TextBox 18"/>
          <p:cNvSpPr txBox="1"/>
          <p:nvPr/>
        </p:nvSpPr>
        <p:spPr>
          <a:xfrm>
            <a:off x="1005840" y="3931920"/>
            <a:ext cx="10149840" cy="310896"/>
          </a:xfrm>
          <a:prstGeom prst="rect">
            <a:avLst/>
          </a:prstGeom>
          <a:noFill/>
        </p:spPr>
        <p:txBody>
          <a:bodyPr wrap="none">
            <a:spAutoFit/>
          </a:bodyPr>
          <a:lstStyle/>
          <a:p>
            <a:r>
              <a:rPr sz="1250" b="1">
                <a:solidFill>
                  <a:srgbClr val="4ADE80"/>
                </a:solidFill>
                <a:latin typeface="Courier New"/>
              </a:rPr>
              <a:t>  skill   autonomous-coding-agents                 0.1s</a:t>
            </a:r>
          </a:p>
        </p:txBody>
      </p:sp>
      <p:sp>
        <p:nvSpPr>
          <p:cNvPr id="20" name="TextBox 19"/>
          <p:cNvSpPr txBox="1"/>
          <p:nvPr/>
        </p:nvSpPr>
        <p:spPr>
          <a:xfrm>
            <a:off x="1005840" y="4242816"/>
            <a:ext cx="10149840" cy="310896"/>
          </a:xfrm>
          <a:prstGeom prst="rect">
            <a:avLst/>
          </a:prstGeom>
          <a:noFill/>
        </p:spPr>
        <p:txBody>
          <a:bodyPr wrap="none">
            <a:spAutoFit/>
          </a:bodyPr>
          <a:lstStyle/>
          <a:p>
            <a:r>
              <a:rPr sz="1250" b="1">
                <a:solidFill>
                  <a:srgbClr val="6EA8FF"/>
                </a:solidFill>
                <a:latin typeface="Courier New"/>
              </a:rPr>
              <a:t>  find    *                                        1.9s</a:t>
            </a:r>
          </a:p>
        </p:txBody>
      </p:sp>
      <p:sp>
        <p:nvSpPr>
          <p:cNvPr id="21" name="TextBox 20"/>
          <p:cNvSpPr txBox="1"/>
          <p:nvPr/>
        </p:nvSpPr>
        <p:spPr>
          <a:xfrm>
            <a:off x="1005840" y="4553712"/>
            <a:ext cx="10149840" cy="310896"/>
          </a:xfrm>
          <a:prstGeom prst="rect">
            <a:avLst/>
          </a:prstGeom>
          <a:noFill/>
        </p:spPr>
        <p:txBody>
          <a:bodyPr wrap="none">
            <a:spAutoFit/>
          </a:bodyPr>
          <a:lstStyle/>
          <a:p>
            <a:r>
              <a:rPr sz="1250" b="0">
                <a:solidFill>
                  <a:srgbClr val="E8E6DD"/>
                </a:solidFill>
                <a:latin typeface="Courier New"/>
              </a:rPr>
              <a:t>  $       pwd &amp;&amp; git rev-parse --show-toplevel     0.3s</a:t>
            </a:r>
          </a:p>
        </p:txBody>
      </p:sp>
      <p:sp>
        <p:nvSpPr>
          <p:cNvPr id="22" name="TextBox 21"/>
          <p:cNvSpPr txBox="1"/>
          <p:nvPr/>
        </p:nvSpPr>
        <p:spPr>
          <a:xfrm>
            <a:off x="1005840" y="4864608"/>
            <a:ext cx="10149840" cy="310896"/>
          </a:xfrm>
          <a:prstGeom prst="rect">
            <a:avLst/>
          </a:prstGeom>
          <a:noFill/>
        </p:spPr>
        <p:txBody>
          <a:bodyPr wrap="none">
            <a:spAutoFit/>
          </a:bodyPr>
          <a:lstStyle/>
          <a:p>
            <a:r>
              <a:rPr sz="1250" b="1">
                <a:solidFill>
                  <a:srgbClr val="F5A623"/>
                </a:solidFill>
                <a:latin typeface="Courier New"/>
              </a:rPr>
              <a:t>  (o_o)  contemplating...</a:t>
            </a:r>
          </a:p>
        </p:txBody>
      </p:sp>
      <p:sp>
        <p:nvSpPr>
          <p:cNvPr id="23" name="TextBox 22"/>
          <p:cNvSpPr txBox="1"/>
          <p:nvPr/>
        </p:nvSpPr>
        <p:spPr>
          <a:xfrm>
            <a:off x="1005840" y="5175504"/>
            <a:ext cx="10149840" cy="310896"/>
          </a:xfrm>
          <a:prstGeom prst="rect">
            <a:avLst/>
          </a:prstGeom>
          <a:noFill/>
        </p:spPr>
        <p:txBody>
          <a:bodyPr wrap="none">
            <a:spAutoFit/>
          </a:bodyPr>
          <a:lstStyle/>
          <a:p>
            <a:r>
              <a:rPr sz="1250" b="0">
                <a:solidFill>
                  <a:srgbClr val="E8E6DD"/>
                </a:solidFill>
                <a:latin typeface="Courier New"/>
              </a:rPr>
              <a:t/>
            </a:r>
          </a:p>
        </p:txBody>
      </p:sp>
      <p:sp>
        <p:nvSpPr>
          <p:cNvPr id="24" name="TextBox 23"/>
          <p:cNvSpPr txBox="1"/>
          <p:nvPr/>
        </p:nvSpPr>
        <p:spPr>
          <a:xfrm>
            <a:off x="1005840" y="5486400"/>
            <a:ext cx="10149840" cy="310896"/>
          </a:xfrm>
          <a:prstGeom prst="rect">
            <a:avLst/>
          </a:prstGeom>
          <a:noFill/>
        </p:spPr>
        <p:txBody>
          <a:bodyPr wrap="none">
            <a:spAutoFit/>
          </a:bodyPr>
          <a:lstStyle/>
          <a:p>
            <a:r>
              <a:rPr sz="1250" b="1">
                <a:solidFill>
                  <a:srgbClr val="6EA8FF"/>
                </a:solidFill>
                <a:latin typeface="Courier New"/>
              </a:rPr>
              <a:t>gpt-5.5 | 21.4K/272K | 8% | 5m</a:t>
            </a:r>
          </a:p>
        </p:txBody>
      </p:sp>
      <p:sp>
        <p:nvSpPr>
          <p:cNvPr id="25" name="TextBox 24"/>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delegate_task hands each subtask to a fresh, isolated subagent — the parent's context stays clean.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 in your browser at http://localhost:3100</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280</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285</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286</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287</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