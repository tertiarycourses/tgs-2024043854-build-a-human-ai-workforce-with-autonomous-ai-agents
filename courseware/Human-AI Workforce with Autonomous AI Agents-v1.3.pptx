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F5A623"/>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E8E6DD"/>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8A8D86"/>
                </a:solidFill>
                <a:latin typeface="Arial"/>
              </a:rPr>
              <a:t>WSQ Course Code: TGS-2024043854</a:t>
            </a:r>
          </a:p>
          <a:p>
            <a:pPr algn="l">
              <a:spcAft>
                <a:spcPts val="600"/>
              </a:spcAft>
            </a:pPr>
            <a:r>
              <a:rPr sz="1400" b="0">
                <a:solidFill>
                  <a:srgbClr val="8A8D86"/>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8A8D86"/>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8A8D86"/>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2A2C28"/>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2A2C28"/>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2A2C28"/>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2A2C28"/>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2A2C28"/>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2A2C28"/>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E8E6DD"/>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E8E6DD"/>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E8E6DD"/>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E8E6DD"/>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Let's Know Each Other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Ground Rules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One conversation at a time.</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Download Course Material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F5A623"/>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Lesson Plan — 2 Days, 8 hours/day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F5A623"/>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F5A623"/>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E8E6DD"/>
                </a:solidFill>
                <a:latin typeface="Arial"/>
              </a:rPr>
              <a:t>•  Day 1 — Hermes Agent (Topic 1) &amp; OpenClaw (Topic 2)</a:t>
            </a:r>
          </a:p>
          <a:p>
            <a:pPr>
              <a:spcAft>
                <a:spcPts val="1000"/>
              </a:spcAft>
            </a:pPr>
            <a:r>
              <a:rPr sz="1400" b="0">
                <a:solidFill>
                  <a:srgbClr val="8A8D86"/>
                </a:solidFill>
                <a:latin typeface="Arial"/>
              </a:rPr>
              <a:t>–  Topic 1: Hermes Agent (Labs 1–14)</a:t>
            </a:r>
          </a:p>
          <a:p>
            <a:pPr>
              <a:spcAft>
                <a:spcPts val="1000"/>
              </a:spcAft>
            </a:pPr>
            <a:r>
              <a:rPr sz="1400" b="0">
                <a:solidFill>
                  <a:srgbClr val="8A8D86"/>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E8E6DD"/>
                </a:solidFill>
                <a:latin typeface="Arial"/>
              </a:rPr>
              <a:t>•  Day 2 — Paperclip (Topic 3) &amp; Final Assessment</a:t>
            </a:r>
          </a:p>
          <a:p>
            <a:pPr>
              <a:spcAft>
                <a:spcPts val="1000"/>
              </a:spcAft>
            </a:pPr>
            <a:r>
              <a:rPr sz="1400" b="0">
                <a:solidFill>
                  <a:srgbClr val="8A8D86"/>
                </a:solidFill>
                <a:latin typeface="Arial"/>
              </a:rPr>
              <a:t>–  Topic 3: Paperclip (Labs 27–34)</a:t>
            </a:r>
          </a:p>
          <a:p>
            <a:pPr>
              <a:spcAft>
                <a:spcPts val="1000"/>
              </a:spcAft>
            </a:pPr>
            <a:r>
              <a:rPr sz="1400" b="0">
                <a:solidFill>
                  <a:srgbClr val="8A8D86"/>
                </a:solidFill>
                <a:latin typeface="Arial"/>
              </a:rPr>
              <a:t>–  Final Assessment (WA + PP)</a:t>
            </a:r>
          </a:p>
          <a:p>
            <a:pPr>
              <a:spcAft>
                <a:spcPts val="1000"/>
              </a:spcAft>
            </a:pPr>
            <a:r>
              <a:rPr sz="1600" b="0">
                <a:solidFill>
                  <a:srgbClr val="E8E6DD"/>
                </a:solidFill>
                <a:latin typeface="Arial"/>
              </a:rPr>
              <a:t>•  Daily timing</a:t>
            </a:r>
          </a:p>
          <a:p>
            <a:pPr>
              <a:spcAft>
                <a:spcPts val="1000"/>
              </a:spcAft>
            </a:pPr>
            <a:r>
              <a:rPr sz="1400" b="0">
                <a:solidFill>
                  <a:srgbClr val="8A8D86"/>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Learning Outcomes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 &amp; Improve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Briefing for Assessment</a:t>
            </a:r>
          </a:p>
        </p:txBody>
      </p:sp>
      <p:sp>
        <p:nvSpPr>
          <p:cNvPr id="5" name="Rectangle 4"/>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is an Autonomous AI Agent?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Perceive → reason → act → remember</a:t>
            </a:r>
          </a:p>
          <a:p>
            <a:pPr algn="l">
              <a:spcAft>
                <a:spcPts val="300"/>
              </a:spcAft>
            </a:pPr>
            <a:r>
              <a:rPr sz="1300" b="0">
                <a:solidFill>
                  <a:srgbClr val="8A8D86"/>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Uses tools &amp; skills</a:t>
            </a:r>
          </a:p>
          <a:p>
            <a:pPr algn="l">
              <a:spcAft>
                <a:spcPts val="300"/>
              </a:spcAft>
            </a:pPr>
            <a:r>
              <a:rPr sz="1300" b="0">
                <a:solidFill>
                  <a:srgbClr val="8A8D86"/>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Runs across channels</a:t>
            </a:r>
          </a:p>
          <a:p>
            <a:pPr algn="l">
              <a:spcAft>
                <a:spcPts val="300"/>
              </a:spcAft>
            </a:pPr>
            <a:r>
              <a:rPr sz="1300" b="0">
                <a:solidFill>
                  <a:srgbClr val="8A8D86"/>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Autonomy under oversight</a:t>
            </a:r>
          </a:p>
          <a:p>
            <a:pPr algn="l">
              <a:spcAft>
                <a:spcPts val="300"/>
              </a:spcAft>
            </a:pPr>
            <a:r>
              <a:rPr sz="1300" b="0">
                <a:solidFill>
                  <a:srgbClr val="8A8D86"/>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Agent Stack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Model / LLM</a:t>
            </a:r>
          </a:p>
          <a:p>
            <a:pPr algn="l">
              <a:spcAft>
                <a:spcPts val="300"/>
              </a:spcAft>
            </a:pPr>
            <a:r>
              <a:rPr sz="1200" b="0">
                <a:solidFill>
                  <a:srgbClr val="8A8D86"/>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Memory</a:t>
            </a:r>
          </a:p>
          <a:p>
            <a:pPr algn="l">
              <a:spcAft>
                <a:spcPts val="300"/>
              </a:spcAft>
            </a:pPr>
            <a:r>
              <a:rPr sz="1200" b="0">
                <a:solidFill>
                  <a:srgbClr val="8A8D86"/>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Skills &amp; Tools</a:t>
            </a:r>
          </a:p>
          <a:p>
            <a:pPr algn="l">
              <a:spcAft>
                <a:spcPts val="300"/>
              </a:spcAft>
            </a:pPr>
            <a:r>
              <a:rPr sz="1200" b="0">
                <a:solidFill>
                  <a:srgbClr val="8A8D86"/>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Channels</a:t>
            </a:r>
          </a:p>
          <a:p>
            <a:pPr algn="l">
              <a:spcAft>
                <a:spcPts val="300"/>
              </a:spcAft>
            </a:pPr>
            <a:r>
              <a:rPr sz="1200" b="0">
                <a:solidFill>
                  <a:srgbClr val="8A8D86"/>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Scheduler &amp; Security</a:t>
            </a:r>
          </a:p>
          <a:p>
            <a:pPr algn="l">
              <a:spcAft>
                <a:spcPts val="300"/>
              </a:spcAft>
            </a:pPr>
            <a:r>
              <a:rPr sz="1200" b="0">
                <a:solidFill>
                  <a:srgbClr val="8A8D86"/>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Three Platforms, One Skillset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Your personal chief-of-staff</a:t>
            </a:r>
          </a:p>
          <a:p>
            <a:pPr>
              <a:spcAft>
                <a:spcPts val="900"/>
              </a:spcAft>
            </a:pPr>
            <a:r>
              <a:rPr sz="1400" b="0">
                <a:solidFill>
                  <a:srgbClr val="E8E6DD"/>
                </a:solidFill>
                <a:latin typeface="Arial"/>
              </a:rPr>
              <a:t>•  Lives across your messaging apps</a:t>
            </a:r>
          </a:p>
          <a:p>
            <a:pPr>
              <a:spcAft>
                <a:spcPts val="900"/>
              </a:spcAft>
            </a:pPr>
            <a:r>
              <a:rPr sz="1400" b="0">
                <a:solidFill>
                  <a:srgbClr val="E8E6DD"/>
                </a:solidFill>
                <a:latin typeface="Arial"/>
              </a:rPr>
              <a:t>•  Cross-channel, memory, crons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Automates a business back-office</a:t>
            </a:r>
          </a:p>
          <a:p>
            <a:pPr>
              <a:spcAft>
                <a:spcPts val="900"/>
              </a:spcAft>
            </a:pPr>
            <a:r>
              <a:rPr sz="1400" b="0">
                <a:solidFill>
                  <a:srgbClr val="E8E6DD"/>
                </a:solidFill>
                <a:latin typeface="Arial"/>
              </a:rPr>
              <a:t>•  Node.js gateway daemon</a:t>
            </a:r>
          </a:p>
          <a:p>
            <a:pPr>
              <a:spcAft>
                <a:spcPts val="900"/>
              </a:spcAft>
            </a:pPr>
            <a:r>
              <a:rPr sz="1400" b="0">
                <a:solidFill>
                  <a:srgbClr val="E8E6DD"/>
                </a:solidFill>
                <a:latin typeface="Arial"/>
              </a:rPr>
              <a:t>•  Skills, tools, nightly reports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 company of AI agents you govern</a:t>
            </a:r>
          </a:p>
          <a:p>
            <a:pPr>
              <a:spcAft>
                <a:spcPts val="900"/>
              </a:spcAft>
            </a:pPr>
            <a:r>
              <a:rPr sz="1400" b="0">
                <a:solidFill>
                  <a:srgbClr val="E8E6DD"/>
                </a:solidFill>
                <a:latin typeface="Arial"/>
              </a:rPr>
              <a:t>•  Self-hosted with Docker</a:t>
            </a:r>
          </a:p>
          <a:p>
            <a:pPr>
              <a:spcAft>
                <a:spcPts val="900"/>
              </a:spcAft>
            </a:pPr>
            <a:r>
              <a:rPr sz="1400" b="0">
                <a:solidFill>
                  <a:srgbClr val="E8E6DD"/>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Build Arc</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and Setup Hermes</a:t>
            </a:r>
          </a:p>
          <a:p>
            <a:pPr>
              <a:spcAft>
                <a:spcPts val="900"/>
              </a:spcAft>
            </a:pPr>
            <a:r>
              <a:rPr sz="1400" b="0">
                <a:solidFill>
                  <a:srgbClr val="E8E6DD"/>
                </a:solidFill>
                <a:latin typeface="Arial"/>
              </a:rPr>
              <a:t>•  Deployment — Local Install &amp; Hermes Desktop App</a:t>
            </a:r>
          </a:p>
          <a:p>
            <a:pPr>
              <a:spcAft>
                <a:spcPts val="900"/>
              </a:spcAft>
            </a:pPr>
            <a:r>
              <a:rPr sz="1400" b="0">
                <a:solidFill>
                  <a:srgbClr val="E8E6DD"/>
                </a:solidFill>
                <a:latin typeface="Arial"/>
              </a:rPr>
              <a:t>•  Memory and Plugins</a:t>
            </a:r>
          </a:p>
          <a:p>
            <a:pPr>
              <a:spcAft>
                <a:spcPts val="900"/>
              </a:spcAft>
            </a:pPr>
            <a:r>
              <a:rPr sz="1400" b="0">
                <a:solidFill>
                  <a:srgbClr val="E8E6DD"/>
                </a:solidFill>
                <a:latin typeface="Arial"/>
              </a:rPr>
              <a:t>•  Skills</a:t>
            </a:r>
          </a:p>
          <a:p>
            <a:pPr>
              <a:spcAft>
                <a:spcPts val="900"/>
              </a:spcAft>
            </a:pPr>
            <a:r>
              <a:rPr sz="1400" b="0">
                <a:solidFill>
                  <a:srgbClr val="E8E6DD"/>
                </a:solidFill>
                <a:latin typeface="Arial"/>
              </a:rPr>
              <a:t>•  Providers &amp; Model</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MCP and Tools</a:t>
            </a:r>
          </a:p>
          <a:p>
            <a:pPr>
              <a:spcAft>
                <a:spcPts val="900"/>
              </a:spcAft>
            </a:pPr>
            <a:r>
              <a:rPr sz="1400" b="0">
                <a:solidFill>
                  <a:srgbClr val="E8E6DD"/>
                </a:solidFill>
                <a:latin typeface="Arial"/>
              </a:rPr>
              <a:t>•  Cron Jobs &amp; Automation</a:t>
            </a:r>
          </a:p>
          <a:p>
            <a:pPr>
              <a:spcAft>
                <a:spcPts val="900"/>
              </a:spcAft>
            </a:pPr>
            <a:r>
              <a:rPr sz="1400" b="0">
                <a:solidFill>
                  <a:srgbClr val="E8E6DD"/>
                </a:solidFill>
                <a:latin typeface="Arial"/>
              </a:rPr>
              <a:t>•  Subagents &amp; Delegation</a:t>
            </a:r>
          </a:p>
          <a:p>
            <a:pPr>
              <a:spcAft>
                <a:spcPts val="900"/>
              </a:spcAft>
            </a:pPr>
            <a:r>
              <a:rPr sz="1400" b="0">
                <a:solidFill>
                  <a:srgbClr val="E8E6DD"/>
                </a:solidFill>
                <a:latin typeface="Arial"/>
              </a:rPr>
              <a:t>•  Profile and Kanban</a:t>
            </a:r>
          </a:p>
          <a:p>
            <a:pPr>
              <a:spcAft>
                <a:spcPts val="900"/>
              </a:spcAft>
            </a:pPr>
            <a:r>
              <a:rPr sz="1400" b="0">
                <a:solidFill>
                  <a:srgbClr val="E8E6DD"/>
                </a:solidFill>
                <a:latin typeface="Arial"/>
              </a:rPr>
              <a:t>•  Security</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Use Case — Make a Video with Hyperframe</a:t>
            </a:r>
          </a:p>
          <a:p>
            <a:pPr>
              <a:spcAft>
                <a:spcPts val="900"/>
              </a:spcAft>
            </a:pPr>
            <a:r>
              <a:rPr sz="1400" b="0">
                <a:solidFill>
                  <a:srgbClr val="E8E6DD"/>
                </a:solidFill>
                <a:latin typeface="Arial"/>
              </a:rPr>
              <a:t>•  Visualization</a:t>
            </a:r>
          </a:p>
          <a:p>
            <a:pPr>
              <a:spcAft>
                <a:spcPts val="900"/>
              </a:spcAft>
            </a:pPr>
            <a:r>
              <a:rPr sz="1400" b="0">
                <a:solidFill>
                  <a:srgbClr val="E8E6DD"/>
                </a:solidFill>
                <a:latin typeface="Arial"/>
              </a:rPr>
              <a:t>•  Build a Multi-Agent Workflow</a:t>
            </a:r>
          </a:p>
          <a:p>
            <a:pPr>
              <a:spcAft>
                <a:spcPts val="900"/>
              </a:spcAft>
            </a:pPr>
            <a:r>
              <a:rPr sz="1400" b="0">
                <a:solidFill>
                  <a:srgbClr val="E8E6DD"/>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part-02/platform-matrix</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WILL IT RUN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ON MY MACHINE?</a:t>
            </a:r>
          </a:p>
        </p:txBody>
      </p:sp>
      <p:sp>
        <p:nvSpPr>
          <p:cNvPr id="7" name="Rectangle 6"/>
          <p:cNvSpPr/>
          <p:nvPr/>
        </p:nvSpPr>
        <p:spPr>
          <a:xfrm>
            <a:off x="777240"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154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macOS</a:t>
            </a:r>
          </a:p>
        </p:txBody>
      </p:sp>
      <p:sp>
        <p:nvSpPr>
          <p:cNvPr id="13" name="TextBox 12"/>
          <p:cNvSpPr txBox="1"/>
          <p:nvPr/>
        </p:nvSpPr>
        <p:spPr>
          <a:xfrm>
            <a:off x="777240"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14" name="Rectangle 13"/>
          <p:cNvSpPr/>
          <p:nvPr/>
        </p:nvSpPr>
        <p:spPr>
          <a:xfrm>
            <a:off x="3493008"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5731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Linux</a:t>
            </a:r>
          </a:p>
        </p:txBody>
      </p:sp>
      <p:sp>
        <p:nvSpPr>
          <p:cNvPr id="20" name="TextBox 19"/>
          <p:cNvSpPr txBox="1"/>
          <p:nvPr/>
        </p:nvSpPr>
        <p:spPr>
          <a:xfrm>
            <a:off x="3493008"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21" name="Rectangle 20"/>
          <p:cNvSpPr/>
          <p:nvPr/>
        </p:nvSpPr>
        <p:spPr>
          <a:xfrm>
            <a:off x="6208776"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7308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08776"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Windows</a:t>
            </a:r>
          </a:p>
        </p:txBody>
      </p:sp>
      <p:sp>
        <p:nvSpPr>
          <p:cNvPr id="27" name="TextBox 26"/>
          <p:cNvSpPr txBox="1"/>
          <p:nvPr/>
        </p:nvSpPr>
        <p:spPr>
          <a:xfrm>
            <a:off x="6208776"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WSL2 only</a:t>
            </a:r>
          </a:p>
        </p:txBody>
      </p:sp>
      <p:sp>
        <p:nvSpPr>
          <p:cNvPr id="28" name="Rectangle 27"/>
          <p:cNvSpPr/>
          <p:nvPr/>
        </p:nvSpPr>
        <p:spPr>
          <a:xfrm>
            <a:off x="8924544"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24544"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24544"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2454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388852"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24544"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Android</a:t>
            </a:r>
          </a:p>
        </p:txBody>
      </p:sp>
      <p:sp>
        <p:nvSpPr>
          <p:cNvPr id="34" name="TextBox 33"/>
          <p:cNvSpPr txBox="1"/>
          <p:nvPr/>
        </p:nvSpPr>
        <p:spPr>
          <a:xfrm>
            <a:off x="8924544"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Termux (v0.9.0)</a:t>
            </a:r>
          </a:p>
        </p:txBody>
      </p:sp>
      <p:sp>
        <p:nvSpPr>
          <p:cNvPr id="35" name="Rectangle 34"/>
          <p:cNvSpPr/>
          <p:nvPr/>
        </p:nvSpPr>
        <p:spPr>
          <a:xfrm>
            <a:off x="777240" y="4389120"/>
            <a:ext cx="1828800" cy="3291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4407408"/>
            <a:ext cx="1828800" cy="292608"/>
          </a:xfrm>
          <a:prstGeom prst="rect">
            <a:avLst/>
          </a:prstGeom>
          <a:noFill/>
        </p:spPr>
        <p:txBody>
          <a:bodyPr wrap="square" anchor="t">
            <a:spAutoFit/>
          </a:bodyPr>
          <a:lstStyle/>
          <a:p>
            <a:pPr algn="ctr">
              <a:spcAft>
                <a:spcPts val="400"/>
              </a:spcAft>
            </a:pPr>
            <a:r>
              <a:rPr sz="1200" b="1">
                <a:solidFill>
                  <a:srgbClr val="0D0E0B"/>
                </a:solidFill>
                <a:latin typeface="Arial"/>
              </a:rPr>
              <a:t>AUTO-INSTALLED</a:t>
            </a:r>
          </a:p>
        </p:txBody>
      </p:sp>
      <p:sp>
        <p:nvSpPr>
          <p:cNvPr id="37" name="TextBox 36"/>
          <p:cNvSpPr txBox="1"/>
          <p:nvPr/>
        </p:nvSpPr>
        <p:spPr>
          <a:xfrm>
            <a:off x="2743200" y="4389120"/>
            <a:ext cx="8595360" cy="329184"/>
          </a:xfrm>
          <a:prstGeom prst="rect">
            <a:avLst/>
          </a:prstGeom>
          <a:noFill/>
        </p:spPr>
        <p:txBody>
          <a:bodyPr wrap="square" anchor="ctr">
            <a:spAutoFit/>
          </a:bodyPr>
          <a:lstStyle/>
          <a:p>
            <a:pPr algn="l">
              <a:spcAft>
                <a:spcPts val="400"/>
              </a:spcAft>
            </a:pPr>
            <a:r>
              <a:rPr sz="1400" b="1">
                <a:solidFill>
                  <a:srgbClr val="E8E6DD"/>
                </a:solidFill>
                <a:latin typeface="Arial"/>
              </a:rPr>
              <a:t>Python 3.11, Node.js 22, uv, ripgrep, ffmpeg, git.</a:t>
            </a:r>
          </a:p>
        </p:txBody>
      </p:sp>
      <p:sp>
        <p:nvSpPr>
          <p:cNvPr id="38" name="TextBox 37"/>
          <p:cNvSpPr txBox="1"/>
          <p:nvPr/>
        </p:nvSpPr>
        <p:spPr>
          <a:xfrm>
            <a:off x="777240" y="4846320"/>
            <a:ext cx="10607040" cy="310896"/>
          </a:xfrm>
          <a:prstGeom prst="rect">
            <a:avLst/>
          </a:prstGeom>
          <a:noFill/>
        </p:spPr>
        <p:txBody>
          <a:bodyPr wrap="square" anchor="t">
            <a:spAutoFit/>
          </a:bodyPr>
          <a:lstStyle/>
          <a:p>
            <a:pPr algn="l">
              <a:spcAft>
                <a:spcPts val="400"/>
              </a:spcAft>
            </a:pPr>
            <a:r>
              <a:rPr sz="1200" b="0">
                <a:solidFill>
                  <a:srgbClr val="8A8D86"/>
                </a:solidFill>
                <a:latin typeface="Arial"/>
              </a:rPr>
              <a:t>Native Windows is explicitly unsupported. The installer refuses CYGWIN/MINGW/MSYS.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first-time setup wizard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install is healthy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Launch the agent and say hello</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part-03/top-10-slash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TOP 10 SLASH.</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In-chat commands. Type them during a session.</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/new</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start a fresh conversation</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/model &lt;name&gt;</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swap model mid-session (v0.8.0+)</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/fast</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priority routing (OpenAI + Anthropic, v0.9.0)</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/bg &lt;prompt&gt;</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background task, keep chatting</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/btw &lt;question&gt;</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ephemeral side question</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/queue &lt;prompt&gt;</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add to next-turn queue</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/compress</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manually compact context</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/skills</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browse / invoke a skill</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/yolo</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toggle dangerous-command approvals</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/help</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everything else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Dashboard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Keep the runtime up to date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stored memory/sessions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FROM A LIVE HERMES INSTALL · 97 SKILLS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Skill Categories (1 of 2)</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Creative</a:t>
            </a:r>
          </a:p>
          <a:p>
            <a:pPr algn="l">
              <a:spcAft>
                <a:spcPts val="300"/>
              </a:spcAft>
            </a:pPr>
            <a:r>
              <a:rPr sz="900" b="0">
                <a:solidFill>
                  <a:srgbClr val="8A8D86"/>
                </a:solidFill>
                <a:latin typeface="Arial"/>
              </a:rPr>
              <a:t>20 skills · e.g. architecture-diagram, ascii-art, ascii-video</a:t>
            </a:r>
          </a:p>
        </p:txBody>
      </p:sp>
      <p:sp>
        <p:nvSpPr>
          <p:cNvPr id="12" name="Rectangle 11"/>
          <p:cNvSpPr/>
          <p:nvPr/>
        </p:nvSpPr>
        <p:spPr>
          <a:xfrm>
            <a:off x="6231636"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Mlops</a:t>
            </a:r>
          </a:p>
          <a:p>
            <a:pPr algn="l">
              <a:spcAft>
                <a:spcPts val="300"/>
              </a:spcAft>
            </a:pPr>
            <a:r>
              <a:rPr sz="900" b="0">
                <a:solidFill>
                  <a:srgbClr val="8A8D86"/>
                </a:solidFill>
                <a:latin typeface="Arial"/>
              </a:rPr>
              <a:t>13 skills · e.g. evaluating-llms-harness, weights-and-biases, huggingface-hub</a:t>
            </a:r>
          </a:p>
        </p:txBody>
      </p:sp>
      <p:sp>
        <p:nvSpPr>
          <p:cNvPr id="17" name="Rectangle 16"/>
          <p:cNvSpPr/>
          <p:nvPr/>
        </p:nvSpPr>
        <p:spPr>
          <a:xfrm>
            <a:off x="777240"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Software Development</a:t>
            </a:r>
          </a:p>
          <a:p>
            <a:pPr algn="l">
              <a:spcAft>
                <a:spcPts val="300"/>
              </a:spcAft>
            </a:pPr>
            <a:r>
              <a:rPr sz="900" b="0">
                <a:solidFill>
                  <a:srgbClr val="8A8D86"/>
                </a:solidFill>
                <a:latin typeface="Arial"/>
              </a:rPr>
              <a:t>13 skills · e.g. debugging-hermes-tui-commands, hermes-agent-skill-authoring, hermes-s6-container-supervision</a:t>
            </a:r>
          </a:p>
        </p:txBody>
      </p:sp>
      <p:sp>
        <p:nvSpPr>
          <p:cNvPr id="22" name="Rectangle 21"/>
          <p:cNvSpPr/>
          <p:nvPr/>
        </p:nvSpPr>
        <p:spPr>
          <a:xfrm>
            <a:off x="6231636"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Productivity</a:t>
            </a:r>
          </a:p>
          <a:p>
            <a:pPr algn="l">
              <a:spcAft>
                <a:spcPts val="300"/>
              </a:spcAft>
            </a:pPr>
            <a:r>
              <a:rPr sz="900" b="0">
                <a:solidFill>
                  <a:srgbClr val="8A8D86"/>
                </a:solidFill>
                <a:latin typeface="Arial"/>
              </a:rPr>
              <a:t>10 skills · e.g. airtable, google-workspace, linear</a:t>
            </a:r>
          </a:p>
        </p:txBody>
      </p:sp>
      <p:sp>
        <p:nvSpPr>
          <p:cNvPr id="27" name="Rectangle 26"/>
          <p:cNvSpPr/>
          <p:nvPr/>
        </p:nvSpPr>
        <p:spPr>
          <a:xfrm>
            <a:off x="777240"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Github</a:t>
            </a:r>
          </a:p>
          <a:p>
            <a:pPr algn="l">
              <a:spcAft>
                <a:spcPts val="300"/>
              </a:spcAft>
            </a:pPr>
            <a:r>
              <a:rPr sz="900" b="0">
                <a:solidFill>
                  <a:srgbClr val="8A8D86"/>
                </a:solidFill>
                <a:latin typeface="Arial"/>
              </a:rPr>
              <a:t>6 skills · e.g. codebase-inspection, github-auth, github-code-review</a:t>
            </a:r>
          </a:p>
        </p:txBody>
      </p:sp>
      <p:sp>
        <p:nvSpPr>
          <p:cNvPr id="32" name="Rectangle 31"/>
          <p:cNvSpPr/>
          <p:nvPr/>
        </p:nvSpPr>
        <p:spPr>
          <a:xfrm>
            <a:off x="6231636"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Media</a:t>
            </a:r>
          </a:p>
          <a:p>
            <a:pPr algn="l">
              <a:spcAft>
                <a:spcPts val="300"/>
              </a:spcAft>
            </a:pPr>
            <a:r>
              <a:rPr sz="900" b="0">
                <a:solidFill>
                  <a:srgbClr val="8A8D86"/>
                </a:solidFill>
                <a:latin typeface="Arial"/>
              </a:rPr>
              <a:t>6 skills · e.g. gif-search, heartmula, songsee</a:t>
            </a:r>
          </a:p>
        </p:txBody>
      </p:sp>
      <p:sp>
        <p:nvSpPr>
          <p:cNvPr id="37" name="Rectangle 36"/>
          <p:cNvSpPr/>
          <p:nvPr/>
        </p:nvSpPr>
        <p:spPr>
          <a:xfrm>
            <a:off x="777240"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Apple</a:t>
            </a:r>
          </a:p>
          <a:p>
            <a:pPr algn="l">
              <a:spcAft>
                <a:spcPts val="300"/>
              </a:spcAft>
            </a:pPr>
            <a:r>
              <a:rPr sz="900" b="0">
                <a:solidFill>
                  <a:srgbClr val="8A8D86"/>
                </a:solidFill>
                <a:latin typeface="Arial"/>
              </a:rPr>
              <a:t>5 skills · e.g. apple-notes, apple-reminders, findmy</a:t>
            </a:r>
          </a:p>
        </p:txBody>
      </p:sp>
      <p:sp>
        <p:nvSpPr>
          <p:cNvPr id="42" name="Rectangle 41"/>
          <p:cNvSpPr/>
          <p:nvPr/>
        </p:nvSpPr>
        <p:spPr>
          <a:xfrm>
            <a:off x="6231636"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Autonomous Ai Agents</a:t>
            </a:r>
          </a:p>
          <a:p>
            <a:pPr algn="l">
              <a:spcAft>
                <a:spcPts val="300"/>
              </a:spcAft>
            </a:pPr>
            <a:r>
              <a:rPr sz="900" b="0">
                <a:solidFill>
                  <a:srgbClr val="8A8D86"/>
                </a:solidFill>
                <a:latin typeface="Arial"/>
              </a:rPr>
              <a:t>5 skills · e.g. claude-code, codex, hermes-agent</a:t>
            </a:r>
          </a:p>
        </p:txBody>
      </p:sp>
      <p:sp>
        <p:nvSpPr>
          <p:cNvPr id="47" name="Rectangle 46"/>
          <p:cNvSpPr/>
          <p:nvPr/>
        </p:nvSpPr>
        <p:spPr>
          <a:xfrm>
            <a:off x="777240" y="546994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Research</a:t>
            </a:r>
          </a:p>
          <a:p>
            <a:pPr algn="l">
              <a:spcAft>
                <a:spcPts val="300"/>
              </a:spcAft>
            </a:pPr>
            <a:r>
              <a:rPr sz="900" b="0">
                <a:solidFill>
                  <a:srgbClr val="8A8D86"/>
                </a:solidFill>
                <a:latin typeface="Arial"/>
              </a:rPr>
              <a:t>5 skills · e.g. arxiv, blogwatcher, llm-wiki</a:t>
            </a:r>
          </a:p>
        </p:txBody>
      </p:sp>
      <p:sp>
        <p:nvSpPr>
          <p:cNvPr id="52" name="Rectangle 51"/>
          <p:cNvSpPr/>
          <p:nvPr/>
        </p:nvSpPr>
        <p:spPr>
          <a:xfrm>
            <a:off x="6231636" y="546994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31636" y="546994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487668" y="553760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87668"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56" name="TextBox 55"/>
          <p:cNvSpPr txBox="1"/>
          <p:nvPr/>
        </p:nvSpPr>
        <p:spPr>
          <a:xfrm>
            <a:off x="7219188" y="559795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Other</a:t>
            </a:r>
          </a:p>
          <a:p>
            <a:pPr algn="l">
              <a:spcAft>
                <a:spcPts val="300"/>
              </a:spcAft>
            </a:pPr>
            <a:r>
              <a:rPr sz="900" b="0">
                <a:solidFill>
                  <a:srgbClr val="8A8D86"/>
                </a:solidFill>
                <a:latin typeface="Arial"/>
              </a:rPr>
              <a:t>3 skills · e.g. computer-use, dogfood, yuanbao</a:t>
            </a:r>
          </a:p>
        </p:txBody>
      </p:sp>
      <p:sp>
        <p:nvSpPr>
          <p:cNvPr id="57" name="TextBox 5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58" name="TextBox 5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59" name="TextBox 5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FROM A LIVE HERMES INSTALL · 97 SKILLS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Skill Categories (2 of 2)</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Devops</a:t>
            </a:r>
          </a:p>
          <a:p>
            <a:pPr algn="l">
              <a:spcAft>
                <a:spcPts val="300"/>
              </a:spcAft>
            </a:pPr>
            <a:r>
              <a:rPr sz="900" b="0">
                <a:solidFill>
                  <a:srgbClr val="8A8D86"/>
                </a:solidFill>
                <a:latin typeface="Arial"/>
              </a:rPr>
              <a:t>2 skills · e.g. agent-infrastructure-ops, webhook-subscriptions</a:t>
            </a:r>
          </a:p>
        </p:txBody>
      </p:sp>
      <p:sp>
        <p:nvSpPr>
          <p:cNvPr id="12" name="Rectangle 11"/>
          <p:cNvSpPr/>
          <p:nvPr/>
        </p:nvSpPr>
        <p:spPr>
          <a:xfrm>
            <a:off x="6231636"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Gaming</a:t>
            </a:r>
          </a:p>
          <a:p>
            <a:pPr algn="l">
              <a:spcAft>
                <a:spcPts val="300"/>
              </a:spcAft>
            </a:pPr>
            <a:r>
              <a:rPr sz="900" b="0">
                <a:solidFill>
                  <a:srgbClr val="8A8D86"/>
                </a:solidFill>
                <a:latin typeface="Arial"/>
              </a:rPr>
              <a:t>2 skills · e.g. minecraft-modpack-server, pokemon-player</a:t>
            </a:r>
          </a:p>
        </p:txBody>
      </p:sp>
      <p:sp>
        <p:nvSpPr>
          <p:cNvPr id="17" name="Rectangle 16"/>
          <p:cNvSpPr/>
          <p:nvPr/>
        </p:nvSpPr>
        <p:spPr>
          <a:xfrm>
            <a:off x="777240"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Data Science</a:t>
            </a:r>
          </a:p>
          <a:p>
            <a:pPr algn="l">
              <a:spcAft>
                <a:spcPts val="300"/>
              </a:spcAft>
            </a:pPr>
            <a:r>
              <a:rPr sz="900" b="0">
                <a:solidFill>
                  <a:srgbClr val="8A8D86"/>
                </a:solidFill>
                <a:latin typeface="Arial"/>
              </a:rPr>
              <a:t>1 skill · e.g. jupyter-live-kernel</a:t>
            </a:r>
          </a:p>
        </p:txBody>
      </p:sp>
      <p:sp>
        <p:nvSpPr>
          <p:cNvPr id="22" name="Rectangle 21"/>
          <p:cNvSpPr/>
          <p:nvPr/>
        </p:nvSpPr>
        <p:spPr>
          <a:xfrm>
            <a:off x="6231636"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Email</a:t>
            </a:r>
          </a:p>
          <a:p>
            <a:pPr algn="l">
              <a:spcAft>
                <a:spcPts val="300"/>
              </a:spcAft>
            </a:pPr>
            <a:r>
              <a:rPr sz="900" b="0">
                <a:solidFill>
                  <a:srgbClr val="8A8D86"/>
                </a:solidFill>
                <a:latin typeface="Arial"/>
              </a:rPr>
              <a:t>1 skill · e.g. himalaya</a:t>
            </a:r>
          </a:p>
        </p:txBody>
      </p:sp>
      <p:sp>
        <p:nvSpPr>
          <p:cNvPr id="27" name="Rectangle 26"/>
          <p:cNvSpPr/>
          <p:nvPr/>
        </p:nvSpPr>
        <p:spPr>
          <a:xfrm>
            <a:off x="777240"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Mcp</a:t>
            </a:r>
          </a:p>
          <a:p>
            <a:pPr algn="l">
              <a:spcAft>
                <a:spcPts val="300"/>
              </a:spcAft>
            </a:pPr>
            <a:r>
              <a:rPr sz="900" b="0">
                <a:solidFill>
                  <a:srgbClr val="8A8D86"/>
                </a:solidFill>
                <a:latin typeface="Arial"/>
              </a:rPr>
              <a:t>1 skill · e.g. native-mcp</a:t>
            </a:r>
          </a:p>
        </p:txBody>
      </p:sp>
      <p:sp>
        <p:nvSpPr>
          <p:cNvPr id="32" name="Rectangle 31"/>
          <p:cNvSpPr/>
          <p:nvPr/>
        </p:nvSpPr>
        <p:spPr>
          <a:xfrm>
            <a:off x="6231636"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Note Taking</a:t>
            </a:r>
          </a:p>
          <a:p>
            <a:pPr algn="l">
              <a:spcAft>
                <a:spcPts val="300"/>
              </a:spcAft>
            </a:pPr>
            <a:r>
              <a:rPr sz="900" b="0">
                <a:solidFill>
                  <a:srgbClr val="8A8D86"/>
                </a:solidFill>
                <a:latin typeface="Arial"/>
              </a:rPr>
              <a:t>1 skill · e.g. obsidian</a:t>
            </a:r>
          </a:p>
        </p:txBody>
      </p:sp>
      <p:sp>
        <p:nvSpPr>
          <p:cNvPr id="37" name="Rectangle 36"/>
          <p:cNvSpPr/>
          <p:nvPr/>
        </p:nvSpPr>
        <p:spPr>
          <a:xfrm>
            <a:off x="777240"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Red Teaming</a:t>
            </a:r>
          </a:p>
          <a:p>
            <a:pPr algn="l">
              <a:spcAft>
                <a:spcPts val="300"/>
              </a:spcAft>
            </a:pPr>
            <a:r>
              <a:rPr sz="900" b="0">
                <a:solidFill>
                  <a:srgbClr val="8A8D86"/>
                </a:solidFill>
                <a:latin typeface="Arial"/>
              </a:rPr>
              <a:t>1 skill · e.g. godmode</a:t>
            </a:r>
          </a:p>
        </p:txBody>
      </p:sp>
      <p:sp>
        <p:nvSpPr>
          <p:cNvPr id="42" name="Rectangle 41"/>
          <p:cNvSpPr/>
          <p:nvPr/>
        </p:nvSpPr>
        <p:spPr>
          <a:xfrm>
            <a:off x="6231636"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Smart Home</a:t>
            </a:r>
          </a:p>
          <a:p>
            <a:pPr algn="l">
              <a:spcAft>
                <a:spcPts val="300"/>
              </a:spcAft>
            </a:pPr>
            <a:r>
              <a:rPr sz="900" b="0">
                <a:solidFill>
                  <a:srgbClr val="8A8D86"/>
                </a:solidFill>
                <a:latin typeface="Arial"/>
              </a:rPr>
              <a:t>1 skill · e.g. openhue</a:t>
            </a:r>
          </a:p>
        </p:txBody>
      </p:sp>
      <p:sp>
        <p:nvSpPr>
          <p:cNvPr id="47" name="Rectangle 46"/>
          <p:cNvSpPr/>
          <p:nvPr/>
        </p:nvSpPr>
        <p:spPr>
          <a:xfrm>
            <a:off x="777240" y="546994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Social Media</a:t>
            </a:r>
          </a:p>
          <a:p>
            <a:pPr algn="l">
              <a:spcAft>
                <a:spcPts val="300"/>
              </a:spcAft>
            </a:pPr>
            <a:r>
              <a:rPr sz="900" b="0">
                <a:solidFill>
                  <a:srgbClr val="8A8D86"/>
                </a:solidFill>
                <a:latin typeface="Arial"/>
              </a:rPr>
              <a:t>1 skill · e.g. xurl</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Browse the skills hub</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Search for a skill by keyword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model explicitly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GitHub MCP server entry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OpenClaw</a:t>
            </a:r>
          </a:p>
          <a:p>
            <a:pPr>
              <a:spcAft>
                <a:spcPts val="900"/>
              </a:spcAft>
            </a:pPr>
            <a:r>
              <a:rPr sz="1400" b="0">
                <a:solidFill>
                  <a:srgbClr val="E8E6DD"/>
                </a:solidFill>
                <a:latin typeface="Arial"/>
              </a:rPr>
              <a:t>•  Models &amp; Providers</a:t>
            </a:r>
          </a:p>
          <a:p>
            <a:pPr>
              <a:spcAft>
                <a:spcPts val="900"/>
              </a:spcAft>
            </a:pPr>
            <a:r>
              <a:rPr sz="1400" b="0">
                <a:solidFill>
                  <a:srgbClr val="E8E6DD"/>
                </a:solidFill>
                <a:latin typeface="Arial"/>
              </a:rPr>
              <a:t>•  Channels</a:t>
            </a:r>
          </a:p>
          <a:p>
            <a:pPr>
              <a:spcAft>
                <a:spcPts val="900"/>
              </a:spcAft>
            </a:pPr>
            <a:r>
              <a:rPr sz="1400" b="0">
                <a:solidFill>
                  <a:srgbClr val="E8E6DD"/>
                </a:solidFill>
                <a:latin typeface="Arial"/>
              </a:rPr>
              <a:t>•  Skills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Tools &amp; Integrations</a:t>
            </a:r>
          </a:p>
          <a:p>
            <a:pPr>
              <a:spcAft>
                <a:spcPts val="900"/>
              </a:spcAft>
            </a:pPr>
            <a:r>
              <a:rPr sz="1400" b="0">
                <a:solidFill>
                  <a:srgbClr val="E8E6DD"/>
                </a:solidFill>
                <a:latin typeface="Arial"/>
              </a:rPr>
              <a:t>•  Commands</a:t>
            </a:r>
          </a:p>
          <a:p>
            <a:pPr>
              <a:spcAft>
                <a:spcPts val="900"/>
              </a:spcAft>
            </a:pPr>
            <a:r>
              <a:rPr sz="1400" b="0">
                <a:solidFill>
                  <a:srgbClr val="E8E6DD"/>
                </a:solidFill>
                <a:latin typeface="Arial"/>
              </a:rPr>
              <a:t>•  Cron Jobs &amp; Heartbeat</a:t>
            </a:r>
          </a:p>
          <a:p>
            <a:pPr>
              <a:spcAft>
                <a:spcPts val="900"/>
              </a:spcAft>
            </a:pPr>
            <a:r>
              <a:rPr sz="1400" b="0">
                <a:solidFill>
                  <a:srgbClr val="E8E6DD"/>
                </a:solidFill>
                <a:latin typeface="Arial"/>
              </a:rPr>
              <a:t>•  Memory &amp; Context</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Multi-Agent Workforce</a:t>
            </a:r>
          </a:p>
          <a:p>
            <a:pPr>
              <a:spcAft>
                <a:spcPts val="900"/>
              </a:spcAft>
            </a:pPr>
            <a:r>
              <a:rPr sz="1400" b="0">
                <a:solidFill>
                  <a:srgbClr val="E8E6DD"/>
                </a:solidFill>
                <a:latin typeface="Arial"/>
              </a:rPr>
              <a:t>•  Dreaming — Idle Reflection &amp; Self-Improvement</a:t>
            </a:r>
          </a:p>
          <a:p>
            <a:pPr>
              <a:spcAft>
                <a:spcPts val="900"/>
              </a:spcAft>
            </a:pPr>
            <a:r>
              <a:rPr sz="1400" b="0">
                <a:solidFill>
                  <a:srgbClr val="E8E6DD"/>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install version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the Telegram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and inspect your crons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heartbeat status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Setup Paperclip</a:t>
            </a:r>
          </a:p>
          <a:p>
            <a:pPr>
              <a:spcAft>
                <a:spcPts val="900"/>
              </a:spcAft>
            </a:pPr>
            <a:r>
              <a:rPr sz="1400" b="0">
                <a:solidFill>
                  <a:srgbClr val="E8E6DD"/>
                </a:solidFill>
                <a:latin typeface="Arial"/>
              </a:rPr>
              <a:t>•  Connect OpenAI Codex to Paperclip</a:t>
            </a:r>
          </a:p>
          <a:p>
            <a:pPr>
              <a:spcAft>
                <a:spcPts val="900"/>
              </a:spcAft>
            </a:pPr>
            <a:r>
              <a:rPr sz="1400" b="0">
                <a:solidFill>
                  <a:srgbClr val="E8E6DD"/>
                </a:solidFill>
                <a:latin typeface="Arial"/>
              </a:rPr>
              <a:t>•  Configure Paperclip</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Track AI Tasks</a:t>
            </a:r>
          </a:p>
          <a:p>
            <a:pPr>
              <a:spcAft>
                <a:spcPts val="900"/>
              </a:spcAft>
            </a:pPr>
            <a:r>
              <a:rPr sz="1400" b="0">
                <a:solidFill>
                  <a:srgbClr val="E8E6DD"/>
                </a:solidFill>
                <a:latin typeface="Arial"/>
              </a:rPr>
              <a:t>•  Automate AI Hiring</a:t>
            </a:r>
          </a:p>
          <a:p>
            <a:pPr>
              <a:spcAft>
                <a:spcPts val="900"/>
              </a:spcAft>
            </a:pPr>
            <a:r>
              <a:rPr sz="1400" b="0">
                <a:solidFill>
                  <a:srgbClr val="E8E6DD"/>
                </a:solidFill>
                <a:latin typeface="Arial"/>
              </a:rPr>
              <a:t>•  Setup AI Agents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Clone the Paperclip repository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You Achieved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Analyzed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Evaluated &amp; Improved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Continuing Your AI-Agent Journey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