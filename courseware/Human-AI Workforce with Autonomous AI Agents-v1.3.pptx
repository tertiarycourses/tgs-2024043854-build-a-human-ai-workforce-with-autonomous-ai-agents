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 id="459" r:id="rId210"/>
    <p:sldId id="460" r:id="rId211"/>
    <p:sldId id="461" r:id="rId212"/>
    <p:sldId id="462" r:id="rId213"/>
    <p:sldId id="463" r:id="rId214"/>
    <p:sldId id="464" r:id="rId215"/>
    <p:sldId id="465" r:id="rId216"/>
    <p:sldId id="466" r:id="rId217"/>
    <p:sldId id="467" r:id="rId218"/>
    <p:sldId id="468" r:id="rId219"/>
    <p:sldId id="469" r:id="rId220"/>
    <p:sldId id="470" r:id="rId221"/>
    <p:sldId id="471" r:id="rId222"/>
    <p:sldId id="472" r:id="rId223"/>
    <p:sldId id="473" r:id="rId224"/>
    <p:sldId id="474" r:id="rId225"/>
    <p:sldId id="475" r:id="rId226"/>
    <p:sldId id="476" r:id="rId227"/>
    <p:sldId id="477" r:id="rId228"/>
    <p:sldId id="478" r:id="rId229"/>
    <p:sldId id="479" r:id="rId230"/>
    <p:sldId id="480" r:id="rId231"/>
    <p:sldId id="481" r:id="rId232"/>
    <p:sldId id="482" r:id="rId233"/>
    <p:sldId id="483" r:id="rId234"/>
    <p:sldId id="484" r:id="rId235"/>
    <p:sldId id="485" r:id="rId236"/>
    <p:sldId id="486" r:id="rId237"/>
    <p:sldId id="487" r:id="rId238"/>
    <p:sldId id="488" r:id="rId239"/>
    <p:sldId id="489" r:id="rId240"/>
    <p:sldId id="490" r:id="rId241"/>
    <p:sldId id="491" r:id="rId242"/>
    <p:sldId id="492" r:id="rId243"/>
    <p:sldId id="493" r:id="rId244"/>
    <p:sldId id="494" r:id="rId245"/>
    <p:sldId id="495" r:id="rId246"/>
    <p:sldId id="496" r:id="rId247"/>
    <p:sldId id="497" r:id="rId248"/>
    <p:sldId id="498" r:id="rId249"/>
    <p:sldId id="499" r:id="rId250"/>
    <p:sldId id="500" r:id="rId251"/>
    <p:sldId id="501" r:id="rId252"/>
    <p:sldId id="502" r:id="rId253"/>
    <p:sldId id="503" r:id="rId254"/>
    <p:sldId id="504" r:id="rId255"/>
    <p:sldId id="505" r:id="rId256"/>
    <p:sldId id="506" r:id="rId257"/>
    <p:sldId id="507" r:id="rId258"/>
    <p:sldId id="508" r:id="rId259"/>
    <p:sldId id="509" r:id="rId260"/>
    <p:sldId id="510" r:id="rId261"/>
    <p:sldId id="511" r:id="rId262"/>
    <p:sldId id="512" r:id="rId263"/>
    <p:sldId id="513" r:id="rId264"/>
    <p:sldId id="514" r:id="rId265"/>
    <p:sldId id="515" r:id="rId266"/>
    <p:sldId id="516" r:id="rId267"/>
    <p:sldId id="517" r:id="rId268"/>
    <p:sldId id="518" r:id="rId269"/>
    <p:sldId id="519" r:id="rId270"/>
    <p:sldId id="520" r:id="rId271"/>
    <p:sldId id="521" r:id="rId272"/>
    <p:sldId id="522" r:id="rId273"/>
    <p:sldId id="523" r:id="rId274"/>
    <p:sldId id="524" r:id="rId275"/>
    <p:sldId id="525" r:id="rId276"/>
    <p:sldId id="526" r:id="rId277"/>
    <p:sldId id="527" r:id="rId278"/>
    <p:sldId id="528" r:id="rId279"/>
    <p:sldId id="529" r:id="rId280"/>
    <p:sldId id="530" r:id="rId281"/>
    <p:sldId id="531" r:id="rId282"/>
    <p:sldId id="532" r:id="rId283"/>
    <p:sldId id="533" r:id="rId284"/>
    <p:sldId id="534" r:id="rId285"/>
    <p:sldId id="535" r:id="rId28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 Id="rId221" Type="http://schemas.openxmlformats.org/officeDocument/2006/relationships/slide" Target="slides/slide215.xml"/><Relationship Id="rId222" Type="http://schemas.openxmlformats.org/officeDocument/2006/relationships/slide" Target="slides/slide216.xml"/><Relationship Id="rId223" Type="http://schemas.openxmlformats.org/officeDocument/2006/relationships/slide" Target="slides/slide217.xml"/><Relationship Id="rId224" Type="http://schemas.openxmlformats.org/officeDocument/2006/relationships/slide" Target="slides/slide218.xml"/><Relationship Id="rId225" Type="http://schemas.openxmlformats.org/officeDocument/2006/relationships/slide" Target="slides/slide219.xml"/><Relationship Id="rId226" Type="http://schemas.openxmlformats.org/officeDocument/2006/relationships/slide" Target="slides/slide220.xml"/><Relationship Id="rId227" Type="http://schemas.openxmlformats.org/officeDocument/2006/relationships/slide" Target="slides/slide221.xml"/><Relationship Id="rId228" Type="http://schemas.openxmlformats.org/officeDocument/2006/relationships/slide" Target="slides/slide222.xml"/><Relationship Id="rId229" Type="http://schemas.openxmlformats.org/officeDocument/2006/relationships/slide" Target="slides/slide223.xml"/><Relationship Id="rId230" Type="http://schemas.openxmlformats.org/officeDocument/2006/relationships/slide" Target="slides/slide224.xml"/><Relationship Id="rId231" Type="http://schemas.openxmlformats.org/officeDocument/2006/relationships/slide" Target="slides/slide225.xml"/><Relationship Id="rId232" Type="http://schemas.openxmlformats.org/officeDocument/2006/relationships/slide" Target="slides/slide226.xml"/><Relationship Id="rId233" Type="http://schemas.openxmlformats.org/officeDocument/2006/relationships/slide" Target="slides/slide227.xml"/><Relationship Id="rId234" Type="http://schemas.openxmlformats.org/officeDocument/2006/relationships/slide" Target="slides/slide228.xml"/><Relationship Id="rId235" Type="http://schemas.openxmlformats.org/officeDocument/2006/relationships/slide" Target="slides/slide229.xml"/><Relationship Id="rId236" Type="http://schemas.openxmlformats.org/officeDocument/2006/relationships/slide" Target="slides/slide230.xml"/><Relationship Id="rId237" Type="http://schemas.openxmlformats.org/officeDocument/2006/relationships/slide" Target="slides/slide231.xml"/><Relationship Id="rId238" Type="http://schemas.openxmlformats.org/officeDocument/2006/relationships/slide" Target="slides/slide232.xml"/><Relationship Id="rId239" Type="http://schemas.openxmlformats.org/officeDocument/2006/relationships/slide" Target="slides/slide233.xml"/><Relationship Id="rId240" Type="http://schemas.openxmlformats.org/officeDocument/2006/relationships/slide" Target="slides/slide234.xml"/><Relationship Id="rId241" Type="http://schemas.openxmlformats.org/officeDocument/2006/relationships/slide" Target="slides/slide235.xml"/><Relationship Id="rId242" Type="http://schemas.openxmlformats.org/officeDocument/2006/relationships/slide" Target="slides/slide236.xml"/><Relationship Id="rId243" Type="http://schemas.openxmlformats.org/officeDocument/2006/relationships/slide" Target="slides/slide237.xml"/><Relationship Id="rId244" Type="http://schemas.openxmlformats.org/officeDocument/2006/relationships/slide" Target="slides/slide238.xml"/><Relationship Id="rId245" Type="http://schemas.openxmlformats.org/officeDocument/2006/relationships/slide" Target="slides/slide239.xml"/><Relationship Id="rId246" Type="http://schemas.openxmlformats.org/officeDocument/2006/relationships/slide" Target="slides/slide240.xml"/><Relationship Id="rId247" Type="http://schemas.openxmlformats.org/officeDocument/2006/relationships/slide" Target="slides/slide241.xml"/><Relationship Id="rId248" Type="http://schemas.openxmlformats.org/officeDocument/2006/relationships/slide" Target="slides/slide242.xml"/><Relationship Id="rId249" Type="http://schemas.openxmlformats.org/officeDocument/2006/relationships/slide" Target="slides/slide243.xml"/><Relationship Id="rId250" Type="http://schemas.openxmlformats.org/officeDocument/2006/relationships/slide" Target="slides/slide244.xml"/><Relationship Id="rId251" Type="http://schemas.openxmlformats.org/officeDocument/2006/relationships/slide" Target="slides/slide245.xml"/><Relationship Id="rId252" Type="http://schemas.openxmlformats.org/officeDocument/2006/relationships/slide" Target="slides/slide246.xml"/><Relationship Id="rId253" Type="http://schemas.openxmlformats.org/officeDocument/2006/relationships/slide" Target="slides/slide247.xml"/><Relationship Id="rId254" Type="http://schemas.openxmlformats.org/officeDocument/2006/relationships/slide" Target="slides/slide248.xml"/><Relationship Id="rId255" Type="http://schemas.openxmlformats.org/officeDocument/2006/relationships/slide" Target="slides/slide249.xml"/><Relationship Id="rId256" Type="http://schemas.openxmlformats.org/officeDocument/2006/relationships/slide" Target="slides/slide250.xml"/><Relationship Id="rId257" Type="http://schemas.openxmlformats.org/officeDocument/2006/relationships/slide" Target="slides/slide251.xml"/><Relationship Id="rId258" Type="http://schemas.openxmlformats.org/officeDocument/2006/relationships/slide" Target="slides/slide252.xml"/><Relationship Id="rId259" Type="http://schemas.openxmlformats.org/officeDocument/2006/relationships/slide" Target="slides/slide253.xml"/><Relationship Id="rId260" Type="http://schemas.openxmlformats.org/officeDocument/2006/relationships/slide" Target="slides/slide254.xml"/><Relationship Id="rId261" Type="http://schemas.openxmlformats.org/officeDocument/2006/relationships/slide" Target="slides/slide255.xml"/><Relationship Id="rId262" Type="http://schemas.openxmlformats.org/officeDocument/2006/relationships/slide" Target="slides/slide256.xml"/><Relationship Id="rId263" Type="http://schemas.openxmlformats.org/officeDocument/2006/relationships/slide" Target="slides/slide257.xml"/><Relationship Id="rId264" Type="http://schemas.openxmlformats.org/officeDocument/2006/relationships/slide" Target="slides/slide258.xml"/><Relationship Id="rId265" Type="http://schemas.openxmlformats.org/officeDocument/2006/relationships/slide" Target="slides/slide259.xml"/><Relationship Id="rId266" Type="http://schemas.openxmlformats.org/officeDocument/2006/relationships/slide" Target="slides/slide260.xml"/><Relationship Id="rId267" Type="http://schemas.openxmlformats.org/officeDocument/2006/relationships/slide" Target="slides/slide261.xml"/><Relationship Id="rId268" Type="http://schemas.openxmlformats.org/officeDocument/2006/relationships/slide" Target="slides/slide262.xml"/><Relationship Id="rId269" Type="http://schemas.openxmlformats.org/officeDocument/2006/relationships/slide" Target="slides/slide263.xml"/><Relationship Id="rId270" Type="http://schemas.openxmlformats.org/officeDocument/2006/relationships/slide" Target="slides/slide264.xml"/><Relationship Id="rId271" Type="http://schemas.openxmlformats.org/officeDocument/2006/relationships/slide" Target="slides/slide265.xml"/><Relationship Id="rId272" Type="http://schemas.openxmlformats.org/officeDocument/2006/relationships/slide" Target="slides/slide266.xml"/><Relationship Id="rId273" Type="http://schemas.openxmlformats.org/officeDocument/2006/relationships/slide" Target="slides/slide267.xml"/><Relationship Id="rId274" Type="http://schemas.openxmlformats.org/officeDocument/2006/relationships/slide" Target="slides/slide268.xml"/><Relationship Id="rId275" Type="http://schemas.openxmlformats.org/officeDocument/2006/relationships/slide" Target="slides/slide269.xml"/><Relationship Id="rId276" Type="http://schemas.openxmlformats.org/officeDocument/2006/relationships/slide" Target="slides/slide270.xml"/><Relationship Id="rId277" Type="http://schemas.openxmlformats.org/officeDocument/2006/relationships/slide" Target="slides/slide271.xml"/><Relationship Id="rId278" Type="http://schemas.openxmlformats.org/officeDocument/2006/relationships/slide" Target="slides/slide272.xml"/><Relationship Id="rId279" Type="http://schemas.openxmlformats.org/officeDocument/2006/relationships/slide" Target="slides/slide273.xml"/><Relationship Id="rId280" Type="http://schemas.openxmlformats.org/officeDocument/2006/relationships/slide" Target="slides/slide274.xml"/><Relationship Id="rId281" Type="http://schemas.openxmlformats.org/officeDocument/2006/relationships/slide" Target="slides/slide275.xml"/><Relationship Id="rId282" Type="http://schemas.openxmlformats.org/officeDocument/2006/relationships/slide" Target="slides/slide276.xml"/><Relationship Id="rId283" Type="http://schemas.openxmlformats.org/officeDocument/2006/relationships/slide" Target="slides/slide277.xml"/><Relationship Id="rId284" Type="http://schemas.openxmlformats.org/officeDocument/2006/relationships/slide" Target="slides/slide278.xml"/><Relationship Id="rId285" Type="http://schemas.openxmlformats.org/officeDocument/2006/relationships/slide" Target="slides/slide279.xml"/><Relationship Id="rId286" Type="http://schemas.openxmlformats.org/officeDocument/2006/relationships/slide" Target="slides/slide28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ertiary-infotech-logo.png"/>
          <p:cNvPicPr>
            <a:picLocks noChangeAspect="1"/>
          </p:cNvPicPr>
          <p:nvPr/>
        </p:nvPicPr>
        <p:blipFill>
          <a:blip r:embed="rId2"/>
          <a:stretch>
            <a:fillRect/>
          </a:stretch>
        </p:blipFill>
        <p:spPr>
          <a:xfrm>
            <a:off x="777240" y="640080"/>
            <a:ext cx="960120" cy="960120"/>
          </a:xfrm>
          <a:prstGeom prst="rect">
            <a:avLst/>
          </a:prstGeom>
        </p:spPr>
      </p:pic>
      <p:sp>
        <p:nvSpPr>
          <p:cNvPr id="6" name="TextBox 5"/>
          <p:cNvSpPr txBox="1"/>
          <p:nvPr/>
        </p:nvSpPr>
        <p:spPr>
          <a:xfrm>
            <a:off x="822960" y="2103120"/>
            <a:ext cx="10972800" cy="548640"/>
          </a:xfrm>
          <a:prstGeom prst="rect">
            <a:avLst/>
          </a:prstGeom>
          <a:noFill/>
        </p:spPr>
        <p:txBody>
          <a:bodyPr wrap="square" anchor="t">
            <a:spAutoFit/>
          </a:bodyPr>
          <a:lstStyle/>
          <a:p>
            <a:pPr algn="l">
              <a:spcAft>
                <a:spcPts val="400"/>
              </a:spcAft>
            </a:pPr>
            <a:r>
              <a:rPr sz="1600" b="1">
                <a:solidFill>
                  <a:srgbClr val="F5A623"/>
                </a:solidFill>
                <a:latin typeface="Arial"/>
              </a:rPr>
              <a:t>COURSE SLIDES  ·  WSQ</a:t>
            </a:r>
          </a:p>
        </p:txBody>
      </p:sp>
      <p:sp>
        <p:nvSpPr>
          <p:cNvPr id="7" name="TextBox 6"/>
          <p:cNvSpPr txBox="1"/>
          <p:nvPr/>
        </p:nvSpPr>
        <p:spPr>
          <a:xfrm>
            <a:off x="822960" y="2606040"/>
            <a:ext cx="10972800" cy="1737360"/>
          </a:xfrm>
          <a:prstGeom prst="rect">
            <a:avLst/>
          </a:prstGeom>
          <a:noFill/>
        </p:spPr>
        <p:txBody>
          <a:bodyPr wrap="square" anchor="t">
            <a:spAutoFit/>
          </a:bodyPr>
          <a:lstStyle/>
          <a:p>
            <a:pPr algn="l">
              <a:spcAft>
                <a:spcPts val="400"/>
              </a:spcAft>
            </a:pPr>
            <a:r>
              <a:rPr sz="4000" b="1">
                <a:solidFill>
                  <a:srgbClr val="E8E6DD"/>
                </a:solidFill>
                <a:latin typeface="Arial"/>
              </a:rPr>
              <a:t>Build a Human-AI Workforce with Autonomous AI Agents</a:t>
            </a:r>
          </a:p>
        </p:txBody>
      </p:sp>
      <p:sp>
        <p:nvSpPr>
          <p:cNvPr id="8" name="Rectangle 7"/>
          <p:cNvSpPr/>
          <p:nvPr/>
        </p:nvSpPr>
        <p:spPr>
          <a:xfrm>
            <a:off x="841248" y="4343400"/>
            <a:ext cx="2194560" cy="548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4617720"/>
            <a:ext cx="10972800" cy="1280160"/>
          </a:xfrm>
          <a:prstGeom prst="rect">
            <a:avLst/>
          </a:prstGeom>
          <a:noFill/>
        </p:spPr>
        <p:txBody>
          <a:bodyPr wrap="square" anchor="t">
            <a:spAutoFit/>
          </a:bodyPr>
          <a:lstStyle/>
          <a:p>
            <a:pPr algn="l">
              <a:spcAft>
                <a:spcPts val="600"/>
              </a:spcAft>
            </a:pPr>
            <a:r>
              <a:rPr sz="1600" b="0">
                <a:solidFill>
                  <a:srgbClr val="8A8D86"/>
                </a:solidFill>
                <a:latin typeface="Arial"/>
              </a:rPr>
              <a:t>WSQ Course Code: TGS-2024043854</a:t>
            </a:r>
          </a:p>
          <a:p>
            <a:pPr algn="l">
              <a:spcAft>
                <a:spcPts val="600"/>
              </a:spcAft>
            </a:pPr>
            <a:r>
              <a:rPr sz="1400" b="0">
                <a:solidFill>
                  <a:srgbClr val="8A8D86"/>
                </a:solidFill>
                <a:latin typeface="Arial"/>
              </a:rPr>
              <a:t>Conducted by Tertiary Infotech Academy Pte Ltd  ·  UEN 201200696W</a:t>
            </a:r>
          </a:p>
        </p:txBody>
      </p:sp>
      <p:sp>
        <p:nvSpPr>
          <p:cNvPr id="10" name="TextBox 9"/>
          <p:cNvSpPr txBox="1"/>
          <p:nvPr/>
        </p:nvSpPr>
        <p:spPr>
          <a:xfrm>
            <a:off x="822960" y="5943600"/>
            <a:ext cx="10972800" cy="365760"/>
          </a:xfrm>
          <a:prstGeom prst="rect">
            <a:avLst/>
          </a:prstGeom>
          <a:noFill/>
        </p:spPr>
        <p:txBody>
          <a:bodyPr wrap="square" anchor="t">
            <a:spAutoFit/>
          </a:bodyPr>
          <a:lstStyle/>
          <a:p>
            <a:pPr algn="l">
              <a:spcAft>
                <a:spcPts val="400"/>
              </a:spcAft>
            </a:pPr>
            <a:r>
              <a:rPr sz="1200" b="0">
                <a:solidFill>
                  <a:srgbClr val="8A8D86"/>
                </a:solidFill>
                <a:latin typeface="Arial"/>
              </a:rPr>
              <a:t>Version v1.3  ·  14 July 2026</a:t>
            </a:r>
          </a:p>
        </p:txBody>
      </p:sp>
      <p:sp>
        <p:nvSpPr>
          <p:cNvPr id="11" name="TextBox 10"/>
          <p:cNvSpPr txBox="1"/>
          <p:nvPr/>
        </p:nvSpPr>
        <p:spPr>
          <a:xfrm>
            <a:off x="822960" y="6263640"/>
            <a:ext cx="10972800" cy="310896"/>
          </a:xfrm>
          <a:prstGeom prst="rect">
            <a:avLst/>
          </a:prstGeom>
          <a:noFill/>
        </p:spPr>
        <p:txBody>
          <a:bodyPr wrap="square" anchor="t">
            <a:spAutoFit/>
          </a:bodyPr>
          <a:lstStyle/>
          <a:p>
            <a:pPr algn="l">
              <a:spcAft>
                <a:spcPts val="400"/>
              </a:spcAft>
            </a:pPr>
            <a:r>
              <a:rPr sz="1000" b="0">
                <a:solidFill>
                  <a:srgbClr val="8A8D86"/>
                </a:solidFill>
                <a:latin typeface="Arial"/>
              </a:rPr>
              <a:t>© 2026 Tertiary Infotech Academy Pte Ltd. All rights reserved.  ·  www.tertiarycourses.com.sg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COURSE ADMINISTRATION</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E8E6DD"/>
                </a:solidFill>
                <a:latin typeface="Arial"/>
              </a:rPr>
              <a:t>Welcome &amp; Housekeeping</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2A2C28"/>
                </a:solidFill>
                <a:latin typeface="Arial"/>
              </a:rPr>
              <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TRAQOM · SSG DIGITAL ATTENDANCE</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Digital Attendance (Mandatory)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688336"/>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1</a:t>
            </a:r>
          </a:p>
        </p:txBody>
      </p:sp>
      <p:sp>
        <p:nvSpPr>
          <p:cNvPr id="11" name="TextBox 10"/>
          <p:cNvSpPr txBox="1"/>
          <p:nvPr/>
        </p:nvSpPr>
        <p:spPr>
          <a:xfrm>
            <a:off x="1453896" y="1901952"/>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It is mandatory to take the AM, PM and Assessment digital attendance for WSQ-funded courses.</a:t>
            </a:r>
          </a:p>
        </p:txBody>
      </p:sp>
      <p:sp>
        <p:nvSpPr>
          <p:cNvPr id="12" name="Rectangle 11"/>
          <p:cNvSpPr/>
          <p:nvPr/>
        </p:nvSpPr>
        <p:spPr>
          <a:xfrm>
            <a:off x="6176772" y="1828800"/>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6772" y="1828800"/>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59652" y="2688336"/>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2" y="2706624"/>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2</a:t>
            </a:r>
          </a:p>
        </p:txBody>
      </p:sp>
      <p:sp>
        <p:nvSpPr>
          <p:cNvPr id="16" name="TextBox 15"/>
          <p:cNvSpPr txBox="1"/>
          <p:nvPr/>
        </p:nvSpPr>
        <p:spPr>
          <a:xfrm>
            <a:off x="6853428" y="1901952"/>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The trainer/administrator displays the digital attendance QR code from the SSG portal.</a:t>
            </a:r>
          </a:p>
        </p:txBody>
      </p:sp>
      <p:sp>
        <p:nvSpPr>
          <p:cNvPr id="17" name="Rectangle 16"/>
          <p:cNvSpPr/>
          <p:nvPr/>
        </p:nvSpPr>
        <p:spPr>
          <a:xfrm>
            <a:off x="777240" y="4059936"/>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59936"/>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4919472"/>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3</a:t>
            </a:r>
          </a:p>
        </p:txBody>
      </p:sp>
      <p:sp>
        <p:nvSpPr>
          <p:cNvPr id="21" name="TextBox 20"/>
          <p:cNvSpPr txBox="1"/>
          <p:nvPr/>
        </p:nvSpPr>
        <p:spPr>
          <a:xfrm>
            <a:off x="1453896" y="4133088"/>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Scan the QR code with your mobile phone camera and submit your attendance.</a:t>
            </a:r>
          </a:p>
        </p:txBody>
      </p:sp>
      <p:sp>
        <p:nvSpPr>
          <p:cNvPr id="22" name="Rectangle 21"/>
          <p:cNvSpPr/>
          <p:nvPr/>
        </p:nvSpPr>
        <p:spPr>
          <a:xfrm>
            <a:off x="6176772" y="4059936"/>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6772" y="4059936"/>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359652" y="4919472"/>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9652" y="4937760"/>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4</a:t>
            </a:r>
          </a:p>
        </p:txBody>
      </p:sp>
      <p:sp>
        <p:nvSpPr>
          <p:cNvPr id="26" name="TextBox 25"/>
          <p:cNvSpPr txBox="1"/>
          <p:nvPr/>
        </p:nvSpPr>
        <p:spPr>
          <a:xfrm>
            <a:off x="6853428" y="4133088"/>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A minimum of 75% attendance is required to be eligible for assessment and funding.</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YOUR TRAINER · GENERAL</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About the Trainer</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a:spAutoFit/>
          </a:bodyPr>
          <a:lstStyle/>
          <a:p>
            <a:pPr algn="ctr">
              <a:spcAft>
                <a:spcPts val="400"/>
              </a:spcAft>
            </a:pPr>
            <a:r>
              <a:rPr sz="4400" b="1">
                <a:solidFill>
                  <a:srgbClr val="FFFFFF"/>
                </a:solidFill>
                <a:latin typeface="Arial"/>
              </a:rPr>
              <a:t>?</a:t>
            </a:r>
          </a:p>
        </p:txBody>
      </p:sp>
      <p:sp>
        <p:nvSpPr>
          <p:cNvPr id="11" name="TextBox 10"/>
          <p:cNvSpPr txBox="1"/>
          <p:nvPr/>
        </p:nvSpPr>
        <p:spPr>
          <a:xfrm>
            <a:off x="914400" y="4160520"/>
            <a:ext cx="3063240" cy="548640"/>
          </a:xfrm>
          <a:prstGeom prst="rect">
            <a:avLst/>
          </a:prstGeom>
          <a:noFill/>
        </p:spPr>
        <p:txBody>
          <a:bodyPr wrap="square" anchor="t">
            <a:spAutoFit/>
          </a:bodyPr>
          <a:lstStyle/>
          <a:p>
            <a:pPr algn="ctr">
              <a:spcAft>
                <a:spcPts val="400"/>
              </a:spcAft>
            </a:pPr>
            <a:r>
              <a:rPr sz="2100" b="1">
                <a:solidFill>
                  <a:srgbClr val="E8E6DD"/>
                </a:solidFill>
                <a:latin typeface="Arial"/>
              </a:rPr>
              <a:t>Your Trainer</a:t>
            </a:r>
          </a:p>
        </p:txBody>
      </p:sp>
      <p:sp>
        <p:nvSpPr>
          <p:cNvPr id="12" name="TextBox 11"/>
          <p:cNvSpPr txBox="1"/>
          <p:nvPr/>
        </p:nvSpPr>
        <p:spPr>
          <a:xfrm>
            <a:off x="914400" y="4754880"/>
            <a:ext cx="3063240" cy="1097280"/>
          </a:xfrm>
          <a:prstGeom prst="rect">
            <a:avLst/>
          </a:prstGeom>
          <a:noFill/>
        </p:spPr>
        <p:txBody>
          <a:bodyPr wrap="square" anchor="t">
            <a:spAutoFit/>
          </a:bodyPr>
          <a:lstStyle/>
          <a:p>
            <a:pPr algn="ctr">
              <a:spcAft>
                <a:spcPts val="400"/>
              </a:spcAft>
            </a:pPr>
            <a:r>
              <a:rPr sz="1300" b="0">
                <a:solidFill>
                  <a:srgbClr val="8A8D86"/>
                </a:solidFill>
                <a:latin typeface="Arial"/>
              </a:rPr>
              <a:t>General Trainer template —
to be completed by the trainer</a:t>
            </a:r>
          </a:p>
        </p:txBody>
      </p:sp>
      <p:sp>
        <p:nvSpPr>
          <p:cNvPr id="13" name="Rectangle 12"/>
          <p:cNvSpPr/>
          <p:nvPr/>
        </p:nvSpPr>
        <p:spPr>
          <a:xfrm>
            <a:off x="4480560" y="1783080"/>
            <a:ext cx="6949440" cy="5638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563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400800" cy="563880"/>
          </a:xfrm>
          <a:prstGeom prst="rect">
            <a:avLst/>
          </a:prstGeom>
          <a:noFill/>
        </p:spPr>
        <p:txBody>
          <a:bodyPr wrap="square" anchor="ctr">
            <a:spAutoFit/>
          </a:bodyPr>
          <a:lstStyle/>
          <a:p>
            <a:pPr algn="l">
              <a:spcAft>
                <a:spcPts val="300"/>
              </a:spcAft>
            </a:pPr>
            <a:r>
              <a:rPr sz="1100" b="1">
                <a:solidFill>
                  <a:srgbClr val="1F6FEB"/>
                </a:solidFill>
                <a:latin typeface="Arial"/>
              </a:rPr>
              <a:t>NAME</a:t>
            </a:r>
          </a:p>
          <a:p>
            <a:pPr algn="l">
              <a:spcAft>
                <a:spcPts val="300"/>
              </a:spcAft>
            </a:pPr>
            <a:r>
              <a:rPr sz="1300" b="0">
                <a:solidFill>
                  <a:srgbClr val="2A2C28"/>
                </a:solidFill>
                <a:latin typeface="Arial"/>
              </a:rPr>
              <a:t>____________________________________________</a:t>
            </a:r>
          </a:p>
        </p:txBody>
      </p:sp>
      <p:sp>
        <p:nvSpPr>
          <p:cNvPr id="16" name="Rectangle 15"/>
          <p:cNvSpPr/>
          <p:nvPr/>
        </p:nvSpPr>
        <p:spPr>
          <a:xfrm>
            <a:off x="4480560" y="2529840"/>
            <a:ext cx="6949440" cy="5638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529840"/>
            <a:ext cx="91440" cy="563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529840"/>
            <a:ext cx="6400800" cy="563880"/>
          </a:xfrm>
          <a:prstGeom prst="rect">
            <a:avLst/>
          </a:prstGeom>
          <a:noFill/>
        </p:spPr>
        <p:txBody>
          <a:bodyPr wrap="square" anchor="ctr">
            <a:spAutoFit/>
          </a:bodyPr>
          <a:lstStyle/>
          <a:p>
            <a:pPr algn="l">
              <a:spcAft>
                <a:spcPts val="300"/>
              </a:spcAft>
            </a:pPr>
            <a:r>
              <a:rPr sz="1100" b="1">
                <a:solidFill>
                  <a:srgbClr val="10B981"/>
                </a:solidFill>
                <a:latin typeface="Arial"/>
              </a:rPr>
              <a:t>TITLE / DESIGNATION</a:t>
            </a:r>
          </a:p>
          <a:p>
            <a:pPr algn="l">
              <a:spcAft>
                <a:spcPts val="300"/>
              </a:spcAft>
            </a:pPr>
            <a:r>
              <a:rPr sz="1300" b="0">
                <a:solidFill>
                  <a:srgbClr val="2A2C28"/>
                </a:solidFill>
                <a:latin typeface="Arial"/>
              </a:rPr>
              <a:t>____________________________________________</a:t>
            </a:r>
          </a:p>
        </p:txBody>
      </p:sp>
      <p:sp>
        <p:nvSpPr>
          <p:cNvPr id="19" name="Rectangle 18"/>
          <p:cNvSpPr/>
          <p:nvPr/>
        </p:nvSpPr>
        <p:spPr>
          <a:xfrm>
            <a:off x="4480560" y="3276600"/>
            <a:ext cx="6949440" cy="5638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3276600"/>
            <a:ext cx="91440" cy="563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3276600"/>
            <a:ext cx="6400800" cy="563880"/>
          </a:xfrm>
          <a:prstGeom prst="rect">
            <a:avLst/>
          </a:prstGeom>
          <a:noFill/>
        </p:spPr>
        <p:txBody>
          <a:bodyPr wrap="square" anchor="ctr">
            <a:spAutoFit/>
          </a:bodyPr>
          <a:lstStyle/>
          <a:p>
            <a:pPr algn="l">
              <a:spcAft>
                <a:spcPts val="300"/>
              </a:spcAft>
            </a:pPr>
            <a:r>
              <a:rPr sz="1100" b="1">
                <a:solidFill>
                  <a:srgbClr val="7C3AED"/>
                </a:solidFill>
                <a:latin typeface="Arial"/>
              </a:rPr>
              <a:t>QUALIFICATIONS</a:t>
            </a:r>
          </a:p>
          <a:p>
            <a:pPr algn="l">
              <a:spcAft>
                <a:spcPts val="300"/>
              </a:spcAft>
            </a:pPr>
            <a:r>
              <a:rPr sz="1300" b="0">
                <a:solidFill>
                  <a:srgbClr val="2A2C28"/>
                </a:solidFill>
                <a:latin typeface="Arial"/>
              </a:rPr>
              <a:t>____________________________________________</a:t>
            </a:r>
          </a:p>
        </p:txBody>
      </p:sp>
      <p:sp>
        <p:nvSpPr>
          <p:cNvPr id="22" name="Rectangle 21"/>
          <p:cNvSpPr/>
          <p:nvPr/>
        </p:nvSpPr>
        <p:spPr>
          <a:xfrm>
            <a:off x="4480560" y="4023360"/>
            <a:ext cx="6949440" cy="5638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4023360"/>
            <a:ext cx="91440" cy="563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4023360"/>
            <a:ext cx="6400800" cy="563880"/>
          </a:xfrm>
          <a:prstGeom prst="rect">
            <a:avLst/>
          </a:prstGeom>
          <a:noFill/>
        </p:spPr>
        <p:txBody>
          <a:bodyPr wrap="square" anchor="ctr">
            <a:spAutoFit/>
          </a:bodyPr>
          <a:lstStyle/>
          <a:p>
            <a:pPr algn="l">
              <a:spcAft>
                <a:spcPts val="300"/>
              </a:spcAft>
            </a:pPr>
            <a:r>
              <a:rPr sz="1100" b="1">
                <a:solidFill>
                  <a:srgbClr val="F59E0B"/>
                </a:solidFill>
                <a:latin typeface="Arial"/>
              </a:rPr>
              <a:t>AREAS OF EXPERTISE</a:t>
            </a:r>
          </a:p>
          <a:p>
            <a:pPr algn="l">
              <a:spcAft>
                <a:spcPts val="300"/>
              </a:spcAft>
            </a:pPr>
            <a:r>
              <a:rPr sz="1300" b="0">
                <a:solidFill>
                  <a:srgbClr val="2A2C28"/>
                </a:solidFill>
                <a:latin typeface="Arial"/>
              </a:rPr>
              <a:t>____________________________________________</a:t>
            </a:r>
          </a:p>
        </p:txBody>
      </p:sp>
      <p:sp>
        <p:nvSpPr>
          <p:cNvPr id="25" name="Rectangle 24"/>
          <p:cNvSpPr/>
          <p:nvPr/>
        </p:nvSpPr>
        <p:spPr>
          <a:xfrm>
            <a:off x="4480560" y="4770120"/>
            <a:ext cx="6949440" cy="5638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0560" y="4770120"/>
            <a:ext cx="91440" cy="563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73168" y="4770120"/>
            <a:ext cx="6400800" cy="563880"/>
          </a:xfrm>
          <a:prstGeom prst="rect">
            <a:avLst/>
          </a:prstGeom>
          <a:noFill/>
        </p:spPr>
        <p:txBody>
          <a:bodyPr wrap="square" anchor="ctr">
            <a:spAutoFit/>
          </a:bodyPr>
          <a:lstStyle/>
          <a:p>
            <a:pPr algn="l">
              <a:spcAft>
                <a:spcPts val="300"/>
              </a:spcAft>
            </a:pPr>
            <a:r>
              <a:rPr sz="1100" b="1">
                <a:solidFill>
                  <a:srgbClr val="1F6FEB"/>
                </a:solidFill>
                <a:latin typeface="Arial"/>
              </a:rPr>
              <a:t>TRAINING &amp; INDUSTRY EXPERIENCE</a:t>
            </a:r>
          </a:p>
          <a:p>
            <a:pPr algn="l">
              <a:spcAft>
                <a:spcPts val="300"/>
              </a:spcAft>
            </a:pPr>
            <a:r>
              <a:rPr sz="1300" b="0">
                <a:solidFill>
                  <a:srgbClr val="2A2C28"/>
                </a:solidFill>
                <a:latin typeface="Arial"/>
              </a:rPr>
              <a:t>____________________________________________</a:t>
            </a:r>
          </a:p>
        </p:txBody>
      </p:sp>
      <p:sp>
        <p:nvSpPr>
          <p:cNvPr id="28" name="Rectangle 27"/>
          <p:cNvSpPr/>
          <p:nvPr/>
        </p:nvSpPr>
        <p:spPr>
          <a:xfrm>
            <a:off x="4480560" y="5516880"/>
            <a:ext cx="6949440" cy="5638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480560" y="5516880"/>
            <a:ext cx="91440" cy="563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773168" y="5516880"/>
            <a:ext cx="6400800" cy="563880"/>
          </a:xfrm>
          <a:prstGeom prst="rect">
            <a:avLst/>
          </a:prstGeom>
          <a:noFill/>
        </p:spPr>
        <p:txBody>
          <a:bodyPr wrap="square" anchor="ctr">
            <a:spAutoFit/>
          </a:bodyPr>
          <a:lstStyle/>
          <a:p>
            <a:pPr algn="l">
              <a:spcAft>
                <a:spcPts val="300"/>
              </a:spcAft>
            </a:pPr>
            <a:r>
              <a:rPr sz="1100" b="1">
                <a:solidFill>
                  <a:srgbClr val="10B981"/>
                </a:solidFill>
                <a:latin typeface="Arial"/>
              </a:rPr>
              <a:t>CONTACT</a:t>
            </a:r>
          </a:p>
          <a:p>
            <a:pPr algn="l">
              <a:spcAft>
                <a:spcPts val="300"/>
              </a:spcAft>
            </a:pPr>
            <a:r>
              <a:rPr sz="1300" b="0">
                <a:solidFill>
                  <a:srgbClr val="2A2C28"/>
                </a:solidFill>
                <a:latin typeface="Arial"/>
              </a:rPr>
              <a:t>____________________________________________</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YOUR TRAINER</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About the Trainer</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a:spAutoFit/>
          </a:bodyPr>
          <a:lstStyle/>
          <a:p>
            <a:pPr algn="ctr">
              <a:spcAft>
                <a:spcPts val="400"/>
              </a:spcAft>
            </a:pPr>
            <a:r>
              <a:rPr sz="4400" b="1">
                <a:solidFill>
                  <a:srgbClr val="FFFFFF"/>
                </a:solidFill>
                <a:latin typeface="Arial"/>
              </a:rPr>
              <a:t>AA</a:t>
            </a:r>
          </a:p>
        </p:txBody>
      </p:sp>
      <p:sp>
        <p:nvSpPr>
          <p:cNvPr id="11" name="TextBox 10"/>
          <p:cNvSpPr txBox="1"/>
          <p:nvPr/>
        </p:nvSpPr>
        <p:spPr>
          <a:xfrm>
            <a:off x="914400" y="4160520"/>
            <a:ext cx="3063240" cy="548640"/>
          </a:xfrm>
          <a:prstGeom prst="rect">
            <a:avLst/>
          </a:prstGeom>
          <a:noFill/>
        </p:spPr>
        <p:txBody>
          <a:bodyPr wrap="square" anchor="t">
            <a:spAutoFit/>
          </a:bodyPr>
          <a:lstStyle/>
          <a:p>
            <a:pPr algn="ctr">
              <a:spcAft>
                <a:spcPts val="400"/>
              </a:spcAft>
            </a:pPr>
            <a:r>
              <a:rPr sz="2100" b="1">
                <a:solidFill>
                  <a:srgbClr val="E8E6DD"/>
                </a:solidFill>
                <a:latin typeface="Arial"/>
              </a:rPr>
              <a:t>Dr. Alfred Ang</a:t>
            </a:r>
          </a:p>
        </p:txBody>
      </p:sp>
      <p:sp>
        <p:nvSpPr>
          <p:cNvPr id="12" name="TextBox 11"/>
          <p:cNvSpPr txBox="1"/>
          <p:nvPr/>
        </p:nvSpPr>
        <p:spPr>
          <a:xfrm>
            <a:off x="914400" y="4754880"/>
            <a:ext cx="3063240" cy="1097280"/>
          </a:xfrm>
          <a:prstGeom prst="rect">
            <a:avLst/>
          </a:prstGeom>
          <a:noFill/>
        </p:spPr>
        <p:txBody>
          <a:bodyPr wrap="square" anchor="t">
            <a:spAutoFit/>
          </a:bodyPr>
          <a:lstStyle/>
          <a:p>
            <a:pPr algn="ctr">
              <a:spcAft>
                <a:spcPts val="400"/>
              </a:spcAft>
            </a:pPr>
            <a:r>
              <a:rPr sz="1300" b="0">
                <a:solidFill>
                  <a:srgbClr val="8A8D86"/>
                </a:solidFill>
                <a:latin typeface="Arial"/>
              </a:rPr>
              <a:t>Principal Trainer
Tertiary Infotech Academy Pte. Ltd.</a:t>
            </a:r>
          </a:p>
        </p:txBody>
      </p:sp>
      <p:sp>
        <p:nvSpPr>
          <p:cNvPr id="13" name="Rectangle 12"/>
          <p:cNvSpPr/>
          <p:nvPr/>
        </p:nvSpPr>
        <p:spPr>
          <a:xfrm>
            <a:off x="4480560" y="1783080"/>
            <a:ext cx="6949440" cy="9372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9372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400800" cy="937260"/>
          </a:xfrm>
          <a:prstGeom prst="rect">
            <a:avLst/>
          </a:prstGeom>
          <a:noFill/>
        </p:spPr>
        <p:txBody>
          <a:bodyPr wrap="square" anchor="ctr">
            <a:spAutoFit/>
          </a:bodyPr>
          <a:lstStyle/>
          <a:p>
            <a:pPr algn="l">
              <a:spcAft>
                <a:spcPts val="300"/>
              </a:spcAft>
            </a:pPr>
            <a:r>
              <a:rPr sz="1100" b="1">
                <a:solidFill>
                  <a:srgbClr val="1F6FEB"/>
                </a:solidFill>
                <a:latin typeface="Arial"/>
              </a:rPr>
              <a:t>ROLE</a:t>
            </a:r>
          </a:p>
          <a:p>
            <a:pPr algn="l">
              <a:spcAft>
                <a:spcPts val="300"/>
              </a:spcAft>
            </a:pPr>
            <a:r>
              <a:rPr sz="1400" b="0">
                <a:solidFill>
                  <a:srgbClr val="E8E6DD"/>
                </a:solidFill>
                <a:latin typeface="Arial"/>
              </a:rPr>
              <a:t>Principal Trainer, Tertiary Infotech Academy Pte. Ltd.</a:t>
            </a:r>
          </a:p>
        </p:txBody>
      </p:sp>
      <p:sp>
        <p:nvSpPr>
          <p:cNvPr id="16" name="Rectangle 15"/>
          <p:cNvSpPr/>
          <p:nvPr/>
        </p:nvSpPr>
        <p:spPr>
          <a:xfrm>
            <a:off x="4480560" y="2903220"/>
            <a:ext cx="6949440" cy="9372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903220"/>
            <a:ext cx="91440" cy="9372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903220"/>
            <a:ext cx="6400800" cy="937260"/>
          </a:xfrm>
          <a:prstGeom prst="rect">
            <a:avLst/>
          </a:prstGeom>
          <a:noFill/>
        </p:spPr>
        <p:txBody>
          <a:bodyPr wrap="square" anchor="ctr">
            <a:spAutoFit/>
          </a:bodyPr>
          <a:lstStyle/>
          <a:p>
            <a:pPr algn="l">
              <a:spcAft>
                <a:spcPts val="300"/>
              </a:spcAft>
            </a:pPr>
            <a:r>
              <a:rPr sz="1100" b="1">
                <a:solidFill>
                  <a:srgbClr val="10B981"/>
                </a:solidFill>
                <a:latin typeface="Arial"/>
              </a:rPr>
              <a:t>CERTIFICATION</a:t>
            </a:r>
          </a:p>
          <a:p>
            <a:pPr algn="l">
              <a:spcAft>
                <a:spcPts val="300"/>
              </a:spcAft>
            </a:pPr>
            <a:r>
              <a:rPr sz="1400" b="0">
                <a:solidFill>
                  <a:srgbClr val="E8E6DD"/>
                </a:solidFill>
                <a:latin typeface="Arial"/>
              </a:rPr>
              <a:t>AI, automation and cloud certified — building autonomous AI agents and agentic workflows.</a:t>
            </a:r>
          </a:p>
        </p:txBody>
      </p:sp>
      <p:sp>
        <p:nvSpPr>
          <p:cNvPr id="19" name="Rectangle 18"/>
          <p:cNvSpPr/>
          <p:nvPr/>
        </p:nvSpPr>
        <p:spPr>
          <a:xfrm>
            <a:off x="4480560" y="4023360"/>
            <a:ext cx="6949440" cy="9372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4023360"/>
            <a:ext cx="91440" cy="9372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4023360"/>
            <a:ext cx="6400800" cy="937260"/>
          </a:xfrm>
          <a:prstGeom prst="rect">
            <a:avLst/>
          </a:prstGeom>
          <a:noFill/>
        </p:spPr>
        <p:txBody>
          <a:bodyPr wrap="square" anchor="ctr">
            <a:spAutoFit/>
          </a:bodyPr>
          <a:lstStyle/>
          <a:p>
            <a:pPr algn="l">
              <a:spcAft>
                <a:spcPts val="300"/>
              </a:spcAft>
            </a:pPr>
            <a:r>
              <a:rPr sz="1100" b="1">
                <a:solidFill>
                  <a:srgbClr val="7C3AED"/>
                </a:solidFill>
                <a:latin typeface="Arial"/>
              </a:rPr>
              <a:t>DELIVERS</a:t>
            </a:r>
          </a:p>
          <a:p>
            <a:pPr algn="l">
              <a:spcAft>
                <a:spcPts val="300"/>
              </a:spcAft>
            </a:pPr>
            <a:r>
              <a:rPr sz="1400" b="0">
                <a:solidFill>
                  <a:srgbClr val="E8E6DD"/>
                </a:solidFill>
                <a:latin typeface="Arial"/>
              </a:rPr>
              <a:t>WSQ courses on AI agents, automation, data engineering and cloud.</a:t>
            </a:r>
          </a:p>
        </p:txBody>
      </p:sp>
      <p:sp>
        <p:nvSpPr>
          <p:cNvPr id="22" name="Rectangle 21"/>
          <p:cNvSpPr/>
          <p:nvPr/>
        </p:nvSpPr>
        <p:spPr>
          <a:xfrm>
            <a:off x="4480560" y="5143500"/>
            <a:ext cx="6949440" cy="9372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5143500"/>
            <a:ext cx="91440" cy="9372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5143500"/>
            <a:ext cx="6400800" cy="937260"/>
          </a:xfrm>
          <a:prstGeom prst="rect">
            <a:avLst/>
          </a:prstGeom>
          <a:noFill/>
        </p:spPr>
        <p:txBody>
          <a:bodyPr wrap="square" anchor="ctr">
            <a:spAutoFit/>
          </a:bodyPr>
          <a:lstStyle/>
          <a:p>
            <a:pPr algn="l">
              <a:spcAft>
                <a:spcPts val="300"/>
              </a:spcAft>
            </a:pPr>
            <a:r>
              <a:rPr sz="1100" b="1">
                <a:solidFill>
                  <a:srgbClr val="F59E0B"/>
                </a:solidFill>
                <a:latin typeface="Arial"/>
              </a:rPr>
              <a:t>FOUNDER</a:t>
            </a:r>
          </a:p>
          <a:p>
            <a:pPr algn="l">
              <a:spcAft>
                <a:spcPts val="300"/>
              </a:spcAft>
            </a:pPr>
            <a:r>
              <a:rPr sz="1400" b="0">
                <a:solidFill>
                  <a:srgbClr val="E8E6DD"/>
                </a:solidFill>
                <a:latin typeface="Arial"/>
              </a:rPr>
              <a:t>Founder and lead instructor at Tertiary Infotech / Tertiary Courses.</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ICE-BREAKER</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Let's Know Each Other</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10634472"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316480"/>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334768"/>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1</a:t>
            </a:r>
          </a:p>
        </p:txBody>
      </p:sp>
      <p:sp>
        <p:nvSpPr>
          <p:cNvPr id="11" name="TextBox 10"/>
          <p:cNvSpPr txBox="1"/>
          <p:nvPr/>
        </p:nvSpPr>
        <p:spPr>
          <a:xfrm>
            <a:off x="1453896" y="1901952"/>
            <a:ext cx="9738360" cy="1176528"/>
          </a:xfrm>
          <a:prstGeom prst="rect">
            <a:avLst/>
          </a:prstGeom>
          <a:noFill/>
        </p:spPr>
        <p:txBody>
          <a:bodyPr wrap="square" anchor="ctr">
            <a:spAutoFit/>
          </a:bodyPr>
          <a:lstStyle/>
          <a:p>
            <a:pPr algn="l">
              <a:spcAft>
                <a:spcPts val="400"/>
              </a:spcAft>
            </a:pPr>
            <a:r>
              <a:rPr sz="1700" b="0">
                <a:solidFill>
                  <a:srgbClr val="E8E6DD"/>
                </a:solidFill>
                <a:latin typeface="Arial"/>
              </a:rPr>
              <a:t>Your name and organisation / role.</a:t>
            </a:r>
          </a:p>
        </p:txBody>
      </p:sp>
      <p:sp>
        <p:nvSpPr>
          <p:cNvPr id="12" name="Rectangle 11"/>
          <p:cNvSpPr/>
          <p:nvPr/>
        </p:nvSpPr>
        <p:spPr>
          <a:xfrm>
            <a:off x="777240" y="3316224"/>
            <a:ext cx="10634472"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316224"/>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60120" y="3803904"/>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3822192"/>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2</a:t>
            </a:r>
          </a:p>
        </p:txBody>
      </p:sp>
      <p:sp>
        <p:nvSpPr>
          <p:cNvPr id="16" name="TextBox 15"/>
          <p:cNvSpPr txBox="1"/>
          <p:nvPr/>
        </p:nvSpPr>
        <p:spPr>
          <a:xfrm>
            <a:off x="1453896" y="3389376"/>
            <a:ext cx="9738360" cy="1176528"/>
          </a:xfrm>
          <a:prstGeom prst="rect">
            <a:avLst/>
          </a:prstGeom>
          <a:noFill/>
        </p:spPr>
        <p:txBody>
          <a:bodyPr wrap="square" anchor="ctr">
            <a:spAutoFit/>
          </a:bodyPr>
          <a:lstStyle/>
          <a:p>
            <a:pPr algn="l">
              <a:spcAft>
                <a:spcPts val="400"/>
              </a:spcAft>
            </a:pPr>
            <a:r>
              <a:rPr sz="1700" b="0">
                <a:solidFill>
                  <a:srgbClr val="E8E6DD"/>
                </a:solidFill>
                <a:latin typeface="Arial"/>
              </a:rPr>
              <a:t>Your experience with AI, automation or coding (if any).</a:t>
            </a:r>
          </a:p>
        </p:txBody>
      </p:sp>
      <p:sp>
        <p:nvSpPr>
          <p:cNvPr id="17" name="Rectangle 16"/>
          <p:cNvSpPr/>
          <p:nvPr/>
        </p:nvSpPr>
        <p:spPr>
          <a:xfrm>
            <a:off x="777240" y="4803648"/>
            <a:ext cx="10634472"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803648"/>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5291328"/>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5309616"/>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3</a:t>
            </a:r>
          </a:p>
        </p:txBody>
      </p:sp>
      <p:sp>
        <p:nvSpPr>
          <p:cNvPr id="21" name="TextBox 20"/>
          <p:cNvSpPr txBox="1"/>
          <p:nvPr/>
        </p:nvSpPr>
        <p:spPr>
          <a:xfrm>
            <a:off x="1453896" y="4876800"/>
            <a:ext cx="9738360" cy="1176528"/>
          </a:xfrm>
          <a:prstGeom prst="rect">
            <a:avLst/>
          </a:prstGeom>
          <a:noFill/>
        </p:spPr>
        <p:txBody>
          <a:bodyPr wrap="square" anchor="ctr">
            <a:spAutoFit/>
          </a:bodyPr>
          <a:lstStyle/>
          <a:p>
            <a:pPr algn="l">
              <a:spcAft>
                <a:spcPts val="400"/>
              </a:spcAft>
            </a:pPr>
            <a:r>
              <a:rPr sz="1700" b="0">
                <a:solidFill>
                  <a:srgbClr val="E8E6DD"/>
                </a:solidFill>
                <a:latin typeface="Arial"/>
              </a:rPr>
              <a:t>What you want to be able to automate with AI agents after this course.</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HOUSEKEEPING</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Ground Rules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152144"/>
          </a:xfrm>
          <a:prstGeom prst="rect">
            <a:avLst/>
          </a:prstGeom>
          <a:noFill/>
        </p:spPr>
        <p:txBody>
          <a:bodyPr wrap="square" anchor="ctr">
            <a:spAutoFit/>
          </a:bodyPr>
          <a:lstStyle/>
          <a:p>
            <a:pPr algn="l">
              <a:spcAft>
                <a:spcPts val="400"/>
              </a:spcAft>
            </a:pPr>
            <a:r>
              <a:rPr sz="1500" b="0">
                <a:solidFill>
                  <a:srgbClr val="E8E6DD"/>
                </a:solidFill>
                <a:latin typeface="Arial"/>
              </a:rPr>
              <a:t>Set your mobile phone to silent mode.</a:t>
            </a:r>
          </a:p>
        </p:txBody>
      </p:sp>
      <p:sp>
        <p:nvSpPr>
          <p:cNvPr id="12" name="Rectangle 11"/>
          <p:cNvSpPr/>
          <p:nvPr/>
        </p:nvSpPr>
        <p:spPr>
          <a:xfrm>
            <a:off x="6231636" y="1783080"/>
            <a:ext cx="5180076" cy="1298448"/>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152144"/>
          </a:xfrm>
          <a:prstGeom prst="rect">
            <a:avLst/>
          </a:prstGeom>
          <a:noFill/>
        </p:spPr>
        <p:txBody>
          <a:bodyPr wrap="square" anchor="ctr">
            <a:spAutoFit/>
          </a:bodyPr>
          <a:lstStyle/>
          <a:p>
            <a:pPr algn="l">
              <a:spcAft>
                <a:spcPts val="400"/>
              </a:spcAft>
            </a:pPr>
            <a:r>
              <a:rPr sz="1500" b="0">
                <a:solidFill>
                  <a:srgbClr val="E8E6DD"/>
                </a:solidFill>
                <a:latin typeface="Arial"/>
              </a:rPr>
              <a:t>Participate actively — no question is too small.</a:t>
            </a:r>
          </a:p>
        </p:txBody>
      </p:sp>
      <p:sp>
        <p:nvSpPr>
          <p:cNvPr id="17" name="Rectangle 16"/>
          <p:cNvSpPr/>
          <p:nvPr/>
        </p:nvSpPr>
        <p:spPr>
          <a:xfrm>
            <a:off x="777240" y="3319272"/>
            <a:ext cx="5180076" cy="1298448"/>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10712"/>
            <a:ext cx="3973068" cy="1152144"/>
          </a:xfrm>
          <a:prstGeom prst="rect">
            <a:avLst/>
          </a:prstGeom>
          <a:noFill/>
        </p:spPr>
        <p:txBody>
          <a:bodyPr wrap="square" anchor="ctr">
            <a:spAutoFit/>
          </a:bodyPr>
          <a:lstStyle/>
          <a:p>
            <a:pPr algn="l">
              <a:spcAft>
                <a:spcPts val="400"/>
              </a:spcAft>
            </a:pPr>
            <a:r>
              <a:rPr sz="1500" b="0">
                <a:solidFill>
                  <a:srgbClr val="E8E6DD"/>
                </a:solidFill>
                <a:latin typeface="Arial"/>
              </a:rPr>
              <a:t>Mutual respect: agree to disagree.</a:t>
            </a:r>
          </a:p>
        </p:txBody>
      </p:sp>
      <p:sp>
        <p:nvSpPr>
          <p:cNvPr id="22" name="Rectangle 21"/>
          <p:cNvSpPr/>
          <p:nvPr/>
        </p:nvSpPr>
        <p:spPr>
          <a:xfrm>
            <a:off x="6231636" y="3319272"/>
            <a:ext cx="5180076" cy="1298448"/>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10712"/>
            <a:ext cx="3973068" cy="1152144"/>
          </a:xfrm>
          <a:prstGeom prst="rect">
            <a:avLst/>
          </a:prstGeom>
          <a:noFill/>
        </p:spPr>
        <p:txBody>
          <a:bodyPr wrap="square" anchor="ctr">
            <a:spAutoFit/>
          </a:bodyPr>
          <a:lstStyle/>
          <a:p>
            <a:pPr algn="l">
              <a:spcAft>
                <a:spcPts val="400"/>
              </a:spcAft>
            </a:pPr>
            <a:r>
              <a:rPr sz="1500" b="0">
                <a:solidFill>
                  <a:srgbClr val="E8E6DD"/>
                </a:solidFill>
                <a:latin typeface="Arial"/>
              </a:rPr>
              <a:t>One conversation at a time.</a:t>
            </a:r>
          </a:p>
        </p:txBody>
      </p:sp>
      <p:sp>
        <p:nvSpPr>
          <p:cNvPr id="27" name="Rectangle 26"/>
          <p:cNvSpPr/>
          <p:nvPr/>
        </p:nvSpPr>
        <p:spPr>
          <a:xfrm>
            <a:off x="777240" y="4855464"/>
            <a:ext cx="5180076" cy="1298448"/>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46904"/>
            <a:ext cx="3973068" cy="1152144"/>
          </a:xfrm>
          <a:prstGeom prst="rect">
            <a:avLst/>
          </a:prstGeom>
          <a:noFill/>
        </p:spPr>
        <p:txBody>
          <a:bodyPr wrap="square" anchor="ctr">
            <a:spAutoFit/>
          </a:bodyPr>
          <a:lstStyle/>
          <a:p>
            <a:pPr algn="l">
              <a:spcAft>
                <a:spcPts val="400"/>
              </a:spcAft>
            </a:pPr>
            <a:r>
              <a:rPr sz="1500" b="0">
                <a:solidFill>
                  <a:srgbClr val="E8E6DD"/>
                </a:solidFill>
                <a:latin typeface="Arial"/>
              </a:rPr>
              <a:t>Be punctual; return from breaks on time.</a:t>
            </a:r>
          </a:p>
        </p:txBody>
      </p:sp>
      <p:sp>
        <p:nvSpPr>
          <p:cNvPr id="32" name="Rectangle 31"/>
          <p:cNvSpPr/>
          <p:nvPr/>
        </p:nvSpPr>
        <p:spPr>
          <a:xfrm>
            <a:off x="6231636" y="4855464"/>
            <a:ext cx="5180076" cy="1298448"/>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46904"/>
            <a:ext cx="3973068" cy="1152144"/>
          </a:xfrm>
          <a:prstGeom prst="rect">
            <a:avLst/>
          </a:prstGeom>
          <a:noFill/>
        </p:spPr>
        <p:txBody>
          <a:bodyPr wrap="square" anchor="ctr">
            <a:spAutoFit/>
          </a:bodyPr>
          <a:lstStyle/>
          <a:p>
            <a:pPr algn="l">
              <a:spcAft>
                <a:spcPts val="400"/>
              </a:spcAft>
            </a:pPr>
            <a:r>
              <a:rPr sz="1500" b="0">
                <a:solidFill>
                  <a:srgbClr val="E8E6DD"/>
                </a:solidFill>
                <a:latin typeface="Arial"/>
              </a:rPr>
              <a:t>75% attendance is required.</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COURSE PORTAL</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Download Course Material</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E8E6DD"/>
                </a:solidFill>
                <a:latin typeface="Arial"/>
              </a:rPr>
              <a:t>Sign in at the LMS-TMS portal</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3" name="Rectangle 12"/>
          <p:cNvSpPr/>
          <p:nvPr/>
        </p:nvSpPr>
        <p:spPr>
          <a:xfrm>
            <a:off x="2966313" y="2331720"/>
            <a:ext cx="1878177" cy="28803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E8E6DD"/>
                </a:solidFill>
                <a:latin typeface="Arial"/>
              </a:rPr>
              <a:t>Open this course from your dashboard</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9" name="Rectangle 18"/>
          <p:cNvSpPr/>
          <p:nvPr/>
        </p:nvSpPr>
        <p:spPr>
          <a:xfrm>
            <a:off x="5155386" y="2331720"/>
            <a:ext cx="1878177" cy="28803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E8E6DD"/>
                </a:solidFill>
                <a:latin typeface="Arial"/>
              </a:rPr>
              <a:t>Go to the Courseware tab</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25" name="Rectangle 24"/>
          <p:cNvSpPr/>
          <p:nvPr/>
        </p:nvSpPr>
        <p:spPr>
          <a:xfrm>
            <a:off x="7344459" y="2331720"/>
            <a:ext cx="1878177" cy="28803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E8E6DD"/>
                </a:solidFill>
                <a:latin typeface="Arial"/>
              </a:rPr>
              <a:t>Download the Slides (PPT/PDF), Learner Guide and Lesson Plan</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1" name="Rectangle 30"/>
          <p:cNvSpPr/>
          <p:nvPr/>
        </p:nvSpPr>
        <p:spPr>
          <a:xfrm>
            <a:off x="9533532" y="2331720"/>
            <a:ext cx="1878177" cy="28803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E8E6DD"/>
                </a:solidFill>
                <a:latin typeface="Arial"/>
              </a:rPr>
              <a:t>Keep them open for the open-book assessment</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7</a:t>
            </a:r>
          </a:p>
        </p:txBody>
      </p:sp>
      <p:sp>
        <p:nvSpPr>
          <p:cNvPr id="39" name="TextBox 38"/>
          <p:cNvSpPr txBox="1"/>
          <p:nvPr/>
        </p:nvSpPr>
        <p:spPr>
          <a:xfrm>
            <a:off x="777240" y="5943600"/>
            <a:ext cx="10607040" cy="365760"/>
          </a:xfrm>
          <a:prstGeom prst="rect">
            <a:avLst/>
          </a:prstGeom>
          <a:noFill/>
        </p:spPr>
        <p:txBody>
          <a:bodyPr wrap="square" anchor="t">
            <a:spAutoFit/>
          </a:bodyPr>
          <a:lstStyle/>
          <a:p>
            <a:pPr algn="ctr">
              <a:spcAft>
                <a:spcPts val="400"/>
              </a:spcAft>
            </a:pPr>
            <a:r>
              <a:rPr sz="1600" b="1">
                <a:solidFill>
                  <a:srgbClr val="F5A623"/>
                </a:solidFill>
                <a:latin typeface="Arial"/>
              </a:rPr>
              <a:t>Portal:  https://lms-tms.tertiaryinfotech.com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SCHEDULE</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Lesson Plan — 2 Days, 8 hours/day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F5A623"/>
                </a:solidFill>
                <a:latin typeface="Arial"/>
              </a:rPr>
              <a:t>Day 1</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F5A623"/>
                </a:solidFill>
                <a:latin typeface="Arial"/>
              </a:rPr>
              <a:t>Day 2</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E8E6DD"/>
                </a:solidFill>
                <a:latin typeface="Arial"/>
              </a:rPr>
              <a:t>•  Day 1 — Hermes Agent (Topic 1) &amp; OpenClaw (Topic 2)</a:t>
            </a:r>
          </a:p>
          <a:p>
            <a:pPr>
              <a:spcAft>
                <a:spcPts val="1000"/>
              </a:spcAft>
            </a:pPr>
            <a:r>
              <a:rPr sz="1400" b="0">
                <a:solidFill>
                  <a:srgbClr val="8A8D86"/>
                </a:solidFill>
                <a:latin typeface="Arial"/>
              </a:rPr>
              <a:t>–  Topic 1: Hermes Agent (Labs 1–14)</a:t>
            </a:r>
          </a:p>
          <a:p>
            <a:pPr>
              <a:spcAft>
                <a:spcPts val="1000"/>
              </a:spcAft>
            </a:pPr>
            <a:r>
              <a:rPr sz="1400" b="0">
                <a:solidFill>
                  <a:srgbClr val="8A8D86"/>
                </a:solidFill>
                <a:latin typeface="Arial"/>
              </a:rPr>
              <a:t>–  Topic 2: OpenClaw (Labs 15–26)</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E8E6DD"/>
                </a:solidFill>
                <a:latin typeface="Arial"/>
              </a:rPr>
              <a:t>•  Day 2 — Paperclip (Topic 3) &amp; Final Assessment</a:t>
            </a:r>
          </a:p>
          <a:p>
            <a:pPr>
              <a:spcAft>
                <a:spcPts val="1000"/>
              </a:spcAft>
            </a:pPr>
            <a:r>
              <a:rPr sz="1400" b="0">
                <a:solidFill>
                  <a:srgbClr val="8A8D86"/>
                </a:solidFill>
                <a:latin typeface="Arial"/>
              </a:rPr>
              <a:t>–  Topic 3: Paperclip (Labs 27–34)</a:t>
            </a:r>
          </a:p>
          <a:p>
            <a:pPr>
              <a:spcAft>
                <a:spcPts val="1000"/>
              </a:spcAft>
            </a:pPr>
            <a:r>
              <a:rPr sz="1400" b="0">
                <a:solidFill>
                  <a:srgbClr val="8A8D86"/>
                </a:solidFill>
                <a:latin typeface="Arial"/>
              </a:rPr>
              <a:t>–  Final Assessment (WA + PP)</a:t>
            </a:r>
          </a:p>
          <a:p>
            <a:pPr>
              <a:spcAft>
                <a:spcPts val="1000"/>
              </a:spcAft>
            </a:pPr>
            <a:r>
              <a:rPr sz="1600" b="0">
                <a:solidFill>
                  <a:srgbClr val="E8E6DD"/>
                </a:solidFill>
                <a:latin typeface="Arial"/>
              </a:rPr>
              <a:t>•  Daily timing</a:t>
            </a:r>
          </a:p>
          <a:p>
            <a:pPr>
              <a:spcAft>
                <a:spcPts val="1000"/>
              </a:spcAft>
            </a:pPr>
            <a:r>
              <a:rPr sz="1400" b="0">
                <a:solidFill>
                  <a:srgbClr val="8A8D86"/>
                </a:solidFill>
                <a:latin typeface="Arial"/>
              </a:rPr>
              <a:t>–  9:30am–6:30pm · 1-hour lunch · tea breaks within</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WHAT YOU'LL ACHIEVE</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Learning Outcomes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E8E6DD"/>
                </a:solidFill>
                <a:latin typeface="Arial"/>
              </a:rPr>
              <a:t>Analyze AI Applications</a:t>
            </a:r>
          </a:p>
          <a:p>
            <a:pPr algn="l">
              <a:spcAft>
                <a:spcPts val="300"/>
              </a:spcAft>
            </a:pPr>
            <a:r>
              <a:rPr sz="1300" b="0">
                <a:solidFill>
                  <a:srgbClr val="8A8D86"/>
                </a:solidFill>
                <a:latin typeface="Arial"/>
              </a:rPr>
              <a:t>Analyse AI (LLM-based) applications across a range of industries to identify their capabilities and limitations.</a:t>
            </a:r>
          </a:p>
        </p:txBody>
      </p:sp>
      <p:sp>
        <p:nvSpPr>
          <p:cNvPr id="12" name="Rectangle 11"/>
          <p:cNvSpPr/>
          <p:nvPr/>
        </p:nvSpPr>
        <p:spPr>
          <a:xfrm>
            <a:off x="6231636" y="1783080"/>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E8E6DD"/>
                </a:solidFill>
                <a:latin typeface="Arial"/>
              </a:rPr>
              <a:t>Design &amp; Chatbot Efficiency</a:t>
            </a:r>
          </a:p>
          <a:p>
            <a:pPr algn="l">
              <a:spcAft>
                <a:spcPts val="300"/>
              </a:spcAft>
            </a:pPr>
            <a:r>
              <a:rPr sz="1300" b="0">
                <a:solidFill>
                  <a:srgbClr val="8A8D86"/>
                </a:solidFill>
                <a:latin typeface="Arial"/>
              </a:rPr>
              <a:t>Establish the relationship between AI algorithm/agent design and chatbot/agent efficiency.</a:t>
            </a:r>
          </a:p>
        </p:txBody>
      </p:sp>
      <p:sp>
        <p:nvSpPr>
          <p:cNvPr id="17" name="Rectangle 16"/>
          <p:cNvSpPr/>
          <p:nvPr/>
        </p:nvSpPr>
        <p:spPr>
          <a:xfrm>
            <a:off x="777240" y="4087368"/>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E8E6DD"/>
                </a:solidFill>
                <a:latin typeface="Arial"/>
              </a:rPr>
              <a:t>Evaluate &amp; Improve RAG</a:t>
            </a:r>
          </a:p>
          <a:p>
            <a:pPr algn="l">
              <a:spcAft>
                <a:spcPts val="300"/>
              </a:spcAft>
            </a:pPr>
            <a:r>
              <a:rPr sz="1300" b="0">
                <a:solidFill>
                  <a:srgbClr val="8A8D86"/>
                </a:solidFill>
                <a:latin typeface="Arial"/>
              </a:rPr>
              <a:t>Evaluate and improve the effectiveness of AI (RAG and agent) applications in product development.</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Briefing for Assessment</a:t>
            </a:r>
          </a:p>
        </p:txBody>
      </p:sp>
      <p:sp>
        <p:nvSpPr>
          <p:cNvPr id="5" name="Rectangle 4"/>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77240" y="1828800"/>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960120" y="2316480"/>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34768"/>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1</a:t>
            </a:r>
          </a:p>
        </p:txBody>
      </p:sp>
      <p:sp>
        <p:nvSpPr>
          <p:cNvPr id="10" name="TextBox 9"/>
          <p:cNvSpPr txBox="1"/>
          <p:nvPr/>
        </p:nvSpPr>
        <p:spPr>
          <a:xfrm>
            <a:off x="1453896" y="1901952"/>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Place phones and other materials under the table or on the floor.</a:t>
            </a:r>
          </a:p>
        </p:txBody>
      </p:sp>
      <p:sp>
        <p:nvSpPr>
          <p:cNvPr id="11" name="Rectangle 10"/>
          <p:cNvSpPr/>
          <p:nvPr/>
        </p:nvSpPr>
        <p:spPr>
          <a:xfrm>
            <a:off x="6176772" y="1828800"/>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76772" y="1828800"/>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359652" y="2316480"/>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9652" y="2334768"/>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2</a:t>
            </a:r>
          </a:p>
        </p:txBody>
      </p:sp>
      <p:sp>
        <p:nvSpPr>
          <p:cNvPr id="15" name="TextBox 14"/>
          <p:cNvSpPr txBox="1"/>
          <p:nvPr/>
        </p:nvSpPr>
        <p:spPr>
          <a:xfrm>
            <a:off x="6853428" y="1901952"/>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No photos or recording of assessment scripts.</a:t>
            </a:r>
          </a:p>
        </p:txBody>
      </p:sp>
      <p:sp>
        <p:nvSpPr>
          <p:cNvPr id="16" name="Rectangle 15"/>
          <p:cNvSpPr/>
          <p:nvPr/>
        </p:nvSpPr>
        <p:spPr>
          <a:xfrm>
            <a:off x="777240" y="3316224"/>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3316224"/>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60120" y="3803904"/>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0120" y="3822192"/>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3</a:t>
            </a:r>
          </a:p>
        </p:txBody>
      </p:sp>
      <p:sp>
        <p:nvSpPr>
          <p:cNvPr id="20" name="TextBox 19"/>
          <p:cNvSpPr txBox="1"/>
          <p:nvPr/>
        </p:nvSpPr>
        <p:spPr>
          <a:xfrm>
            <a:off x="1453896" y="3389376"/>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No discussion during the assessment.</a:t>
            </a:r>
          </a:p>
        </p:txBody>
      </p:sp>
      <p:sp>
        <p:nvSpPr>
          <p:cNvPr id="21" name="Rectangle 20"/>
          <p:cNvSpPr/>
          <p:nvPr/>
        </p:nvSpPr>
        <p:spPr>
          <a:xfrm>
            <a:off x="6176772" y="3316224"/>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76772" y="3316224"/>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359652" y="3803904"/>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59652" y="3822192"/>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4</a:t>
            </a:r>
          </a:p>
        </p:txBody>
      </p:sp>
      <p:sp>
        <p:nvSpPr>
          <p:cNvPr id="25" name="TextBox 24"/>
          <p:cNvSpPr txBox="1"/>
          <p:nvPr/>
        </p:nvSpPr>
        <p:spPr>
          <a:xfrm>
            <a:off x="6853428" y="3389376"/>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Use a black/blue pen for hard-copy assessments.</a:t>
            </a:r>
          </a:p>
        </p:txBody>
      </p:sp>
      <p:sp>
        <p:nvSpPr>
          <p:cNvPr id="26" name="Rectangle 25"/>
          <p:cNvSpPr/>
          <p:nvPr/>
        </p:nvSpPr>
        <p:spPr>
          <a:xfrm>
            <a:off x="777240" y="4803648"/>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77240" y="4803648"/>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60120" y="5291328"/>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60120" y="5309616"/>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5</a:t>
            </a:r>
          </a:p>
        </p:txBody>
      </p:sp>
      <p:sp>
        <p:nvSpPr>
          <p:cNvPr id="30" name="TextBox 29"/>
          <p:cNvSpPr txBox="1"/>
          <p:nvPr/>
        </p:nvSpPr>
        <p:spPr>
          <a:xfrm>
            <a:off x="1453896" y="4876800"/>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No liquid paper / correction tape.</a:t>
            </a:r>
          </a:p>
        </p:txBody>
      </p:sp>
      <p:sp>
        <p:nvSpPr>
          <p:cNvPr id="31" name="Rectangle 30"/>
          <p:cNvSpPr/>
          <p:nvPr/>
        </p:nvSpPr>
        <p:spPr>
          <a:xfrm>
            <a:off x="6176772" y="4803648"/>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176772" y="4803648"/>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359652" y="5291328"/>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59652" y="5309616"/>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6</a:t>
            </a:r>
          </a:p>
        </p:txBody>
      </p:sp>
      <p:sp>
        <p:nvSpPr>
          <p:cNvPr id="35" name="TextBox 34"/>
          <p:cNvSpPr txBox="1"/>
          <p:nvPr/>
        </p:nvSpPr>
        <p:spPr>
          <a:xfrm>
            <a:off x="6853428" y="4876800"/>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Scripts are collected when time is up.</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FINAL ASSESSMENT</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Assessment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316480"/>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334768"/>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1</a:t>
            </a:r>
          </a:p>
        </p:txBody>
      </p:sp>
      <p:sp>
        <p:nvSpPr>
          <p:cNvPr id="11" name="TextBox 10"/>
          <p:cNvSpPr txBox="1"/>
          <p:nvPr/>
        </p:nvSpPr>
        <p:spPr>
          <a:xfrm>
            <a:off x="1453896" y="1901952"/>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Written Assessment (WA) — Short-Answer Questions (SAQ), 1 hour, open book.</a:t>
            </a:r>
          </a:p>
        </p:txBody>
      </p:sp>
      <p:sp>
        <p:nvSpPr>
          <p:cNvPr id="12" name="Rectangle 11"/>
          <p:cNvSpPr/>
          <p:nvPr/>
        </p:nvSpPr>
        <p:spPr>
          <a:xfrm>
            <a:off x="6176772" y="1828800"/>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6772" y="1828800"/>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59652" y="2316480"/>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2" y="2334768"/>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2</a:t>
            </a:r>
          </a:p>
        </p:txBody>
      </p:sp>
      <p:sp>
        <p:nvSpPr>
          <p:cNvPr id="16" name="TextBox 15"/>
          <p:cNvSpPr txBox="1"/>
          <p:nvPr/>
        </p:nvSpPr>
        <p:spPr>
          <a:xfrm>
            <a:off x="6853428" y="1901952"/>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Practical Performance (PP) — hands-on agent-building tasks that follow the course labs, 1 hour, open book.</a:t>
            </a:r>
          </a:p>
        </p:txBody>
      </p:sp>
      <p:sp>
        <p:nvSpPr>
          <p:cNvPr id="17" name="Rectangle 16"/>
          <p:cNvSpPr/>
          <p:nvPr/>
        </p:nvSpPr>
        <p:spPr>
          <a:xfrm>
            <a:off x="777240" y="3316224"/>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6224"/>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3803904"/>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3822192"/>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3</a:t>
            </a:r>
          </a:p>
        </p:txBody>
      </p:sp>
      <p:sp>
        <p:nvSpPr>
          <p:cNvPr id="21" name="TextBox 20"/>
          <p:cNvSpPr txBox="1"/>
          <p:nvPr/>
        </p:nvSpPr>
        <p:spPr>
          <a:xfrm>
            <a:off x="1453896" y="3389376"/>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Format: Open Book — slides, Learner Guide and approved materials only.</a:t>
            </a:r>
          </a:p>
        </p:txBody>
      </p:sp>
      <p:sp>
        <p:nvSpPr>
          <p:cNvPr id="22" name="Rectangle 21"/>
          <p:cNvSpPr/>
          <p:nvPr/>
        </p:nvSpPr>
        <p:spPr>
          <a:xfrm>
            <a:off x="6176772" y="3316224"/>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6772" y="3316224"/>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359652" y="3803904"/>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9652" y="3822192"/>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4</a:t>
            </a:r>
          </a:p>
        </p:txBody>
      </p:sp>
      <p:sp>
        <p:nvSpPr>
          <p:cNvPr id="26" name="TextBox 25"/>
          <p:cNvSpPr txBox="1"/>
          <p:nvPr/>
        </p:nvSpPr>
        <p:spPr>
          <a:xfrm>
            <a:off x="6853428" y="3389376"/>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A minimum of 75% attendance is required to be eligible for assessment and funding.</a:t>
            </a:r>
          </a:p>
        </p:txBody>
      </p:sp>
      <p:sp>
        <p:nvSpPr>
          <p:cNvPr id="27" name="Rectangle 26"/>
          <p:cNvSpPr/>
          <p:nvPr/>
        </p:nvSpPr>
        <p:spPr>
          <a:xfrm>
            <a:off x="777240" y="4803648"/>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03648"/>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60120" y="5291328"/>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60120" y="5309616"/>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5</a:t>
            </a:r>
          </a:p>
        </p:txBody>
      </p:sp>
      <p:sp>
        <p:nvSpPr>
          <p:cNvPr id="31" name="TextBox 30"/>
          <p:cNvSpPr txBox="1"/>
          <p:nvPr/>
        </p:nvSpPr>
        <p:spPr>
          <a:xfrm>
            <a:off x="1453896" y="4876800"/>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An appeal process is available if required.</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ON ASSESSMENT DAY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Assessment Flow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E8E6DD"/>
                </a:solidFill>
                <a:latin typeface="Arial"/>
              </a:rPr>
              <a:t>TRAQOM survey — scan the QR code on the LMS</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3" name="Rectangle 12"/>
          <p:cNvSpPr/>
          <p:nvPr/>
        </p:nvSpPr>
        <p:spPr>
          <a:xfrm>
            <a:off x="2966313" y="2331720"/>
            <a:ext cx="1878177" cy="28803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E8E6DD"/>
                </a:solidFill>
                <a:latin typeface="Arial"/>
              </a:rPr>
              <a:t>Assessment digital attendance — scan the SSG QR</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9" name="Rectangle 18"/>
          <p:cNvSpPr/>
          <p:nvPr/>
        </p:nvSpPr>
        <p:spPr>
          <a:xfrm>
            <a:off x="5155386" y="2331720"/>
            <a:ext cx="1878177" cy="28803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E8E6DD"/>
                </a:solidFill>
                <a:latin typeface="Arial"/>
              </a:rPr>
              <a:t>Sit WA (SAQ) then PP — open book</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25" name="Rectangle 24"/>
          <p:cNvSpPr/>
          <p:nvPr/>
        </p:nvSpPr>
        <p:spPr>
          <a:xfrm>
            <a:off x="7344459" y="2331720"/>
            <a:ext cx="1878177" cy="28803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E8E6DD"/>
                </a:solidFill>
                <a:latin typeface="Arial"/>
              </a:rPr>
              <a:t>Submit your answers on the LMS</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1" name="Rectangle 30"/>
          <p:cNvSpPr/>
          <p:nvPr/>
        </p:nvSpPr>
        <p:spPr>
          <a:xfrm>
            <a:off x="9533532" y="2331720"/>
            <a:ext cx="1878177" cy="28803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E8E6DD"/>
                </a:solidFill>
                <a:latin typeface="Arial"/>
              </a:rPr>
              <a:t>Sign the Assessment Summary Record</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CORE CONCEPTS</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E8E6DD"/>
                </a:solidFill>
                <a:latin typeface="Arial"/>
              </a:rPr>
              <a:t>Autonomous AI Agents Fundamentals</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2A2C28"/>
                </a:solidFill>
                <a:latin typeface="Arial"/>
              </a:rPr>
              <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OVERVIEW</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What is an Autonomous AI Agent?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E8E6DD"/>
                </a:solidFill>
                <a:latin typeface="Arial"/>
              </a:rPr>
              <a:t>Perceive → reason → act → remember</a:t>
            </a:r>
          </a:p>
          <a:p>
            <a:pPr algn="l">
              <a:spcAft>
                <a:spcPts val="300"/>
              </a:spcAft>
            </a:pPr>
            <a:r>
              <a:rPr sz="1300" b="0">
                <a:solidFill>
                  <a:srgbClr val="8A8D86"/>
                </a:solidFill>
                <a:latin typeface="Arial"/>
              </a:rPr>
              <a:t>An LLM-driven loop: it takes in a request, decides what to do, acts, then remembers the outcome.</a:t>
            </a:r>
          </a:p>
        </p:txBody>
      </p:sp>
      <p:sp>
        <p:nvSpPr>
          <p:cNvPr id="12" name="Rectangle 11"/>
          <p:cNvSpPr/>
          <p:nvPr/>
        </p:nvSpPr>
        <p:spPr>
          <a:xfrm>
            <a:off x="6231636" y="1783080"/>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E8E6DD"/>
                </a:solidFill>
                <a:latin typeface="Arial"/>
              </a:rPr>
              <a:t>Uses tools &amp; skills</a:t>
            </a:r>
          </a:p>
          <a:p>
            <a:pPr algn="l">
              <a:spcAft>
                <a:spcPts val="300"/>
              </a:spcAft>
            </a:pPr>
            <a:r>
              <a:rPr sz="1300" b="0">
                <a:solidFill>
                  <a:srgbClr val="8A8D86"/>
                </a:solidFill>
                <a:latin typeface="Arial"/>
              </a:rPr>
              <a:t>It calls web search, images, email, code and integrations — not just chat — to get real work done.</a:t>
            </a:r>
          </a:p>
        </p:txBody>
      </p:sp>
      <p:sp>
        <p:nvSpPr>
          <p:cNvPr id="17" name="Rectangle 16"/>
          <p:cNvSpPr/>
          <p:nvPr/>
        </p:nvSpPr>
        <p:spPr>
          <a:xfrm>
            <a:off x="777240" y="4087368"/>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E8E6DD"/>
                </a:solidFill>
                <a:latin typeface="Arial"/>
              </a:rPr>
              <a:t>Runs across channels</a:t>
            </a:r>
          </a:p>
          <a:p>
            <a:pPr algn="l">
              <a:spcAft>
                <a:spcPts val="300"/>
              </a:spcAft>
            </a:pPr>
            <a:r>
              <a:rPr sz="1300" b="0">
                <a:solidFill>
                  <a:srgbClr val="8A8D86"/>
                </a:solidFill>
                <a:latin typeface="Arial"/>
              </a:rPr>
              <a:t>The same agent is reachable on Telegram, WhatsApp, Discord, Slack and the terminal.</a:t>
            </a:r>
          </a:p>
        </p:txBody>
      </p:sp>
      <p:sp>
        <p:nvSpPr>
          <p:cNvPr id="22" name="Rectangle 21"/>
          <p:cNvSpPr/>
          <p:nvPr/>
        </p:nvSpPr>
        <p:spPr>
          <a:xfrm>
            <a:off x="6231636" y="4087368"/>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E8E6DD"/>
                </a:solidFill>
                <a:latin typeface="Arial"/>
              </a:rPr>
              <a:t>Autonomy under oversight</a:t>
            </a:r>
          </a:p>
          <a:p>
            <a:pPr algn="l">
              <a:spcAft>
                <a:spcPts val="300"/>
              </a:spcAft>
            </a:pPr>
            <a:r>
              <a:rPr sz="1300" b="0">
                <a:solidFill>
                  <a:srgbClr val="8A8D86"/>
                </a:solidFill>
                <a:latin typeface="Arial"/>
              </a:rPr>
              <a:t>It works on its own, but important actions pause for human approval.</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THE BUILDING BLOCKS</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The Agent Stack</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E8E6DD"/>
                </a:solidFill>
                <a:latin typeface="Arial"/>
              </a:rPr>
              <a:t>Model / LLM</a:t>
            </a:r>
          </a:p>
          <a:p>
            <a:pPr algn="l">
              <a:spcAft>
                <a:spcPts val="300"/>
              </a:spcAft>
            </a:pPr>
            <a:r>
              <a:rPr sz="1200" b="0">
                <a:solidFill>
                  <a:srgbClr val="8A8D86"/>
                </a:solidFill>
                <a:latin typeface="Arial"/>
              </a:rPr>
              <a:t>The reasoning engine — Claude, OpenAI, OpenRouter, MiniMax or DeepSeek.</a:t>
            </a:r>
          </a:p>
        </p:txBody>
      </p:sp>
      <p:sp>
        <p:nvSpPr>
          <p:cNvPr id="12" name="Rectangle 11"/>
          <p:cNvSpPr/>
          <p:nvPr/>
        </p:nvSpPr>
        <p:spPr>
          <a:xfrm>
            <a:off x="6231636" y="1783080"/>
            <a:ext cx="5180076" cy="1298448"/>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E8E6DD"/>
                </a:solidFill>
                <a:latin typeface="Arial"/>
              </a:rPr>
              <a:t>Memory</a:t>
            </a:r>
          </a:p>
          <a:p>
            <a:pPr algn="l">
              <a:spcAft>
                <a:spcPts val="300"/>
              </a:spcAft>
            </a:pPr>
            <a:r>
              <a:rPr sz="1200" b="0">
                <a:solidFill>
                  <a:srgbClr val="8A8D86"/>
                </a:solidFill>
                <a:latin typeface="Arial"/>
              </a:rPr>
              <a:t>Durable, user- or company-scoped recall across sessions and surfaces.</a:t>
            </a:r>
          </a:p>
        </p:txBody>
      </p:sp>
      <p:sp>
        <p:nvSpPr>
          <p:cNvPr id="17" name="Rectangle 16"/>
          <p:cNvSpPr/>
          <p:nvPr/>
        </p:nvSpPr>
        <p:spPr>
          <a:xfrm>
            <a:off x="777240" y="3319272"/>
            <a:ext cx="5180076" cy="1298448"/>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E8E6DD"/>
                </a:solidFill>
                <a:latin typeface="Arial"/>
              </a:rPr>
              <a:t>Skills &amp; Tools</a:t>
            </a:r>
          </a:p>
          <a:p>
            <a:pPr algn="l">
              <a:spcAft>
                <a:spcPts val="300"/>
              </a:spcAft>
            </a:pPr>
            <a:r>
              <a:rPr sz="1200" b="0">
                <a:solidFill>
                  <a:srgbClr val="8A8D86"/>
                </a:solidFill>
                <a:latin typeface="Arial"/>
              </a:rPr>
              <a:t>Reusable capabilities plus tool and third-party integration calls.</a:t>
            </a:r>
          </a:p>
        </p:txBody>
      </p:sp>
      <p:sp>
        <p:nvSpPr>
          <p:cNvPr id="22" name="Rectangle 21"/>
          <p:cNvSpPr/>
          <p:nvPr/>
        </p:nvSpPr>
        <p:spPr>
          <a:xfrm>
            <a:off x="6231636" y="3319272"/>
            <a:ext cx="5180076" cy="1298448"/>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E8E6DD"/>
                </a:solidFill>
                <a:latin typeface="Arial"/>
              </a:rPr>
              <a:t>Channels</a:t>
            </a:r>
          </a:p>
          <a:p>
            <a:pPr algn="l">
              <a:spcAft>
                <a:spcPts val="300"/>
              </a:spcAft>
            </a:pPr>
            <a:r>
              <a:rPr sz="1200" b="0">
                <a:solidFill>
                  <a:srgbClr val="8A8D86"/>
                </a:solidFill>
                <a:latin typeface="Arial"/>
              </a:rPr>
              <a:t>Where the agent meets people: Telegram, WhatsApp, Discord, Slack.</a:t>
            </a:r>
          </a:p>
        </p:txBody>
      </p:sp>
      <p:sp>
        <p:nvSpPr>
          <p:cNvPr id="27" name="Rectangle 26"/>
          <p:cNvSpPr/>
          <p:nvPr/>
        </p:nvSpPr>
        <p:spPr>
          <a:xfrm>
            <a:off x="777240" y="4855464"/>
            <a:ext cx="5180076" cy="1298448"/>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E8E6DD"/>
                </a:solidFill>
                <a:latin typeface="Arial"/>
              </a:rPr>
              <a:t>Scheduler &amp; Security</a:t>
            </a:r>
          </a:p>
          <a:p>
            <a:pPr algn="l">
              <a:spcAft>
                <a:spcPts val="300"/>
              </a:spcAft>
            </a:pPr>
            <a:r>
              <a:rPr sz="1200" b="0">
                <a:solidFill>
                  <a:srgbClr val="8A8D86"/>
                </a:solidFill>
                <a:latin typeface="Arial"/>
              </a:rPr>
              <a:t>Crons and a heartbeat automate work; sandboxes, budgets and approvals contain it.</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HUMAN-IN-THE-LOOP GOVERNANCE</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E8E6DD"/>
                </a:solidFill>
                <a:latin typeface="Arial"/>
              </a:rPr>
              <a:t>Powerful, but always under human oversight.</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8A8D86"/>
                </a:solidFill>
                <a:latin typeface="Arial"/>
              </a:rPr>
              <a:t>Approvals gate risky actions, budgets cap spend (warn at 80%, pause at 100%), and sandboxes isolate execution — so an agent stays safe as it scales.</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WHAT YOU'LL BUILD</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Three Platforms, One Skillset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Hermes Agent</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E8E6DD"/>
                </a:solidFill>
                <a:latin typeface="Arial"/>
              </a:rPr>
              <a:t>•  Your personal chief-of-staff</a:t>
            </a:r>
          </a:p>
          <a:p>
            <a:pPr>
              <a:spcAft>
                <a:spcPts val="900"/>
              </a:spcAft>
            </a:pPr>
            <a:r>
              <a:rPr sz="1400" b="0">
                <a:solidFill>
                  <a:srgbClr val="E8E6DD"/>
                </a:solidFill>
                <a:latin typeface="Arial"/>
              </a:rPr>
              <a:t>•  Lives across your messaging apps</a:t>
            </a:r>
          </a:p>
          <a:p>
            <a:pPr>
              <a:spcAft>
                <a:spcPts val="900"/>
              </a:spcAft>
            </a:pPr>
            <a:r>
              <a:rPr sz="1400" b="0">
                <a:solidFill>
                  <a:srgbClr val="E8E6DD"/>
                </a:solidFill>
                <a:latin typeface="Arial"/>
              </a:rPr>
              <a:t>•  Cross-channel, memory, crons</a:t>
            </a:r>
          </a:p>
        </p:txBody>
      </p:sp>
      <p:sp>
        <p:nvSpPr>
          <p:cNvPr id="11" name="Rectangle 10"/>
          <p:cNvSpPr/>
          <p:nvPr/>
        </p:nvSpPr>
        <p:spPr>
          <a:xfrm>
            <a:off x="4572000" y="1783080"/>
            <a:ext cx="333756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OpenClaw</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E8E6DD"/>
                </a:solidFill>
                <a:latin typeface="Arial"/>
              </a:rPr>
              <a:t>•  Automates a business back-office</a:t>
            </a:r>
          </a:p>
          <a:p>
            <a:pPr>
              <a:spcAft>
                <a:spcPts val="900"/>
              </a:spcAft>
            </a:pPr>
            <a:r>
              <a:rPr sz="1400" b="0">
                <a:solidFill>
                  <a:srgbClr val="E8E6DD"/>
                </a:solidFill>
                <a:latin typeface="Arial"/>
              </a:rPr>
              <a:t>•  Node.js gateway daemon</a:t>
            </a:r>
          </a:p>
          <a:p>
            <a:pPr>
              <a:spcAft>
                <a:spcPts val="900"/>
              </a:spcAft>
            </a:pPr>
            <a:r>
              <a:rPr sz="1400" b="0">
                <a:solidFill>
                  <a:srgbClr val="E8E6DD"/>
                </a:solidFill>
                <a:latin typeface="Arial"/>
              </a:rPr>
              <a:t>•  Skills, tools, nightly reports</a:t>
            </a:r>
          </a:p>
        </p:txBody>
      </p:sp>
      <p:sp>
        <p:nvSpPr>
          <p:cNvPr id="15" name="Rectangle 14"/>
          <p:cNvSpPr/>
          <p:nvPr/>
        </p:nvSpPr>
        <p:spPr>
          <a:xfrm>
            <a:off x="8366760" y="1783080"/>
            <a:ext cx="333756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Paperclip</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E8E6DD"/>
                </a:solidFill>
                <a:latin typeface="Arial"/>
              </a:rPr>
              <a:t>•  A company of AI agents you govern</a:t>
            </a:r>
          </a:p>
          <a:p>
            <a:pPr>
              <a:spcAft>
                <a:spcPts val="900"/>
              </a:spcAft>
            </a:pPr>
            <a:r>
              <a:rPr sz="1400" b="0">
                <a:solidFill>
                  <a:srgbClr val="E8E6DD"/>
                </a:solidFill>
                <a:latin typeface="Arial"/>
              </a:rPr>
              <a:t>•  Self-hosted with Docker</a:t>
            </a:r>
          </a:p>
          <a:p>
            <a:pPr>
              <a:spcAft>
                <a:spcPts val="900"/>
              </a:spcAft>
            </a:pPr>
            <a:r>
              <a:rPr sz="1400" b="0">
                <a:solidFill>
                  <a:srgbClr val="E8E6DD"/>
                </a:solidFill>
                <a:latin typeface="Arial"/>
              </a:rPr>
              <a:t>•  Hiring, budgets, audit trail</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HOW EVERY LAB PROGRESSES</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The Build Arc</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316480"/>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334768"/>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1</a:t>
            </a:r>
          </a:p>
        </p:txBody>
      </p:sp>
      <p:sp>
        <p:nvSpPr>
          <p:cNvPr id="11" name="TextBox 10"/>
          <p:cNvSpPr txBox="1"/>
          <p:nvPr/>
        </p:nvSpPr>
        <p:spPr>
          <a:xfrm>
            <a:off x="1453896" y="1901952"/>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Install the runtime → connect a model → add channels → give it memory.</a:t>
            </a:r>
          </a:p>
        </p:txBody>
      </p:sp>
      <p:sp>
        <p:nvSpPr>
          <p:cNvPr id="12" name="Rectangle 11"/>
          <p:cNvSpPr/>
          <p:nvPr/>
        </p:nvSpPr>
        <p:spPr>
          <a:xfrm>
            <a:off x="6176772" y="1828800"/>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6772" y="1828800"/>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59652" y="2316480"/>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2" y="2334768"/>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2</a:t>
            </a:r>
          </a:p>
        </p:txBody>
      </p:sp>
      <p:sp>
        <p:nvSpPr>
          <p:cNvPr id="16" name="TextBox 15"/>
          <p:cNvSpPr txBox="1"/>
          <p:nvPr/>
        </p:nvSpPr>
        <p:spPr>
          <a:xfrm>
            <a:off x="6853428" y="1901952"/>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Extend it with skills → wire in tools and integrations → schedule work with crons.</a:t>
            </a:r>
          </a:p>
        </p:txBody>
      </p:sp>
      <p:sp>
        <p:nvSpPr>
          <p:cNvPr id="17" name="Rectangle 16"/>
          <p:cNvSpPr/>
          <p:nvPr/>
        </p:nvSpPr>
        <p:spPr>
          <a:xfrm>
            <a:off x="777240" y="3316224"/>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6224"/>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3803904"/>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3822192"/>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3</a:t>
            </a:r>
          </a:p>
        </p:txBody>
      </p:sp>
      <p:sp>
        <p:nvSpPr>
          <p:cNvPr id="21" name="TextBox 20"/>
          <p:cNvSpPr txBox="1"/>
          <p:nvPr/>
        </p:nvSpPr>
        <p:spPr>
          <a:xfrm>
            <a:off x="1453896" y="3389376"/>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Secure it with sandboxing, secrets and approvals → drive it through commands.</a:t>
            </a:r>
          </a:p>
        </p:txBody>
      </p:sp>
      <p:sp>
        <p:nvSpPr>
          <p:cNvPr id="22" name="Rectangle 21"/>
          <p:cNvSpPr/>
          <p:nvPr/>
        </p:nvSpPr>
        <p:spPr>
          <a:xfrm>
            <a:off x="6176772" y="3316224"/>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6772" y="3316224"/>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359652" y="3803904"/>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9652" y="3822192"/>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4</a:t>
            </a:r>
          </a:p>
        </p:txBody>
      </p:sp>
      <p:sp>
        <p:nvSpPr>
          <p:cNvPr id="26" name="TextBox 25"/>
          <p:cNvSpPr txBox="1"/>
          <p:nvPr/>
        </p:nvSpPr>
        <p:spPr>
          <a:xfrm>
            <a:off x="6853428" y="3389376"/>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Finish each platform by orchestrating a multi-agent team for an end-to-end outcome.</a:t>
            </a:r>
          </a:p>
        </p:txBody>
      </p:sp>
      <p:sp>
        <p:nvSpPr>
          <p:cNvPr id="27" name="Rectangle 26"/>
          <p:cNvSpPr/>
          <p:nvPr/>
        </p:nvSpPr>
        <p:spPr>
          <a:xfrm>
            <a:off x="777240" y="4803648"/>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03648"/>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60120" y="5291328"/>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60120" y="5309616"/>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5</a:t>
            </a:r>
          </a:p>
        </p:txBody>
      </p:sp>
      <p:sp>
        <p:nvSpPr>
          <p:cNvPr id="31" name="TextBox 30"/>
          <p:cNvSpPr txBox="1"/>
          <p:nvPr/>
        </p:nvSpPr>
        <p:spPr>
          <a:xfrm>
            <a:off x="1453896" y="4876800"/>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The same arc repeats on Hermes, OpenClaw and Paperclip — so the skillset transfers.</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EA580C"/>
                </a:solidFill>
                <a:latin typeface="Arial"/>
              </a:rPr>
              <a:t>TOPIC 01</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E8E6DD"/>
                </a:solidFill>
                <a:latin typeface="Arial"/>
              </a:rPr>
              <a:t>Hermes Agent — Your Autonomous Personal Chief-of-Staff</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8A8D86"/>
                </a:solidFill>
                <a:latin typeface="Arial"/>
              </a:rPr>
              <a:t>Install &amp; Setup · Deployment · Memory &amp; Plugins · Skills · Providers &amp; Model · MCP &amp; Tools · Crons · Subagents · Profile &amp; Kanban · Security</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2A2C28"/>
                </a:solidFill>
                <a:latin typeface="Arial"/>
              </a:rPr>
              <a:t>01</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EXAM WEIGHTING 33%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E8E6DD"/>
                </a:solidFill>
                <a:latin typeface="Arial"/>
              </a:rPr>
              <a:t>Key Concepts — Hermes Agent — Your Autonomous Personal Chief-of-Staff</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920240"/>
          </a:xfrm>
          <a:prstGeom prst="rect">
            <a:avLst/>
          </a:prstGeom>
          <a:noFill/>
        </p:spPr>
        <p:txBody>
          <a:bodyPr wrap="square" anchor="ctr">
            <a:spAutoFit/>
          </a:bodyPr>
          <a:lstStyle/>
          <a:p>
            <a:pPr algn="l">
              <a:spcAft>
                <a:spcPts val="400"/>
              </a:spcAft>
            </a:pPr>
            <a:r>
              <a:rPr sz="1400" b="0">
                <a:solidFill>
                  <a:srgbClr val="E8E6DD"/>
                </a:solidFill>
                <a:latin typeface="Arial"/>
              </a:rPr>
              <a:t>Hermes Agent (Nous Research) installs on your own machine — via the install script or the Hermes Desktop app — and requires a model with a &gt;=64,000-token context window.</a:t>
            </a:r>
          </a:p>
        </p:txBody>
      </p:sp>
      <p:sp>
        <p:nvSpPr>
          <p:cNvPr id="12" name="Rectangle 11"/>
          <p:cNvSpPr/>
          <p:nvPr/>
        </p:nvSpPr>
        <p:spPr>
          <a:xfrm>
            <a:off x="6231636" y="1783080"/>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920240"/>
          </a:xfrm>
          <a:prstGeom prst="rect">
            <a:avLst/>
          </a:prstGeom>
          <a:noFill/>
        </p:spPr>
        <p:txBody>
          <a:bodyPr wrap="square" anchor="ctr">
            <a:spAutoFit/>
          </a:bodyPr>
          <a:lstStyle/>
          <a:p>
            <a:pPr algn="l">
              <a:spcAft>
                <a:spcPts val="400"/>
              </a:spcAft>
            </a:pPr>
            <a:r>
              <a:rPr sz="1400" b="0">
                <a:solidFill>
                  <a:srgbClr val="E8E6DD"/>
                </a:solidFill>
                <a:latin typeface="Arial"/>
              </a:rPr>
              <a:t>Memory and plugins make the agent stateful and extensible: a three-layer memory (agent-curated notes, FTS5 cross-session recall, Honcho user modelling) plus installable skills and MCP tools.</a:t>
            </a:r>
          </a:p>
        </p:txBody>
      </p:sp>
      <p:sp>
        <p:nvSpPr>
          <p:cNvPr id="17" name="Rectangle 16"/>
          <p:cNvSpPr/>
          <p:nvPr/>
        </p:nvSpPr>
        <p:spPr>
          <a:xfrm>
            <a:off x="777240" y="4087368"/>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178808"/>
            <a:ext cx="3973068" cy="1920240"/>
          </a:xfrm>
          <a:prstGeom prst="rect">
            <a:avLst/>
          </a:prstGeom>
          <a:noFill/>
        </p:spPr>
        <p:txBody>
          <a:bodyPr wrap="square" anchor="ctr">
            <a:spAutoFit/>
          </a:bodyPr>
          <a:lstStyle/>
          <a:p>
            <a:pPr algn="l">
              <a:spcAft>
                <a:spcPts val="400"/>
              </a:spcAft>
            </a:pPr>
            <a:r>
              <a:rPr sz="1400" b="0">
                <a:solidFill>
                  <a:srgbClr val="E8E6DD"/>
                </a:solidFill>
                <a:latin typeface="Arial"/>
              </a:rPr>
              <a:t>Providers &amp; models are swappable with no lock-in (Nous Portal, OpenRouter, OpenAI, any endpoint); MCP servers and the Tool Gateway (web search, image, TTS) give the agent real-world reach.</a:t>
            </a:r>
          </a:p>
        </p:txBody>
      </p:sp>
      <p:sp>
        <p:nvSpPr>
          <p:cNvPr id="22" name="Rectangle 21"/>
          <p:cNvSpPr/>
          <p:nvPr/>
        </p:nvSpPr>
        <p:spPr>
          <a:xfrm>
            <a:off x="6231636" y="4087368"/>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178808"/>
            <a:ext cx="3973068" cy="1920240"/>
          </a:xfrm>
          <a:prstGeom prst="rect">
            <a:avLst/>
          </a:prstGeom>
          <a:noFill/>
        </p:spPr>
        <p:txBody>
          <a:bodyPr wrap="square" anchor="ctr">
            <a:spAutoFit/>
          </a:bodyPr>
          <a:lstStyle/>
          <a:p>
            <a:pPr algn="l">
              <a:spcAft>
                <a:spcPts val="400"/>
              </a:spcAft>
            </a:pPr>
            <a:r>
              <a:rPr sz="1400" b="0">
                <a:solidFill>
                  <a:srgbClr val="E8E6DD"/>
                </a:solidFill>
                <a:latin typeface="Arial"/>
              </a:rPr>
              <a:t>Cron jobs automate recurring work; subagents &amp; delegation split work across isolated backends; the profile and Kanban board let you supervise the agent's tasks — all under security controls.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WHAT YOU'LL DO</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E8E6DD"/>
                </a:solidFill>
                <a:latin typeface="Arial"/>
              </a:rPr>
              <a:t>Hands-On Labs — Hermes Agent — Your Autonomous Personal Chief-of-Staff</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Labs 1–5</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E8E6DD"/>
                </a:solidFill>
                <a:latin typeface="Arial"/>
              </a:rPr>
              <a:t>•  Install and Setup Hermes</a:t>
            </a:r>
          </a:p>
          <a:p>
            <a:pPr>
              <a:spcAft>
                <a:spcPts val="900"/>
              </a:spcAft>
            </a:pPr>
            <a:r>
              <a:rPr sz="1400" b="0">
                <a:solidFill>
                  <a:srgbClr val="E8E6DD"/>
                </a:solidFill>
                <a:latin typeface="Arial"/>
              </a:rPr>
              <a:t>•  Deployment — Local Install &amp; Hermes Desktop App</a:t>
            </a:r>
          </a:p>
          <a:p>
            <a:pPr>
              <a:spcAft>
                <a:spcPts val="900"/>
              </a:spcAft>
            </a:pPr>
            <a:r>
              <a:rPr sz="1400" b="0">
                <a:solidFill>
                  <a:srgbClr val="E8E6DD"/>
                </a:solidFill>
                <a:latin typeface="Arial"/>
              </a:rPr>
              <a:t>•  Memory and Plugins</a:t>
            </a:r>
          </a:p>
          <a:p>
            <a:pPr>
              <a:spcAft>
                <a:spcPts val="900"/>
              </a:spcAft>
            </a:pPr>
            <a:r>
              <a:rPr sz="1400" b="0">
                <a:solidFill>
                  <a:srgbClr val="E8E6DD"/>
                </a:solidFill>
                <a:latin typeface="Arial"/>
              </a:rPr>
              <a:t>•  Skills</a:t>
            </a:r>
          </a:p>
          <a:p>
            <a:pPr>
              <a:spcAft>
                <a:spcPts val="900"/>
              </a:spcAft>
            </a:pPr>
            <a:r>
              <a:rPr sz="1400" b="0">
                <a:solidFill>
                  <a:srgbClr val="E8E6DD"/>
                </a:solidFill>
                <a:latin typeface="Arial"/>
              </a:rPr>
              <a:t>•  Providers &amp; Model</a:t>
            </a:r>
          </a:p>
        </p:txBody>
      </p:sp>
      <p:sp>
        <p:nvSpPr>
          <p:cNvPr id="11" name="Rectangle 10"/>
          <p:cNvSpPr/>
          <p:nvPr/>
        </p:nvSpPr>
        <p:spPr>
          <a:xfrm>
            <a:off x="4572000" y="1783080"/>
            <a:ext cx="333756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Labs 6–10</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E8E6DD"/>
                </a:solidFill>
                <a:latin typeface="Arial"/>
              </a:rPr>
              <a:t>•  MCP and Tools</a:t>
            </a:r>
          </a:p>
          <a:p>
            <a:pPr>
              <a:spcAft>
                <a:spcPts val="900"/>
              </a:spcAft>
            </a:pPr>
            <a:r>
              <a:rPr sz="1400" b="0">
                <a:solidFill>
                  <a:srgbClr val="E8E6DD"/>
                </a:solidFill>
                <a:latin typeface="Arial"/>
              </a:rPr>
              <a:t>•  Cron Jobs &amp; Automation</a:t>
            </a:r>
          </a:p>
          <a:p>
            <a:pPr>
              <a:spcAft>
                <a:spcPts val="900"/>
              </a:spcAft>
            </a:pPr>
            <a:r>
              <a:rPr sz="1400" b="0">
                <a:solidFill>
                  <a:srgbClr val="E8E6DD"/>
                </a:solidFill>
                <a:latin typeface="Arial"/>
              </a:rPr>
              <a:t>•  Subagents &amp; Delegation</a:t>
            </a:r>
          </a:p>
          <a:p>
            <a:pPr>
              <a:spcAft>
                <a:spcPts val="900"/>
              </a:spcAft>
            </a:pPr>
            <a:r>
              <a:rPr sz="1400" b="0">
                <a:solidFill>
                  <a:srgbClr val="E8E6DD"/>
                </a:solidFill>
                <a:latin typeface="Arial"/>
              </a:rPr>
              <a:t>•  Profile and Kanban</a:t>
            </a:r>
          </a:p>
          <a:p>
            <a:pPr>
              <a:spcAft>
                <a:spcPts val="900"/>
              </a:spcAft>
            </a:pPr>
            <a:r>
              <a:rPr sz="1400" b="0">
                <a:solidFill>
                  <a:srgbClr val="E8E6DD"/>
                </a:solidFill>
                <a:latin typeface="Arial"/>
              </a:rPr>
              <a:t>•  Security</a:t>
            </a:r>
          </a:p>
        </p:txBody>
      </p:sp>
      <p:sp>
        <p:nvSpPr>
          <p:cNvPr id="15" name="Rectangle 14"/>
          <p:cNvSpPr/>
          <p:nvPr/>
        </p:nvSpPr>
        <p:spPr>
          <a:xfrm>
            <a:off x="8366760" y="1783080"/>
            <a:ext cx="333756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Labs 11–14</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E8E6DD"/>
                </a:solidFill>
                <a:latin typeface="Arial"/>
              </a:rPr>
              <a:t>•  Use Case — Make a Video with Hyperframe</a:t>
            </a:r>
          </a:p>
          <a:p>
            <a:pPr>
              <a:spcAft>
                <a:spcPts val="900"/>
              </a:spcAft>
            </a:pPr>
            <a:r>
              <a:rPr sz="1400" b="0">
                <a:solidFill>
                  <a:srgbClr val="E8E6DD"/>
                </a:solidFill>
                <a:latin typeface="Arial"/>
              </a:rPr>
              <a:t>•  Visualization</a:t>
            </a:r>
          </a:p>
          <a:p>
            <a:pPr>
              <a:spcAft>
                <a:spcPts val="900"/>
              </a:spcAft>
            </a:pPr>
            <a:r>
              <a:rPr sz="1400" b="0">
                <a:solidFill>
                  <a:srgbClr val="E8E6DD"/>
                </a:solidFill>
                <a:latin typeface="Arial"/>
              </a:rPr>
              <a:t>•  Build a Multi-Agent Workflow</a:t>
            </a:r>
          </a:p>
          <a:p>
            <a:pPr>
              <a:spcAft>
                <a:spcPts val="900"/>
              </a:spcAft>
            </a:pPr>
            <a:r>
              <a:rPr sz="1400" b="0">
                <a:solidFill>
                  <a:srgbClr val="E8E6DD"/>
                </a:solidFill>
                <a:latin typeface="Arial"/>
              </a:rPr>
              <a:t>•  Webhook</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and Setup Hermes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1</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500" b="0">
                <a:solidFill>
                  <a:srgbClr val="E8E6DD"/>
                </a:solidFill>
                <a:latin typeface="Arial"/>
              </a:rPr>
              <a:t>Install Hermes Agent on your laptop using any of the official install methods (Desktop installer, install script, PowerShell, from source, or Nix), run the first-time setup wizard, and confirm a healthy install. This is the foundation for the Athena chief-of-staff agent you build across the track. Prerequisite: Git; the installer auto-handles Python 3.11, Node.js v22, ripgrep and ffmpeg.</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working Hermes Agent install that passes 'hermes doctor' and opens the TUI.</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Nous Portal, terminal</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65760"/>
            <a:ext cx="10607040" cy="320040"/>
          </a:xfrm>
          <a:prstGeom prst="rect">
            <a:avLst/>
          </a:prstGeom>
          <a:noFill/>
        </p:spPr>
        <p:txBody>
          <a:bodyPr wrap="square" anchor="t">
            <a:spAutoFit/>
          </a:bodyPr>
          <a:lstStyle/>
          <a:p>
            <a:pPr algn="l">
              <a:spcAft>
                <a:spcPts val="400"/>
              </a:spcAft>
            </a:pPr>
            <a:r>
              <a:rPr sz="1300" b="1">
                <a:solidFill>
                  <a:srgbClr val="F5A623"/>
                </a:solidFill>
                <a:latin typeface="Arial"/>
              </a:rPr>
              <a:t>&gt; part-01/overview</a:t>
            </a:r>
          </a:p>
        </p:txBody>
      </p:sp>
      <p:sp>
        <p:nvSpPr>
          <p:cNvPr id="4" name="Rectangle 3"/>
          <p:cNvSpPr/>
          <p:nvPr/>
        </p:nvSpPr>
        <p:spPr>
          <a:xfrm>
            <a:off x="777240" y="749808"/>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896112"/>
            <a:ext cx="10881360" cy="713232"/>
          </a:xfrm>
          <a:prstGeom prst="rect">
            <a:avLst/>
          </a:prstGeom>
          <a:noFill/>
        </p:spPr>
        <p:txBody>
          <a:bodyPr wrap="square" anchor="t">
            <a:spAutoFit/>
          </a:bodyPr>
          <a:lstStyle/>
          <a:p>
            <a:pPr algn="l">
              <a:spcAft>
                <a:spcPts val="400"/>
              </a:spcAft>
            </a:pPr>
            <a:r>
              <a:rPr sz="4000" b="1">
                <a:solidFill>
                  <a:srgbClr val="F5A623"/>
                </a:solidFill>
                <a:latin typeface="Arial"/>
              </a:rPr>
              <a:t>AN AI AGENT</a:t>
            </a:r>
          </a:p>
        </p:txBody>
      </p:sp>
      <p:sp>
        <p:nvSpPr>
          <p:cNvPr id="6" name="TextBox 5"/>
          <p:cNvSpPr txBox="1"/>
          <p:nvPr/>
        </p:nvSpPr>
        <p:spPr>
          <a:xfrm>
            <a:off x="777240" y="1591056"/>
            <a:ext cx="10881360" cy="713232"/>
          </a:xfrm>
          <a:prstGeom prst="rect">
            <a:avLst/>
          </a:prstGeom>
          <a:noFill/>
        </p:spPr>
        <p:txBody>
          <a:bodyPr wrap="square" anchor="t">
            <a:spAutoFit/>
          </a:bodyPr>
          <a:lstStyle/>
          <a:p>
            <a:pPr algn="l">
              <a:spcAft>
                <a:spcPts val="400"/>
              </a:spcAft>
            </a:pPr>
            <a:r>
              <a:rPr sz="4000" b="1">
                <a:solidFill>
                  <a:srgbClr val="F5A623"/>
                </a:solidFill>
                <a:latin typeface="Arial"/>
              </a:rPr>
              <a:t>THAT LEARNS YOU.</a:t>
            </a:r>
          </a:p>
        </p:txBody>
      </p:sp>
      <p:sp>
        <p:nvSpPr>
          <p:cNvPr id="7" name="TextBox 6"/>
          <p:cNvSpPr txBox="1"/>
          <p:nvPr/>
        </p:nvSpPr>
        <p:spPr>
          <a:xfrm>
            <a:off x="777240" y="2359152"/>
            <a:ext cx="10881360" cy="347472"/>
          </a:xfrm>
          <a:prstGeom prst="rect">
            <a:avLst/>
          </a:prstGeom>
          <a:noFill/>
        </p:spPr>
        <p:txBody>
          <a:bodyPr wrap="square" anchor="t">
            <a:spAutoFit/>
          </a:bodyPr>
          <a:lstStyle/>
          <a:p>
            <a:pPr algn="l">
              <a:spcAft>
                <a:spcPts val="400"/>
              </a:spcAft>
            </a:pPr>
            <a:r>
              <a:rPr sz="1500" b="0">
                <a:solidFill>
                  <a:srgbClr val="E8E6DD"/>
                </a:solidFill>
                <a:latin typeface="Arial"/>
              </a:rPr>
              <a:t>What is Hermes Agent?  Open source. Built by Nous Research. MIT license.</a:t>
            </a:r>
          </a:p>
        </p:txBody>
      </p:sp>
      <p:sp>
        <p:nvSpPr>
          <p:cNvPr id="8" name="Rectangle 7"/>
          <p:cNvSpPr/>
          <p:nvPr/>
        </p:nvSpPr>
        <p:spPr>
          <a:xfrm>
            <a:off x="777240" y="2926080"/>
            <a:ext cx="10634472" cy="7132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926080"/>
            <a:ext cx="45720" cy="7132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2926080"/>
            <a:ext cx="685800" cy="713232"/>
          </a:xfrm>
          <a:prstGeom prst="rect">
            <a:avLst/>
          </a:prstGeom>
          <a:noFill/>
        </p:spPr>
        <p:txBody>
          <a:bodyPr wrap="square" anchor="ctr">
            <a:spAutoFit/>
          </a:bodyPr>
          <a:lstStyle/>
          <a:p>
            <a:pPr algn="l">
              <a:spcAft>
                <a:spcPts val="400"/>
              </a:spcAft>
            </a:pPr>
            <a:r>
              <a:rPr sz="1600" b="1">
                <a:solidFill>
                  <a:srgbClr val="F5A623"/>
                </a:solidFill>
                <a:latin typeface="Arial"/>
              </a:rPr>
              <a:t>01</a:t>
            </a:r>
          </a:p>
        </p:txBody>
      </p:sp>
      <p:sp>
        <p:nvSpPr>
          <p:cNvPr id="11" name="TextBox 10"/>
          <p:cNvSpPr txBox="1"/>
          <p:nvPr/>
        </p:nvSpPr>
        <p:spPr>
          <a:xfrm>
            <a:off x="1737360" y="2926080"/>
            <a:ext cx="9464040" cy="713232"/>
          </a:xfrm>
          <a:prstGeom prst="rect">
            <a:avLst/>
          </a:prstGeom>
          <a:noFill/>
        </p:spPr>
        <p:txBody>
          <a:bodyPr wrap="square" anchor="ctr">
            <a:spAutoFit/>
          </a:bodyPr>
          <a:lstStyle/>
          <a:p>
            <a:pPr algn="l">
              <a:spcAft>
                <a:spcPts val="400"/>
              </a:spcAft>
            </a:pPr>
            <a:r>
              <a:rPr sz="1600" b="0">
                <a:solidFill>
                  <a:srgbClr val="E8E6DD"/>
                </a:solidFill>
                <a:latin typeface="Arial"/>
              </a:rPr>
              <a:t>Runs in your terminal (CLI) or on your phone (gateway)</a:t>
            </a:r>
          </a:p>
        </p:txBody>
      </p:sp>
      <p:sp>
        <p:nvSpPr>
          <p:cNvPr id="12" name="Rectangle 11"/>
          <p:cNvSpPr/>
          <p:nvPr/>
        </p:nvSpPr>
        <p:spPr>
          <a:xfrm>
            <a:off x="777240" y="3767328"/>
            <a:ext cx="10634472" cy="7132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767328"/>
            <a:ext cx="45720" cy="7132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3767328"/>
            <a:ext cx="685800" cy="713232"/>
          </a:xfrm>
          <a:prstGeom prst="rect">
            <a:avLst/>
          </a:prstGeom>
          <a:noFill/>
        </p:spPr>
        <p:txBody>
          <a:bodyPr wrap="square" anchor="ctr">
            <a:spAutoFit/>
          </a:bodyPr>
          <a:lstStyle/>
          <a:p>
            <a:pPr algn="l">
              <a:spcAft>
                <a:spcPts val="400"/>
              </a:spcAft>
            </a:pPr>
            <a:r>
              <a:rPr sz="1600" b="1">
                <a:solidFill>
                  <a:srgbClr val="F5A623"/>
                </a:solidFill>
                <a:latin typeface="Arial"/>
              </a:rPr>
              <a:t>02</a:t>
            </a:r>
          </a:p>
        </p:txBody>
      </p:sp>
      <p:sp>
        <p:nvSpPr>
          <p:cNvPr id="15" name="TextBox 14"/>
          <p:cNvSpPr txBox="1"/>
          <p:nvPr/>
        </p:nvSpPr>
        <p:spPr>
          <a:xfrm>
            <a:off x="1737360" y="3767328"/>
            <a:ext cx="9464040" cy="713232"/>
          </a:xfrm>
          <a:prstGeom prst="rect">
            <a:avLst/>
          </a:prstGeom>
          <a:noFill/>
        </p:spPr>
        <p:txBody>
          <a:bodyPr wrap="square" anchor="ctr">
            <a:spAutoFit/>
          </a:bodyPr>
          <a:lstStyle/>
          <a:p>
            <a:pPr algn="l">
              <a:spcAft>
                <a:spcPts val="400"/>
              </a:spcAft>
            </a:pPr>
            <a:r>
              <a:rPr sz="1600" b="0">
                <a:solidFill>
                  <a:srgbClr val="E8E6DD"/>
                </a:solidFill>
                <a:latin typeface="Arial"/>
              </a:rPr>
              <a:t>Works with any model — Claude, GPT, Grok, Kimi, local, whatever</a:t>
            </a:r>
          </a:p>
        </p:txBody>
      </p:sp>
      <p:sp>
        <p:nvSpPr>
          <p:cNvPr id="16" name="Rectangle 15"/>
          <p:cNvSpPr/>
          <p:nvPr/>
        </p:nvSpPr>
        <p:spPr>
          <a:xfrm>
            <a:off x="777240" y="4608576"/>
            <a:ext cx="10634472" cy="7132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4608576"/>
            <a:ext cx="45720" cy="7132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4608576"/>
            <a:ext cx="685800" cy="713232"/>
          </a:xfrm>
          <a:prstGeom prst="rect">
            <a:avLst/>
          </a:prstGeom>
          <a:noFill/>
        </p:spPr>
        <p:txBody>
          <a:bodyPr wrap="square" anchor="ctr">
            <a:spAutoFit/>
          </a:bodyPr>
          <a:lstStyle/>
          <a:p>
            <a:pPr algn="l">
              <a:spcAft>
                <a:spcPts val="400"/>
              </a:spcAft>
            </a:pPr>
            <a:r>
              <a:rPr sz="1600" b="1">
                <a:solidFill>
                  <a:srgbClr val="F5A623"/>
                </a:solidFill>
                <a:latin typeface="Arial"/>
              </a:rPr>
              <a:t>03</a:t>
            </a:r>
          </a:p>
        </p:txBody>
      </p:sp>
      <p:sp>
        <p:nvSpPr>
          <p:cNvPr id="19" name="TextBox 18"/>
          <p:cNvSpPr txBox="1"/>
          <p:nvPr/>
        </p:nvSpPr>
        <p:spPr>
          <a:xfrm>
            <a:off x="1737360" y="4608576"/>
            <a:ext cx="9464040" cy="713232"/>
          </a:xfrm>
          <a:prstGeom prst="rect">
            <a:avLst/>
          </a:prstGeom>
          <a:noFill/>
        </p:spPr>
        <p:txBody>
          <a:bodyPr wrap="square" anchor="ctr">
            <a:spAutoFit/>
          </a:bodyPr>
          <a:lstStyle/>
          <a:p>
            <a:pPr algn="l">
              <a:spcAft>
                <a:spcPts val="400"/>
              </a:spcAft>
            </a:pPr>
            <a:r>
              <a:rPr sz="1600" b="0">
                <a:solidFill>
                  <a:srgbClr val="E8E6DD"/>
                </a:solidFill>
                <a:latin typeface="Arial"/>
              </a:rPr>
              <a:t>Nous uses this same tool to generate training data for the Hermes model family</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65760"/>
            <a:ext cx="10607040" cy="320040"/>
          </a:xfrm>
          <a:prstGeom prst="rect">
            <a:avLst/>
          </a:prstGeom>
          <a:noFill/>
        </p:spPr>
        <p:txBody>
          <a:bodyPr wrap="square" anchor="t">
            <a:spAutoFit/>
          </a:bodyPr>
          <a:lstStyle/>
          <a:p>
            <a:pPr algn="l">
              <a:spcAft>
                <a:spcPts val="400"/>
              </a:spcAft>
            </a:pPr>
            <a:r>
              <a:rPr sz="1300" b="1">
                <a:solidFill>
                  <a:srgbClr val="F5A623"/>
                </a:solidFill>
                <a:latin typeface="Arial"/>
              </a:rPr>
              <a:t>&gt; part-01/the-bet</a:t>
            </a:r>
          </a:p>
        </p:txBody>
      </p:sp>
      <p:sp>
        <p:nvSpPr>
          <p:cNvPr id="4" name="Rectangle 3"/>
          <p:cNvSpPr/>
          <p:nvPr/>
        </p:nvSpPr>
        <p:spPr>
          <a:xfrm>
            <a:off x="777240" y="749808"/>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896112"/>
            <a:ext cx="10881360" cy="713232"/>
          </a:xfrm>
          <a:prstGeom prst="rect">
            <a:avLst/>
          </a:prstGeom>
          <a:noFill/>
        </p:spPr>
        <p:txBody>
          <a:bodyPr wrap="square" anchor="t">
            <a:spAutoFit/>
          </a:bodyPr>
          <a:lstStyle/>
          <a:p>
            <a:pPr algn="l">
              <a:spcAft>
                <a:spcPts val="400"/>
              </a:spcAft>
            </a:pPr>
            <a:r>
              <a:rPr sz="4000" b="1">
                <a:solidFill>
                  <a:srgbClr val="F5A623"/>
                </a:solidFill>
                <a:latin typeface="Arial"/>
              </a:rPr>
              <a:t>THE BET:</a:t>
            </a:r>
          </a:p>
        </p:txBody>
      </p:sp>
      <p:sp>
        <p:nvSpPr>
          <p:cNvPr id="6" name="TextBox 5"/>
          <p:cNvSpPr txBox="1"/>
          <p:nvPr/>
        </p:nvSpPr>
        <p:spPr>
          <a:xfrm>
            <a:off x="777240" y="1591056"/>
            <a:ext cx="10881360" cy="713232"/>
          </a:xfrm>
          <a:prstGeom prst="rect">
            <a:avLst/>
          </a:prstGeom>
          <a:noFill/>
        </p:spPr>
        <p:txBody>
          <a:bodyPr wrap="square" anchor="t">
            <a:spAutoFit/>
          </a:bodyPr>
          <a:lstStyle/>
          <a:p>
            <a:pPr algn="l">
              <a:spcAft>
                <a:spcPts val="400"/>
              </a:spcAft>
            </a:pPr>
            <a:r>
              <a:rPr sz="4000" b="1">
                <a:solidFill>
                  <a:srgbClr val="F5A623"/>
                </a:solidFill>
                <a:latin typeface="Arial"/>
              </a:rPr>
              <a:t>COMPOUNDING VALUE.</a:t>
            </a:r>
          </a:p>
        </p:txBody>
      </p:sp>
      <p:sp>
        <p:nvSpPr>
          <p:cNvPr id="7" name="TextBox 6"/>
          <p:cNvSpPr txBox="1"/>
          <p:nvPr/>
        </p:nvSpPr>
        <p:spPr>
          <a:xfrm>
            <a:off x="777240" y="2359152"/>
            <a:ext cx="10881360" cy="347472"/>
          </a:xfrm>
          <a:prstGeom prst="rect">
            <a:avLst/>
          </a:prstGeom>
          <a:noFill/>
        </p:spPr>
        <p:txBody>
          <a:bodyPr wrap="square" anchor="t">
            <a:spAutoFit/>
          </a:bodyPr>
          <a:lstStyle/>
          <a:p>
            <a:pPr algn="l">
              <a:spcAft>
                <a:spcPts val="400"/>
              </a:spcAft>
            </a:pPr>
            <a:r>
              <a:rPr sz="1500" b="0">
                <a:solidFill>
                  <a:srgbClr val="E8E6DD"/>
                </a:solidFill>
                <a:latin typeface="Arial"/>
              </a:rPr>
              <a:t>Most agents are stateless — every session starts from zero.</a:t>
            </a:r>
          </a:p>
        </p:txBody>
      </p:sp>
      <p:sp>
        <p:nvSpPr>
          <p:cNvPr id="8" name="TextBox 7"/>
          <p:cNvSpPr txBox="1"/>
          <p:nvPr/>
        </p:nvSpPr>
        <p:spPr>
          <a:xfrm>
            <a:off x="777240" y="2724912"/>
            <a:ext cx="10881360" cy="347472"/>
          </a:xfrm>
          <a:prstGeom prst="rect">
            <a:avLst/>
          </a:prstGeom>
          <a:noFill/>
        </p:spPr>
        <p:txBody>
          <a:bodyPr wrap="square" anchor="t">
            <a:spAutoFit/>
          </a:bodyPr>
          <a:lstStyle/>
          <a:p>
            <a:pPr algn="l">
              <a:spcAft>
                <a:spcPts val="400"/>
              </a:spcAft>
            </a:pPr>
            <a:r>
              <a:rPr sz="1500" b="0">
                <a:solidFill>
                  <a:srgbClr val="E8E6DD"/>
                </a:solidFill>
                <a:latin typeface="Arial"/>
              </a:rPr>
              <a:t>Hermes is stateful by design. Every session makes the next one better.</a:t>
            </a:r>
          </a:p>
        </p:txBody>
      </p:sp>
      <p:sp>
        <p:nvSpPr>
          <p:cNvPr id="9" name="Rectangle 8"/>
          <p:cNvSpPr/>
          <p:nvPr/>
        </p:nvSpPr>
        <p:spPr>
          <a:xfrm>
            <a:off x="777240" y="3291840"/>
            <a:ext cx="10634472" cy="646937"/>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3291840"/>
            <a:ext cx="45720" cy="64693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3291840"/>
            <a:ext cx="685800" cy="646937"/>
          </a:xfrm>
          <a:prstGeom prst="rect">
            <a:avLst/>
          </a:prstGeom>
          <a:noFill/>
        </p:spPr>
        <p:txBody>
          <a:bodyPr wrap="square" anchor="ctr">
            <a:spAutoFit/>
          </a:bodyPr>
          <a:lstStyle/>
          <a:p>
            <a:pPr algn="l">
              <a:spcAft>
                <a:spcPts val="400"/>
              </a:spcAft>
            </a:pPr>
            <a:r>
              <a:rPr sz="1600" b="1">
                <a:solidFill>
                  <a:srgbClr val="F5A623"/>
                </a:solidFill>
                <a:latin typeface="Arial"/>
              </a:rPr>
              <a:t>01</a:t>
            </a:r>
          </a:p>
        </p:txBody>
      </p:sp>
      <p:sp>
        <p:nvSpPr>
          <p:cNvPr id="12" name="TextBox 11"/>
          <p:cNvSpPr txBox="1"/>
          <p:nvPr/>
        </p:nvSpPr>
        <p:spPr>
          <a:xfrm>
            <a:off x="1737360" y="3291840"/>
            <a:ext cx="9464040" cy="646937"/>
          </a:xfrm>
          <a:prstGeom prst="rect">
            <a:avLst/>
          </a:prstGeom>
          <a:noFill/>
        </p:spPr>
        <p:txBody>
          <a:bodyPr wrap="square" anchor="ctr">
            <a:spAutoFit/>
          </a:bodyPr>
          <a:lstStyle/>
          <a:p>
            <a:pPr algn="l">
              <a:spcAft>
                <a:spcPts val="400"/>
              </a:spcAft>
            </a:pPr>
            <a:r>
              <a:rPr sz="1600" b="0">
                <a:solidFill>
                  <a:srgbClr val="E8E6DD"/>
                </a:solidFill>
                <a:latin typeface="Arial"/>
              </a:rPr>
              <a:t>You give it a task</a:t>
            </a:r>
          </a:p>
        </p:txBody>
      </p:sp>
      <p:sp>
        <p:nvSpPr>
          <p:cNvPr id="13" name="Rectangle 12"/>
          <p:cNvSpPr/>
          <p:nvPr/>
        </p:nvSpPr>
        <p:spPr>
          <a:xfrm>
            <a:off x="777240" y="4066794"/>
            <a:ext cx="10634472" cy="646937"/>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4066794"/>
            <a:ext cx="45720" cy="64693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4066794"/>
            <a:ext cx="685800" cy="646937"/>
          </a:xfrm>
          <a:prstGeom prst="rect">
            <a:avLst/>
          </a:prstGeom>
          <a:noFill/>
        </p:spPr>
        <p:txBody>
          <a:bodyPr wrap="square" anchor="ctr">
            <a:spAutoFit/>
          </a:bodyPr>
          <a:lstStyle/>
          <a:p>
            <a:pPr algn="l">
              <a:spcAft>
                <a:spcPts val="400"/>
              </a:spcAft>
            </a:pPr>
            <a:r>
              <a:rPr sz="1600" b="1">
                <a:solidFill>
                  <a:srgbClr val="F5A623"/>
                </a:solidFill>
                <a:latin typeface="Arial"/>
              </a:rPr>
              <a:t>02</a:t>
            </a:r>
          </a:p>
        </p:txBody>
      </p:sp>
      <p:sp>
        <p:nvSpPr>
          <p:cNvPr id="16" name="TextBox 15"/>
          <p:cNvSpPr txBox="1"/>
          <p:nvPr/>
        </p:nvSpPr>
        <p:spPr>
          <a:xfrm>
            <a:off x="1737360" y="4066794"/>
            <a:ext cx="9464040" cy="646937"/>
          </a:xfrm>
          <a:prstGeom prst="rect">
            <a:avLst/>
          </a:prstGeom>
          <a:noFill/>
        </p:spPr>
        <p:txBody>
          <a:bodyPr wrap="square" anchor="ctr">
            <a:spAutoFit/>
          </a:bodyPr>
          <a:lstStyle/>
          <a:p>
            <a:pPr algn="l">
              <a:spcAft>
                <a:spcPts val="400"/>
              </a:spcAft>
            </a:pPr>
            <a:r>
              <a:rPr sz="1600" b="0">
                <a:solidFill>
                  <a:srgbClr val="E8E6DD"/>
                </a:solidFill>
                <a:latin typeface="Arial"/>
              </a:rPr>
              <a:t>It captures a trajectory — tools used, decisions made</a:t>
            </a:r>
          </a:p>
        </p:txBody>
      </p:sp>
      <p:sp>
        <p:nvSpPr>
          <p:cNvPr id="17" name="Rectangle 16"/>
          <p:cNvSpPr/>
          <p:nvPr/>
        </p:nvSpPr>
        <p:spPr>
          <a:xfrm>
            <a:off x="777240" y="4841748"/>
            <a:ext cx="10634472" cy="646937"/>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841748"/>
            <a:ext cx="45720" cy="64693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4841748"/>
            <a:ext cx="685800" cy="646937"/>
          </a:xfrm>
          <a:prstGeom prst="rect">
            <a:avLst/>
          </a:prstGeom>
          <a:noFill/>
        </p:spPr>
        <p:txBody>
          <a:bodyPr wrap="square" anchor="ctr">
            <a:spAutoFit/>
          </a:bodyPr>
          <a:lstStyle/>
          <a:p>
            <a:pPr algn="l">
              <a:spcAft>
                <a:spcPts val="400"/>
              </a:spcAft>
            </a:pPr>
            <a:r>
              <a:rPr sz="1600" b="1">
                <a:solidFill>
                  <a:srgbClr val="F5A623"/>
                </a:solidFill>
                <a:latin typeface="Arial"/>
              </a:rPr>
              <a:t>03</a:t>
            </a:r>
          </a:p>
        </p:txBody>
      </p:sp>
      <p:sp>
        <p:nvSpPr>
          <p:cNvPr id="20" name="TextBox 19"/>
          <p:cNvSpPr txBox="1"/>
          <p:nvPr/>
        </p:nvSpPr>
        <p:spPr>
          <a:xfrm>
            <a:off x="1737360" y="4841748"/>
            <a:ext cx="9464040" cy="646937"/>
          </a:xfrm>
          <a:prstGeom prst="rect">
            <a:avLst/>
          </a:prstGeom>
          <a:noFill/>
        </p:spPr>
        <p:txBody>
          <a:bodyPr wrap="square" anchor="ctr">
            <a:spAutoFit/>
          </a:bodyPr>
          <a:lstStyle/>
          <a:p>
            <a:pPr algn="l">
              <a:spcAft>
                <a:spcPts val="400"/>
              </a:spcAft>
            </a:pPr>
            <a:r>
              <a:rPr sz="1600" b="0">
                <a:solidFill>
                  <a:srgbClr val="E8E6DD"/>
                </a:solidFill>
                <a:latin typeface="Arial"/>
              </a:rPr>
              <a:t>It extracts a reusable skill</a:t>
            </a:r>
          </a:p>
        </p:txBody>
      </p:sp>
      <p:sp>
        <p:nvSpPr>
          <p:cNvPr id="21" name="Rectangle 20"/>
          <p:cNvSpPr/>
          <p:nvPr/>
        </p:nvSpPr>
        <p:spPr>
          <a:xfrm>
            <a:off x="777240" y="5616702"/>
            <a:ext cx="10634472" cy="646937"/>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5616702"/>
            <a:ext cx="45720" cy="64693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05840" y="5616702"/>
            <a:ext cx="685800" cy="646937"/>
          </a:xfrm>
          <a:prstGeom prst="rect">
            <a:avLst/>
          </a:prstGeom>
          <a:noFill/>
        </p:spPr>
        <p:txBody>
          <a:bodyPr wrap="square" anchor="ctr">
            <a:spAutoFit/>
          </a:bodyPr>
          <a:lstStyle/>
          <a:p>
            <a:pPr algn="l">
              <a:spcAft>
                <a:spcPts val="400"/>
              </a:spcAft>
            </a:pPr>
            <a:r>
              <a:rPr sz="1600" b="1">
                <a:solidFill>
                  <a:srgbClr val="F5A623"/>
                </a:solidFill>
                <a:latin typeface="Arial"/>
              </a:rPr>
              <a:t>04</a:t>
            </a:r>
          </a:p>
        </p:txBody>
      </p:sp>
      <p:sp>
        <p:nvSpPr>
          <p:cNvPr id="24" name="TextBox 23"/>
          <p:cNvSpPr txBox="1"/>
          <p:nvPr/>
        </p:nvSpPr>
        <p:spPr>
          <a:xfrm>
            <a:off x="1737360" y="5616702"/>
            <a:ext cx="9464040" cy="646937"/>
          </a:xfrm>
          <a:prstGeom prst="rect">
            <a:avLst/>
          </a:prstGeom>
          <a:noFill/>
        </p:spPr>
        <p:txBody>
          <a:bodyPr wrap="square" anchor="ctr">
            <a:spAutoFit/>
          </a:bodyPr>
          <a:lstStyle/>
          <a:p>
            <a:pPr algn="l">
              <a:spcAft>
                <a:spcPts val="400"/>
              </a:spcAft>
            </a:pPr>
            <a:r>
              <a:rPr sz="1600" b="0">
                <a:solidFill>
                  <a:srgbClr val="E8E6DD"/>
                </a:solidFill>
                <a:latin typeface="Arial"/>
              </a:rPr>
              <a:t>Next time: faster, cleaner, smarter</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65760"/>
            <a:ext cx="10607040" cy="320040"/>
          </a:xfrm>
          <a:prstGeom prst="rect">
            <a:avLst/>
          </a:prstGeom>
          <a:noFill/>
        </p:spPr>
        <p:txBody>
          <a:bodyPr wrap="square" anchor="t">
            <a:spAutoFit/>
          </a:bodyPr>
          <a:lstStyle/>
          <a:p>
            <a:pPr algn="l">
              <a:spcAft>
                <a:spcPts val="400"/>
              </a:spcAft>
            </a:pPr>
            <a:r>
              <a:rPr sz="1300" b="1">
                <a:solidFill>
                  <a:srgbClr val="F5A623"/>
                </a:solidFill>
                <a:latin typeface="Arial"/>
              </a:rPr>
              <a:t>&gt; part-02/platform-matrix</a:t>
            </a:r>
          </a:p>
        </p:txBody>
      </p:sp>
      <p:sp>
        <p:nvSpPr>
          <p:cNvPr id="4" name="Rectangle 3"/>
          <p:cNvSpPr/>
          <p:nvPr/>
        </p:nvSpPr>
        <p:spPr>
          <a:xfrm>
            <a:off x="777240" y="749808"/>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896112"/>
            <a:ext cx="10881360" cy="713232"/>
          </a:xfrm>
          <a:prstGeom prst="rect">
            <a:avLst/>
          </a:prstGeom>
          <a:noFill/>
        </p:spPr>
        <p:txBody>
          <a:bodyPr wrap="square" anchor="t">
            <a:spAutoFit/>
          </a:bodyPr>
          <a:lstStyle/>
          <a:p>
            <a:pPr algn="l">
              <a:spcAft>
                <a:spcPts val="400"/>
              </a:spcAft>
            </a:pPr>
            <a:r>
              <a:rPr sz="4000" b="1">
                <a:solidFill>
                  <a:srgbClr val="F5A623"/>
                </a:solidFill>
                <a:latin typeface="Arial"/>
              </a:rPr>
              <a:t>WILL IT RUN</a:t>
            </a:r>
          </a:p>
        </p:txBody>
      </p:sp>
      <p:sp>
        <p:nvSpPr>
          <p:cNvPr id="6" name="TextBox 5"/>
          <p:cNvSpPr txBox="1"/>
          <p:nvPr/>
        </p:nvSpPr>
        <p:spPr>
          <a:xfrm>
            <a:off x="777240" y="1591056"/>
            <a:ext cx="10881360" cy="713232"/>
          </a:xfrm>
          <a:prstGeom prst="rect">
            <a:avLst/>
          </a:prstGeom>
          <a:noFill/>
        </p:spPr>
        <p:txBody>
          <a:bodyPr wrap="square" anchor="t">
            <a:spAutoFit/>
          </a:bodyPr>
          <a:lstStyle/>
          <a:p>
            <a:pPr algn="l">
              <a:spcAft>
                <a:spcPts val="400"/>
              </a:spcAft>
            </a:pPr>
            <a:r>
              <a:rPr sz="4000" b="1">
                <a:solidFill>
                  <a:srgbClr val="F5A623"/>
                </a:solidFill>
                <a:latin typeface="Arial"/>
              </a:rPr>
              <a:t>ON MY MACHINE?</a:t>
            </a:r>
          </a:p>
        </p:txBody>
      </p:sp>
      <p:sp>
        <p:nvSpPr>
          <p:cNvPr id="7" name="Rectangle 6"/>
          <p:cNvSpPr/>
          <p:nvPr/>
        </p:nvSpPr>
        <p:spPr>
          <a:xfrm>
            <a:off x="777240" y="2606040"/>
            <a:ext cx="2487168" cy="1417320"/>
          </a:xfrm>
          <a:prstGeom prst="rect">
            <a:avLst/>
          </a:prstGeom>
          <a:solidFill>
            <a:srgbClr val="1012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606040"/>
            <a:ext cx="2487168" cy="2286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4000500"/>
            <a:ext cx="2487168" cy="2286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2606040"/>
            <a:ext cx="22860" cy="141732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41548" y="2606040"/>
            <a:ext cx="22860" cy="141732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2788920"/>
            <a:ext cx="2487168" cy="566928"/>
          </a:xfrm>
          <a:prstGeom prst="rect">
            <a:avLst/>
          </a:prstGeom>
          <a:noFill/>
        </p:spPr>
        <p:txBody>
          <a:bodyPr wrap="square" anchor="t">
            <a:spAutoFit/>
          </a:bodyPr>
          <a:lstStyle/>
          <a:p>
            <a:pPr algn="ctr">
              <a:spcAft>
                <a:spcPts val="400"/>
              </a:spcAft>
            </a:pPr>
            <a:r>
              <a:rPr sz="2600" b="1">
                <a:solidFill>
                  <a:srgbClr val="4ADE80"/>
                </a:solidFill>
                <a:latin typeface="Arial"/>
              </a:rPr>
              <a:t>macOS</a:t>
            </a:r>
          </a:p>
        </p:txBody>
      </p:sp>
      <p:sp>
        <p:nvSpPr>
          <p:cNvPr id="13" name="TextBox 12"/>
          <p:cNvSpPr txBox="1"/>
          <p:nvPr/>
        </p:nvSpPr>
        <p:spPr>
          <a:xfrm>
            <a:off x="777240" y="3447288"/>
            <a:ext cx="2487168" cy="384048"/>
          </a:xfrm>
          <a:prstGeom prst="rect">
            <a:avLst/>
          </a:prstGeom>
          <a:noFill/>
        </p:spPr>
        <p:txBody>
          <a:bodyPr wrap="square" anchor="t">
            <a:spAutoFit/>
          </a:bodyPr>
          <a:lstStyle/>
          <a:p>
            <a:pPr algn="ctr">
              <a:spcAft>
                <a:spcPts val="400"/>
              </a:spcAft>
            </a:pPr>
            <a:r>
              <a:rPr sz="1500" b="0">
                <a:solidFill>
                  <a:srgbClr val="E8E6DD"/>
                </a:solidFill>
                <a:latin typeface="Arial"/>
              </a:rPr>
              <a:t>Native ✓</a:t>
            </a:r>
          </a:p>
        </p:txBody>
      </p:sp>
      <p:sp>
        <p:nvSpPr>
          <p:cNvPr id="14" name="Rectangle 13"/>
          <p:cNvSpPr/>
          <p:nvPr/>
        </p:nvSpPr>
        <p:spPr>
          <a:xfrm>
            <a:off x="3493008" y="2606040"/>
            <a:ext cx="2487168" cy="1417320"/>
          </a:xfrm>
          <a:prstGeom prst="rect">
            <a:avLst/>
          </a:prstGeom>
          <a:solidFill>
            <a:srgbClr val="1012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93008" y="2606040"/>
            <a:ext cx="2487168" cy="2286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93008" y="4000500"/>
            <a:ext cx="2487168" cy="2286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493008" y="2606040"/>
            <a:ext cx="22860" cy="141732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957316" y="2606040"/>
            <a:ext cx="22860" cy="141732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493008" y="2788920"/>
            <a:ext cx="2487168" cy="566928"/>
          </a:xfrm>
          <a:prstGeom prst="rect">
            <a:avLst/>
          </a:prstGeom>
          <a:noFill/>
        </p:spPr>
        <p:txBody>
          <a:bodyPr wrap="square" anchor="t">
            <a:spAutoFit/>
          </a:bodyPr>
          <a:lstStyle/>
          <a:p>
            <a:pPr algn="ctr">
              <a:spcAft>
                <a:spcPts val="400"/>
              </a:spcAft>
            </a:pPr>
            <a:r>
              <a:rPr sz="2600" b="1">
                <a:solidFill>
                  <a:srgbClr val="4ADE80"/>
                </a:solidFill>
                <a:latin typeface="Arial"/>
              </a:rPr>
              <a:t>Linux</a:t>
            </a:r>
          </a:p>
        </p:txBody>
      </p:sp>
      <p:sp>
        <p:nvSpPr>
          <p:cNvPr id="20" name="TextBox 19"/>
          <p:cNvSpPr txBox="1"/>
          <p:nvPr/>
        </p:nvSpPr>
        <p:spPr>
          <a:xfrm>
            <a:off x="3493008" y="3447288"/>
            <a:ext cx="2487168" cy="384048"/>
          </a:xfrm>
          <a:prstGeom prst="rect">
            <a:avLst/>
          </a:prstGeom>
          <a:noFill/>
        </p:spPr>
        <p:txBody>
          <a:bodyPr wrap="square" anchor="t">
            <a:spAutoFit/>
          </a:bodyPr>
          <a:lstStyle/>
          <a:p>
            <a:pPr algn="ctr">
              <a:spcAft>
                <a:spcPts val="400"/>
              </a:spcAft>
            </a:pPr>
            <a:r>
              <a:rPr sz="1500" b="0">
                <a:solidFill>
                  <a:srgbClr val="E8E6DD"/>
                </a:solidFill>
                <a:latin typeface="Arial"/>
              </a:rPr>
              <a:t>Native ✓</a:t>
            </a:r>
          </a:p>
        </p:txBody>
      </p:sp>
      <p:sp>
        <p:nvSpPr>
          <p:cNvPr id="21" name="Rectangle 20"/>
          <p:cNvSpPr/>
          <p:nvPr/>
        </p:nvSpPr>
        <p:spPr>
          <a:xfrm>
            <a:off x="6208776" y="2606040"/>
            <a:ext cx="2487168" cy="1417320"/>
          </a:xfrm>
          <a:prstGeom prst="rect">
            <a:avLst/>
          </a:prstGeom>
          <a:solidFill>
            <a:srgbClr val="1012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08776" y="2606040"/>
            <a:ext cx="2487168" cy="2286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08776" y="4000500"/>
            <a:ext cx="2487168" cy="2286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08776" y="2606040"/>
            <a:ext cx="22860" cy="141732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673084" y="2606040"/>
            <a:ext cx="22860" cy="141732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08776" y="2788920"/>
            <a:ext cx="2487168" cy="566928"/>
          </a:xfrm>
          <a:prstGeom prst="rect">
            <a:avLst/>
          </a:prstGeom>
          <a:noFill/>
        </p:spPr>
        <p:txBody>
          <a:bodyPr wrap="square" anchor="t">
            <a:spAutoFit/>
          </a:bodyPr>
          <a:lstStyle/>
          <a:p>
            <a:pPr algn="ctr">
              <a:spcAft>
                <a:spcPts val="400"/>
              </a:spcAft>
            </a:pPr>
            <a:r>
              <a:rPr sz="2600" b="1">
                <a:solidFill>
                  <a:srgbClr val="4ADE80"/>
                </a:solidFill>
                <a:latin typeface="Arial"/>
              </a:rPr>
              <a:t>Windows</a:t>
            </a:r>
          </a:p>
        </p:txBody>
      </p:sp>
      <p:sp>
        <p:nvSpPr>
          <p:cNvPr id="27" name="TextBox 26"/>
          <p:cNvSpPr txBox="1"/>
          <p:nvPr/>
        </p:nvSpPr>
        <p:spPr>
          <a:xfrm>
            <a:off x="6208776" y="3447288"/>
            <a:ext cx="2487168" cy="384048"/>
          </a:xfrm>
          <a:prstGeom prst="rect">
            <a:avLst/>
          </a:prstGeom>
          <a:noFill/>
        </p:spPr>
        <p:txBody>
          <a:bodyPr wrap="square" anchor="t">
            <a:spAutoFit/>
          </a:bodyPr>
          <a:lstStyle/>
          <a:p>
            <a:pPr algn="ctr">
              <a:spcAft>
                <a:spcPts val="400"/>
              </a:spcAft>
            </a:pPr>
            <a:r>
              <a:rPr sz="1500" b="0">
                <a:solidFill>
                  <a:srgbClr val="E8E6DD"/>
                </a:solidFill>
                <a:latin typeface="Arial"/>
              </a:rPr>
              <a:t>WSL2 only</a:t>
            </a:r>
          </a:p>
        </p:txBody>
      </p:sp>
      <p:sp>
        <p:nvSpPr>
          <p:cNvPr id="28" name="Rectangle 27"/>
          <p:cNvSpPr/>
          <p:nvPr/>
        </p:nvSpPr>
        <p:spPr>
          <a:xfrm>
            <a:off x="8924544" y="2606040"/>
            <a:ext cx="2487168" cy="1417320"/>
          </a:xfrm>
          <a:prstGeom prst="rect">
            <a:avLst/>
          </a:prstGeom>
          <a:solidFill>
            <a:srgbClr val="1012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924544" y="2606040"/>
            <a:ext cx="2487168" cy="2286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924544" y="4000500"/>
            <a:ext cx="2487168" cy="2286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924544" y="2606040"/>
            <a:ext cx="22860" cy="141732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1388852" y="2606040"/>
            <a:ext cx="22860" cy="141732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924544" y="2788920"/>
            <a:ext cx="2487168" cy="566928"/>
          </a:xfrm>
          <a:prstGeom prst="rect">
            <a:avLst/>
          </a:prstGeom>
          <a:noFill/>
        </p:spPr>
        <p:txBody>
          <a:bodyPr wrap="square" anchor="t">
            <a:spAutoFit/>
          </a:bodyPr>
          <a:lstStyle/>
          <a:p>
            <a:pPr algn="ctr">
              <a:spcAft>
                <a:spcPts val="400"/>
              </a:spcAft>
            </a:pPr>
            <a:r>
              <a:rPr sz="2600" b="1">
                <a:solidFill>
                  <a:srgbClr val="4ADE80"/>
                </a:solidFill>
                <a:latin typeface="Arial"/>
              </a:rPr>
              <a:t>Android</a:t>
            </a:r>
          </a:p>
        </p:txBody>
      </p:sp>
      <p:sp>
        <p:nvSpPr>
          <p:cNvPr id="34" name="TextBox 33"/>
          <p:cNvSpPr txBox="1"/>
          <p:nvPr/>
        </p:nvSpPr>
        <p:spPr>
          <a:xfrm>
            <a:off x="8924544" y="3447288"/>
            <a:ext cx="2487168" cy="384048"/>
          </a:xfrm>
          <a:prstGeom prst="rect">
            <a:avLst/>
          </a:prstGeom>
          <a:noFill/>
        </p:spPr>
        <p:txBody>
          <a:bodyPr wrap="square" anchor="t">
            <a:spAutoFit/>
          </a:bodyPr>
          <a:lstStyle/>
          <a:p>
            <a:pPr algn="ctr">
              <a:spcAft>
                <a:spcPts val="400"/>
              </a:spcAft>
            </a:pPr>
            <a:r>
              <a:rPr sz="1500" b="0">
                <a:solidFill>
                  <a:srgbClr val="E8E6DD"/>
                </a:solidFill>
                <a:latin typeface="Arial"/>
              </a:rPr>
              <a:t>Termux (v0.9.0)</a:t>
            </a:r>
          </a:p>
        </p:txBody>
      </p:sp>
      <p:sp>
        <p:nvSpPr>
          <p:cNvPr id="35" name="Rectangle 34"/>
          <p:cNvSpPr/>
          <p:nvPr/>
        </p:nvSpPr>
        <p:spPr>
          <a:xfrm>
            <a:off x="777240" y="4389120"/>
            <a:ext cx="1828800" cy="32918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77240" y="4407408"/>
            <a:ext cx="1828800" cy="292608"/>
          </a:xfrm>
          <a:prstGeom prst="rect">
            <a:avLst/>
          </a:prstGeom>
          <a:noFill/>
        </p:spPr>
        <p:txBody>
          <a:bodyPr wrap="square" anchor="t">
            <a:spAutoFit/>
          </a:bodyPr>
          <a:lstStyle/>
          <a:p>
            <a:pPr algn="ctr">
              <a:spcAft>
                <a:spcPts val="400"/>
              </a:spcAft>
            </a:pPr>
            <a:r>
              <a:rPr sz="1200" b="1">
                <a:solidFill>
                  <a:srgbClr val="0D0E0B"/>
                </a:solidFill>
                <a:latin typeface="Arial"/>
              </a:rPr>
              <a:t>AUTO-INSTALLED</a:t>
            </a:r>
          </a:p>
        </p:txBody>
      </p:sp>
      <p:sp>
        <p:nvSpPr>
          <p:cNvPr id="37" name="TextBox 36"/>
          <p:cNvSpPr txBox="1"/>
          <p:nvPr/>
        </p:nvSpPr>
        <p:spPr>
          <a:xfrm>
            <a:off x="2743200" y="4389120"/>
            <a:ext cx="8595360" cy="329184"/>
          </a:xfrm>
          <a:prstGeom prst="rect">
            <a:avLst/>
          </a:prstGeom>
          <a:noFill/>
        </p:spPr>
        <p:txBody>
          <a:bodyPr wrap="square" anchor="ctr">
            <a:spAutoFit/>
          </a:bodyPr>
          <a:lstStyle/>
          <a:p>
            <a:pPr algn="l">
              <a:spcAft>
                <a:spcPts val="400"/>
              </a:spcAft>
            </a:pPr>
            <a:r>
              <a:rPr sz="1400" b="1">
                <a:solidFill>
                  <a:srgbClr val="E8E6DD"/>
                </a:solidFill>
                <a:latin typeface="Arial"/>
              </a:rPr>
              <a:t>Python 3.11, Node.js 22, uv, ripgrep, ffmpeg, git.</a:t>
            </a:r>
          </a:p>
        </p:txBody>
      </p:sp>
      <p:sp>
        <p:nvSpPr>
          <p:cNvPr id="38" name="TextBox 37"/>
          <p:cNvSpPr txBox="1"/>
          <p:nvPr/>
        </p:nvSpPr>
        <p:spPr>
          <a:xfrm>
            <a:off x="777240" y="4846320"/>
            <a:ext cx="10607040" cy="310896"/>
          </a:xfrm>
          <a:prstGeom prst="rect">
            <a:avLst/>
          </a:prstGeom>
          <a:noFill/>
        </p:spPr>
        <p:txBody>
          <a:bodyPr wrap="square" anchor="t">
            <a:spAutoFit/>
          </a:bodyPr>
          <a:lstStyle/>
          <a:p>
            <a:pPr algn="l">
              <a:spcAft>
                <a:spcPts val="400"/>
              </a:spcAft>
            </a:pPr>
            <a:r>
              <a:rPr sz="1200" b="0">
                <a:solidFill>
                  <a:srgbClr val="8A8D86"/>
                </a:solidFill>
                <a:latin typeface="Arial"/>
              </a:rPr>
              <a:t>Native Windows is explicitly unsupported. The installer refuses CYGWIN/MINGW/MSYS.</a:t>
            </a:r>
          </a:p>
        </p:txBody>
      </p:sp>
      <p:sp>
        <p:nvSpPr>
          <p:cNvPr id="39" name="TextBox 3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40" name="TextBox 3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41" name="TextBox 4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and Setup Hermes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8</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Install on macOS / Linux / WSL2 — run the official install script</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curl -fsSL https://hermes-agent.nousresearch.com/install.sh | bash</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and Setup Hermes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8</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Install on Windows — run the PowerShell installer</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iex (irm https://hermes-agent.nousresearch.com/install.ps1)</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27</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and Setup Hermes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8</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Install Hermes Desktop — download the installer from hermes-agent.nousresearch.com, or launch it from an existing CLI install</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desktop</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and Setup Hermes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8</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Other install options: from source (Development Setup) or Nix/NixOS (flake + module)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29</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and Setup Hermes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5 OF 8</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Reload your shell so the 'hermes' command is on PATH</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source ~/.zshrc</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30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and Setup Hermes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6</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6 OF 8</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Run the first-time setup wizard</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setup --portal</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31</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and Setup Hermes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7</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7 OF 8</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Check the install is healthy</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doctor</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32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and Setup Hermes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8</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8 OF 8</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Launch the agent and say hello</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--tui</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33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and Setup Hermes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'hermes doctor' reports all green and the TUI opens and replies to a message.</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34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Deployment — Local Install &amp; Hermes Desktop App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2</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Run Hermes as a persistent local deployment (preferred) and also install the Hermes Desktop app for a GUI experience. Confirm the local gateway is serving and keep the runtime up to date.</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local Hermes deployment plus the Desktop app, both talking to the same agent.</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Hermes Desktop, terminal</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35</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65760"/>
            <a:ext cx="10607040" cy="320040"/>
          </a:xfrm>
          <a:prstGeom prst="rect">
            <a:avLst/>
          </a:prstGeom>
          <a:noFill/>
        </p:spPr>
        <p:txBody>
          <a:bodyPr wrap="square" anchor="t">
            <a:spAutoFit/>
          </a:bodyPr>
          <a:lstStyle/>
          <a:p>
            <a:pPr algn="l">
              <a:spcAft>
                <a:spcPts val="400"/>
              </a:spcAft>
            </a:pPr>
            <a:r>
              <a:rPr sz="1300" b="1">
                <a:solidFill>
                  <a:srgbClr val="F5A623"/>
                </a:solidFill>
                <a:latin typeface="Arial"/>
              </a:rPr>
              <a:t>&gt; part-04/telegram-setup</a:t>
            </a:r>
          </a:p>
        </p:txBody>
      </p:sp>
      <p:sp>
        <p:nvSpPr>
          <p:cNvPr id="4" name="Rectangle 3"/>
          <p:cNvSpPr/>
          <p:nvPr/>
        </p:nvSpPr>
        <p:spPr>
          <a:xfrm>
            <a:off x="777240" y="749808"/>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896112"/>
            <a:ext cx="10881360" cy="713232"/>
          </a:xfrm>
          <a:prstGeom prst="rect">
            <a:avLst/>
          </a:prstGeom>
          <a:noFill/>
        </p:spPr>
        <p:txBody>
          <a:bodyPr wrap="square" anchor="t">
            <a:spAutoFit/>
          </a:bodyPr>
          <a:lstStyle/>
          <a:p>
            <a:pPr algn="l">
              <a:spcAft>
                <a:spcPts val="400"/>
              </a:spcAft>
            </a:pPr>
            <a:r>
              <a:rPr sz="4000" b="1">
                <a:solidFill>
                  <a:srgbClr val="F5A623"/>
                </a:solidFill>
                <a:latin typeface="Arial"/>
              </a:rPr>
              <a:t>TELEGRAM.</a:t>
            </a:r>
          </a:p>
        </p:txBody>
      </p:sp>
      <p:sp>
        <p:nvSpPr>
          <p:cNvPr id="6" name="TextBox 5"/>
          <p:cNvSpPr txBox="1"/>
          <p:nvPr/>
        </p:nvSpPr>
        <p:spPr>
          <a:xfrm>
            <a:off x="777240" y="1664208"/>
            <a:ext cx="10881360" cy="347472"/>
          </a:xfrm>
          <a:prstGeom prst="rect">
            <a:avLst/>
          </a:prstGeom>
          <a:noFill/>
        </p:spPr>
        <p:txBody>
          <a:bodyPr wrap="square" anchor="t">
            <a:spAutoFit/>
          </a:bodyPr>
          <a:lstStyle/>
          <a:p>
            <a:pPr algn="l">
              <a:spcAft>
                <a:spcPts val="400"/>
              </a:spcAft>
            </a:pPr>
            <a:r>
              <a:rPr sz="1500" b="0">
                <a:solidFill>
                  <a:srgbClr val="E8E6DD"/>
                </a:solidFill>
                <a:latin typeface="Arial"/>
              </a:rPr>
              <a:t>Five steps. Phone → bot → VPS.</a:t>
            </a:r>
          </a:p>
        </p:txBody>
      </p:sp>
      <p:sp>
        <p:nvSpPr>
          <p:cNvPr id="7" name="Rectangle 6"/>
          <p:cNvSpPr/>
          <p:nvPr/>
        </p:nvSpPr>
        <p:spPr>
          <a:xfrm>
            <a:off x="777240" y="2231136"/>
            <a:ext cx="10634472" cy="612647"/>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231136"/>
            <a:ext cx="45720" cy="61264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231136"/>
            <a:ext cx="685800" cy="612647"/>
          </a:xfrm>
          <a:prstGeom prst="rect">
            <a:avLst/>
          </a:prstGeom>
          <a:noFill/>
        </p:spPr>
        <p:txBody>
          <a:bodyPr wrap="square" anchor="ctr">
            <a:spAutoFit/>
          </a:bodyPr>
          <a:lstStyle/>
          <a:p>
            <a:pPr algn="l">
              <a:spcAft>
                <a:spcPts val="400"/>
              </a:spcAft>
            </a:pPr>
            <a:r>
              <a:rPr sz="1600" b="1">
                <a:solidFill>
                  <a:srgbClr val="F5A623"/>
                </a:solidFill>
                <a:latin typeface="Arial"/>
              </a:rPr>
              <a:t>01</a:t>
            </a:r>
          </a:p>
        </p:txBody>
      </p:sp>
      <p:sp>
        <p:nvSpPr>
          <p:cNvPr id="10" name="TextBox 9"/>
          <p:cNvSpPr txBox="1"/>
          <p:nvPr/>
        </p:nvSpPr>
        <p:spPr>
          <a:xfrm>
            <a:off x="1737360" y="2231136"/>
            <a:ext cx="9464040" cy="612647"/>
          </a:xfrm>
          <a:prstGeom prst="rect">
            <a:avLst/>
          </a:prstGeom>
          <a:noFill/>
        </p:spPr>
        <p:txBody>
          <a:bodyPr wrap="square" anchor="ctr">
            <a:spAutoFit/>
          </a:bodyPr>
          <a:lstStyle/>
          <a:p>
            <a:pPr algn="l">
              <a:spcAft>
                <a:spcPts val="400"/>
              </a:spcAft>
            </a:pPr>
            <a:r>
              <a:rPr sz="1600" b="1">
                <a:solidFill>
                  <a:srgbClr val="F5A623"/>
                </a:solidFill>
                <a:latin typeface="Arial"/>
              </a:rPr>
              <a:t>@BotFather → /newbot → </a:t>
            </a:r>
            <a:r>
              <a:rPr sz="1600" b="0">
                <a:solidFill>
                  <a:srgbClr val="E8E6DD"/>
                </a:solidFill>
                <a:latin typeface="Arial"/>
              </a:rPr>
              <a:t>copy token</a:t>
            </a:r>
          </a:p>
        </p:txBody>
      </p:sp>
      <p:sp>
        <p:nvSpPr>
          <p:cNvPr id="11" name="Rectangle 10"/>
          <p:cNvSpPr/>
          <p:nvPr/>
        </p:nvSpPr>
        <p:spPr>
          <a:xfrm>
            <a:off x="777240" y="2971800"/>
            <a:ext cx="10634472" cy="612647"/>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971800"/>
            <a:ext cx="45720" cy="61264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2971800"/>
            <a:ext cx="685800" cy="612647"/>
          </a:xfrm>
          <a:prstGeom prst="rect">
            <a:avLst/>
          </a:prstGeom>
          <a:noFill/>
        </p:spPr>
        <p:txBody>
          <a:bodyPr wrap="square" anchor="ctr">
            <a:spAutoFit/>
          </a:bodyPr>
          <a:lstStyle/>
          <a:p>
            <a:pPr algn="l">
              <a:spcAft>
                <a:spcPts val="400"/>
              </a:spcAft>
            </a:pPr>
            <a:r>
              <a:rPr sz="1600" b="1">
                <a:solidFill>
                  <a:srgbClr val="F5A623"/>
                </a:solidFill>
                <a:latin typeface="Arial"/>
              </a:rPr>
              <a:t>02</a:t>
            </a:r>
          </a:p>
        </p:txBody>
      </p:sp>
      <p:sp>
        <p:nvSpPr>
          <p:cNvPr id="14" name="TextBox 13"/>
          <p:cNvSpPr txBox="1"/>
          <p:nvPr/>
        </p:nvSpPr>
        <p:spPr>
          <a:xfrm>
            <a:off x="1737360" y="2971800"/>
            <a:ext cx="9464040" cy="612647"/>
          </a:xfrm>
          <a:prstGeom prst="rect">
            <a:avLst/>
          </a:prstGeom>
          <a:noFill/>
        </p:spPr>
        <p:txBody>
          <a:bodyPr wrap="square" anchor="ctr">
            <a:spAutoFit/>
          </a:bodyPr>
          <a:lstStyle/>
          <a:p>
            <a:pPr algn="l">
              <a:spcAft>
                <a:spcPts val="400"/>
              </a:spcAft>
            </a:pPr>
            <a:r>
              <a:rPr sz="1600" b="1">
                <a:solidFill>
                  <a:srgbClr val="F5A623"/>
                </a:solidFill>
                <a:latin typeface="Arial"/>
              </a:rPr>
              <a:t>@userinfobot → </a:t>
            </a:r>
            <a:r>
              <a:rPr sz="1600" b="0">
                <a:solidFill>
                  <a:srgbClr val="E8E6DD"/>
                </a:solidFill>
                <a:latin typeface="Arial"/>
              </a:rPr>
              <a:t>copy your Telegram user ID</a:t>
            </a:r>
          </a:p>
        </p:txBody>
      </p:sp>
      <p:sp>
        <p:nvSpPr>
          <p:cNvPr id="15" name="Rectangle 14"/>
          <p:cNvSpPr/>
          <p:nvPr/>
        </p:nvSpPr>
        <p:spPr>
          <a:xfrm>
            <a:off x="777240" y="3712464"/>
            <a:ext cx="10634472" cy="612647"/>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3712464"/>
            <a:ext cx="45720" cy="61264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3712464"/>
            <a:ext cx="685800" cy="612647"/>
          </a:xfrm>
          <a:prstGeom prst="rect">
            <a:avLst/>
          </a:prstGeom>
          <a:noFill/>
        </p:spPr>
        <p:txBody>
          <a:bodyPr wrap="square" anchor="ctr">
            <a:spAutoFit/>
          </a:bodyPr>
          <a:lstStyle/>
          <a:p>
            <a:pPr algn="l">
              <a:spcAft>
                <a:spcPts val="400"/>
              </a:spcAft>
            </a:pPr>
            <a:r>
              <a:rPr sz="1600" b="1">
                <a:solidFill>
                  <a:srgbClr val="F5A623"/>
                </a:solidFill>
                <a:latin typeface="Arial"/>
              </a:rPr>
              <a:t>03</a:t>
            </a:r>
          </a:p>
        </p:txBody>
      </p:sp>
      <p:sp>
        <p:nvSpPr>
          <p:cNvPr id="18" name="TextBox 17"/>
          <p:cNvSpPr txBox="1"/>
          <p:nvPr/>
        </p:nvSpPr>
        <p:spPr>
          <a:xfrm>
            <a:off x="1737360" y="3712464"/>
            <a:ext cx="9464040" cy="612647"/>
          </a:xfrm>
          <a:prstGeom prst="rect">
            <a:avLst/>
          </a:prstGeom>
          <a:noFill/>
        </p:spPr>
        <p:txBody>
          <a:bodyPr wrap="square" anchor="ctr">
            <a:spAutoFit/>
          </a:bodyPr>
          <a:lstStyle/>
          <a:p>
            <a:pPr algn="l">
              <a:spcAft>
                <a:spcPts val="400"/>
              </a:spcAft>
            </a:pPr>
            <a:r>
              <a:rPr sz="1600" b="1">
                <a:solidFill>
                  <a:srgbClr val="F5A623"/>
                </a:solidFill>
                <a:latin typeface="Arial"/>
              </a:rPr>
              <a:t>hermes setup gateway </a:t>
            </a:r>
            <a:r>
              <a:rPr sz="1600" b="0">
                <a:solidFill>
                  <a:srgbClr val="E8E6DD"/>
                </a:solidFill>
                <a:latin typeface="Arial"/>
              </a:rPr>
              <a:t>on VPS → Telegram → paste token</a:t>
            </a:r>
          </a:p>
        </p:txBody>
      </p:sp>
      <p:sp>
        <p:nvSpPr>
          <p:cNvPr id="19" name="Rectangle 18"/>
          <p:cNvSpPr/>
          <p:nvPr/>
        </p:nvSpPr>
        <p:spPr>
          <a:xfrm>
            <a:off x="777240" y="4453128"/>
            <a:ext cx="10634472" cy="612647"/>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4453128"/>
            <a:ext cx="45720" cy="61264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05840" y="4453128"/>
            <a:ext cx="685800" cy="612647"/>
          </a:xfrm>
          <a:prstGeom prst="rect">
            <a:avLst/>
          </a:prstGeom>
          <a:noFill/>
        </p:spPr>
        <p:txBody>
          <a:bodyPr wrap="square" anchor="ctr">
            <a:spAutoFit/>
          </a:bodyPr>
          <a:lstStyle/>
          <a:p>
            <a:pPr algn="l">
              <a:spcAft>
                <a:spcPts val="400"/>
              </a:spcAft>
            </a:pPr>
            <a:r>
              <a:rPr sz="1600" b="1">
                <a:solidFill>
                  <a:srgbClr val="F5A623"/>
                </a:solidFill>
                <a:latin typeface="Arial"/>
              </a:rPr>
              <a:t>04</a:t>
            </a:r>
          </a:p>
        </p:txBody>
      </p:sp>
      <p:sp>
        <p:nvSpPr>
          <p:cNvPr id="22" name="TextBox 21"/>
          <p:cNvSpPr txBox="1"/>
          <p:nvPr/>
        </p:nvSpPr>
        <p:spPr>
          <a:xfrm>
            <a:off x="1737360" y="4453128"/>
            <a:ext cx="9464040" cy="612647"/>
          </a:xfrm>
          <a:prstGeom prst="rect">
            <a:avLst/>
          </a:prstGeom>
          <a:noFill/>
        </p:spPr>
        <p:txBody>
          <a:bodyPr wrap="square" anchor="ctr">
            <a:spAutoFit/>
          </a:bodyPr>
          <a:lstStyle/>
          <a:p>
            <a:pPr algn="l">
              <a:spcAft>
                <a:spcPts val="400"/>
              </a:spcAft>
            </a:pPr>
            <a:r>
              <a:rPr sz="1600" b="1">
                <a:solidFill>
                  <a:srgbClr val="F5A623"/>
                </a:solidFill>
                <a:latin typeface="Arial"/>
              </a:rPr>
              <a:t>TELEGRAM_ALLOWED_USERS → </a:t>
            </a:r>
            <a:r>
              <a:rPr sz="1600" b="0">
                <a:solidFill>
                  <a:srgbClr val="E8E6DD"/>
                </a:solidFill>
                <a:latin typeface="Arial"/>
              </a:rPr>
              <a:t>paste your user ID (allowlist mode)</a:t>
            </a:r>
          </a:p>
        </p:txBody>
      </p:sp>
      <p:sp>
        <p:nvSpPr>
          <p:cNvPr id="23" name="Rectangle 22"/>
          <p:cNvSpPr/>
          <p:nvPr/>
        </p:nvSpPr>
        <p:spPr>
          <a:xfrm>
            <a:off x="777240" y="5193792"/>
            <a:ext cx="10634472" cy="612647"/>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77240" y="5193792"/>
            <a:ext cx="45720" cy="61264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5840" y="5193792"/>
            <a:ext cx="685800" cy="612647"/>
          </a:xfrm>
          <a:prstGeom prst="rect">
            <a:avLst/>
          </a:prstGeom>
          <a:noFill/>
        </p:spPr>
        <p:txBody>
          <a:bodyPr wrap="square" anchor="ctr">
            <a:spAutoFit/>
          </a:bodyPr>
          <a:lstStyle/>
          <a:p>
            <a:pPr algn="l">
              <a:spcAft>
                <a:spcPts val="400"/>
              </a:spcAft>
            </a:pPr>
            <a:r>
              <a:rPr sz="1600" b="1">
                <a:solidFill>
                  <a:srgbClr val="F5A623"/>
                </a:solidFill>
                <a:latin typeface="Arial"/>
              </a:rPr>
              <a:t>05</a:t>
            </a:r>
          </a:p>
        </p:txBody>
      </p:sp>
      <p:sp>
        <p:nvSpPr>
          <p:cNvPr id="26" name="TextBox 25"/>
          <p:cNvSpPr txBox="1"/>
          <p:nvPr/>
        </p:nvSpPr>
        <p:spPr>
          <a:xfrm>
            <a:off x="1737360" y="5193792"/>
            <a:ext cx="9464040" cy="612647"/>
          </a:xfrm>
          <a:prstGeom prst="rect">
            <a:avLst/>
          </a:prstGeom>
          <a:noFill/>
        </p:spPr>
        <p:txBody>
          <a:bodyPr wrap="square" anchor="ctr">
            <a:spAutoFit/>
          </a:bodyPr>
          <a:lstStyle/>
          <a:p>
            <a:pPr algn="l">
              <a:spcAft>
                <a:spcPts val="400"/>
              </a:spcAft>
            </a:pPr>
            <a:r>
              <a:rPr sz="1600" b="1">
                <a:solidFill>
                  <a:srgbClr val="F5A623"/>
                </a:solidFill>
                <a:latin typeface="Arial"/>
              </a:rPr>
              <a:t>save + restart </a:t>
            </a:r>
            <a:r>
              <a:rPr sz="1600" b="0">
                <a:solidFill>
                  <a:srgbClr val="E8E6DD"/>
                </a:solidFill>
                <a:latin typeface="Arial"/>
              </a:rPr>
              <a:t>gateway</a:t>
            </a:r>
          </a:p>
        </p:txBody>
      </p:sp>
      <p:sp>
        <p:nvSpPr>
          <p:cNvPr id="27" name="Rectangle 26"/>
          <p:cNvSpPr/>
          <p:nvPr/>
        </p:nvSpPr>
        <p:spPr>
          <a:xfrm>
            <a:off x="777240" y="6007607"/>
            <a:ext cx="1051560" cy="310896"/>
          </a:xfrm>
          <a:prstGeom prst="rect">
            <a:avLst/>
          </a:prstGeom>
          <a:solidFill>
            <a:srgbClr val="E05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7240" y="6025895"/>
            <a:ext cx="1051560" cy="274320"/>
          </a:xfrm>
          <a:prstGeom prst="rect">
            <a:avLst/>
          </a:prstGeom>
          <a:noFill/>
        </p:spPr>
        <p:txBody>
          <a:bodyPr wrap="square" anchor="t">
            <a:spAutoFit/>
          </a:bodyPr>
          <a:lstStyle/>
          <a:p>
            <a:pPr algn="ctr">
              <a:spcAft>
                <a:spcPts val="400"/>
              </a:spcAft>
            </a:pPr>
            <a:r>
              <a:rPr sz="1200" b="1">
                <a:solidFill>
                  <a:srgbClr val="0D0E0B"/>
                </a:solidFill>
                <a:latin typeface="Arial"/>
              </a:rPr>
              <a:t>NEVER</a:t>
            </a:r>
          </a:p>
        </p:txBody>
      </p:sp>
      <p:sp>
        <p:nvSpPr>
          <p:cNvPr id="29" name="TextBox 28"/>
          <p:cNvSpPr txBox="1"/>
          <p:nvPr/>
        </p:nvSpPr>
        <p:spPr>
          <a:xfrm>
            <a:off x="2011680" y="6007607"/>
            <a:ext cx="9326880" cy="310896"/>
          </a:xfrm>
          <a:prstGeom prst="rect">
            <a:avLst/>
          </a:prstGeom>
          <a:noFill/>
        </p:spPr>
        <p:txBody>
          <a:bodyPr wrap="square" anchor="ctr">
            <a:spAutoFit/>
          </a:bodyPr>
          <a:lstStyle/>
          <a:p>
            <a:pPr algn="l">
              <a:spcAft>
                <a:spcPts val="400"/>
              </a:spcAft>
            </a:pPr>
            <a:r>
              <a:rPr sz="1300" b="0">
                <a:solidFill>
                  <a:srgbClr val="E8E6DD"/>
                </a:solidFill>
                <a:latin typeface="Arial"/>
              </a:rPr>
              <a:t>set GATEWAY_ALLOW_ALL_USERS=true. Anyone who guesses your bot's username = full access.</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36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65760"/>
            <a:ext cx="10607040" cy="320040"/>
          </a:xfrm>
          <a:prstGeom prst="rect">
            <a:avLst/>
          </a:prstGeom>
          <a:noFill/>
        </p:spPr>
        <p:txBody>
          <a:bodyPr wrap="square" anchor="t">
            <a:spAutoFit/>
          </a:bodyPr>
          <a:lstStyle/>
          <a:p>
            <a:pPr algn="l">
              <a:spcAft>
                <a:spcPts val="400"/>
              </a:spcAft>
            </a:pPr>
            <a:r>
              <a:rPr sz="1300" b="1">
                <a:solidFill>
                  <a:srgbClr val="F5A623"/>
                </a:solidFill>
                <a:latin typeface="Arial"/>
              </a:rPr>
              <a:t>&gt; part-03/top-10-slash</a:t>
            </a:r>
          </a:p>
        </p:txBody>
      </p:sp>
      <p:sp>
        <p:nvSpPr>
          <p:cNvPr id="4" name="Rectangle 3"/>
          <p:cNvSpPr/>
          <p:nvPr/>
        </p:nvSpPr>
        <p:spPr>
          <a:xfrm>
            <a:off x="777240" y="749808"/>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896112"/>
            <a:ext cx="10881360" cy="713232"/>
          </a:xfrm>
          <a:prstGeom prst="rect">
            <a:avLst/>
          </a:prstGeom>
          <a:noFill/>
        </p:spPr>
        <p:txBody>
          <a:bodyPr wrap="square" anchor="t">
            <a:spAutoFit/>
          </a:bodyPr>
          <a:lstStyle/>
          <a:p>
            <a:pPr algn="l">
              <a:spcAft>
                <a:spcPts val="400"/>
              </a:spcAft>
            </a:pPr>
            <a:r>
              <a:rPr sz="4000" b="1">
                <a:solidFill>
                  <a:srgbClr val="F5A623"/>
                </a:solidFill>
                <a:latin typeface="Arial"/>
              </a:rPr>
              <a:t>TOP 10 SLASH.</a:t>
            </a:r>
          </a:p>
        </p:txBody>
      </p:sp>
      <p:sp>
        <p:nvSpPr>
          <p:cNvPr id="6" name="TextBox 5"/>
          <p:cNvSpPr txBox="1"/>
          <p:nvPr/>
        </p:nvSpPr>
        <p:spPr>
          <a:xfrm>
            <a:off x="777240" y="1609344"/>
            <a:ext cx="10881360" cy="329184"/>
          </a:xfrm>
          <a:prstGeom prst="rect">
            <a:avLst/>
          </a:prstGeom>
          <a:noFill/>
        </p:spPr>
        <p:txBody>
          <a:bodyPr wrap="square" anchor="t">
            <a:spAutoFit/>
          </a:bodyPr>
          <a:lstStyle/>
          <a:p>
            <a:pPr algn="l">
              <a:spcAft>
                <a:spcPts val="400"/>
              </a:spcAft>
            </a:pPr>
            <a:r>
              <a:rPr sz="1400" b="0">
                <a:solidFill>
                  <a:srgbClr val="8A8D86"/>
                </a:solidFill>
                <a:latin typeface="Arial"/>
              </a:rPr>
              <a:t>In-chat commands. Type them during a session.</a:t>
            </a:r>
          </a:p>
        </p:txBody>
      </p:sp>
      <p:sp>
        <p:nvSpPr>
          <p:cNvPr id="7" name="Rectangle 6"/>
          <p:cNvSpPr/>
          <p:nvPr/>
        </p:nvSpPr>
        <p:spPr>
          <a:xfrm>
            <a:off x="777240" y="2157984"/>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57984"/>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2157984"/>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/new</a:t>
            </a:r>
          </a:p>
        </p:txBody>
      </p:sp>
      <p:sp>
        <p:nvSpPr>
          <p:cNvPr id="10" name="TextBox 9"/>
          <p:cNvSpPr txBox="1"/>
          <p:nvPr/>
        </p:nvSpPr>
        <p:spPr>
          <a:xfrm>
            <a:off x="3154680" y="2157984"/>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start a fresh conversation</a:t>
            </a:r>
          </a:p>
        </p:txBody>
      </p:sp>
      <p:sp>
        <p:nvSpPr>
          <p:cNvPr id="11" name="Rectangle 10"/>
          <p:cNvSpPr/>
          <p:nvPr/>
        </p:nvSpPr>
        <p:spPr>
          <a:xfrm>
            <a:off x="777240" y="2993745"/>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993745"/>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2993745"/>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/model &lt;name&gt;</a:t>
            </a:r>
          </a:p>
        </p:txBody>
      </p:sp>
      <p:sp>
        <p:nvSpPr>
          <p:cNvPr id="14" name="TextBox 13"/>
          <p:cNvSpPr txBox="1"/>
          <p:nvPr/>
        </p:nvSpPr>
        <p:spPr>
          <a:xfrm>
            <a:off x="3154680" y="2993745"/>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swap model mid-session (v0.8.0+)</a:t>
            </a:r>
          </a:p>
        </p:txBody>
      </p:sp>
      <p:sp>
        <p:nvSpPr>
          <p:cNvPr id="15" name="Rectangle 14"/>
          <p:cNvSpPr/>
          <p:nvPr/>
        </p:nvSpPr>
        <p:spPr>
          <a:xfrm>
            <a:off x="777240" y="3829507"/>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3829507"/>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8408" y="3829507"/>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/fast</a:t>
            </a:r>
          </a:p>
        </p:txBody>
      </p:sp>
      <p:sp>
        <p:nvSpPr>
          <p:cNvPr id="18" name="TextBox 17"/>
          <p:cNvSpPr txBox="1"/>
          <p:nvPr/>
        </p:nvSpPr>
        <p:spPr>
          <a:xfrm>
            <a:off x="3154680" y="3829507"/>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priority routing (OpenAI + Anthropic, v0.9.0)</a:t>
            </a:r>
          </a:p>
        </p:txBody>
      </p:sp>
      <p:sp>
        <p:nvSpPr>
          <p:cNvPr id="19" name="Rectangle 18"/>
          <p:cNvSpPr/>
          <p:nvPr/>
        </p:nvSpPr>
        <p:spPr>
          <a:xfrm>
            <a:off x="777240" y="4665268"/>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4665268"/>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8408" y="4665268"/>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/bg &lt;prompt&gt;</a:t>
            </a:r>
          </a:p>
        </p:txBody>
      </p:sp>
      <p:sp>
        <p:nvSpPr>
          <p:cNvPr id="22" name="TextBox 21"/>
          <p:cNvSpPr txBox="1"/>
          <p:nvPr/>
        </p:nvSpPr>
        <p:spPr>
          <a:xfrm>
            <a:off x="3154680" y="4665268"/>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background task, keep chatting</a:t>
            </a:r>
          </a:p>
        </p:txBody>
      </p:sp>
      <p:sp>
        <p:nvSpPr>
          <p:cNvPr id="23" name="Rectangle 22"/>
          <p:cNvSpPr/>
          <p:nvPr/>
        </p:nvSpPr>
        <p:spPr>
          <a:xfrm>
            <a:off x="777240" y="5501030"/>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77240" y="5501030"/>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78408" y="5501030"/>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/btw &lt;question&gt;</a:t>
            </a:r>
          </a:p>
        </p:txBody>
      </p:sp>
      <p:sp>
        <p:nvSpPr>
          <p:cNvPr id="26" name="TextBox 25"/>
          <p:cNvSpPr txBox="1"/>
          <p:nvPr/>
        </p:nvSpPr>
        <p:spPr>
          <a:xfrm>
            <a:off x="3154680" y="5501030"/>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ephemeral side question</a:t>
            </a:r>
          </a:p>
        </p:txBody>
      </p:sp>
      <p:sp>
        <p:nvSpPr>
          <p:cNvPr id="27" name="Rectangle 26"/>
          <p:cNvSpPr/>
          <p:nvPr/>
        </p:nvSpPr>
        <p:spPr>
          <a:xfrm>
            <a:off x="6231636" y="2157984"/>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31636" y="2157984"/>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32804" y="2157984"/>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/queue &lt;prompt&gt;</a:t>
            </a:r>
          </a:p>
        </p:txBody>
      </p:sp>
      <p:sp>
        <p:nvSpPr>
          <p:cNvPr id="30" name="TextBox 29"/>
          <p:cNvSpPr txBox="1"/>
          <p:nvPr/>
        </p:nvSpPr>
        <p:spPr>
          <a:xfrm>
            <a:off x="8609076" y="2157984"/>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add to next-turn queue</a:t>
            </a:r>
          </a:p>
        </p:txBody>
      </p:sp>
      <p:sp>
        <p:nvSpPr>
          <p:cNvPr id="31" name="Rectangle 30"/>
          <p:cNvSpPr/>
          <p:nvPr/>
        </p:nvSpPr>
        <p:spPr>
          <a:xfrm>
            <a:off x="6231636" y="2993745"/>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31636" y="2993745"/>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32804" y="2993745"/>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/compress</a:t>
            </a:r>
          </a:p>
        </p:txBody>
      </p:sp>
      <p:sp>
        <p:nvSpPr>
          <p:cNvPr id="34" name="TextBox 33"/>
          <p:cNvSpPr txBox="1"/>
          <p:nvPr/>
        </p:nvSpPr>
        <p:spPr>
          <a:xfrm>
            <a:off x="8609076" y="2993745"/>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manually compact context</a:t>
            </a:r>
          </a:p>
        </p:txBody>
      </p:sp>
      <p:sp>
        <p:nvSpPr>
          <p:cNvPr id="35" name="Rectangle 34"/>
          <p:cNvSpPr/>
          <p:nvPr/>
        </p:nvSpPr>
        <p:spPr>
          <a:xfrm>
            <a:off x="6231636" y="3829507"/>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231636" y="3829507"/>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32804" y="3829507"/>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/skills</a:t>
            </a:r>
          </a:p>
        </p:txBody>
      </p:sp>
      <p:sp>
        <p:nvSpPr>
          <p:cNvPr id="38" name="TextBox 37"/>
          <p:cNvSpPr txBox="1"/>
          <p:nvPr/>
        </p:nvSpPr>
        <p:spPr>
          <a:xfrm>
            <a:off x="8609076" y="3829507"/>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browse / invoke a skill</a:t>
            </a:r>
          </a:p>
        </p:txBody>
      </p:sp>
      <p:sp>
        <p:nvSpPr>
          <p:cNvPr id="39" name="Rectangle 38"/>
          <p:cNvSpPr/>
          <p:nvPr/>
        </p:nvSpPr>
        <p:spPr>
          <a:xfrm>
            <a:off x="6231636" y="4665268"/>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231636" y="4665268"/>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32804" y="4665268"/>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/yolo</a:t>
            </a:r>
          </a:p>
        </p:txBody>
      </p:sp>
      <p:sp>
        <p:nvSpPr>
          <p:cNvPr id="42" name="TextBox 41"/>
          <p:cNvSpPr txBox="1"/>
          <p:nvPr/>
        </p:nvSpPr>
        <p:spPr>
          <a:xfrm>
            <a:off x="8609076" y="4665268"/>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toggle dangerous-command approvals</a:t>
            </a:r>
          </a:p>
        </p:txBody>
      </p:sp>
      <p:sp>
        <p:nvSpPr>
          <p:cNvPr id="43" name="Rectangle 42"/>
          <p:cNvSpPr/>
          <p:nvPr/>
        </p:nvSpPr>
        <p:spPr>
          <a:xfrm>
            <a:off x="6231636" y="5501030"/>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231636" y="5501030"/>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32804" y="5501030"/>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/help</a:t>
            </a:r>
          </a:p>
        </p:txBody>
      </p:sp>
      <p:sp>
        <p:nvSpPr>
          <p:cNvPr id="46" name="TextBox 45"/>
          <p:cNvSpPr txBox="1"/>
          <p:nvPr/>
        </p:nvSpPr>
        <p:spPr>
          <a:xfrm>
            <a:off x="8609076" y="5501030"/>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everything else</a:t>
            </a:r>
          </a:p>
        </p:txBody>
      </p:sp>
      <p:sp>
        <p:nvSpPr>
          <p:cNvPr id="47" name="TextBox 4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48" name="TextBox 4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49" name="TextBox 4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37</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 · LIVE SCREENSHOT</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Hermes in the Browser — Dashboard</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9143" y="1792224"/>
            <a:ext cx="6693408" cy="422452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hermes-dashboard.png"/>
          <p:cNvPicPr>
            <a:picLocks noChangeAspect="1"/>
          </p:cNvPicPr>
          <p:nvPr/>
        </p:nvPicPr>
        <p:blipFill>
          <a:blip r:embed="rId2"/>
          <a:stretch>
            <a:fillRect/>
          </a:stretch>
        </p:blipFill>
        <p:spPr>
          <a:xfrm>
            <a:off x="2804007" y="1847088"/>
            <a:ext cx="6583680" cy="4114800"/>
          </a:xfrm>
          <a:prstGeom prst="rect">
            <a:avLst/>
          </a:prstGeom>
        </p:spPr>
      </p:pic>
      <p:sp>
        <p:nvSpPr>
          <p:cNvPr id="9" name="TextBox 8"/>
          <p:cNvSpPr txBox="1"/>
          <p:nvPr/>
        </p:nvSpPr>
        <p:spPr>
          <a:xfrm>
            <a:off x="777240" y="6108192"/>
            <a:ext cx="10607040" cy="320040"/>
          </a:xfrm>
          <a:prstGeom prst="rect">
            <a:avLst/>
          </a:prstGeom>
          <a:noFill/>
        </p:spPr>
        <p:txBody>
          <a:bodyPr wrap="square" anchor="t">
            <a:spAutoFit/>
          </a:bodyPr>
          <a:lstStyle/>
          <a:p>
            <a:pPr algn="ctr">
              <a:spcAft>
                <a:spcPts val="400"/>
              </a:spcAft>
            </a:pPr>
            <a:r>
              <a:rPr sz="1200" b="0">
                <a:solidFill>
                  <a:srgbClr val="8A8D86"/>
                </a:solidFill>
                <a:latin typeface="Arial"/>
              </a:rPr>
              <a:t>The Hermes Dashboard (http://127.0.0.1:9119) — your local deployment's sessions view</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38</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 · LIVE SCREENSHOT</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Hermes in the Browser — Achievements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9143" y="1792224"/>
            <a:ext cx="6693408" cy="422452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hermes-achievements.png"/>
          <p:cNvPicPr>
            <a:picLocks noChangeAspect="1"/>
          </p:cNvPicPr>
          <p:nvPr/>
        </p:nvPicPr>
        <p:blipFill>
          <a:blip r:embed="rId2"/>
          <a:stretch>
            <a:fillRect/>
          </a:stretch>
        </p:blipFill>
        <p:spPr>
          <a:xfrm>
            <a:off x="2804007" y="1847088"/>
            <a:ext cx="6583680" cy="4114800"/>
          </a:xfrm>
          <a:prstGeom prst="rect">
            <a:avLst/>
          </a:prstGeom>
        </p:spPr>
      </p:pic>
      <p:sp>
        <p:nvSpPr>
          <p:cNvPr id="9" name="TextBox 8"/>
          <p:cNvSpPr txBox="1"/>
          <p:nvPr/>
        </p:nvSpPr>
        <p:spPr>
          <a:xfrm>
            <a:off x="777240" y="6108192"/>
            <a:ext cx="10607040" cy="320040"/>
          </a:xfrm>
          <a:prstGeom prst="rect">
            <a:avLst/>
          </a:prstGeom>
          <a:noFill/>
        </p:spPr>
        <p:txBody>
          <a:bodyPr wrap="square" anchor="t">
            <a:spAutoFit/>
          </a:bodyPr>
          <a:lstStyle/>
          <a:p>
            <a:pPr algn="ctr">
              <a:spcAft>
                <a:spcPts val="400"/>
              </a:spcAft>
            </a:pPr>
            <a:r>
              <a:rPr sz="1200" b="0">
                <a:solidFill>
                  <a:srgbClr val="8A8D86"/>
                </a:solidFill>
                <a:latin typeface="Arial"/>
              </a:rPr>
              <a:t>The Achievements page — Hermes gamifies agent mastery with tiers (Copper → Silver → Gold → Diamond → Olympian) and unlockable badges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39</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Deployment — Local Install &amp; Hermes Desktop App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5</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Confirm the local install runs (preferred deployment)</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--version</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40</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Deployment — Local Install &amp; Hermes Desktop App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5</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Download and install the Hermes Desktop app</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41</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Deployment — Local Install &amp; Hermes Desktop App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5</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Open the Desktop app and sign in with the same Nous Portal account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42</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Deployment — Local Install &amp; Hermes Desktop App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5</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Verify the local gateway is serving</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gateway status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43</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Deployment — Local Install &amp; Hermes Desktop App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5 OF 5</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Keep the runtime up to date</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update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44</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Deployment — Local Install &amp; Hermes Desktop App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Both the local CLI and the Desktop app drive the same agent; 'hermes gateway status' is healthy.</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45</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Memory and Plugins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3</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700" b="0">
                <a:solidFill>
                  <a:srgbClr val="E8E6DD"/>
                </a:solidFill>
                <a:latin typeface="Arial"/>
              </a:rPr>
              <a:t>Explore Hermes' three-layer memory (agent-curated notes, FTS5 cross-session recall, Honcho user modelling). Teach Athena a preference, recall it in a fresh session, and enable a plugin to extend behaviour.</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Athena remembers a stated preference across sessions and runs an enabled plugin.</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memory, plugins</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46</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65760"/>
            <a:ext cx="10607040" cy="320040"/>
          </a:xfrm>
          <a:prstGeom prst="rect">
            <a:avLst/>
          </a:prstGeom>
          <a:noFill/>
        </p:spPr>
        <p:txBody>
          <a:bodyPr wrap="square" anchor="t">
            <a:spAutoFit/>
          </a:bodyPr>
          <a:lstStyle/>
          <a:p>
            <a:pPr algn="l">
              <a:spcAft>
                <a:spcPts val="400"/>
              </a:spcAft>
            </a:pPr>
            <a:r>
              <a:rPr sz="1300" b="1">
                <a:solidFill>
                  <a:srgbClr val="6EA8FF"/>
                </a:solidFill>
                <a:latin typeface="Arial"/>
              </a:rPr>
              <a:t>&gt; part-05/session-search</a:t>
            </a:r>
          </a:p>
        </p:txBody>
      </p:sp>
      <p:sp>
        <p:nvSpPr>
          <p:cNvPr id="4" name="Rectangle 3"/>
          <p:cNvSpPr/>
          <p:nvPr/>
        </p:nvSpPr>
        <p:spPr>
          <a:xfrm>
            <a:off x="777240" y="749808"/>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896112"/>
            <a:ext cx="10881360" cy="713232"/>
          </a:xfrm>
          <a:prstGeom prst="rect">
            <a:avLst/>
          </a:prstGeom>
          <a:noFill/>
        </p:spPr>
        <p:txBody>
          <a:bodyPr wrap="square" anchor="t">
            <a:spAutoFit/>
          </a:bodyPr>
          <a:lstStyle/>
          <a:p>
            <a:pPr algn="l">
              <a:spcAft>
                <a:spcPts val="400"/>
              </a:spcAft>
            </a:pPr>
            <a:r>
              <a:rPr sz="4000" b="1">
                <a:solidFill>
                  <a:srgbClr val="6EA8FF"/>
                </a:solidFill>
                <a:latin typeface="Arial"/>
              </a:rPr>
              <a:t>SEARCH YOUR OWN</a:t>
            </a:r>
          </a:p>
        </p:txBody>
      </p:sp>
      <p:sp>
        <p:nvSpPr>
          <p:cNvPr id="6" name="TextBox 5"/>
          <p:cNvSpPr txBox="1"/>
          <p:nvPr/>
        </p:nvSpPr>
        <p:spPr>
          <a:xfrm>
            <a:off x="777240" y="1591056"/>
            <a:ext cx="10881360" cy="713232"/>
          </a:xfrm>
          <a:prstGeom prst="rect">
            <a:avLst/>
          </a:prstGeom>
          <a:noFill/>
        </p:spPr>
        <p:txBody>
          <a:bodyPr wrap="square" anchor="t">
            <a:spAutoFit/>
          </a:bodyPr>
          <a:lstStyle/>
          <a:p>
            <a:pPr algn="l">
              <a:spcAft>
                <a:spcPts val="400"/>
              </a:spcAft>
            </a:pPr>
            <a:r>
              <a:rPr sz="4000" b="1">
                <a:solidFill>
                  <a:srgbClr val="6EA8FF"/>
                </a:solidFill>
                <a:latin typeface="Arial"/>
              </a:rPr>
              <a:t>HISTORY.</a:t>
            </a:r>
          </a:p>
        </p:txBody>
      </p:sp>
      <p:sp>
        <p:nvSpPr>
          <p:cNvPr id="7" name="Rectangle 6"/>
          <p:cNvSpPr/>
          <p:nvPr/>
        </p:nvSpPr>
        <p:spPr>
          <a:xfrm>
            <a:off x="777240" y="2560320"/>
            <a:ext cx="10634472" cy="7132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560320"/>
            <a:ext cx="45720" cy="713232"/>
          </a:xfrm>
          <a:prstGeom prst="rect">
            <a:avLst/>
          </a:prstGeom>
          <a:solidFill>
            <a:srgbClr val="6EA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560320"/>
            <a:ext cx="365760" cy="713232"/>
          </a:xfrm>
          <a:prstGeom prst="rect">
            <a:avLst/>
          </a:prstGeom>
          <a:noFill/>
        </p:spPr>
        <p:txBody>
          <a:bodyPr wrap="square" anchor="ctr">
            <a:spAutoFit/>
          </a:bodyPr>
          <a:lstStyle/>
          <a:p>
            <a:pPr algn="l">
              <a:spcAft>
                <a:spcPts val="400"/>
              </a:spcAft>
            </a:pPr>
            <a:r>
              <a:rPr sz="1400" b="1">
                <a:solidFill>
                  <a:srgbClr val="6EA8FF"/>
                </a:solidFill>
                <a:latin typeface="Arial"/>
              </a:rPr>
              <a:t>▸</a:t>
            </a:r>
          </a:p>
        </p:txBody>
      </p:sp>
      <p:sp>
        <p:nvSpPr>
          <p:cNvPr id="10" name="TextBox 9"/>
          <p:cNvSpPr txBox="1"/>
          <p:nvPr/>
        </p:nvSpPr>
        <p:spPr>
          <a:xfrm>
            <a:off x="1417320" y="2560320"/>
            <a:ext cx="9784080" cy="713232"/>
          </a:xfrm>
          <a:prstGeom prst="rect">
            <a:avLst/>
          </a:prstGeom>
          <a:noFill/>
        </p:spPr>
        <p:txBody>
          <a:bodyPr wrap="square" anchor="ctr">
            <a:spAutoFit/>
          </a:bodyPr>
          <a:lstStyle/>
          <a:p>
            <a:pPr algn="l">
              <a:spcAft>
                <a:spcPts val="400"/>
              </a:spcAft>
            </a:pPr>
            <a:r>
              <a:rPr sz="1600" b="0">
                <a:solidFill>
                  <a:srgbClr val="E8E6DD"/>
                </a:solidFill>
                <a:latin typeface="Arial"/>
              </a:rPr>
              <a:t>Every CLI + gateway session indexed in </a:t>
            </a:r>
            <a:r>
              <a:rPr sz="1600" b="1">
                <a:solidFill>
                  <a:srgbClr val="6EA8FF"/>
                </a:solidFill>
                <a:latin typeface="Arial"/>
              </a:rPr>
              <a:t>~/.hermes/state.db</a:t>
            </a:r>
          </a:p>
        </p:txBody>
      </p:sp>
      <p:sp>
        <p:nvSpPr>
          <p:cNvPr id="11" name="Rectangle 10"/>
          <p:cNvSpPr/>
          <p:nvPr/>
        </p:nvSpPr>
        <p:spPr>
          <a:xfrm>
            <a:off x="777240" y="3401568"/>
            <a:ext cx="10634472" cy="7132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01568"/>
            <a:ext cx="45720" cy="713232"/>
          </a:xfrm>
          <a:prstGeom prst="rect">
            <a:avLst/>
          </a:prstGeom>
          <a:solidFill>
            <a:srgbClr val="6EA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3401568"/>
            <a:ext cx="365760" cy="713232"/>
          </a:xfrm>
          <a:prstGeom prst="rect">
            <a:avLst/>
          </a:prstGeom>
          <a:noFill/>
        </p:spPr>
        <p:txBody>
          <a:bodyPr wrap="square" anchor="ctr">
            <a:spAutoFit/>
          </a:bodyPr>
          <a:lstStyle/>
          <a:p>
            <a:pPr algn="l">
              <a:spcAft>
                <a:spcPts val="400"/>
              </a:spcAft>
            </a:pPr>
            <a:r>
              <a:rPr sz="1400" b="1">
                <a:solidFill>
                  <a:srgbClr val="6EA8FF"/>
                </a:solidFill>
                <a:latin typeface="Arial"/>
              </a:rPr>
              <a:t>▸</a:t>
            </a:r>
          </a:p>
        </p:txBody>
      </p:sp>
      <p:sp>
        <p:nvSpPr>
          <p:cNvPr id="14" name="TextBox 13"/>
          <p:cNvSpPr txBox="1"/>
          <p:nvPr/>
        </p:nvSpPr>
        <p:spPr>
          <a:xfrm>
            <a:off x="1417320" y="3401568"/>
            <a:ext cx="9784080" cy="713232"/>
          </a:xfrm>
          <a:prstGeom prst="rect">
            <a:avLst/>
          </a:prstGeom>
          <a:noFill/>
        </p:spPr>
        <p:txBody>
          <a:bodyPr wrap="square" anchor="ctr">
            <a:spAutoFit/>
          </a:bodyPr>
          <a:lstStyle/>
          <a:p>
            <a:pPr algn="l">
              <a:spcAft>
                <a:spcPts val="400"/>
              </a:spcAft>
            </a:pPr>
            <a:r>
              <a:rPr sz="1600" b="0">
                <a:solidFill>
                  <a:srgbClr val="E8E6DD"/>
                </a:solidFill>
                <a:latin typeface="Arial"/>
              </a:rPr>
              <a:t>Tool: </a:t>
            </a:r>
            <a:r>
              <a:rPr sz="1600" b="1">
                <a:solidFill>
                  <a:srgbClr val="6EA8FF"/>
                </a:solidFill>
                <a:latin typeface="Arial"/>
              </a:rPr>
              <a:t>session_search</a:t>
            </a:r>
            <a:r>
              <a:rPr sz="1600" b="0">
                <a:solidFill>
                  <a:srgbClr val="E8E6DD"/>
                </a:solidFill>
                <a:latin typeface="Arial"/>
              </a:rPr>
              <a:t>  —  full-text + Gemini Flash summarization</a:t>
            </a:r>
          </a:p>
        </p:txBody>
      </p:sp>
      <p:sp>
        <p:nvSpPr>
          <p:cNvPr id="15" name="Rectangle 14"/>
          <p:cNvSpPr/>
          <p:nvPr/>
        </p:nvSpPr>
        <p:spPr>
          <a:xfrm>
            <a:off x="777240" y="4242816"/>
            <a:ext cx="10634472" cy="7132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4242816"/>
            <a:ext cx="45720" cy="713232"/>
          </a:xfrm>
          <a:prstGeom prst="rect">
            <a:avLst/>
          </a:prstGeom>
          <a:solidFill>
            <a:srgbClr val="6EA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4242816"/>
            <a:ext cx="365760" cy="713232"/>
          </a:xfrm>
          <a:prstGeom prst="rect">
            <a:avLst/>
          </a:prstGeom>
          <a:noFill/>
        </p:spPr>
        <p:txBody>
          <a:bodyPr wrap="square" anchor="ctr">
            <a:spAutoFit/>
          </a:bodyPr>
          <a:lstStyle/>
          <a:p>
            <a:pPr algn="l">
              <a:spcAft>
                <a:spcPts val="400"/>
              </a:spcAft>
            </a:pPr>
            <a:r>
              <a:rPr sz="1400" b="1">
                <a:solidFill>
                  <a:srgbClr val="6EA8FF"/>
                </a:solidFill>
                <a:latin typeface="Arial"/>
              </a:rPr>
              <a:t>▸</a:t>
            </a:r>
          </a:p>
        </p:txBody>
      </p:sp>
      <p:sp>
        <p:nvSpPr>
          <p:cNvPr id="18" name="TextBox 17"/>
          <p:cNvSpPr txBox="1"/>
          <p:nvPr/>
        </p:nvSpPr>
        <p:spPr>
          <a:xfrm>
            <a:off x="1417320" y="4242816"/>
            <a:ext cx="9784080" cy="713232"/>
          </a:xfrm>
          <a:prstGeom prst="rect">
            <a:avLst/>
          </a:prstGeom>
          <a:noFill/>
        </p:spPr>
        <p:txBody>
          <a:bodyPr wrap="square" anchor="ctr">
            <a:spAutoFit/>
          </a:bodyPr>
          <a:lstStyle/>
          <a:p>
            <a:pPr algn="l">
              <a:spcAft>
                <a:spcPts val="400"/>
              </a:spcAft>
            </a:pPr>
            <a:r>
              <a:rPr sz="1600" b="0">
                <a:solidFill>
                  <a:srgbClr val="E8E6DD"/>
                </a:solidFill>
                <a:latin typeface="Arial"/>
              </a:rPr>
              <a:t>The agent calls it </a:t>
            </a:r>
            <a:r>
              <a:rPr sz="1600" b="1">
                <a:solidFill>
                  <a:srgbClr val="F5A623"/>
                </a:solidFill>
                <a:latin typeface="Arial"/>
              </a:rPr>
              <a:t>autonomously</a:t>
            </a:r>
            <a:r>
              <a:rPr sz="1600" b="0">
                <a:solidFill>
                  <a:srgbClr val="E8E6DD"/>
                </a:solidFill>
                <a:latin typeface="Arial"/>
              </a:rPr>
              <a:t> when it suspects a prior conversation is relevant</a:t>
            </a:r>
          </a:p>
        </p:txBody>
      </p:sp>
      <p:sp>
        <p:nvSpPr>
          <p:cNvPr id="19" name="Rectangle 18"/>
          <p:cNvSpPr/>
          <p:nvPr/>
        </p:nvSpPr>
        <p:spPr>
          <a:xfrm>
            <a:off x="777240" y="5084064"/>
            <a:ext cx="10634472" cy="7132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5084064"/>
            <a:ext cx="45720" cy="713232"/>
          </a:xfrm>
          <a:prstGeom prst="rect">
            <a:avLst/>
          </a:prstGeom>
          <a:solidFill>
            <a:srgbClr val="6EA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05840" y="5084064"/>
            <a:ext cx="365760" cy="713232"/>
          </a:xfrm>
          <a:prstGeom prst="rect">
            <a:avLst/>
          </a:prstGeom>
          <a:noFill/>
        </p:spPr>
        <p:txBody>
          <a:bodyPr wrap="square" anchor="ctr">
            <a:spAutoFit/>
          </a:bodyPr>
          <a:lstStyle/>
          <a:p>
            <a:pPr algn="l">
              <a:spcAft>
                <a:spcPts val="400"/>
              </a:spcAft>
            </a:pPr>
            <a:r>
              <a:rPr sz="1400" b="1">
                <a:solidFill>
                  <a:srgbClr val="6EA8FF"/>
                </a:solidFill>
                <a:latin typeface="Arial"/>
              </a:rPr>
              <a:t>▸</a:t>
            </a:r>
          </a:p>
        </p:txBody>
      </p:sp>
      <p:sp>
        <p:nvSpPr>
          <p:cNvPr id="22" name="TextBox 21"/>
          <p:cNvSpPr txBox="1"/>
          <p:nvPr/>
        </p:nvSpPr>
        <p:spPr>
          <a:xfrm>
            <a:off x="1417320" y="5084064"/>
            <a:ext cx="9784080" cy="713232"/>
          </a:xfrm>
          <a:prstGeom prst="rect">
            <a:avLst/>
          </a:prstGeom>
          <a:noFill/>
        </p:spPr>
        <p:txBody>
          <a:bodyPr wrap="square" anchor="ctr">
            <a:spAutoFit/>
          </a:bodyPr>
          <a:lstStyle/>
          <a:p>
            <a:pPr algn="l">
              <a:spcAft>
                <a:spcPts val="400"/>
              </a:spcAft>
            </a:pPr>
            <a:r>
              <a:rPr sz="1600" b="1">
                <a:solidFill>
                  <a:srgbClr val="4ADE80"/>
                </a:solidFill>
                <a:latin typeface="Arial"/>
              </a:rPr>
              <a:t>v0.11.0</a:t>
            </a:r>
            <a:r>
              <a:rPr sz="1600" b="0">
                <a:solidFill>
                  <a:srgbClr val="E8E6DD"/>
                </a:solidFill>
                <a:latin typeface="Arial"/>
              </a:rPr>
              <a:t>  State.db now </a:t>
            </a:r>
            <a:r>
              <a:rPr sz="1600" b="1">
                <a:solidFill>
                  <a:srgbClr val="F5A623"/>
                </a:solidFill>
                <a:latin typeface="Arial"/>
              </a:rPr>
              <a:t>auto-prunes + VACUUMs at startup</a:t>
            </a:r>
            <a:r>
              <a:rPr sz="1600" b="0">
                <a:solidFill>
                  <a:srgbClr val="E8E6DD"/>
                </a:solidFill>
                <a:latin typeface="Arial"/>
              </a:rPr>
              <a:t>. No more cron-prune needed.</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47</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65760"/>
            <a:ext cx="7315200" cy="320040"/>
          </a:xfrm>
          <a:prstGeom prst="rect">
            <a:avLst/>
          </a:prstGeom>
          <a:noFill/>
        </p:spPr>
        <p:txBody>
          <a:bodyPr wrap="square" anchor="t">
            <a:spAutoFit/>
          </a:bodyPr>
          <a:lstStyle/>
          <a:p>
            <a:pPr algn="l">
              <a:spcAft>
                <a:spcPts val="400"/>
              </a:spcAft>
            </a:pPr>
            <a:r>
              <a:rPr sz="1300" b="1">
                <a:solidFill>
                  <a:srgbClr val="F5A623"/>
                </a:solidFill>
                <a:latin typeface="Arial"/>
              </a:rPr>
              <a:t>&gt; memory vs session_search</a:t>
            </a:r>
          </a:p>
        </p:txBody>
      </p:sp>
      <p:sp>
        <p:nvSpPr>
          <p:cNvPr id="4" name="TextBox 3"/>
          <p:cNvSpPr txBox="1"/>
          <p:nvPr/>
        </p:nvSpPr>
        <p:spPr>
          <a:xfrm>
            <a:off x="8138160" y="365760"/>
            <a:ext cx="3291840" cy="320040"/>
          </a:xfrm>
          <a:prstGeom prst="rect">
            <a:avLst/>
          </a:prstGeom>
          <a:noFill/>
        </p:spPr>
        <p:txBody>
          <a:bodyPr wrap="square" anchor="t">
            <a:spAutoFit/>
          </a:bodyPr>
          <a:lstStyle/>
          <a:p>
            <a:pPr algn="r">
              <a:spcAft>
                <a:spcPts val="400"/>
              </a:spcAft>
            </a:pPr>
            <a:r>
              <a:rPr sz="1200" b="1">
                <a:solidFill>
                  <a:srgbClr val="8A8D86"/>
                </a:solidFill>
                <a:latin typeface="Arial"/>
              </a:rPr>
              <a:t>● WHEN TO USE WHICH</a:t>
            </a:r>
          </a:p>
        </p:txBody>
      </p:sp>
      <p:sp>
        <p:nvSpPr>
          <p:cNvPr id="5" name="Rectangle 4"/>
          <p:cNvSpPr/>
          <p:nvPr/>
        </p:nvSpPr>
        <p:spPr>
          <a:xfrm>
            <a:off x="777240" y="749808"/>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914400"/>
            <a:ext cx="10881360" cy="731520"/>
          </a:xfrm>
          <a:prstGeom prst="rect">
            <a:avLst/>
          </a:prstGeom>
          <a:noFill/>
        </p:spPr>
        <p:txBody>
          <a:bodyPr wrap="square" anchor="t">
            <a:spAutoFit/>
          </a:bodyPr>
          <a:lstStyle/>
          <a:p>
            <a:pPr algn="l">
              <a:spcAft>
                <a:spcPts val="400"/>
              </a:spcAft>
            </a:pPr>
            <a:r>
              <a:rPr sz="4000" b="1">
                <a:solidFill>
                  <a:srgbClr val="F5A623"/>
                </a:solidFill>
                <a:latin typeface="Arial"/>
              </a:rPr>
              <a:t>L1 VS L2.</a:t>
            </a:r>
          </a:p>
        </p:txBody>
      </p:sp>
      <p:sp>
        <p:nvSpPr>
          <p:cNvPr id="7" name="TextBox 6"/>
          <p:cNvSpPr txBox="1"/>
          <p:nvPr/>
        </p:nvSpPr>
        <p:spPr>
          <a:xfrm>
            <a:off x="3017520" y="1874519"/>
            <a:ext cx="4206240" cy="365760"/>
          </a:xfrm>
          <a:prstGeom prst="rect">
            <a:avLst/>
          </a:prstGeom>
          <a:noFill/>
        </p:spPr>
        <p:txBody>
          <a:bodyPr wrap="square" anchor="t">
            <a:spAutoFit/>
          </a:bodyPr>
          <a:lstStyle/>
          <a:p>
            <a:pPr algn="l">
              <a:spcAft>
                <a:spcPts val="400"/>
              </a:spcAft>
            </a:pPr>
            <a:r>
              <a:rPr sz="1500" b="1">
                <a:solidFill>
                  <a:srgbClr val="F5A623"/>
                </a:solidFill>
                <a:latin typeface="Arial"/>
              </a:rPr>
              <a:t>PERSISTENT MEMORY (L1)</a:t>
            </a:r>
          </a:p>
        </p:txBody>
      </p:sp>
      <p:sp>
        <p:nvSpPr>
          <p:cNvPr id="8" name="TextBox 7"/>
          <p:cNvSpPr txBox="1"/>
          <p:nvPr/>
        </p:nvSpPr>
        <p:spPr>
          <a:xfrm>
            <a:off x="7406640" y="1874519"/>
            <a:ext cx="3931920" cy="365760"/>
          </a:xfrm>
          <a:prstGeom prst="rect">
            <a:avLst/>
          </a:prstGeom>
          <a:noFill/>
        </p:spPr>
        <p:txBody>
          <a:bodyPr wrap="square" anchor="t">
            <a:spAutoFit/>
          </a:bodyPr>
          <a:lstStyle/>
          <a:p>
            <a:pPr algn="l">
              <a:spcAft>
                <a:spcPts val="400"/>
              </a:spcAft>
            </a:pPr>
            <a:r>
              <a:rPr sz="1500" b="1">
                <a:solidFill>
                  <a:srgbClr val="6EA8FF"/>
                </a:solidFill>
                <a:latin typeface="Arial"/>
              </a:rPr>
              <a:t>SESSION SEARCH (L2)</a:t>
            </a:r>
          </a:p>
        </p:txBody>
      </p:sp>
      <p:sp>
        <p:nvSpPr>
          <p:cNvPr id="9" name="Rectangle 8"/>
          <p:cNvSpPr/>
          <p:nvPr/>
        </p:nvSpPr>
        <p:spPr>
          <a:xfrm>
            <a:off x="777240" y="2331720"/>
            <a:ext cx="10634472" cy="13716"/>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404872"/>
            <a:ext cx="2103120" cy="566928"/>
          </a:xfrm>
          <a:prstGeom prst="rect">
            <a:avLst/>
          </a:prstGeom>
          <a:noFill/>
        </p:spPr>
        <p:txBody>
          <a:bodyPr wrap="square" anchor="t">
            <a:spAutoFit/>
          </a:bodyPr>
          <a:lstStyle/>
          <a:p>
            <a:pPr algn="l">
              <a:spcAft>
                <a:spcPts val="400"/>
              </a:spcAft>
            </a:pPr>
            <a:r>
              <a:rPr sz="1500" b="1">
                <a:solidFill>
                  <a:srgbClr val="E8E6DD"/>
                </a:solidFill>
                <a:latin typeface="Arial"/>
              </a:rPr>
              <a:t>Capacity</a:t>
            </a:r>
          </a:p>
        </p:txBody>
      </p:sp>
      <p:sp>
        <p:nvSpPr>
          <p:cNvPr id="11" name="TextBox 10"/>
          <p:cNvSpPr txBox="1"/>
          <p:nvPr/>
        </p:nvSpPr>
        <p:spPr>
          <a:xfrm>
            <a:off x="3017520" y="2404872"/>
            <a:ext cx="4206240" cy="566928"/>
          </a:xfrm>
          <a:prstGeom prst="rect">
            <a:avLst/>
          </a:prstGeom>
          <a:noFill/>
        </p:spPr>
        <p:txBody>
          <a:bodyPr wrap="square" anchor="t">
            <a:spAutoFit/>
          </a:bodyPr>
          <a:lstStyle/>
          <a:p>
            <a:pPr algn="l">
              <a:spcAft>
                <a:spcPts val="400"/>
              </a:spcAft>
            </a:pPr>
            <a:r>
              <a:rPr sz="1500" b="0">
                <a:solidFill>
                  <a:srgbClr val="E8E6DD"/>
                </a:solidFill>
                <a:latin typeface="Arial"/>
              </a:rPr>
              <a:t>~1,300 tokens total</a:t>
            </a:r>
          </a:p>
        </p:txBody>
      </p:sp>
      <p:sp>
        <p:nvSpPr>
          <p:cNvPr id="12" name="TextBox 11"/>
          <p:cNvSpPr txBox="1"/>
          <p:nvPr/>
        </p:nvSpPr>
        <p:spPr>
          <a:xfrm>
            <a:off x="7406640" y="2404872"/>
            <a:ext cx="3931920" cy="566928"/>
          </a:xfrm>
          <a:prstGeom prst="rect">
            <a:avLst/>
          </a:prstGeom>
          <a:noFill/>
        </p:spPr>
        <p:txBody>
          <a:bodyPr wrap="square" anchor="t">
            <a:spAutoFit/>
          </a:bodyPr>
          <a:lstStyle/>
          <a:p>
            <a:pPr algn="l">
              <a:spcAft>
                <a:spcPts val="400"/>
              </a:spcAft>
            </a:pPr>
            <a:r>
              <a:rPr sz="1500" b="0">
                <a:solidFill>
                  <a:srgbClr val="E8E6DD"/>
                </a:solidFill>
                <a:latin typeface="Arial"/>
              </a:rPr>
              <a:t>Unlimited (all sessions)</a:t>
            </a:r>
          </a:p>
        </p:txBody>
      </p:sp>
      <p:sp>
        <p:nvSpPr>
          <p:cNvPr id="13" name="Rectangle 12"/>
          <p:cNvSpPr/>
          <p:nvPr/>
        </p:nvSpPr>
        <p:spPr>
          <a:xfrm>
            <a:off x="777240" y="2898648"/>
            <a:ext cx="10634472" cy="13716"/>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2971800"/>
            <a:ext cx="2103120" cy="566928"/>
          </a:xfrm>
          <a:prstGeom prst="rect">
            <a:avLst/>
          </a:prstGeom>
          <a:noFill/>
        </p:spPr>
        <p:txBody>
          <a:bodyPr wrap="square" anchor="t">
            <a:spAutoFit/>
          </a:bodyPr>
          <a:lstStyle/>
          <a:p>
            <a:pPr algn="l">
              <a:spcAft>
                <a:spcPts val="400"/>
              </a:spcAft>
            </a:pPr>
            <a:r>
              <a:rPr sz="1500" b="1">
                <a:solidFill>
                  <a:srgbClr val="E8E6DD"/>
                </a:solidFill>
                <a:latin typeface="Arial"/>
              </a:rPr>
              <a:t>Speed</a:t>
            </a:r>
          </a:p>
        </p:txBody>
      </p:sp>
      <p:sp>
        <p:nvSpPr>
          <p:cNvPr id="15" name="TextBox 14"/>
          <p:cNvSpPr txBox="1"/>
          <p:nvPr/>
        </p:nvSpPr>
        <p:spPr>
          <a:xfrm>
            <a:off x="3017520" y="2971800"/>
            <a:ext cx="4206240" cy="566928"/>
          </a:xfrm>
          <a:prstGeom prst="rect">
            <a:avLst/>
          </a:prstGeom>
          <a:noFill/>
        </p:spPr>
        <p:txBody>
          <a:bodyPr wrap="square" anchor="t">
            <a:spAutoFit/>
          </a:bodyPr>
          <a:lstStyle/>
          <a:p>
            <a:pPr algn="l">
              <a:spcAft>
                <a:spcPts val="400"/>
              </a:spcAft>
            </a:pPr>
            <a:r>
              <a:rPr sz="1500" b="0">
                <a:solidFill>
                  <a:srgbClr val="E8E6DD"/>
                </a:solidFill>
                <a:latin typeface="Arial"/>
              </a:rPr>
              <a:t>Instant — already in context</a:t>
            </a:r>
          </a:p>
        </p:txBody>
      </p:sp>
      <p:sp>
        <p:nvSpPr>
          <p:cNvPr id="16" name="TextBox 15"/>
          <p:cNvSpPr txBox="1"/>
          <p:nvPr/>
        </p:nvSpPr>
        <p:spPr>
          <a:xfrm>
            <a:off x="7406640" y="2971800"/>
            <a:ext cx="3931920" cy="566928"/>
          </a:xfrm>
          <a:prstGeom prst="rect">
            <a:avLst/>
          </a:prstGeom>
          <a:noFill/>
        </p:spPr>
        <p:txBody>
          <a:bodyPr wrap="square" anchor="t">
            <a:spAutoFit/>
          </a:bodyPr>
          <a:lstStyle/>
          <a:p>
            <a:pPr algn="l">
              <a:spcAft>
                <a:spcPts val="400"/>
              </a:spcAft>
            </a:pPr>
            <a:r>
              <a:rPr sz="1500" b="0">
                <a:solidFill>
                  <a:srgbClr val="E8E6DD"/>
                </a:solidFill>
                <a:latin typeface="Arial"/>
              </a:rPr>
              <a:t>Search + LLM summarization</a:t>
            </a:r>
          </a:p>
        </p:txBody>
      </p:sp>
      <p:sp>
        <p:nvSpPr>
          <p:cNvPr id="17" name="Rectangle 16"/>
          <p:cNvSpPr/>
          <p:nvPr/>
        </p:nvSpPr>
        <p:spPr>
          <a:xfrm>
            <a:off x="777240" y="3465576"/>
            <a:ext cx="10634472" cy="13716"/>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3538728"/>
            <a:ext cx="2103120" cy="566928"/>
          </a:xfrm>
          <a:prstGeom prst="rect">
            <a:avLst/>
          </a:prstGeom>
          <a:noFill/>
        </p:spPr>
        <p:txBody>
          <a:bodyPr wrap="square" anchor="t">
            <a:spAutoFit/>
          </a:bodyPr>
          <a:lstStyle/>
          <a:p>
            <a:pPr algn="l">
              <a:spcAft>
                <a:spcPts val="400"/>
              </a:spcAft>
            </a:pPr>
            <a:r>
              <a:rPr sz="1500" b="1">
                <a:solidFill>
                  <a:srgbClr val="E8E6DD"/>
                </a:solidFill>
                <a:latin typeface="Arial"/>
              </a:rPr>
              <a:t>Use case</a:t>
            </a:r>
          </a:p>
        </p:txBody>
      </p:sp>
      <p:sp>
        <p:nvSpPr>
          <p:cNvPr id="19" name="TextBox 18"/>
          <p:cNvSpPr txBox="1"/>
          <p:nvPr/>
        </p:nvSpPr>
        <p:spPr>
          <a:xfrm>
            <a:off x="3017520" y="3538728"/>
            <a:ext cx="4206240" cy="566928"/>
          </a:xfrm>
          <a:prstGeom prst="rect">
            <a:avLst/>
          </a:prstGeom>
          <a:noFill/>
        </p:spPr>
        <p:txBody>
          <a:bodyPr wrap="square" anchor="t">
            <a:spAutoFit/>
          </a:bodyPr>
          <a:lstStyle/>
          <a:p>
            <a:pPr algn="l">
              <a:spcAft>
                <a:spcPts val="400"/>
              </a:spcAft>
            </a:pPr>
            <a:r>
              <a:rPr sz="1500" b="0">
                <a:solidFill>
                  <a:srgbClr val="E8E6DD"/>
                </a:solidFill>
                <a:latin typeface="Arial"/>
              </a:rPr>
              <a:t>Key facts always available</a:t>
            </a:r>
          </a:p>
        </p:txBody>
      </p:sp>
      <p:sp>
        <p:nvSpPr>
          <p:cNvPr id="20" name="TextBox 19"/>
          <p:cNvSpPr txBox="1"/>
          <p:nvPr/>
        </p:nvSpPr>
        <p:spPr>
          <a:xfrm>
            <a:off x="7406640" y="3538728"/>
            <a:ext cx="3931920" cy="566928"/>
          </a:xfrm>
          <a:prstGeom prst="rect">
            <a:avLst/>
          </a:prstGeom>
          <a:noFill/>
        </p:spPr>
        <p:txBody>
          <a:bodyPr wrap="square" anchor="t">
            <a:spAutoFit/>
          </a:bodyPr>
          <a:lstStyle/>
          <a:p>
            <a:pPr algn="l">
              <a:spcAft>
                <a:spcPts val="400"/>
              </a:spcAft>
            </a:pPr>
            <a:r>
              <a:rPr sz="1500" b="0">
                <a:solidFill>
                  <a:srgbClr val="E8E6DD"/>
                </a:solidFill>
                <a:latin typeface="Arial"/>
              </a:rPr>
              <a:t>“Did we discuss X last week?”</a:t>
            </a:r>
          </a:p>
        </p:txBody>
      </p:sp>
      <p:sp>
        <p:nvSpPr>
          <p:cNvPr id="21" name="Rectangle 20"/>
          <p:cNvSpPr/>
          <p:nvPr/>
        </p:nvSpPr>
        <p:spPr>
          <a:xfrm>
            <a:off x="777240" y="4032504"/>
            <a:ext cx="10634472" cy="13716"/>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4105656"/>
            <a:ext cx="2103120" cy="566928"/>
          </a:xfrm>
          <a:prstGeom prst="rect">
            <a:avLst/>
          </a:prstGeom>
          <a:noFill/>
        </p:spPr>
        <p:txBody>
          <a:bodyPr wrap="square" anchor="t">
            <a:spAutoFit/>
          </a:bodyPr>
          <a:lstStyle/>
          <a:p>
            <a:pPr algn="l">
              <a:spcAft>
                <a:spcPts val="400"/>
              </a:spcAft>
            </a:pPr>
            <a:r>
              <a:rPr sz="1500" b="1">
                <a:solidFill>
                  <a:srgbClr val="E8E6DD"/>
                </a:solidFill>
                <a:latin typeface="Arial"/>
              </a:rPr>
              <a:t>Management</a:t>
            </a:r>
          </a:p>
        </p:txBody>
      </p:sp>
      <p:sp>
        <p:nvSpPr>
          <p:cNvPr id="23" name="TextBox 22"/>
          <p:cNvSpPr txBox="1"/>
          <p:nvPr/>
        </p:nvSpPr>
        <p:spPr>
          <a:xfrm>
            <a:off x="3017520" y="4105656"/>
            <a:ext cx="4206240" cy="566928"/>
          </a:xfrm>
          <a:prstGeom prst="rect">
            <a:avLst/>
          </a:prstGeom>
          <a:noFill/>
        </p:spPr>
        <p:txBody>
          <a:bodyPr wrap="square" anchor="t">
            <a:spAutoFit/>
          </a:bodyPr>
          <a:lstStyle/>
          <a:p>
            <a:pPr algn="l">
              <a:spcAft>
                <a:spcPts val="400"/>
              </a:spcAft>
            </a:pPr>
            <a:r>
              <a:rPr sz="1500" b="0">
                <a:solidFill>
                  <a:srgbClr val="E8E6DD"/>
                </a:solidFill>
                <a:latin typeface="Arial"/>
              </a:rPr>
              <a:t>Curated by the agent</a:t>
            </a:r>
          </a:p>
        </p:txBody>
      </p:sp>
      <p:sp>
        <p:nvSpPr>
          <p:cNvPr id="24" name="TextBox 23"/>
          <p:cNvSpPr txBox="1"/>
          <p:nvPr/>
        </p:nvSpPr>
        <p:spPr>
          <a:xfrm>
            <a:off x="7406640" y="4105656"/>
            <a:ext cx="3931920" cy="566928"/>
          </a:xfrm>
          <a:prstGeom prst="rect">
            <a:avLst/>
          </a:prstGeom>
          <a:noFill/>
        </p:spPr>
        <p:txBody>
          <a:bodyPr wrap="square" anchor="t">
            <a:spAutoFit/>
          </a:bodyPr>
          <a:lstStyle/>
          <a:p>
            <a:pPr algn="l">
              <a:spcAft>
                <a:spcPts val="400"/>
              </a:spcAft>
            </a:pPr>
            <a:r>
              <a:rPr sz="1500" b="0">
                <a:solidFill>
                  <a:srgbClr val="E8E6DD"/>
                </a:solidFill>
                <a:latin typeface="Arial"/>
              </a:rPr>
              <a:t>Automatic — every session stored</a:t>
            </a:r>
          </a:p>
        </p:txBody>
      </p:sp>
      <p:sp>
        <p:nvSpPr>
          <p:cNvPr id="25" name="Rectangle 24"/>
          <p:cNvSpPr/>
          <p:nvPr/>
        </p:nvSpPr>
        <p:spPr>
          <a:xfrm>
            <a:off x="777240" y="4599432"/>
            <a:ext cx="10634472" cy="13716"/>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4672584"/>
            <a:ext cx="2103120" cy="566928"/>
          </a:xfrm>
          <a:prstGeom prst="rect">
            <a:avLst/>
          </a:prstGeom>
          <a:noFill/>
        </p:spPr>
        <p:txBody>
          <a:bodyPr wrap="square" anchor="t">
            <a:spAutoFit/>
          </a:bodyPr>
          <a:lstStyle/>
          <a:p>
            <a:pPr algn="l">
              <a:spcAft>
                <a:spcPts val="400"/>
              </a:spcAft>
            </a:pPr>
            <a:r>
              <a:rPr sz="1500" b="1">
                <a:solidFill>
                  <a:srgbClr val="E8E6DD"/>
                </a:solidFill>
                <a:latin typeface="Arial"/>
              </a:rPr>
              <a:t>Token cost</a:t>
            </a:r>
          </a:p>
        </p:txBody>
      </p:sp>
      <p:sp>
        <p:nvSpPr>
          <p:cNvPr id="27" name="TextBox 26"/>
          <p:cNvSpPr txBox="1"/>
          <p:nvPr/>
        </p:nvSpPr>
        <p:spPr>
          <a:xfrm>
            <a:off x="3017520" y="4672584"/>
            <a:ext cx="4206240" cy="566928"/>
          </a:xfrm>
          <a:prstGeom prst="rect">
            <a:avLst/>
          </a:prstGeom>
          <a:noFill/>
        </p:spPr>
        <p:txBody>
          <a:bodyPr wrap="square" anchor="t">
            <a:spAutoFit/>
          </a:bodyPr>
          <a:lstStyle/>
          <a:p>
            <a:pPr algn="l">
              <a:spcAft>
                <a:spcPts val="400"/>
              </a:spcAft>
            </a:pPr>
            <a:r>
              <a:rPr sz="1500" b="0">
                <a:solidFill>
                  <a:srgbClr val="E8E6DD"/>
                </a:solidFill>
                <a:latin typeface="Arial"/>
              </a:rPr>
              <a:t>Fixed (~1,300 / session)</a:t>
            </a:r>
          </a:p>
        </p:txBody>
      </p:sp>
      <p:sp>
        <p:nvSpPr>
          <p:cNvPr id="28" name="TextBox 27"/>
          <p:cNvSpPr txBox="1"/>
          <p:nvPr/>
        </p:nvSpPr>
        <p:spPr>
          <a:xfrm>
            <a:off x="7406640" y="4672584"/>
            <a:ext cx="3931920" cy="566928"/>
          </a:xfrm>
          <a:prstGeom prst="rect">
            <a:avLst/>
          </a:prstGeom>
          <a:noFill/>
        </p:spPr>
        <p:txBody>
          <a:bodyPr wrap="square" anchor="t">
            <a:spAutoFit/>
          </a:bodyPr>
          <a:lstStyle/>
          <a:p>
            <a:pPr algn="l">
              <a:spcAft>
                <a:spcPts val="400"/>
              </a:spcAft>
            </a:pPr>
            <a:r>
              <a:rPr sz="1500" b="0">
                <a:solidFill>
                  <a:srgbClr val="E8E6DD"/>
                </a:solidFill>
                <a:latin typeface="Arial"/>
              </a:rPr>
              <a:t>On-demand — only when searched</a:t>
            </a:r>
          </a:p>
        </p:txBody>
      </p:sp>
      <p:sp>
        <p:nvSpPr>
          <p:cNvPr id="29" name="Rectangle 28"/>
          <p:cNvSpPr/>
          <p:nvPr/>
        </p:nvSpPr>
        <p:spPr>
          <a:xfrm>
            <a:off x="777240" y="5166360"/>
            <a:ext cx="10634472" cy="13716"/>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7240" y="5440680"/>
            <a:ext cx="10634472" cy="411480"/>
          </a:xfrm>
          <a:prstGeom prst="rect">
            <a:avLst/>
          </a:prstGeom>
          <a:noFill/>
        </p:spPr>
        <p:txBody>
          <a:bodyPr wrap="square" anchor="t">
            <a:spAutoFit/>
          </a:bodyPr>
          <a:lstStyle/>
          <a:p>
            <a:pPr algn="ctr">
              <a:spcAft>
                <a:spcPts val="400"/>
              </a:spcAft>
            </a:pPr>
            <a:r>
              <a:rPr sz="1500" b="0">
                <a:solidFill>
                  <a:srgbClr val="8A8D86"/>
                </a:solidFill>
                <a:latin typeface="Arial"/>
              </a:rPr>
              <a:t>L1 is </a:t>
            </a:r>
            <a:r>
              <a:rPr sz="1500" b="1">
                <a:solidFill>
                  <a:srgbClr val="F5A623"/>
                </a:solidFill>
                <a:latin typeface="Arial"/>
              </a:rPr>
              <a:t>what's curated</a:t>
            </a:r>
            <a:r>
              <a:rPr sz="1500" b="0">
                <a:solidFill>
                  <a:srgbClr val="8A8D86"/>
                </a:solidFill>
                <a:latin typeface="Arial"/>
              </a:rPr>
              <a:t>.  L2 is </a:t>
            </a:r>
            <a:r>
              <a:rPr sz="1500" b="1">
                <a:solidFill>
                  <a:srgbClr val="6EA8FF"/>
                </a:solidFill>
                <a:latin typeface="Arial"/>
              </a:rPr>
              <a:t>what's archived</a:t>
            </a:r>
            <a:r>
              <a:rPr sz="1500" b="0">
                <a:solidFill>
                  <a:srgbClr val="8A8D86"/>
                </a:solidFill>
                <a:latin typeface="Arial"/>
              </a:rPr>
              <a:t>.  Use both.</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48</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Memory and Plugins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In a session, teach Athena a durable preference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49</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Memory and Plugins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Start a new session and confirm the preference is recalled</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--continue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50</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Memory and Plugins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Inspect stored memory/sessions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sessions list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51</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Memory and Plugins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Enable a plugin to extend the agent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52</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Memory and Plugins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A preference taught in one session is recalled in a new session, and the enabled plugin is active.</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53</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4</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Browse and install open-standard skills (agentskills.io / Skills Hub) so Athena can perform new tasks. Skills are portable and can self-improve as the agent uses them.</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Athena equipped with at least one installed skill that it can invoke on request.</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agentskills.io, Skills Hub</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54</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4 · LIVE SCREENSHOT</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Hermes in the Browser — 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9143" y="1792224"/>
            <a:ext cx="6693408" cy="422452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hermes-skills.png"/>
          <p:cNvPicPr>
            <a:picLocks noChangeAspect="1"/>
          </p:cNvPicPr>
          <p:nvPr/>
        </p:nvPicPr>
        <p:blipFill>
          <a:blip r:embed="rId2"/>
          <a:stretch>
            <a:fillRect/>
          </a:stretch>
        </p:blipFill>
        <p:spPr>
          <a:xfrm>
            <a:off x="2804007" y="1847088"/>
            <a:ext cx="6583680" cy="4114800"/>
          </a:xfrm>
          <a:prstGeom prst="rect">
            <a:avLst/>
          </a:prstGeom>
        </p:spPr>
      </p:pic>
      <p:sp>
        <p:nvSpPr>
          <p:cNvPr id="9" name="TextBox 8"/>
          <p:cNvSpPr txBox="1"/>
          <p:nvPr/>
        </p:nvSpPr>
        <p:spPr>
          <a:xfrm>
            <a:off x="777240" y="6108192"/>
            <a:ext cx="10607040" cy="320040"/>
          </a:xfrm>
          <a:prstGeom prst="rect">
            <a:avLst/>
          </a:prstGeom>
          <a:noFill/>
        </p:spPr>
        <p:txBody>
          <a:bodyPr wrap="square" anchor="t">
            <a:spAutoFit/>
          </a:bodyPr>
          <a:lstStyle/>
          <a:p>
            <a:pPr algn="ctr">
              <a:spcAft>
                <a:spcPts val="400"/>
              </a:spcAft>
            </a:pPr>
            <a:r>
              <a:rPr sz="1200" b="0">
                <a:solidFill>
                  <a:srgbClr val="8A8D86"/>
                </a:solidFill>
                <a:latin typeface="Arial"/>
              </a:rPr>
              <a:t>The Skills page of a live Hermes install — 97 skills, filterable by category, plus Learn-a-skill and New-skill</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55</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65760"/>
            <a:ext cx="10607040" cy="320040"/>
          </a:xfrm>
          <a:prstGeom prst="rect">
            <a:avLst/>
          </a:prstGeom>
          <a:noFill/>
        </p:spPr>
        <p:txBody>
          <a:bodyPr wrap="square" anchor="t">
            <a:spAutoFit/>
          </a:bodyPr>
          <a:lstStyle/>
          <a:p>
            <a:pPr algn="l">
              <a:spcAft>
                <a:spcPts val="400"/>
              </a:spcAft>
            </a:pPr>
            <a:r>
              <a:rPr sz="1300" b="1">
                <a:solidFill>
                  <a:srgbClr val="F5A623"/>
                </a:solidFill>
                <a:latin typeface="Arial"/>
              </a:rPr>
              <a:t>&gt; skills/categories 1-2</a:t>
            </a:r>
          </a:p>
        </p:txBody>
      </p:sp>
      <p:sp>
        <p:nvSpPr>
          <p:cNvPr id="4" name="Rectangle 3"/>
          <p:cNvSpPr/>
          <p:nvPr/>
        </p:nvSpPr>
        <p:spPr>
          <a:xfrm>
            <a:off x="777240" y="749808"/>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896112"/>
            <a:ext cx="10881360" cy="713232"/>
          </a:xfrm>
          <a:prstGeom prst="rect">
            <a:avLst/>
          </a:prstGeom>
          <a:noFill/>
        </p:spPr>
        <p:txBody>
          <a:bodyPr wrap="square" anchor="t">
            <a:spAutoFit/>
          </a:bodyPr>
          <a:lstStyle/>
          <a:p>
            <a:pPr algn="l">
              <a:spcAft>
                <a:spcPts val="400"/>
              </a:spcAft>
            </a:pPr>
            <a:r>
              <a:rPr sz="4000" b="1">
                <a:solidFill>
                  <a:srgbClr val="F5A623"/>
                </a:solidFill>
                <a:latin typeface="Arial"/>
              </a:rPr>
              <a:t>SKILL CATEGORIES.</a:t>
            </a:r>
          </a:p>
        </p:txBody>
      </p:sp>
      <p:sp>
        <p:nvSpPr>
          <p:cNvPr id="6" name="TextBox 5"/>
          <p:cNvSpPr txBox="1"/>
          <p:nvPr/>
        </p:nvSpPr>
        <p:spPr>
          <a:xfrm>
            <a:off x="777240" y="1609344"/>
            <a:ext cx="10881360" cy="329184"/>
          </a:xfrm>
          <a:prstGeom prst="rect">
            <a:avLst/>
          </a:prstGeom>
          <a:noFill/>
        </p:spPr>
        <p:txBody>
          <a:bodyPr wrap="square" anchor="t">
            <a:spAutoFit/>
          </a:bodyPr>
          <a:lstStyle/>
          <a:p>
            <a:pPr algn="l">
              <a:spcAft>
                <a:spcPts val="400"/>
              </a:spcAft>
            </a:pPr>
            <a:r>
              <a:rPr sz="1400" b="0">
                <a:solidFill>
                  <a:srgbClr val="8A8D86"/>
                </a:solidFill>
                <a:latin typeface="Arial"/>
              </a:rPr>
              <a:t>All 19 categories · 98 skills — live from the Hermes dashboard (Skills page).</a:t>
            </a:r>
          </a:p>
        </p:txBody>
      </p:sp>
      <p:sp>
        <p:nvSpPr>
          <p:cNvPr id="7" name="Rectangle 6"/>
          <p:cNvSpPr/>
          <p:nvPr/>
        </p:nvSpPr>
        <p:spPr>
          <a:xfrm>
            <a:off x="777240" y="2157984"/>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57984"/>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2157984"/>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Creative  (21)</a:t>
            </a:r>
          </a:p>
        </p:txBody>
      </p:sp>
      <p:sp>
        <p:nvSpPr>
          <p:cNvPr id="10" name="TextBox 9"/>
          <p:cNvSpPr txBox="1"/>
          <p:nvPr/>
        </p:nvSpPr>
        <p:spPr>
          <a:xfrm>
            <a:off x="3154680" y="2157984"/>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architecture-diagram, ascii-art, …</a:t>
            </a:r>
          </a:p>
        </p:txBody>
      </p:sp>
      <p:sp>
        <p:nvSpPr>
          <p:cNvPr id="11" name="Rectangle 10"/>
          <p:cNvSpPr/>
          <p:nvPr/>
        </p:nvSpPr>
        <p:spPr>
          <a:xfrm>
            <a:off x="777240" y="2993745"/>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993745"/>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2993745"/>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Mlops  (13)</a:t>
            </a:r>
          </a:p>
        </p:txBody>
      </p:sp>
      <p:sp>
        <p:nvSpPr>
          <p:cNvPr id="14" name="TextBox 13"/>
          <p:cNvSpPr txBox="1"/>
          <p:nvPr/>
        </p:nvSpPr>
        <p:spPr>
          <a:xfrm>
            <a:off x="3154680" y="2993745"/>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evaluating-llms-harness, weights-and-biases, …</a:t>
            </a:r>
          </a:p>
        </p:txBody>
      </p:sp>
      <p:sp>
        <p:nvSpPr>
          <p:cNvPr id="15" name="Rectangle 14"/>
          <p:cNvSpPr/>
          <p:nvPr/>
        </p:nvSpPr>
        <p:spPr>
          <a:xfrm>
            <a:off x="777240" y="3829507"/>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3829507"/>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8408" y="3829507"/>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Software Development  (13)</a:t>
            </a:r>
          </a:p>
        </p:txBody>
      </p:sp>
      <p:sp>
        <p:nvSpPr>
          <p:cNvPr id="18" name="TextBox 17"/>
          <p:cNvSpPr txBox="1"/>
          <p:nvPr/>
        </p:nvSpPr>
        <p:spPr>
          <a:xfrm>
            <a:off x="3154680" y="3829507"/>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debugging-hermes-tui-commands, hermes-agent-skill-authoring, …</a:t>
            </a:r>
          </a:p>
        </p:txBody>
      </p:sp>
      <p:sp>
        <p:nvSpPr>
          <p:cNvPr id="19" name="Rectangle 18"/>
          <p:cNvSpPr/>
          <p:nvPr/>
        </p:nvSpPr>
        <p:spPr>
          <a:xfrm>
            <a:off x="777240" y="4665268"/>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4665268"/>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8408" y="4665268"/>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Productivity  (10)</a:t>
            </a:r>
          </a:p>
        </p:txBody>
      </p:sp>
      <p:sp>
        <p:nvSpPr>
          <p:cNvPr id="22" name="TextBox 21"/>
          <p:cNvSpPr txBox="1"/>
          <p:nvPr/>
        </p:nvSpPr>
        <p:spPr>
          <a:xfrm>
            <a:off x="3154680" y="4665268"/>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airtable, google-workspace, …</a:t>
            </a:r>
          </a:p>
        </p:txBody>
      </p:sp>
      <p:sp>
        <p:nvSpPr>
          <p:cNvPr id="23" name="Rectangle 22"/>
          <p:cNvSpPr/>
          <p:nvPr/>
        </p:nvSpPr>
        <p:spPr>
          <a:xfrm>
            <a:off x="777240" y="5501030"/>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77240" y="5501030"/>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78408" y="5501030"/>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Github  (6)</a:t>
            </a:r>
          </a:p>
        </p:txBody>
      </p:sp>
      <p:sp>
        <p:nvSpPr>
          <p:cNvPr id="26" name="TextBox 25"/>
          <p:cNvSpPr txBox="1"/>
          <p:nvPr/>
        </p:nvSpPr>
        <p:spPr>
          <a:xfrm>
            <a:off x="3154680" y="5501030"/>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codebase-inspection, github-auth, …</a:t>
            </a:r>
          </a:p>
        </p:txBody>
      </p:sp>
      <p:sp>
        <p:nvSpPr>
          <p:cNvPr id="27" name="Rectangle 26"/>
          <p:cNvSpPr/>
          <p:nvPr/>
        </p:nvSpPr>
        <p:spPr>
          <a:xfrm>
            <a:off x="6231636" y="2157984"/>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31636" y="2157984"/>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32804" y="2157984"/>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Media  (6)</a:t>
            </a:r>
          </a:p>
        </p:txBody>
      </p:sp>
      <p:sp>
        <p:nvSpPr>
          <p:cNvPr id="30" name="TextBox 29"/>
          <p:cNvSpPr txBox="1"/>
          <p:nvPr/>
        </p:nvSpPr>
        <p:spPr>
          <a:xfrm>
            <a:off x="8609076" y="2157984"/>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gif-search, heartmula, …</a:t>
            </a:r>
          </a:p>
        </p:txBody>
      </p:sp>
      <p:sp>
        <p:nvSpPr>
          <p:cNvPr id="31" name="Rectangle 30"/>
          <p:cNvSpPr/>
          <p:nvPr/>
        </p:nvSpPr>
        <p:spPr>
          <a:xfrm>
            <a:off x="6231636" y="2993745"/>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31636" y="2993745"/>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32804" y="2993745"/>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Apple  (5)</a:t>
            </a:r>
          </a:p>
        </p:txBody>
      </p:sp>
      <p:sp>
        <p:nvSpPr>
          <p:cNvPr id="34" name="TextBox 33"/>
          <p:cNvSpPr txBox="1"/>
          <p:nvPr/>
        </p:nvSpPr>
        <p:spPr>
          <a:xfrm>
            <a:off x="8609076" y="2993745"/>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apple-notes, apple-reminders, …</a:t>
            </a:r>
          </a:p>
        </p:txBody>
      </p:sp>
      <p:sp>
        <p:nvSpPr>
          <p:cNvPr id="35" name="Rectangle 34"/>
          <p:cNvSpPr/>
          <p:nvPr/>
        </p:nvSpPr>
        <p:spPr>
          <a:xfrm>
            <a:off x="6231636" y="3829507"/>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231636" y="3829507"/>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32804" y="3829507"/>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Autonomous Ai Agents  (5)</a:t>
            </a:r>
          </a:p>
        </p:txBody>
      </p:sp>
      <p:sp>
        <p:nvSpPr>
          <p:cNvPr id="38" name="TextBox 37"/>
          <p:cNvSpPr txBox="1"/>
          <p:nvPr/>
        </p:nvSpPr>
        <p:spPr>
          <a:xfrm>
            <a:off x="8609076" y="3829507"/>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claude-code, codex, …</a:t>
            </a:r>
          </a:p>
        </p:txBody>
      </p:sp>
      <p:sp>
        <p:nvSpPr>
          <p:cNvPr id="39" name="Rectangle 38"/>
          <p:cNvSpPr/>
          <p:nvPr/>
        </p:nvSpPr>
        <p:spPr>
          <a:xfrm>
            <a:off x="6231636" y="4665268"/>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231636" y="4665268"/>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32804" y="4665268"/>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Research  (5)</a:t>
            </a:r>
          </a:p>
        </p:txBody>
      </p:sp>
      <p:sp>
        <p:nvSpPr>
          <p:cNvPr id="42" name="TextBox 41"/>
          <p:cNvSpPr txBox="1"/>
          <p:nvPr/>
        </p:nvSpPr>
        <p:spPr>
          <a:xfrm>
            <a:off x="8609076" y="4665268"/>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arxiv, blogwatcher, …</a:t>
            </a:r>
          </a:p>
        </p:txBody>
      </p:sp>
      <p:sp>
        <p:nvSpPr>
          <p:cNvPr id="43" name="Rectangle 42"/>
          <p:cNvSpPr/>
          <p:nvPr/>
        </p:nvSpPr>
        <p:spPr>
          <a:xfrm>
            <a:off x="6231636" y="5501030"/>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231636" y="5501030"/>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32804" y="5501030"/>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General  (3)</a:t>
            </a:r>
          </a:p>
        </p:txBody>
      </p:sp>
      <p:sp>
        <p:nvSpPr>
          <p:cNvPr id="46" name="TextBox 45"/>
          <p:cNvSpPr txBox="1"/>
          <p:nvPr/>
        </p:nvSpPr>
        <p:spPr>
          <a:xfrm>
            <a:off x="8609076" y="5501030"/>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computer-use, dogfood, …</a:t>
            </a:r>
          </a:p>
        </p:txBody>
      </p:sp>
      <p:sp>
        <p:nvSpPr>
          <p:cNvPr id="47" name="TextBox 4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48" name="TextBox 4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49" name="TextBox 4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56</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65760"/>
            <a:ext cx="10607040" cy="320040"/>
          </a:xfrm>
          <a:prstGeom prst="rect">
            <a:avLst/>
          </a:prstGeom>
          <a:noFill/>
        </p:spPr>
        <p:txBody>
          <a:bodyPr wrap="square" anchor="t">
            <a:spAutoFit/>
          </a:bodyPr>
          <a:lstStyle/>
          <a:p>
            <a:pPr algn="l">
              <a:spcAft>
                <a:spcPts val="400"/>
              </a:spcAft>
            </a:pPr>
            <a:r>
              <a:rPr sz="1300" b="1">
                <a:solidFill>
                  <a:srgbClr val="F5A623"/>
                </a:solidFill>
                <a:latin typeface="Arial"/>
              </a:rPr>
              <a:t>&gt; skills/categories 2-2</a:t>
            </a:r>
          </a:p>
        </p:txBody>
      </p:sp>
      <p:sp>
        <p:nvSpPr>
          <p:cNvPr id="4" name="Rectangle 3"/>
          <p:cNvSpPr/>
          <p:nvPr/>
        </p:nvSpPr>
        <p:spPr>
          <a:xfrm>
            <a:off x="777240" y="749808"/>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896112"/>
            <a:ext cx="10881360" cy="713232"/>
          </a:xfrm>
          <a:prstGeom prst="rect">
            <a:avLst/>
          </a:prstGeom>
          <a:noFill/>
        </p:spPr>
        <p:txBody>
          <a:bodyPr wrap="square" anchor="t">
            <a:spAutoFit/>
          </a:bodyPr>
          <a:lstStyle/>
          <a:p>
            <a:pPr algn="l">
              <a:spcAft>
                <a:spcPts val="400"/>
              </a:spcAft>
            </a:pPr>
            <a:r>
              <a:rPr sz="4000" b="1">
                <a:solidFill>
                  <a:srgbClr val="F5A623"/>
                </a:solidFill>
                <a:latin typeface="Arial"/>
              </a:rPr>
              <a:t>SKILL CATEGORIES.</a:t>
            </a:r>
          </a:p>
        </p:txBody>
      </p:sp>
      <p:sp>
        <p:nvSpPr>
          <p:cNvPr id="6" name="TextBox 5"/>
          <p:cNvSpPr txBox="1"/>
          <p:nvPr/>
        </p:nvSpPr>
        <p:spPr>
          <a:xfrm>
            <a:off x="777240" y="1609344"/>
            <a:ext cx="10881360" cy="329184"/>
          </a:xfrm>
          <a:prstGeom prst="rect">
            <a:avLst/>
          </a:prstGeom>
          <a:noFill/>
        </p:spPr>
        <p:txBody>
          <a:bodyPr wrap="square" anchor="t">
            <a:spAutoFit/>
          </a:bodyPr>
          <a:lstStyle/>
          <a:p>
            <a:pPr algn="l">
              <a:spcAft>
                <a:spcPts val="400"/>
              </a:spcAft>
            </a:pPr>
            <a:r>
              <a:rPr sz="1400" b="0">
                <a:solidFill>
                  <a:srgbClr val="8A8D86"/>
                </a:solidFill>
                <a:latin typeface="Arial"/>
              </a:rPr>
              <a:t>All 19 categories · 98 skills — live from the Hermes dashboard (Skills page).</a:t>
            </a:r>
          </a:p>
        </p:txBody>
      </p:sp>
      <p:sp>
        <p:nvSpPr>
          <p:cNvPr id="7" name="Rectangle 6"/>
          <p:cNvSpPr/>
          <p:nvPr/>
        </p:nvSpPr>
        <p:spPr>
          <a:xfrm>
            <a:off x="777240" y="2157984"/>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57984"/>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2157984"/>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Devops  (2)</a:t>
            </a:r>
          </a:p>
        </p:txBody>
      </p:sp>
      <p:sp>
        <p:nvSpPr>
          <p:cNvPr id="10" name="TextBox 9"/>
          <p:cNvSpPr txBox="1"/>
          <p:nvPr/>
        </p:nvSpPr>
        <p:spPr>
          <a:xfrm>
            <a:off x="3154680" y="2157984"/>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agent-infrastructure-ops, webhook-subscriptions</a:t>
            </a:r>
          </a:p>
        </p:txBody>
      </p:sp>
      <p:sp>
        <p:nvSpPr>
          <p:cNvPr id="11" name="Rectangle 10"/>
          <p:cNvSpPr/>
          <p:nvPr/>
        </p:nvSpPr>
        <p:spPr>
          <a:xfrm>
            <a:off x="777240" y="2993745"/>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993745"/>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2993745"/>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Gaming  (2)</a:t>
            </a:r>
          </a:p>
        </p:txBody>
      </p:sp>
      <p:sp>
        <p:nvSpPr>
          <p:cNvPr id="14" name="TextBox 13"/>
          <p:cNvSpPr txBox="1"/>
          <p:nvPr/>
        </p:nvSpPr>
        <p:spPr>
          <a:xfrm>
            <a:off x="3154680" y="2993745"/>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minecraft-modpack-server, pokemon-player</a:t>
            </a:r>
          </a:p>
        </p:txBody>
      </p:sp>
      <p:sp>
        <p:nvSpPr>
          <p:cNvPr id="15" name="Rectangle 14"/>
          <p:cNvSpPr/>
          <p:nvPr/>
        </p:nvSpPr>
        <p:spPr>
          <a:xfrm>
            <a:off x="777240" y="3829507"/>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3829507"/>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8408" y="3829507"/>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Data Science  (1)</a:t>
            </a:r>
          </a:p>
        </p:txBody>
      </p:sp>
      <p:sp>
        <p:nvSpPr>
          <p:cNvPr id="18" name="TextBox 17"/>
          <p:cNvSpPr txBox="1"/>
          <p:nvPr/>
        </p:nvSpPr>
        <p:spPr>
          <a:xfrm>
            <a:off x="3154680" y="3829507"/>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jupyter-live-kernel</a:t>
            </a:r>
          </a:p>
        </p:txBody>
      </p:sp>
      <p:sp>
        <p:nvSpPr>
          <p:cNvPr id="19" name="Rectangle 18"/>
          <p:cNvSpPr/>
          <p:nvPr/>
        </p:nvSpPr>
        <p:spPr>
          <a:xfrm>
            <a:off x="777240" y="4665268"/>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4665268"/>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8408" y="4665268"/>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Email  (1)</a:t>
            </a:r>
          </a:p>
        </p:txBody>
      </p:sp>
      <p:sp>
        <p:nvSpPr>
          <p:cNvPr id="22" name="TextBox 21"/>
          <p:cNvSpPr txBox="1"/>
          <p:nvPr/>
        </p:nvSpPr>
        <p:spPr>
          <a:xfrm>
            <a:off x="3154680" y="4665268"/>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himalaya</a:t>
            </a:r>
          </a:p>
        </p:txBody>
      </p:sp>
      <p:sp>
        <p:nvSpPr>
          <p:cNvPr id="23" name="Rectangle 22"/>
          <p:cNvSpPr/>
          <p:nvPr/>
        </p:nvSpPr>
        <p:spPr>
          <a:xfrm>
            <a:off x="777240" y="5501030"/>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77240" y="5501030"/>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78408" y="5501030"/>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Mcp  (1)</a:t>
            </a:r>
          </a:p>
        </p:txBody>
      </p:sp>
      <p:sp>
        <p:nvSpPr>
          <p:cNvPr id="26" name="TextBox 25"/>
          <p:cNvSpPr txBox="1"/>
          <p:nvPr/>
        </p:nvSpPr>
        <p:spPr>
          <a:xfrm>
            <a:off x="3154680" y="5501030"/>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native-mcp</a:t>
            </a:r>
          </a:p>
        </p:txBody>
      </p:sp>
      <p:sp>
        <p:nvSpPr>
          <p:cNvPr id="27" name="Rectangle 26"/>
          <p:cNvSpPr/>
          <p:nvPr/>
        </p:nvSpPr>
        <p:spPr>
          <a:xfrm>
            <a:off x="6231636" y="2157984"/>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31636" y="2157984"/>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32804" y="2157984"/>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Note Taking  (1)</a:t>
            </a:r>
          </a:p>
        </p:txBody>
      </p:sp>
      <p:sp>
        <p:nvSpPr>
          <p:cNvPr id="30" name="TextBox 29"/>
          <p:cNvSpPr txBox="1"/>
          <p:nvPr/>
        </p:nvSpPr>
        <p:spPr>
          <a:xfrm>
            <a:off x="8609076" y="2157984"/>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obsidian</a:t>
            </a:r>
          </a:p>
        </p:txBody>
      </p:sp>
      <p:sp>
        <p:nvSpPr>
          <p:cNvPr id="31" name="Rectangle 30"/>
          <p:cNvSpPr/>
          <p:nvPr/>
        </p:nvSpPr>
        <p:spPr>
          <a:xfrm>
            <a:off x="6231636" y="2993745"/>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31636" y="2993745"/>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32804" y="2993745"/>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Red Teaming  (1)</a:t>
            </a:r>
          </a:p>
        </p:txBody>
      </p:sp>
      <p:sp>
        <p:nvSpPr>
          <p:cNvPr id="34" name="TextBox 33"/>
          <p:cNvSpPr txBox="1"/>
          <p:nvPr/>
        </p:nvSpPr>
        <p:spPr>
          <a:xfrm>
            <a:off x="8609076" y="2993745"/>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godmode</a:t>
            </a:r>
          </a:p>
        </p:txBody>
      </p:sp>
      <p:sp>
        <p:nvSpPr>
          <p:cNvPr id="35" name="Rectangle 34"/>
          <p:cNvSpPr/>
          <p:nvPr/>
        </p:nvSpPr>
        <p:spPr>
          <a:xfrm>
            <a:off x="6231636" y="3829507"/>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231636" y="3829507"/>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32804" y="3829507"/>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Smart Home  (1)</a:t>
            </a:r>
          </a:p>
        </p:txBody>
      </p:sp>
      <p:sp>
        <p:nvSpPr>
          <p:cNvPr id="38" name="TextBox 37"/>
          <p:cNvSpPr txBox="1"/>
          <p:nvPr/>
        </p:nvSpPr>
        <p:spPr>
          <a:xfrm>
            <a:off x="8609076" y="3829507"/>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openhue</a:t>
            </a:r>
          </a:p>
        </p:txBody>
      </p:sp>
      <p:sp>
        <p:nvSpPr>
          <p:cNvPr id="39" name="Rectangle 38"/>
          <p:cNvSpPr/>
          <p:nvPr/>
        </p:nvSpPr>
        <p:spPr>
          <a:xfrm>
            <a:off x="6231636" y="4665268"/>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231636" y="4665268"/>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32804" y="4665268"/>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Social Media  (1)</a:t>
            </a:r>
          </a:p>
        </p:txBody>
      </p:sp>
      <p:sp>
        <p:nvSpPr>
          <p:cNvPr id="42" name="TextBox 41"/>
          <p:cNvSpPr txBox="1"/>
          <p:nvPr/>
        </p:nvSpPr>
        <p:spPr>
          <a:xfrm>
            <a:off x="8609076" y="4665268"/>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xurl</a:t>
            </a:r>
          </a:p>
        </p:txBody>
      </p:sp>
      <p:sp>
        <p:nvSpPr>
          <p:cNvPr id="43" name="TextBox 4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44" name="TextBox 4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45" name="TextBox 4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57</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Browse the skills hub</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skills browse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58</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Search for a skill by keyword</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skills search &lt;keyword&gt;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59</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Install a skill</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skills install &lt;owner/skills/name&gt;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60</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Ask the agent to use the new skill and observe self-improvement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61</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4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The installed skill appears in the agent's toolset and runs when invoked.</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62</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Providers &amp; Model</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5</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Connect a model provider (Nous Portal, OpenRouter, OpenAI or any endpoint) and select a model that meets the &gt;=64,000-token context requirement. Switch providers to compare speed and quality.</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Athena running on a chosen provider/model, with the ability to switch on demand.</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Nous Portal, OpenRouter</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63</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Providers &amp; Model</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Open the interactive provider/model picker</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model</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64</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Providers &amp; Model</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Set a model explicitly</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config set model anthropic/claude-opus-4.6</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65</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Providers &amp; Model</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Add a provider key if using a cloud endpoint</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config set OPENROUTER_API_KEY sk-or-...</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66</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Providers &amp; Model</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Confirm the active model meets the &gt;=64k context rule</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model</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67</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5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Providers &amp; Model</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The agent starts on the selected model and can be switched to another provider without reinstalling.</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68</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MCP and Tools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6</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Add Model Context Protocol (MCP) servers in the Hermes config and use the bundled Tool Gateway (web search, image generation, TTS) so Athena can act on the outside world.</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Athena wired to an MCP server (e.g. GitHub) and able to use a Tool Gateway tool.</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MCP, Tool Gateway</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69</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MCP and Tools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Open the Hermes config to add an MCP server</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70</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MCP and Tools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Add a GitHub MCP server entry</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npx -y @modelcontextprotocol/server-github</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71</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MCP and Tools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Restart so the MCP server is picked up, then verify</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doctor</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72</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MCP and Tools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Use a Tool Gateway tool (web search / image / TTS) from a chat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73</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6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MCP and Tools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The agent lists the new MCP server's tools and completes a task using a Tool Gateway tool.</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74</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Cron Jobs &amp; Automation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7</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Schedule Athena to run recurring jobs — for example an 8am daily briefing sent to your messaging app — and verify the scheduled run fires and produces output.</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scheduled job (e.g. a daily briefing) that runs automatically and delivers a result.</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scheduler/crons</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75</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Cron Jobs &amp; Automation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Define a recurring job (daily 8am briefing) in the Hermes automation/cron config</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76</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Cron Jobs &amp; Automation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Confirm the automation is registered</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doctor</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77</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Cron Jobs &amp; Automation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Trigger the job once to confirm it produces output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78</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Cron Jobs &amp; Automation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Confirm the next scheduled run is queued</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79</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7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Cron Jobs &amp; Automation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The scheduled job runs at its time (or on manual trigger) and delivers the expected briefing.</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80</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Subagents &amp; Delegation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8</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Turn Athena into a coordinator that delegates tasks to worker subagents running on isolated terminal backends (local, docker, ssh, modal), then aggregates their results.</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coordinator agent that delegates a task to one or more worker subagents and combines the output.</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terminal backends (docker/ssh/modal)</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81</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Subagents &amp; Delegation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Choose an isolated backend for worker agents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config set terminal.backend docker</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82</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Subagents &amp; Delegation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Ask the coordinator to delegate a multi-part task to subagents</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83</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Subagents &amp; Delegation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Observe each subagent run in isolation and report back</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84</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Subagents &amp; Delegation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Review the coordinator's aggregated result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85</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8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Subagents &amp; Delegation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The coordinator delegates to worker subagents on an isolated backend and returns a combined result.</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86</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Profile and Kanban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9</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Configure the agent's profile and use the Hermes Kanban board to watch tasks move through todo -&gt; in progress -&gt; done, giving you human oversight of what Athena is working on.</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configured agent profile and a Kanban board tracking the agent's live tasks.</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profile, Kanban board</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87</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9 · LIVE SCREENSHOT</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Hermes in the Browser — Kanban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9143" y="1792224"/>
            <a:ext cx="6693408" cy="422452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hermes-kanban.png"/>
          <p:cNvPicPr>
            <a:picLocks noChangeAspect="1"/>
          </p:cNvPicPr>
          <p:nvPr/>
        </p:nvPicPr>
        <p:blipFill>
          <a:blip r:embed="rId2"/>
          <a:stretch>
            <a:fillRect/>
          </a:stretch>
        </p:blipFill>
        <p:spPr>
          <a:xfrm>
            <a:off x="2804007" y="1847088"/>
            <a:ext cx="6583680" cy="4114800"/>
          </a:xfrm>
          <a:prstGeom prst="rect">
            <a:avLst/>
          </a:prstGeom>
        </p:spPr>
      </p:pic>
      <p:sp>
        <p:nvSpPr>
          <p:cNvPr id="9" name="TextBox 8"/>
          <p:cNvSpPr txBox="1"/>
          <p:nvPr/>
        </p:nvSpPr>
        <p:spPr>
          <a:xfrm>
            <a:off x="777240" y="6108192"/>
            <a:ext cx="10607040" cy="320040"/>
          </a:xfrm>
          <a:prstGeom prst="rect">
            <a:avLst/>
          </a:prstGeom>
          <a:noFill/>
        </p:spPr>
        <p:txBody>
          <a:bodyPr wrap="square" anchor="t">
            <a:spAutoFit/>
          </a:bodyPr>
          <a:lstStyle/>
          <a:p>
            <a:pPr algn="ctr">
              <a:spcAft>
                <a:spcPts val="400"/>
              </a:spcAft>
            </a:pPr>
            <a:r>
              <a:rPr sz="1200" b="0">
                <a:solidFill>
                  <a:srgbClr val="8A8D86"/>
                </a:solidFill>
                <a:latin typeface="Arial"/>
              </a:rPr>
              <a:t>The Kanban board — supervise the agent's tasks as they move across the columns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88</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Profile and Kanban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Set up the agent profile (identity, defaults, preferences)</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89</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Profile and Kanban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Open the Kanban board view</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90</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Profile and Kanban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Assign a task and watch it move todo -&gt; in progress -&gt; done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91</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Profile and Kanban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Use the board to review and accept completed work</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92</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9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Profile and Kanban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The profile is set and the Kanban board shows tasks progressing across its columns.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93</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10</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Harden Athena: run risky work in an isolated terminal backend, manage secrets safely, and require approval before sensitive actions — applying least privilege throughout.</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hardened agent that sandboxes execution, protects secrets and prompts for approval on risky actions.</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terminal backends, secrets management</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94</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Isolate execution in a sandboxed backend</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config set terminal.backend docker</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95</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Store provider/tool secrets via config rather than plain text</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config set &lt;PROVIDER&gt;_API_KEY &lt;value&gt;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96</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Require approval before the agent runs risky actions</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97</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Apply least privilege — grant only the tools/skills the task needs</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98</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10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Risky actions run only in the sandbox and only after approval; secrets are not stored in plain text.</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99</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Use Case — Make a Video with Hyperframe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11</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Put Athena to work on an end-to-end creative task: use the agent to drive the Hyperframe tool and generate a short video from a concept brief, then review and refine the result.</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short video generated end-to-end by the agent using Hyperframe.</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Hyperframe</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100</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Use Case — Make a Video with Hyperframe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Connect / set up the Hyperframe video tool for the agent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101</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Use Case — Make a Video with Hyperframe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Brief the agent with a short video concept (topic, style, length)</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102</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Use Case — Make a Video with Hyperframe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Have the agent generate the video with Hyperframe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103</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Use Case — Make a Video with Hyperframe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Review the output and refine the brief to regenerate if needed</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104</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11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Use Case — Make a Video with Hyperframe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The agent produces a playable video from your brief using Hyperframe.</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105</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Visualization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12</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Use Hermes' visualization capability to see the agent's workflow, task flow and data at a glance, making the agent's behaviour transparent and easier to supervise.</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visualization of the agent's workflow / activity you can read and interpret.</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visualization</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106</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Visualization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3</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Open the visualization view for the agent's activity</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107</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Visualization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3</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Generate a visualization of a workflow or dataset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108</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Visualization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3</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Interpret the visualization to understand what the agent did</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109</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12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Visualization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A visualization of the agent's workflow/data renders and communicates the agent's activity.</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110</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Build a Multi-Agent Workflow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13</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700" b="0">
                <a:solidFill>
                  <a:srgbClr val="E8E6DD"/>
                </a:solidFill>
                <a:latin typeface="Arial"/>
              </a:rPr>
              <a:t>Design a multi-agent workflow in which several agents take on distinct roles and hand off tasks to one another to complete a larger goal, building on the subagents and delegation concepts from earlier labs.</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working multi-agent workflow where agents hand off tasks to complete a goal.</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subagents, workflow</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111</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Build a Multi-Agent Workflow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Define the agents and their roles in the workflow</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112</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Build a Multi-Agent Workflow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Connect the agents so outputs hand off between them</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113</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Build a Multi-Agent Workflow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Run the workflow end-to-end on a sample goal</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114</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Build a Multi-Agent Workflow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Verify each stage completed and the final result is correct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115</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13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Build a Multi-Agent Workflow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The multi-agent workflow runs end-to-end with each agent handing off to the next and producing the final result.</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116</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Webhook</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14</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Wire the agent to the outside world with webhooks: trigger the agent from an incoming webhook payload and/or have it call an outgoing webhook, then secure the endpoint.</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webhook that triggers the agent (or that the agent calls), verified end-to-end.</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webhooks</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117</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Webhook</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Configure a webhook trigger/endpoint for the agent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118</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Webhook</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Send a test payload to the webhook</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119</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Webhook</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Confirm the agent receives the event and responds/acts</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120</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Webhook</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Secure the webhook (secret/token, allowlist)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121</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14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Webhook</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A test payload to the webhook triggers the agent and produces the expected action, with the endpoint secured.</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122</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RECAP</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E8E6DD"/>
                </a:solidFill>
                <a:latin typeface="Arial"/>
              </a:rPr>
              <a:t>Recap — Hermes Agent — Your Autonomous Personal Chief-of-Staff</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316480"/>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334768"/>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1</a:t>
            </a:r>
          </a:p>
        </p:txBody>
      </p:sp>
      <p:sp>
        <p:nvSpPr>
          <p:cNvPr id="11" name="TextBox 10"/>
          <p:cNvSpPr txBox="1"/>
          <p:nvPr/>
        </p:nvSpPr>
        <p:spPr>
          <a:xfrm>
            <a:off x="1453896" y="1901952"/>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LO1: Install and configure Hermes Agent on a local machine.</a:t>
            </a:r>
          </a:p>
        </p:txBody>
      </p:sp>
      <p:sp>
        <p:nvSpPr>
          <p:cNvPr id="12" name="Rectangle 11"/>
          <p:cNvSpPr/>
          <p:nvPr/>
        </p:nvSpPr>
        <p:spPr>
          <a:xfrm>
            <a:off x="6176772" y="1828800"/>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6772" y="1828800"/>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59652" y="2316480"/>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2" y="2334768"/>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2</a:t>
            </a:r>
          </a:p>
        </p:txBody>
      </p:sp>
      <p:sp>
        <p:nvSpPr>
          <p:cNvPr id="16" name="TextBox 15"/>
          <p:cNvSpPr txBox="1"/>
          <p:nvPr/>
        </p:nvSpPr>
        <p:spPr>
          <a:xfrm>
            <a:off x="6853428" y="1901952"/>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LO1: Deploy Hermes locally and run it through the Hermes Desktop app.</a:t>
            </a:r>
          </a:p>
        </p:txBody>
      </p:sp>
      <p:sp>
        <p:nvSpPr>
          <p:cNvPr id="17" name="Rectangle 16"/>
          <p:cNvSpPr/>
          <p:nvPr/>
        </p:nvSpPr>
        <p:spPr>
          <a:xfrm>
            <a:off x="777240" y="3316224"/>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6224"/>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3803904"/>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3822192"/>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3</a:t>
            </a:r>
          </a:p>
        </p:txBody>
      </p:sp>
      <p:sp>
        <p:nvSpPr>
          <p:cNvPr id="21" name="TextBox 20"/>
          <p:cNvSpPr txBox="1"/>
          <p:nvPr/>
        </p:nvSpPr>
        <p:spPr>
          <a:xfrm>
            <a:off x="1453896" y="3389376"/>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LO2: Give the agent persistent memory and extend it with plugins.</a:t>
            </a:r>
          </a:p>
        </p:txBody>
      </p:sp>
      <p:sp>
        <p:nvSpPr>
          <p:cNvPr id="22" name="Rectangle 21"/>
          <p:cNvSpPr/>
          <p:nvPr/>
        </p:nvSpPr>
        <p:spPr>
          <a:xfrm>
            <a:off x="6176772" y="3316224"/>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6772" y="3316224"/>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359652" y="3803904"/>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9652" y="3822192"/>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4</a:t>
            </a:r>
          </a:p>
        </p:txBody>
      </p:sp>
      <p:sp>
        <p:nvSpPr>
          <p:cNvPr id="26" name="TextBox 25"/>
          <p:cNvSpPr txBox="1"/>
          <p:nvPr/>
        </p:nvSpPr>
        <p:spPr>
          <a:xfrm>
            <a:off x="6853428" y="3389376"/>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LO3: Extend the agent with installable, self-improving skills.</a:t>
            </a:r>
          </a:p>
        </p:txBody>
      </p:sp>
      <p:sp>
        <p:nvSpPr>
          <p:cNvPr id="27" name="Rectangle 26"/>
          <p:cNvSpPr/>
          <p:nvPr/>
        </p:nvSpPr>
        <p:spPr>
          <a:xfrm>
            <a:off x="777240" y="4803648"/>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03648"/>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60120" y="5291328"/>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60120" y="5309616"/>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5</a:t>
            </a:r>
          </a:p>
        </p:txBody>
      </p:sp>
      <p:sp>
        <p:nvSpPr>
          <p:cNvPr id="31" name="TextBox 30"/>
          <p:cNvSpPr txBox="1"/>
          <p:nvPr/>
        </p:nvSpPr>
        <p:spPr>
          <a:xfrm>
            <a:off x="1453896" y="4876800"/>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LO2: Connect an LLM provider and switch models with no lock-in.</a:t>
            </a:r>
          </a:p>
        </p:txBody>
      </p:sp>
      <p:sp>
        <p:nvSpPr>
          <p:cNvPr id="32" name="Rectangle 31"/>
          <p:cNvSpPr/>
          <p:nvPr/>
        </p:nvSpPr>
        <p:spPr>
          <a:xfrm>
            <a:off x="6176772" y="4803648"/>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176772" y="4803648"/>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359652" y="5291328"/>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59652" y="5309616"/>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6</a:t>
            </a:r>
          </a:p>
        </p:txBody>
      </p:sp>
      <p:sp>
        <p:nvSpPr>
          <p:cNvPr id="36" name="TextBox 35"/>
          <p:cNvSpPr txBox="1"/>
          <p:nvPr/>
        </p:nvSpPr>
        <p:spPr>
          <a:xfrm>
            <a:off x="6853428" y="4876800"/>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LO3: Give the agent real-world reach with MCP servers and the Tool Gateway.</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123</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DC2626"/>
                </a:solidFill>
                <a:latin typeface="Arial"/>
              </a:rPr>
              <a:t>TOPIC 02</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E8E6DD"/>
                </a:solidFill>
                <a:latin typeface="Arial"/>
              </a:rPr>
              <a:t>OpenClaw — Automating a Business Back-Office</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8A8D86"/>
                </a:solidFill>
                <a:latin typeface="Arial"/>
              </a:rPr>
              <a:t>Install · Providers · Channels · Skills · Tools · Commands · Crons · Memory · Dreaming · Security · Multi-Agent · Use Cases</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2A2C28"/>
                </a:solidFill>
                <a:latin typeface="Arial"/>
              </a:rPr>
              <a:t>02</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124</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EXAM WEIGHTING 33%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E8E6DD"/>
                </a:solidFill>
                <a:latin typeface="Arial"/>
              </a:rPr>
              <a:t>Key Concepts — OpenClaw — Automating a Business Back-Office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920240"/>
          </a:xfrm>
          <a:prstGeom prst="rect">
            <a:avLst/>
          </a:prstGeom>
          <a:noFill/>
        </p:spPr>
        <p:txBody>
          <a:bodyPr wrap="square" anchor="ctr">
            <a:spAutoFit/>
          </a:bodyPr>
          <a:lstStyle/>
          <a:p>
            <a:pPr algn="l">
              <a:spcAft>
                <a:spcPts val="400"/>
              </a:spcAft>
            </a:pPr>
            <a:r>
              <a:rPr sz="1400" b="0">
                <a:solidFill>
                  <a:srgbClr val="E8E6DD"/>
                </a:solidFill>
                <a:latin typeface="Arial"/>
              </a:rPr>
              <a:t>OpenClaw runs on Node.js 24 LTS as a long-running gateway daemon that hosts every channel, tool, cron and skill for the Nimbus Supplies back office.</a:t>
            </a:r>
          </a:p>
        </p:txBody>
      </p:sp>
      <p:sp>
        <p:nvSpPr>
          <p:cNvPr id="12" name="Rectangle 11"/>
          <p:cNvSpPr/>
          <p:nvPr/>
        </p:nvSpPr>
        <p:spPr>
          <a:xfrm>
            <a:off x="6231636" y="1783080"/>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920240"/>
          </a:xfrm>
          <a:prstGeom prst="rect">
            <a:avLst/>
          </a:prstGeom>
          <a:noFill/>
        </p:spPr>
        <p:txBody>
          <a:bodyPr wrap="square" anchor="ctr">
            <a:spAutoFit/>
          </a:bodyPr>
          <a:lstStyle/>
          <a:p>
            <a:pPr algn="l">
              <a:spcAft>
                <a:spcPts val="400"/>
              </a:spcAft>
            </a:pPr>
            <a:r>
              <a:rPr sz="1400" b="0">
                <a:solidFill>
                  <a:srgbClr val="E8E6DD"/>
                </a:solidFill>
                <a:latin typeface="Arial"/>
              </a:rPr>
              <a:t>Providers are connected by OAuth sign-in (OpenAI Codex, MiniMax) or API key (Anthropic, DeepSeek, OpenRouter); skills from skills.sh and integrations such as Firecrawl and AgentMail extend the agent.</a:t>
            </a:r>
          </a:p>
        </p:txBody>
      </p:sp>
      <p:sp>
        <p:nvSpPr>
          <p:cNvPr id="17" name="Rectangle 16"/>
          <p:cNvSpPr/>
          <p:nvPr/>
        </p:nvSpPr>
        <p:spPr>
          <a:xfrm>
            <a:off x="777240" y="4087368"/>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178808"/>
            <a:ext cx="3973068" cy="1920240"/>
          </a:xfrm>
          <a:prstGeom prst="rect">
            <a:avLst/>
          </a:prstGeom>
          <a:noFill/>
        </p:spPr>
        <p:txBody>
          <a:bodyPr wrap="square" anchor="ctr">
            <a:spAutoFit/>
          </a:bodyPr>
          <a:lstStyle/>
          <a:p>
            <a:pPr algn="l">
              <a:spcAft>
                <a:spcPts val="400"/>
              </a:spcAft>
            </a:pPr>
            <a:r>
              <a:rPr sz="1400" b="0">
                <a:solidFill>
                  <a:srgbClr val="E8E6DD"/>
                </a:solidFill>
                <a:latin typeface="Arial"/>
              </a:rPr>
              <a:t>'Dreaming' lets the agent reflect during idle time — reviewing memory and generating follow-ups — while profiles and allow/deny lists keep every channel least-privileged and audited.</a:t>
            </a:r>
          </a:p>
        </p:txBody>
      </p:sp>
      <p:sp>
        <p:nvSpPr>
          <p:cNvPr id="22" name="Rectangle 21"/>
          <p:cNvSpPr/>
          <p:nvPr/>
        </p:nvSpPr>
        <p:spPr>
          <a:xfrm>
            <a:off x="6231636" y="4087368"/>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178808"/>
            <a:ext cx="3973068" cy="1920240"/>
          </a:xfrm>
          <a:prstGeom prst="rect">
            <a:avLst/>
          </a:prstGeom>
          <a:noFill/>
        </p:spPr>
        <p:txBody>
          <a:bodyPr wrap="square" anchor="ctr">
            <a:spAutoFit/>
          </a:bodyPr>
          <a:lstStyle/>
          <a:p>
            <a:pPr algn="l">
              <a:spcAft>
                <a:spcPts val="400"/>
              </a:spcAft>
            </a:pPr>
            <a:r>
              <a:rPr sz="1400" b="0">
                <a:solidFill>
                  <a:srgbClr val="E8E6DD"/>
                </a:solidFill>
                <a:latin typeface="Arial"/>
              </a:rPr>
              <a:t>Crons schedule recurring work, a heartbeat auto-restarts the gateway, and a multi-agent capstone splits work across cooperating Sales, Research and Ops agents for real back-office use cases.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125</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WHAT YOU'LL DO</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E8E6DD"/>
                </a:solidFill>
                <a:latin typeface="Arial"/>
              </a:rPr>
              <a:t>Hands-On Labs — OpenClaw — Automating a Business Back-Office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Labs 15–18</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E8E6DD"/>
                </a:solidFill>
                <a:latin typeface="Arial"/>
              </a:rPr>
              <a:t>•  Install OpenClaw</a:t>
            </a:r>
          </a:p>
          <a:p>
            <a:pPr>
              <a:spcAft>
                <a:spcPts val="900"/>
              </a:spcAft>
            </a:pPr>
            <a:r>
              <a:rPr sz="1400" b="0">
                <a:solidFill>
                  <a:srgbClr val="E8E6DD"/>
                </a:solidFill>
                <a:latin typeface="Arial"/>
              </a:rPr>
              <a:t>•  Models &amp; Providers</a:t>
            </a:r>
          </a:p>
          <a:p>
            <a:pPr>
              <a:spcAft>
                <a:spcPts val="900"/>
              </a:spcAft>
            </a:pPr>
            <a:r>
              <a:rPr sz="1400" b="0">
                <a:solidFill>
                  <a:srgbClr val="E8E6DD"/>
                </a:solidFill>
                <a:latin typeface="Arial"/>
              </a:rPr>
              <a:t>•  Channels</a:t>
            </a:r>
          </a:p>
          <a:p>
            <a:pPr>
              <a:spcAft>
                <a:spcPts val="900"/>
              </a:spcAft>
            </a:pPr>
            <a:r>
              <a:rPr sz="1400" b="0">
                <a:solidFill>
                  <a:srgbClr val="E8E6DD"/>
                </a:solidFill>
                <a:latin typeface="Arial"/>
              </a:rPr>
              <a:t>•  Skills</a:t>
            </a:r>
          </a:p>
        </p:txBody>
      </p:sp>
      <p:sp>
        <p:nvSpPr>
          <p:cNvPr id="11" name="Rectangle 10"/>
          <p:cNvSpPr/>
          <p:nvPr/>
        </p:nvSpPr>
        <p:spPr>
          <a:xfrm>
            <a:off x="4572000" y="1783080"/>
            <a:ext cx="333756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Labs 19–22</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E8E6DD"/>
                </a:solidFill>
                <a:latin typeface="Arial"/>
              </a:rPr>
              <a:t>•  Tools &amp; Integrations</a:t>
            </a:r>
          </a:p>
          <a:p>
            <a:pPr>
              <a:spcAft>
                <a:spcPts val="900"/>
              </a:spcAft>
            </a:pPr>
            <a:r>
              <a:rPr sz="1400" b="0">
                <a:solidFill>
                  <a:srgbClr val="E8E6DD"/>
                </a:solidFill>
                <a:latin typeface="Arial"/>
              </a:rPr>
              <a:t>•  Commands</a:t>
            </a:r>
          </a:p>
          <a:p>
            <a:pPr>
              <a:spcAft>
                <a:spcPts val="900"/>
              </a:spcAft>
            </a:pPr>
            <a:r>
              <a:rPr sz="1400" b="0">
                <a:solidFill>
                  <a:srgbClr val="E8E6DD"/>
                </a:solidFill>
                <a:latin typeface="Arial"/>
              </a:rPr>
              <a:t>•  Cron Jobs &amp; Heartbeat</a:t>
            </a:r>
          </a:p>
          <a:p>
            <a:pPr>
              <a:spcAft>
                <a:spcPts val="900"/>
              </a:spcAft>
            </a:pPr>
            <a:r>
              <a:rPr sz="1400" b="0">
                <a:solidFill>
                  <a:srgbClr val="E8E6DD"/>
                </a:solidFill>
                <a:latin typeface="Arial"/>
              </a:rPr>
              <a:t>•  Memory &amp; Context</a:t>
            </a:r>
          </a:p>
        </p:txBody>
      </p:sp>
      <p:sp>
        <p:nvSpPr>
          <p:cNvPr id="15" name="Rectangle 14"/>
          <p:cNvSpPr/>
          <p:nvPr/>
        </p:nvSpPr>
        <p:spPr>
          <a:xfrm>
            <a:off x="8366760" y="1783080"/>
            <a:ext cx="333756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Labs 23–26</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E8E6DD"/>
                </a:solidFill>
                <a:latin typeface="Arial"/>
              </a:rPr>
              <a:t>•  Security</a:t>
            </a:r>
          </a:p>
          <a:p>
            <a:pPr>
              <a:spcAft>
                <a:spcPts val="900"/>
              </a:spcAft>
            </a:pPr>
            <a:r>
              <a:rPr sz="1400" b="0">
                <a:solidFill>
                  <a:srgbClr val="E8E6DD"/>
                </a:solidFill>
                <a:latin typeface="Arial"/>
              </a:rPr>
              <a:t>•  Multi-Agent Workforce</a:t>
            </a:r>
          </a:p>
          <a:p>
            <a:pPr>
              <a:spcAft>
                <a:spcPts val="900"/>
              </a:spcAft>
            </a:pPr>
            <a:r>
              <a:rPr sz="1400" b="0">
                <a:solidFill>
                  <a:srgbClr val="E8E6DD"/>
                </a:solidFill>
                <a:latin typeface="Arial"/>
              </a:rPr>
              <a:t>•  Dreaming — Idle Reflection &amp; Self-Improvement</a:t>
            </a:r>
          </a:p>
          <a:p>
            <a:pPr>
              <a:spcAft>
                <a:spcPts val="900"/>
              </a:spcAft>
            </a:pPr>
            <a:r>
              <a:rPr sz="1400" b="0">
                <a:solidFill>
                  <a:srgbClr val="E8E6DD"/>
                </a:solidFill>
                <a:latin typeface="Arial"/>
              </a:rPr>
              <a:t>•  Use Cases &amp; Key Functions</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126</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OpenClaw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15</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500" b="0">
                <a:solidFill>
                  <a:srgbClr val="E8E6DD"/>
                </a:solidFill>
                <a:latin typeface="Arial"/>
              </a:rPr>
              <a:t>The learner installs the OpenClaw platform on their own machine (or a cloud VPS) by first installing Node.js 24 LTS, then installing OpenClaw via npm and running the onboarding wizard, and verifies the install with doctor and gateway status. This gateway becomes the back-office brain of the Nimbus Supplies running example.</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running OpenClaw gateway daemon (local or VPS) verified with openclaw doctor</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OpenClaw, Node.js 24 LTS, npm, openclaw gateway</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127</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OpenClaw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Install Node.js 24 LTS on macOS with Homebrew and verify</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brew install node@24</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128</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OpenClaw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Install OpenClaw globally via npm</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npm install -g openclaw@latest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129</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OpenClaw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Run the interactive onboarding wizard that creates ~/.openclaw and the gateway</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onboard</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130</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OpenClaw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Verify the install version</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--version</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131</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OpenClaw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5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Run the health check (Node, gateway daemon, providers, channels)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doctor</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132</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OpenClaw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6</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6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Confirm the gateway is running, starting it if needed</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gateway start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133</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15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OpenClaw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openclaw --version prints a version, openclaw doctor shows green checks for Node 24 and the gateway daemon (provider/channel checks pending until Labs 16-17), and openclaw gateway status reports running.</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134</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Models &amp; Providers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16</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700" b="0">
                <a:solidFill>
                  <a:srgbClr val="E8E6DD"/>
                </a:solidFill>
                <a:latin typeface="Arial"/>
              </a:rPr>
              <a:t>The learner connects a language model to OpenClaw, trying the supported provider options — OAuth sign-ins (OpenAI Codex, MiniMax) and API-key providers (Anthropic, DeepSeek, OpenRouter) — learns where credentials are stored under ~/.openclaw/auth/, hot-swaps between models, and runs a Nimbus Supplies smoke test.</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Nimbus Supplies agent wired to a working model provider that passes openclaw model test</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OpenClaw, OpenAI Codex / MiniMax (OAuth), Anthropic / DeepSeek / OpenRouter (API key)</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135</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Models &amp; Providers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See the available models and the current selection</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models list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136</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Models &amp; Providers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Option A - sign in to OpenAI Codex via OAuth</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models auth login --provider openai-codex</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137</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Models &amp; Providers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Option C - set an Anthropic API key and select a Claude model</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config set model anthropic/claude-opus-4-7</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138</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Models &amp; Providers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Test that the active model responds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model test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139</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Models &amp; Providers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5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Persist an API key so it survives reboots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echo 'export ANTHROPIC_API_KEY="sk-ant-..."' &gt;&gt; ~/.zshrc</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140</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Models &amp; Providers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6</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6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Hot-swap the global default model and confirm</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model use deepseek/deepseek-v4</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141</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Models &amp; Providers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7</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7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Give the agent a Nimbus Supplies smoke test from CLI chat</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142</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16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Models &amp; Providers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openclaw models list shows the connected models, openclaw model current prints the active one, openclaw model test returns a short successful completion with no auth error, and OAuth credentials appear under ~/.openclaw/auth/.</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143</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Channels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17</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700" b="0">
                <a:solidFill>
                  <a:srgbClr val="E8E6DD"/>
                </a:solidFill>
                <a:latin typeface="Arial"/>
              </a:rPr>
              <a:t>The learner gives customers a way to reach the Nimbus Supplies agent by creating a Telegram bot end-to-end via BotFather, registering it with a token, pairing a WhatsApp number by scanning a QR code, and running both channels at once through a single OpenClaw gateway so the same agent answers on either platform.</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Telegram and WhatsApp both live on one OpenClaw gateway, answered by the same Nimbus Supplies agent</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OpenClaw, Telegram (BotFather), WhatsApp, openclaw channel</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144</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Channels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Create a Telegram bot in BotFather with /newbot and copy the HTTP API token</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145</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Channels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Register the Telegram channel with the bot token</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channel add telegram --token 123456789:ABC-DEF1234ghIkl-zyx57W2v1u123ew11</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146</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Channels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Start the Telegram channel</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channel start telegram</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147</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Channels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Add the WhatsApp channel to print a pairing QR code</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channel add whatsapp</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148</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Channels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5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Start WhatsApp, then scan the QR from WhatsApp -&gt; Linked Devices -&gt; Link a Device</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channel start whatsapp</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149</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Channels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6</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6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Confirm both channels are running simultaneously</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channel list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150</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17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Channels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openclaw channel list shows telegram and whatsapp both running, a message to the Telegram bot gets an agent reply, a message to the linked WhatsApp account gets an agent reply, and openclaw gateway status shows both connected.</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151</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18</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700" b="0">
                <a:solidFill>
                  <a:srgbClr val="E8E6DD"/>
                </a:solidFill>
                <a:latin typeface="Arial"/>
              </a:rPr>
              <a:t>The learner installs and removes skills from the skills.sh registry, invokes them from chat, and builds a custom Nimbus Supplies skill (nimbus-quote) under ~/.openclaw/skills/ so the agent handles a recurring back-office task — drafting an itemised customer quote with GST — the same way every time.</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Registry skills plus a custom nimbus-quote skill that produces itemised, GST-inclusive quotes</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OpenClaw, skills.sh registry, ~/.openclaw/skills/, openclaw skills</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152</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List the skills currently installed</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skills list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153</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Install a useful skill from the skills.sh registry</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skills add web-research --source skills.sh</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154</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Invoke a skill from a channel with the /skill slash command</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/skill web-research "Who are the main office-supplies wholesalers in Singapore?"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155</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Create the folder for a custom Nimbus Supplies skill</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mkdir -p ~/.openclaw/skills/nimbus-quote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156</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5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Author skill.md with front-matter (name, description) and the quoting instructions</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157</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6</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6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Restart the gateway so the new skill is picked up</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gateway restart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158</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7</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7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Test the custom skill from a channel</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/skill nimbus-quote "Customer: Acme Cafe. 10 reams recycled A4 paper, 5 boxes black pens."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159</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18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openclaw skills list shows the registry skills plus the custom nimbus-quote, /skill web-research runs end-to-end, and /skill nimbus-quote produces an itemised quote with a 9% GST line and standard terms, marking any unknown price as TBC instead of guessing.</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160</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Tools &amp; Integrations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19</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500" b="0">
                <a:solidFill>
                  <a:srgbClr val="E8E6DD"/>
                </a:solidFill>
                <a:latin typeface="Arial"/>
              </a:rPr>
              <a:t>The learner extends the Nimbus Supplies agent with two real integrations — Firecrawl (JS-rendered web scraping) and AgentMail (its own inbox/outbox) — then runs an end-to-end back-office task: research a supplier's website prices, draft an itemised quote with the Lab 18 skill, and email it to a customer. Tool profiles and allow/deny lists scope tools per channel.</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Firecrawl + AgentMail integrated agent that scrapes supplier prices and emails an itemised quote</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OpenClaw, Firecrawl, AgentMail, openclaw tools</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161</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Tools &amp; Integrations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Inspect the built-in tool groups (fs, web, runtime, media)</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tools list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162</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Tools &amp; Integrations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Enable Firecrawl with its API key</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tools enable firecrawl --api-key "$FIRECRAWL_API_KEY"</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163</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Tools &amp; Integrations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Enable AgentMail with its API key and inbox address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tools enable agentmail --api-key "$AGENTMAIL_API_KEY" --inbox bot@yourname.agentmail.to</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164</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Tools &amp; Integrations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Run the end-to-end task from a channel: scrape prices, draft the quote, email it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165</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Tools &amp; Integrations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5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Scope tools on a public channel by denying shell exec</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channel set telegram --deny exec</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166</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Tools &amp; Integrations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6</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6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Allow only the web tool group on that channel</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channel set telegram --allow group:web</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167</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19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Tools &amp; Integrations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openclaw tools list --enabled shows firecrawl and agentmail, the agent scrapes a supplier URL and returns structured prices, an AgentMail send arrives in a real inbox, the end-to-end task produces an itemised quote email, and a channel set to --deny exec refuses shell-exec requests.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168</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Commands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20</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500" b="0">
                <a:solidFill>
                  <a:srgbClr val="E8E6DD"/>
                </a:solidFill>
                <a:latin typeface="Arial"/>
              </a:rPr>
              <a:t>The learner becomes fluent in the two ways to drive OpenClaw daily: the CLI commands (config, model, doctor, gateway, channel, tools, skills, cron) and the in-chat slash commands operators and customers use inside a channel, building a personal quick-reference table for running the Nimbus Supplies back office and streaming live gateway logs.</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personal quick-reference of the CLI and slash commands used to run Nimbus Supplies day to day</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OpenClaw, openclaw CLI, in-chat slash commands</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169</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Commands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Read and change settings with config</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config list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170</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Commands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Run the health check with auto-fix</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doctor --fix</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171</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Commands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Control the gateway daemon that runs everything</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gateway restart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172</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Commands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Get your channel user ID for the Lab 23 allowlist</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/whoami</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173</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Commands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5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Switch the model for one conversation only</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/model deepseek/deepseek-v4</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174</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Commands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6</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6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Watch activity live while you chat</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gateway logs --follow</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175</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20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Commands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You can switch the model both from chat (/model, per-conversation) and globally from the CLI (openclaw model use), /whoami returns your platform user ID, openclaw gateway logs --follow streams live activity, and /help lists the available slash commands.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176</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Cron Jobs &amp; Heartbeat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21</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700" b="0">
                <a:solidFill>
                  <a:srgbClr val="E8E6DD"/>
                </a:solidFill>
                <a:latin typeface="Arial"/>
              </a:rPr>
              <a:t>The learner makes Nimbus Supplies run unattended by scheduling recurring tasks with cron (a nightly sales report and a weekly supplier price-check using Firecrawl) and monitoring uptime with the heartbeat, so the gateway self-checks, auto-restarts on failure, and can page an external monitor if it dies.</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nightly sales-report cron, a weekly price-check cron, and an enabled self-healing heartbeat</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OpenClaw, openclaw cron, gateway heartbeat, Firecrawl + AgentMail</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177</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Cron Jobs &amp; Heartbeat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Create the nightly sales-report cron posting to Telegram at 21:00</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cron create --schedule "0 21 * * *" --prompt "Summarise today's Nimbus Supplies customer chats and any quotes sent." --channel telegram --name nightly-sales-report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178</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Cron Jobs &amp; Heartbeat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List and inspect your crons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cron list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179</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Cron Jobs &amp; Heartbeat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Fire a cron on demand to test it now, ignoring the schedule</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cron run nightly-sales-report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180</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Cron Jobs &amp; Heartbeat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Enable the heartbeat self-check at a 60s interval</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gateway heartbeat enable --interval 60s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181</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Cron Jobs &amp; Heartbeat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5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Check the heartbeat status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gateway heartbeat status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182</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Cron Jobs &amp; Heartbeat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6</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6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Confirm auto-restart by stopping the gateway and waiting ~60s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gateway stop</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183</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21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Cron Jobs &amp; Heartbeat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openclaw cron list shows nightly-sales-report and weekly-price-check, openclaw cron run delivers a summary to Telegram immediately, openclaw gateway heartbeat status reports healthy, and after openclaw gateway stop the service manager restarts the gateway within about a minute.</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184</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Memory &amp; Context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22</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500" b="0">
                <a:solidFill>
                  <a:srgbClr val="E8E6DD"/>
                </a:solidFill>
                <a:latin typeface="Arial"/>
              </a:rPr>
              <a:t>The learner gives the Nimbus Supplies agent durable memory so it recalls customer preferences across conversations: using the in-chat /memory command, inspecting where OpenClaw persists state under ~/.openclaw/, teaching a customer's standing preference, clearing the conversation to prove it is real memory, and confirming recall in a later separate chat.</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An agent that persistently remembers a customer's standing preferences and applies them in a fresh conversation</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OpenClaw, /memory, /clear, ~/.openclaw/ state</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185</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Memory &amp; Context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See what OpenClaw stores on disk</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ls -la ~/.openclaw/</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186</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Memory &amp; Context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Inspect your current per-user memory from chat</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/memory</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187</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Memory &amp; Context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Teach the agent a durable customer preference in plain language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188</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Memory &amp; Context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Clear the conversation to prove it is real memory, not just context</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/clear</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189</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Memory &amp; Context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5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Recall in the cleared chat by requesting a quote that needs the remembered facts</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190</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Memory &amp; Context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6</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6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Back up memory before major changes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cp -R ~/.openclaw/ ~/openclaw-backup-$(date +%F)/openclaw-state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191</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22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Memory &amp; Context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/memory shows the customer preferences after you teach them, after /clear the /memory list still shows them (short-term context cleared, long-term memory retained), and a fresh quote request for the customer automatically applies recycled paper, Tuesday delivery and the correct recipient name without repetition.</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192</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23</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500" b="0">
                <a:solidFill>
                  <a:srgbClr val="E8E6DD"/>
                </a:solidFill>
                <a:latin typeface="Arial"/>
              </a:rPr>
              <a:t>The learner hardens the Nimbus Supplies deployment before real customers: storing API keys as environment variables (never in cleartext config), restricting who can DM the bot with allowlists, applying per-channel tool deny lists, tightening the code-execution sandbox (timeout/memory/network), reviewing the audit log, and rotating provider keys.</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hardened agent with keys in env, DM allowlists, per-channel deny lists, a capped sandbox and an exported audit log</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OpenClaw, allowlists, tool deny lists, exec/python sandbox, gateway logs</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193</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Restrict who can DM the Telegram bot to known user IDs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channel set telegram --allow-users 12345678,87654321 --pair-mode allowlist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194</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Apply a per-channel tool deny list (no shell or destructive file ops)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channel set telegram --deny exec,fs.write,fs.delete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195</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Tighten the code-execution sandbox (time, memory, no network)</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tools config exec --timeout 10s --memory 256mb --network deny</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196</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Confirm keys are not sitting in cleartext in the config</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cat ~/.openclaw/config.toml | grep -i key</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197</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5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Review the audit log, filtering for blocked exec attempts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gateway logs --filter tool=exec</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198</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6</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6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Export the audit log for weekly review</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gateway logs --export ~/openclaw-audit-$(date +%F).log</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199</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23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cat ~/.openclaw/config.toml does not contain raw API keys, a user not on the Telegram allowlist gets a not-authorized response, openclaw channel show telegram lists the deny list and messaging profile, and the audit log shows blocked exec attempts on a locked channel.</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200</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Multi-Agent Workforce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24</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500" b="0">
                <a:solidFill>
                  <a:srgbClr val="E8E6DD"/>
                </a:solidFill>
                <a:latin typeface="Arial"/>
              </a:rPr>
              <a:t>In the OpenClaw capstone the learner splits the single agent into three cooperating agents — Sales (customer-facing on Telegram/WhatsApp), Research (supplier scouting with Firecrawl), and Ops (email, quotes, nightly crons) — each with least-privilege tools, and runs one end-to-end business scenario across all three, with a verified fallback using isolated OPENCLAW_HOME instances that cooperate via AgentMail and a shared folder.</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three-agent Sales/Research/Ops workforce that runs a customer order end-to-end into a real quote email</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OpenClaw, openclaw agent (or isolated OPENCLAW_HOME instances), Firecrawl, AgentMail</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201</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Multi-Agent Workforce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Create three named agents (or use isolated instances if unavailable)</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agent create sales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202</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Multi-Agent Workforce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Give the Sales agent least-privilege tools (web + quoting, no shell/fs)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agent set sales --allow group:web --deny exec,fs.write,fs.delete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203</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Multi-Agent Workforce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Restrict Research to scraping only</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agent set research --allow firecrawl,web_search,browser --deny exec,fs.write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204</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Multi-Agent Workforce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Attach the customer channels to the Sales agent</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channel set telegram --agent sales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205</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Multi-Agent Workforce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5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Run a Research fallback instance with an isolated config dir</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OPENCLAW_HOME=~/.openclaw-research openclaw onboard</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206</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Multi-Agent Workforce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6</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6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Give Ops the nightly consolidation cron</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cron create --schedule "0 21 * * *" --prompt "Compile today's Nimbus Supplies orders and quotes sent, and list anything waiting on Research." --channel telegram --name ops-nightly-report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207</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24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Multi-Agent Workforce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Three agents (or isolated instances) each have a distinct least-privilege tool set (Sales cannot exec, Research cannot write files, Ops is not on a public channel), a customer Telegram message produces a real quote email combining memory, the nimbus-quote skill, a Firecrawl price lookup and AgentMail delivery, and the nightly cron posts a summary referencing the same order.</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208</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Dreaming — Idle Reflection &amp; Self-Improvement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25</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700" b="0">
                <a:solidFill>
                  <a:srgbClr val="E8E6DD"/>
                </a:solidFill>
                <a:latin typeface="Arial"/>
              </a:rPr>
              <a:t>Enable OpenClaw's 'dreaming' feature so the Nimbus Supplies agent uses idle time to review its memory, consolidate what it has learned, and generate useful follow-up actions and skill improvements — then inspect what it produced. Reference the OpenClaw functions playlist for the walkthrough.</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An agent that, when idle, 'dreams' — reflecting on memory and proposing follow-ups you can review.</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OpenClaw, dreaming, memory</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209</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Dreaming — Idle Reflection &amp; Self-Improvement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Enable the dreaming feature in OpenClaw settings/config</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config set dreaming.enabled true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210</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Dreaming — Idle Reflection &amp; Self-Improvement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Let the agent sit idle so a dream cycle runs (or trigger one)</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dream run</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211</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Dreaming — Idle Reflection &amp; Self-Improvement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Review what the dream produced (insights, follow-ups, skill tweaks)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dream list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212</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Dreaming — Idle Reflection &amp; Self-Improvement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Accept a useful follow-up the agent proposed</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213</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25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Dreaming — Idle Reflection &amp; Self-Improvement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A dream cycle runs during idle time and produces reviewable insights/follow-ups from the agent's memory.</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214</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Use Cases &amp; Key Functions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26</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700" b="0">
                <a:solidFill>
                  <a:srgbClr val="E8E6DD"/>
                </a:solidFill>
                <a:latin typeface="Arial"/>
              </a:rPr>
              <a:t>Tie the OpenClaw track together with practical use cases for Nimbus Supplies — a Google Workspace CLI assistant, a data-analytics agent, and a social-media-marketing agent — combining channels, skills, tools, memory, dreaming and crons into end-to-end automations. Each use case has its own reference video.</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One or more end-to-end OpenClaw automations (Workspace, analytics or social media) solving a real use case.</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OpenClaw, skills, tools, Google Workspace, crons, memory</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215</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Use Cases &amp; Key Functions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3</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Pick a use case and compose the channels, skills and tools needed for it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216</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Use Cases &amp; Key Functions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3</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Run the automation end-to-end and verify the outcome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217</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Use Cases &amp; Key Functions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3</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Schedule it or hand it to the multi-agent team from Lab 24</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218</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26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Use Cases &amp; Key Functions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A real use case (Google Workspace, data analytics or social media) runs end-to-end using OpenClaw's channels, skills, tools and crons.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219</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RECAP</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Recap — OpenClaw — Automating a Business Back-Office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316480"/>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334768"/>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1</a:t>
            </a:r>
          </a:p>
        </p:txBody>
      </p:sp>
      <p:sp>
        <p:nvSpPr>
          <p:cNvPr id="11" name="TextBox 10"/>
          <p:cNvSpPr txBox="1"/>
          <p:nvPr/>
        </p:nvSpPr>
        <p:spPr>
          <a:xfrm>
            <a:off x="1453896" y="1901952"/>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LO1: Install and configure an autonomous AI agent platform locally and on a container/VPS.</a:t>
            </a:r>
          </a:p>
        </p:txBody>
      </p:sp>
      <p:sp>
        <p:nvSpPr>
          <p:cNvPr id="12" name="Rectangle 11"/>
          <p:cNvSpPr/>
          <p:nvPr/>
        </p:nvSpPr>
        <p:spPr>
          <a:xfrm>
            <a:off x="6176772" y="1828800"/>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6772" y="1828800"/>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59652" y="2316480"/>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2" y="2334768"/>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2</a:t>
            </a:r>
          </a:p>
        </p:txBody>
      </p:sp>
      <p:sp>
        <p:nvSpPr>
          <p:cNvPr id="16" name="TextBox 15"/>
          <p:cNvSpPr txBox="1"/>
          <p:nvPr/>
        </p:nvSpPr>
        <p:spPr>
          <a:xfrm>
            <a:off x="6853428" y="1901952"/>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LO2: Connect an LLM model/provider to an agent via OAuth or API key.</a:t>
            </a:r>
          </a:p>
        </p:txBody>
      </p:sp>
      <p:sp>
        <p:nvSpPr>
          <p:cNvPr id="17" name="Rectangle 16"/>
          <p:cNvSpPr/>
          <p:nvPr/>
        </p:nvSpPr>
        <p:spPr>
          <a:xfrm>
            <a:off x="777240" y="3316224"/>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6224"/>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3803904"/>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3822192"/>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3</a:t>
            </a:r>
          </a:p>
        </p:txBody>
      </p:sp>
      <p:sp>
        <p:nvSpPr>
          <p:cNvPr id="21" name="TextBox 20"/>
          <p:cNvSpPr txBox="1"/>
          <p:nvPr/>
        </p:nvSpPr>
        <p:spPr>
          <a:xfrm>
            <a:off x="1453896" y="3389376"/>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LO2: Connect multiple messaging channels to one agent gateway.</a:t>
            </a:r>
          </a:p>
        </p:txBody>
      </p:sp>
      <p:sp>
        <p:nvSpPr>
          <p:cNvPr id="22" name="Rectangle 21"/>
          <p:cNvSpPr/>
          <p:nvPr/>
        </p:nvSpPr>
        <p:spPr>
          <a:xfrm>
            <a:off x="6176772" y="3316224"/>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6772" y="3316224"/>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359652" y="3803904"/>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9652" y="3822192"/>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4</a:t>
            </a:r>
          </a:p>
        </p:txBody>
      </p:sp>
      <p:sp>
        <p:nvSpPr>
          <p:cNvPr id="26" name="TextBox 25"/>
          <p:cNvSpPr txBox="1"/>
          <p:nvPr/>
        </p:nvSpPr>
        <p:spPr>
          <a:xfrm>
            <a:off x="6853428" y="3389376"/>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LO3: Extend an agent with registry and custom skills.</a:t>
            </a:r>
          </a:p>
        </p:txBody>
      </p:sp>
      <p:sp>
        <p:nvSpPr>
          <p:cNvPr id="27" name="Rectangle 26"/>
          <p:cNvSpPr/>
          <p:nvPr/>
        </p:nvSpPr>
        <p:spPr>
          <a:xfrm>
            <a:off x="777240" y="4803648"/>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03648"/>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60120" y="5291328"/>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60120" y="5309616"/>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5</a:t>
            </a:r>
          </a:p>
        </p:txBody>
      </p:sp>
      <p:sp>
        <p:nvSpPr>
          <p:cNvPr id="31" name="TextBox 30"/>
          <p:cNvSpPr txBox="1"/>
          <p:nvPr/>
        </p:nvSpPr>
        <p:spPr>
          <a:xfrm>
            <a:off x="1453896" y="4876800"/>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LO3: Extend an agent with third-party tool integrations.</a:t>
            </a:r>
          </a:p>
        </p:txBody>
      </p:sp>
      <p:sp>
        <p:nvSpPr>
          <p:cNvPr id="32" name="Rectangle 31"/>
          <p:cNvSpPr/>
          <p:nvPr/>
        </p:nvSpPr>
        <p:spPr>
          <a:xfrm>
            <a:off x="6176772" y="4803648"/>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176772" y="4803648"/>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359652" y="5291328"/>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59652" y="5309616"/>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6</a:t>
            </a:r>
          </a:p>
        </p:txBody>
      </p:sp>
      <p:sp>
        <p:nvSpPr>
          <p:cNvPr id="36" name="TextBox 35"/>
          <p:cNvSpPr txBox="1"/>
          <p:nvPr/>
        </p:nvSpPr>
        <p:spPr>
          <a:xfrm>
            <a:off x="6853428" y="4876800"/>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LO4: Operate an agent through its CLI and in-chat command surface.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220</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03</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E8E6DD"/>
                </a:solidFill>
                <a:latin typeface="Arial"/>
              </a:rPr>
              <a:t>Paperclip — Running &amp; Governing a Company of AI Agents</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8A8D86"/>
                </a:solidFill>
                <a:latin typeface="Arial"/>
              </a:rPr>
              <a:t>Setup · Connect OpenAI Codex · Configure · Track Tasks · Automate Hiring · Setup Agents · Security · Assign Tasks</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2A2C28"/>
                </a:solidFill>
                <a:latin typeface="Arial"/>
              </a:rPr>
              <a:t>03</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221</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EXAM WEIGHTING 34%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E8E6DD"/>
                </a:solidFill>
                <a:latin typeface="Arial"/>
              </a:rPr>
              <a:t>Key Concepts — Paperclip — Running &amp; Governing a Company of AI Agents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920240"/>
          </a:xfrm>
          <a:prstGeom prst="rect">
            <a:avLst/>
          </a:prstGeom>
          <a:noFill/>
        </p:spPr>
        <p:txBody>
          <a:bodyPr wrap="square" anchor="ctr">
            <a:spAutoFit/>
          </a:bodyPr>
          <a:lstStyle/>
          <a:p>
            <a:pPr algn="l">
              <a:spcAft>
                <a:spcPts val="400"/>
              </a:spcAft>
            </a:pPr>
            <a:r>
              <a:rPr sz="1400" b="0">
                <a:solidFill>
                  <a:srgbClr val="E8E6DD"/>
                </a:solidFill>
                <a:latin typeface="Arial"/>
              </a:rPr>
              <a:t>Paperclip is an operating system for a company of AI agents, self-hosted with Docker Compose; you are the Board, a CEO agent reports to you, and specialists report to the CEO.</a:t>
            </a:r>
          </a:p>
        </p:txBody>
      </p:sp>
      <p:sp>
        <p:nvSpPr>
          <p:cNvPr id="12" name="Rectangle 11"/>
          <p:cNvSpPr/>
          <p:nvPr/>
        </p:nvSpPr>
        <p:spPr>
          <a:xfrm>
            <a:off x="6231636" y="1783080"/>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920240"/>
          </a:xfrm>
          <a:prstGeom prst="rect">
            <a:avLst/>
          </a:prstGeom>
          <a:noFill/>
        </p:spPr>
        <p:txBody>
          <a:bodyPr wrap="square" anchor="ctr">
            <a:spAutoFit/>
          </a:bodyPr>
          <a:lstStyle/>
          <a:p>
            <a:pPr algn="l">
              <a:spcAft>
                <a:spcPts val="400"/>
              </a:spcAft>
            </a:pPr>
            <a:r>
              <a:rPr sz="1400" b="0">
                <a:solidFill>
                  <a:srgbClr val="E8E6DD"/>
                </a:solidFill>
                <a:latin typeface="Arial"/>
              </a:rPr>
              <a:t>You connect a coding model such as OpenAI Codex as the agents' engine, configure the company, and track AI tasks on a board: todo -&gt; in_progress -&gt; in_review -&gt; done.</a:t>
            </a:r>
          </a:p>
        </p:txBody>
      </p:sp>
      <p:sp>
        <p:nvSpPr>
          <p:cNvPr id="17" name="Rectangle 16"/>
          <p:cNvSpPr/>
          <p:nvPr/>
        </p:nvSpPr>
        <p:spPr>
          <a:xfrm>
            <a:off x="777240" y="4087368"/>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178808"/>
            <a:ext cx="3973068" cy="1920240"/>
          </a:xfrm>
          <a:prstGeom prst="rect">
            <a:avLst/>
          </a:prstGeom>
          <a:noFill/>
        </p:spPr>
        <p:txBody>
          <a:bodyPr wrap="square" anchor="ctr">
            <a:spAutoFit/>
          </a:bodyPr>
          <a:lstStyle/>
          <a:p>
            <a:pPr algn="l">
              <a:spcAft>
                <a:spcPts val="400"/>
              </a:spcAft>
            </a:pPr>
            <a:r>
              <a:rPr sz="1400" b="0">
                <a:solidFill>
                  <a:srgbClr val="E8E6DD"/>
                </a:solidFill>
                <a:latin typeface="Arial"/>
              </a:rPr>
              <a:t>Hiring is automated behind human approval gates; all durable state lives in an embedded PostgreSQL database whose activity_log (tagged by actor_type) and cost_events tables give a CFO-style audit trail.</a:t>
            </a:r>
          </a:p>
        </p:txBody>
      </p:sp>
      <p:sp>
        <p:nvSpPr>
          <p:cNvPr id="22" name="Rectangle 21"/>
          <p:cNvSpPr/>
          <p:nvPr/>
        </p:nvSpPr>
        <p:spPr>
          <a:xfrm>
            <a:off x="6231636" y="4087368"/>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178808"/>
            <a:ext cx="3973068" cy="1920240"/>
          </a:xfrm>
          <a:prstGeom prst="rect">
            <a:avLst/>
          </a:prstGeom>
          <a:noFill/>
        </p:spPr>
        <p:txBody>
          <a:bodyPr wrap="square" anchor="ctr">
            <a:spAutoFit/>
          </a:bodyPr>
          <a:lstStyle/>
          <a:p>
            <a:pPr algn="l">
              <a:spcAft>
                <a:spcPts val="400"/>
              </a:spcAft>
            </a:pPr>
            <a:r>
              <a:rPr sz="1400" b="0">
                <a:solidFill>
                  <a:srgbClr val="E8E6DD"/>
                </a:solidFill>
                <a:latin typeface="Arial"/>
              </a:rPr>
              <a:t>Security is enforced with budget caps (an 80% warning and a 100% pause rail) and approvals; you set up agents and assign tasks to deliver the company goal.</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222</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WHAT YOU'LL DO</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E8E6DD"/>
                </a:solidFill>
                <a:latin typeface="Arial"/>
              </a:rPr>
              <a:t>Hands-On Labs — Paperclip — Running &amp; Governing a Company of AI Agents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Labs 27–29</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E8E6DD"/>
                </a:solidFill>
                <a:latin typeface="Arial"/>
              </a:rPr>
              <a:t>•  Setup Paperclip</a:t>
            </a:r>
          </a:p>
          <a:p>
            <a:pPr>
              <a:spcAft>
                <a:spcPts val="900"/>
              </a:spcAft>
            </a:pPr>
            <a:r>
              <a:rPr sz="1400" b="0">
                <a:solidFill>
                  <a:srgbClr val="E8E6DD"/>
                </a:solidFill>
                <a:latin typeface="Arial"/>
              </a:rPr>
              <a:t>•  Connect OpenAI Codex to Paperclip</a:t>
            </a:r>
          </a:p>
          <a:p>
            <a:pPr>
              <a:spcAft>
                <a:spcPts val="900"/>
              </a:spcAft>
            </a:pPr>
            <a:r>
              <a:rPr sz="1400" b="0">
                <a:solidFill>
                  <a:srgbClr val="E8E6DD"/>
                </a:solidFill>
                <a:latin typeface="Arial"/>
              </a:rPr>
              <a:t>•  Configure Paperclip</a:t>
            </a:r>
          </a:p>
        </p:txBody>
      </p:sp>
      <p:sp>
        <p:nvSpPr>
          <p:cNvPr id="11" name="Rectangle 10"/>
          <p:cNvSpPr/>
          <p:nvPr/>
        </p:nvSpPr>
        <p:spPr>
          <a:xfrm>
            <a:off x="4572000" y="1783080"/>
            <a:ext cx="333756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Labs 30–32</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E8E6DD"/>
                </a:solidFill>
                <a:latin typeface="Arial"/>
              </a:rPr>
              <a:t>•  Track AI Tasks</a:t>
            </a:r>
          </a:p>
          <a:p>
            <a:pPr>
              <a:spcAft>
                <a:spcPts val="900"/>
              </a:spcAft>
            </a:pPr>
            <a:r>
              <a:rPr sz="1400" b="0">
                <a:solidFill>
                  <a:srgbClr val="E8E6DD"/>
                </a:solidFill>
                <a:latin typeface="Arial"/>
              </a:rPr>
              <a:t>•  Automate AI Hiring</a:t>
            </a:r>
          </a:p>
          <a:p>
            <a:pPr>
              <a:spcAft>
                <a:spcPts val="900"/>
              </a:spcAft>
            </a:pPr>
            <a:r>
              <a:rPr sz="1400" b="0">
                <a:solidFill>
                  <a:srgbClr val="E8E6DD"/>
                </a:solidFill>
                <a:latin typeface="Arial"/>
              </a:rPr>
              <a:t>•  Setup AI Agents</a:t>
            </a:r>
          </a:p>
        </p:txBody>
      </p:sp>
      <p:sp>
        <p:nvSpPr>
          <p:cNvPr id="15" name="Rectangle 14"/>
          <p:cNvSpPr/>
          <p:nvPr/>
        </p:nvSpPr>
        <p:spPr>
          <a:xfrm>
            <a:off x="8366760" y="1783080"/>
            <a:ext cx="333756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Labs 33–34</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E8E6DD"/>
                </a:solidFill>
                <a:latin typeface="Arial"/>
              </a:rPr>
              <a:t>•  Security</a:t>
            </a:r>
          </a:p>
          <a:p>
            <a:pPr>
              <a:spcAft>
                <a:spcPts val="900"/>
              </a:spcAft>
            </a:pPr>
            <a:r>
              <a:rPr sz="1400" b="0">
                <a:solidFill>
                  <a:srgbClr val="E8E6DD"/>
                </a:solidFill>
                <a:latin typeface="Arial"/>
              </a:rPr>
              <a:t>•  Assign Task</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223</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03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Setup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27</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Watch the Paperclip overview, then self-host Paperclip with Docker Compose and create the Nimbus Coffee company with a single goal and a monthly budget.</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running Paperclip at http://localhost:3100 with a company (goal + budget).</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Paperclip, Docker Compose</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224</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Setup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Clone the Paperclip repository</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git clone https://github.com/paperclipai/paperclip.git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225</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Setup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Start Paperclip with the quickstart compose file</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docker compose -f docker-compose.quickstart.yml up --build</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226</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Setup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Open the dashboard in your browser at http://localhost:3100</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227</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Setup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Create the company with a single goal and a monthly budget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228</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27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Setup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The dashboard loads at http://localhost:3100 and a company exists with a goal and budget.</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229</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03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Connect OpenAI Codex to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28</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Give Paperclip's agents a brain by connecting the OpenAI Codex adapter, so the agents can reason and act. Confirm the adapter is detected and available.</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Paperclip using the OpenAI Codex adapter as the agents' model.</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Paperclip, OpenAI Codex</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230</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Connect OpenAI Codex to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Install/log in to the OpenAI Codex CLI so Paperclip can detect it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231</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Connect OpenAI Codex to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Open Settings -&gt; Agents / Adapters in the dashboard</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232</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Connect OpenAI Codex to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Confirm the OpenAI Codex adapter shows as 'available'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233</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Connect OpenAI Codex to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Restart Paperclip if the adapter is not detected</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docker compose -f docker-compose.quickstart.yml restart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234</a:t>
            </a:r>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28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Connect OpenAI Codex to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The OpenAI Codex adapter is detected and shows as available in Settings.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235</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03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Configure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29</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Configure Nimbus Coffee: set the monthly budget, connect a workspace folder so agents write real files, and adjust company settings.</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configured company with a budget and a connected workspace folder.</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Paperclip, workspace</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236</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Configure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Open the company's settings in the dashboard</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237</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Configure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Set or adjust the monthly budget cap</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238</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Configure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Connect a workspace folder so agents create real deliverables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mkdir -p ~/paperclip-workspace/nimbus-coffee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239</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Configure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Save the configuration and confirm it persists</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240</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29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Configure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The company shows the configured budget and a connected workspace folder.</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241</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03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Track AI Tasks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30</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Use Paperclip's task board to track work through its four states — todo, in_progress, in_review, done — giving you visibility and control over what the agents are doing.</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task board showing AI tasks moving across the four states.</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Paperclip, task board</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242</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Track AI Tasks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Open the task board for the company</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243</a:t>
            </a:r>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Track AI Tasks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Create or observe a task in the 'todo' column</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244</a:t>
            </a:r>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Track AI Tasks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Watch a task move todo -&gt; in_progress -&gt; in_review</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245</a:t>
            </a:r>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Track AI Tasks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Open a shell to review the task activity log</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docker compose -f docker-compose.quickstart.yml exec paperclip sh</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246</a:t>
            </a:r>
          </a:p>
        </p:txBody>
      </p:sp>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30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Track AI Tasks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Tasks are visible on the board and move through todo -&gt; in_progress -&gt; in_review -&gt; done.</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247</a:t>
            </a:r>
          </a:p>
        </p:txBody>
      </p:sp>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03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Automate AI Hiring</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31</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Hire your CEO agent and let it propose specialist hires, each passing a human approval gate. This is how the company staffs itself automatically while you stay in control.</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An approved CEO agent and one or more approved specialist agents.</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Paperclip, approval gates</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248</a:t>
            </a:r>
          </a:p>
        </p:txBody>
      </p:sp>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Automate AI Hiring</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Hire the CEO agent from the company page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249</a:t>
            </a:r>
          </a:p>
        </p:txBody>
      </p:sp>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Automate AI Hiring</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Approve the CEO hire (you are the Board)</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250</a:t>
            </a:r>
          </a:p>
        </p:txBody>
      </p:sp>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Automate AI Hiring</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Let the CEO propose specialist hires</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251</a:t>
            </a:r>
          </a:p>
        </p:txBody>
      </p:sp>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Automate AI Hiring</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Review and approve each specialist at the approval gate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252</a:t>
            </a:r>
          </a:p>
        </p:txBody>
      </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31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Automate AI Hiring</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The CEO and approved specialists are active; each hire is logged as an actor_type=user decision.</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253</a:t>
            </a:r>
          </a:p>
        </p:txBody>
      </p:sp>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03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Setup AI Agents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32</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Configure the hired agents — their mandate, tools and per-agent budget caps — so each specialist can carry out the delegated work for Nimbus Coffee.</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Configured agents with mandates, tools and per-agent budgets.</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Paperclip, agents</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254</a:t>
            </a:r>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Setup AI Agents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Open an agent's configuration</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255</a:t>
            </a:r>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Setup AI Agents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Set the agent's mandate and the tools it may use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256</a:t>
            </a:r>
          </a:p>
        </p:txBody>
      </p:sp>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Setup AI Agents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Set a per-agent budget cap</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257</a:t>
            </a:r>
          </a:p>
        </p:txBody>
      </p:sp>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Setup AI Agents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Save and confirm the agent is ready to receive tasks</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258</a:t>
            </a:r>
          </a:p>
        </p:txBody>
      </p:sp>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32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Setup AI Agents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Each agent has a mandate, allowed tools and a budget cap, and is ready for tasks.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259</a:t>
            </a:r>
          </a:p>
        </p:txBody>
      </p:sp>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03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33</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Apply Paperclip's governance: company-wide and per-agent budget caps trigger an 80% warning and a 100% pause; approvals gate risky decisions; the audit trail records everything.</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Budget caps with the 80% warning and 100% pause rails demonstrated, plus an audit review.</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Paperclip, budgets, PostgreSQL audit</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260</a:t>
            </a:r>
          </a:p>
        </p:txBody>
      </p:sp>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Set a company and/or per-agent budget cap</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261</a:t>
            </a:r>
          </a:p>
        </p:txBody>
      </p:sp>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Trigger the 80% warning and 100% pause, then resume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262</a:t>
            </a:r>
          </a:p>
        </p:txBody>
      </p:sp>
    </p:spTree>
  </p:cSld>
  <p:clrMapOvr>
    <a:masterClrMapping/>
  </p:clrMapOvr>
</p:sld>
</file>

<file path=ppt/slides/slide2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Audit actions and spend in the embedded PostgreSQL</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psql "postgresql://postgres@localhost:5432/paperclip"</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263</a:t>
            </a:r>
          </a:p>
        </p:txBody>
      </p:sp>
    </p:spTree>
  </p:cSld>
  <p:clrMapOvr>
    <a:masterClrMapping/>
  </p:clrMapOvr>
</p:sld>
</file>

<file path=ppt/slides/slide2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Separate human vs agent actions with actor_type</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SELECT actor_type, COUNT(*) FROM activity_log GROUP BY actor_type;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264</a:t>
            </a:r>
          </a:p>
        </p:txBody>
      </p:sp>
    </p:spTree>
  </p:cSld>
  <p:clrMapOvr>
    <a:masterClrMapping/>
  </p:clrMapOvr>
</p:sld>
</file>

<file path=ppt/slides/slide2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33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The 80% warning and 100% pause fire, resume works, and the audit shows actions by actor_type and total spend.</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265</a:t>
            </a:r>
          </a:p>
        </p:txBody>
      </p:sp>
    </p:spTree>
  </p:cSld>
  <p:clrMapOvr>
    <a:masterClrMapping/>
  </p:clrMapOvr>
</p:sld>
</file>

<file path=ppt/slides/slide2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03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Assign Task</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34</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Delegate real work: assign tasks to specialists, watch them execute and produce deliverables in the workspace, and review and accept the results to complete the Nimbus Coffee goal.</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Assigned tasks executed by agents, producing real deliverables you review and accept.</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Paperclip, task board, workspace</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266</a:t>
            </a:r>
          </a:p>
        </p:txBody>
      </p:sp>
    </p:spTree>
  </p:cSld>
  <p:clrMapOvr>
    <a:masterClrMapping/>
  </p:clrMapOvr>
</p:sld>
</file>

<file path=ppt/slides/slide2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Assign Task</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Assign a task to a specialist agent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267</a:t>
            </a:r>
          </a:p>
        </p:txBody>
      </p:sp>
    </p:spTree>
  </p:cSld>
  <p:clrMapOvr>
    <a:masterClrMapping/>
  </p:clrMapOvr>
</p:sld>
</file>

<file path=ppt/slides/slide2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Assign Task</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Watch the agent execute and write output to the workspace</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ls -R ~/paperclip-workspace/nimbus-coffee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268</a:t>
            </a:r>
          </a:p>
        </p:txBody>
      </p:sp>
    </p:spTree>
  </p:cSld>
  <p:clrMapOvr>
    <a:masterClrMapping/>
  </p:clrMapOvr>
</p:sld>
</file>

<file path=ppt/slides/slide2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Assign Task</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Review the deliverable in the in_review state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269</a:t>
            </a:r>
          </a:p>
        </p:txBody>
      </p:sp>
    </p:spTree>
  </p:cSld>
  <p:clrMapOvr>
    <a:masterClrMapping/>
  </p:clrMapOvr>
</p:sld>
</file>

<file path=ppt/slides/slide2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Assign Task</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Approve to move it to done, or send it back for revision</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270</a:t>
            </a:r>
          </a:p>
        </p:txBody>
      </p:sp>
    </p:spTree>
  </p:cSld>
  <p:clrMapOvr>
    <a:masterClrMapping/>
  </p:clrMapOvr>
</p:sld>
</file>

<file path=ppt/slides/slide2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34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Assign Task</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An assigned task is executed by an agent, produces a real file, and is reviewed and accepted to done.</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271</a:t>
            </a:r>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RECAP</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E8E6DD"/>
                </a:solidFill>
                <a:latin typeface="Arial"/>
              </a:rPr>
              <a:t>Recap — Paperclip — Running &amp; Governing a Company of AI Agents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316480"/>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334768"/>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1</a:t>
            </a:r>
          </a:p>
        </p:txBody>
      </p:sp>
      <p:sp>
        <p:nvSpPr>
          <p:cNvPr id="11" name="TextBox 10"/>
          <p:cNvSpPr txBox="1"/>
          <p:nvPr/>
        </p:nvSpPr>
        <p:spPr>
          <a:xfrm>
            <a:off x="1453896" y="1901952"/>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LO1: Install and self-host Paperclip, then found your company.</a:t>
            </a:r>
          </a:p>
        </p:txBody>
      </p:sp>
      <p:sp>
        <p:nvSpPr>
          <p:cNvPr id="12" name="Rectangle 11"/>
          <p:cNvSpPr/>
          <p:nvPr/>
        </p:nvSpPr>
        <p:spPr>
          <a:xfrm>
            <a:off x="6176772" y="1828800"/>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6772" y="1828800"/>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59652" y="2316480"/>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2" y="2334768"/>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2</a:t>
            </a:r>
          </a:p>
        </p:txBody>
      </p:sp>
      <p:sp>
        <p:nvSpPr>
          <p:cNvPr id="16" name="TextBox 15"/>
          <p:cNvSpPr txBox="1"/>
          <p:nvPr/>
        </p:nvSpPr>
        <p:spPr>
          <a:xfrm>
            <a:off x="6853428" y="1901952"/>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LO2: Connect a coding model (OpenAI Codex) as the agents' engine.</a:t>
            </a:r>
          </a:p>
        </p:txBody>
      </p:sp>
      <p:sp>
        <p:nvSpPr>
          <p:cNvPr id="17" name="Rectangle 16"/>
          <p:cNvSpPr/>
          <p:nvPr/>
        </p:nvSpPr>
        <p:spPr>
          <a:xfrm>
            <a:off x="777240" y="3316224"/>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6224"/>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3803904"/>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3822192"/>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3</a:t>
            </a:r>
          </a:p>
        </p:txBody>
      </p:sp>
      <p:sp>
        <p:nvSpPr>
          <p:cNvPr id="21" name="TextBox 20"/>
          <p:cNvSpPr txBox="1"/>
          <p:nvPr/>
        </p:nvSpPr>
        <p:spPr>
          <a:xfrm>
            <a:off x="1453896" y="3389376"/>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LO2: Configure the company — settings, budget and workspace.</a:t>
            </a:r>
          </a:p>
        </p:txBody>
      </p:sp>
      <p:sp>
        <p:nvSpPr>
          <p:cNvPr id="22" name="Rectangle 21"/>
          <p:cNvSpPr/>
          <p:nvPr/>
        </p:nvSpPr>
        <p:spPr>
          <a:xfrm>
            <a:off x="6176772" y="3316224"/>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6772" y="3316224"/>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359652" y="3803904"/>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9652" y="3822192"/>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4</a:t>
            </a:r>
          </a:p>
        </p:txBody>
      </p:sp>
      <p:sp>
        <p:nvSpPr>
          <p:cNvPr id="26" name="TextBox 25"/>
          <p:cNvSpPr txBox="1"/>
          <p:nvPr/>
        </p:nvSpPr>
        <p:spPr>
          <a:xfrm>
            <a:off x="6853428" y="3389376"/>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LO3: Track AI work on the task board.</a:t>
            </a:r>
          </a:p>
        </p:txBody>
      </p:sp>
      <p:sp>
        <p:nvSpPr>
          <p:cNvPr id="27" name="Rectangle 26"/>
          <p:cNvSpPr/>
          <p:nvPr/>
        </p:nvSpPr>
        <p:spPr>
          <a:xfrm>
            <a:off x="777240" y="4803648"/>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03648"/>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60120" y="5291328"/>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60120" y="5309616"/>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5</a:t>
            </a:r>
          </a:p>
        </p:txBody>
      </p:sp>
      <p:sp>
        <p:nvSpPr>
          <p:cNvPr id="31" name="TextBox 30"/>
          <p:cNvSpPr txBox="1"/>
          <p:nvPr/>
        </p:nvSpPr>
        <p:spPr>
          <a:xfrm>
            <a:off x="1453896" y="4876800"/>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LO3: Automate hiring of the CEO and specialist agents behind approval gates.</a:t>
            </a:r>
          </a:p>
        </p:txBody>
      </p:sp>
      <p:sp>
        <p:nvSpPr>
          <p:cNvPr id="32" name="Rectangle 31"/>
          <p:cNvSpPr/>
          <p:nvPr/>
        </p:nvSpPr>
        <p:spPr>
          <a:xfrm>
            <a:off x="6176772" y="4803648"/>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176772" y="4803648"/>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359652" y="5291328"/>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59652" y="5309616"/>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6</a:t>
            </a:r>
          </a:p>
        </p:txBody>
      </p:sp>
      <p:sp>
        <p:nvSpPr>
          <p:cNvPr id="36" name="TextBox 35"/>
          <p:cNvSpPr txBox="1"/>
          <p:nvPr/>
        </p:nvSpPr>
        <p:spPr>
          <a:xfrm>
            <a:off x="6853428" y="4876800"/>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LO2: Set up and configure the AI agents and their capabilities.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272</a:t>
            </a:r>
          </a:p>
        </p:txBody>
      </p:sp>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WRAP-UP</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E8E6DD"/>
                </a:solidFill>
                <a:latin typeface="Arial"/>
              </a:rPr>
              <a:t>Course Summary &amp; Next Steps</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2A2C28"/>
                </a:solidFill>
                <a:latin typeface="Arial"/>
              </a:rPr>
              <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273</a:t>
            </a:r>
          </a:p>
        </p:txBody>
      </p:sp>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LEARNING OUTCOMES</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What You Achieved</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E8E6DD"/>
                </a:solidFill>
                <a:latin typeface="Arial"/>
              </a:rPr>
              <a:t>Analyzed AI Applications</a:t>
            </a:r>
          </a:p>
          <a:p>
            <a:pPr algn="l">
              <a:spcAft>
                <a:spcPts val="300"/>
              </a:spcAft>
            </a:pPr>
            <a:r>
              <a:rPr sz="1300" b="0">
                <a:solidFill>
                  <a:srgbClr val="8A8D86"/>
                </a:solidFill>
                <a:latin typeface="Arial"/>
              </a:rPr>
              <a:t>Analyse AI (LLM-based) applications across a range of industries to identify their capabilities and limitations.</a:t>
            </a:r>
          </a:p>
        </p:txBody>
      </p:sp>
      <p:sp>
        <p:nvSpPr>
          <p:cNvPr id="12" name="Rectangle 11"/>
          <p:cNvSpPr/>
          <p:nvPr/>
        </p:nvSpPr>
        <p:spPr>
          <a:xfrm>
            <a:off x="6231636" y="1783080"/>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E8E6DD"/>
                </a:solidFill>
                <a:latin typeface="Arial"/>
              </a:rPr>
              <a:t>Design &amp; Chatbot Efficiency</a:t>
            </a:r>
          </a:p>
          <a:p>
            <a:pPr algn="l">
              <a:spcAft>
                <a:spcPts val="300"/>
              </a:spcAft>
            </a:pPr>
            <a:r>
              <a:rPr sz="1300" b="0">
                <a:solidFill>
                  <a:srgbClr val="8A8D86"/>
                </a:solidFill>
                <a:latin typeface="Arial"/>
              </a:rPr>
              <a:t>Establish the relationship between AI algorithm/agent design and chatbot/agent efficiency.</a:t>
            </a:r>
          </a:p>
        </p:txBody>
      </p:sp>
      <p:sp>
        <p:nvSpPr>
          <p:cNvPr id="17" name="Rectangle 16"/>
          <p:cNvSpPr/>
          <p:nvPr/>
        </p:nvSpPr>
        <p:spPr>
          <a:xfrm>
            <a:off x="777240" y="4087368"/>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E8E6DD"/>
                </a:solidFill>
                <a:latin typeface="Arial"/>
              </a:rPr>
              <a:t>Evaluated &amp; Improved RAG</a:t>
            </a:r>
          </a:p>
          <a:p>
            <a:pPr algn="l">
              <a:spcAft>
                <a:spcPts val="300"/>
              </a:spcAft>
            </a:pPr>
            <a:r>
              <a:rPr sz="1300" b="0">
                <a:solidFill>
                  <a:srgbClr val="8A8D86"/>
                </a:solidFill>
                <a:latin typeface="Arial"/>
              </a:rPr>
              <a:t>Evaluate and improve the effectiveness of AI (RAG and agent) applications in product development.</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274</a:t>
            </a:r>
          </a:p>
        </p:txBody>
      </p:sp>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NEXT STEPS</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Continuing Your AI-Agent Journey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688336"/>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1</a:t>
            </a:r>
          </a:p>
        </p:txBody>
      </p:sp>
      <p:sp>
        <p:nvSpPr>
          <p:cNvPr id="11" name="TextBox 10"/>
          <p:cNvSpPr txBox="1"/>
          <p:nvPr/>
        </p:nvSpPr>
        <p:spPr>
          <a:xfrm>
            <a:off x="1453896" y="1901952"/>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Deploy an agent on a VPS or cloud backend for round-the-clock, 24/7 operation.</a:t>
            </a:r>
          </a:p>
        </p:txBody>
      </p:sp>
      <p:sp>
        <p:nvSpPr>
          <p:cNvPr id="12" name="Rectangle 11"/>
          <p:cNvSpPr/>
          <p:nvPr/>
        </p:nvSpPr>
        <p:spPr>
          <a:xfrm>
            <a:off x="6176772" y="1828800"/>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6772" y="1828800"/>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59652" y="2688336"/>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2" y="2706624"/>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2</a:t>
            </a:r>
          </a:p>
        </p:txBody>
      </p:sp>
      <p:sp>
        <p:nvSpPr>
          <p:cNvPr id="16" name="TextBox 15"/>
          <p:cNvSpPr txBox="1"/>
          <p:nvPr/>
        </p:nvSpPr>
        <p:spPr>
          <a:xfrm>
            <a:off x="6853428" y="1901952"/>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Extend the labs with your own skills, tools and integrations for a workflow you care about.</a:t>
            </a:r>
          </a:p>
        </p:txBody>
      </p:sp>
      <p:sp>
        <p:nvSpPr>
          <p:cNvPr id="17" name="Rectangle 16"/>
          <p:cNvSpPr/>
          <p:nvPr/>
        </p:nvSpPr>
        <p:spPr>
          <a:xfrm>
            <a:off x="777240" y="4059936"/>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59936"/>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4919472"/>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3</a:t>
            </a:r>
          </a:p>
        </p:txBody>
      </p:sp>
      <p:sp>
        <p:nvSpPr>
          <p:cNvPr id="21" name="TextBox 20"/>
          <p:cNvSpPr txBox="1"/>
          <p:nvPr/>
        </p:nvSpPr>
        <p:spPr>
          <a:xfrm>
            <a:off x="1453896" y="4133088"/>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Apply governance in production — budgets, approvals and an audit trail.</a:t>
            </a:r>
          </a:p>
        </p:txBody>
      </p:sp>
      <p:sp>
        <p:nvSpPr>
          <p:cNvPr id="22" name="Rectangle 21"/>
          <p:cNvSpPr/>
          <p:nvPr/>
        </p:nvSpPr>
        <p:spPr>
          <a:xfrm>
            <a:off x="6176772" y="4059936"/>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6772" y="4059936"/>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359652" y="4919472"/>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9652" y="4937760"/>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4</a:t>
            </a:r>
          </a:p>
        </p:txBody>
      </p:sp>
      <p:sp>
        <p:nvSpPr>
          <p:cNvPr id="26" name="TextBox 25"/>
          <p:cNvSpPr txBox="1"/>
          <p:nvPr/>
        </p:nvSpPr>
        <p:spPr>
          <a:xfrm>
            <a:off x="6853428" y="4133088"/>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Explore multi-agent orchestration to deliver real end-to-end business workflows.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275</a:t>
            </a:r>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WRAP-UP</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Assessment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688336"/>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1</a:t>
            </a:r>
          </a:p>
        </p:txBody>
      </p:sp>
      <p:sp>
        <p:nvSpPr>
          <p:cNvPr id="11" name="TextBox 10"/>
          <p:cNvSpPr txBox="1"/>
          <p:nvPr/>
        </p:nvSpPr>
        <p:spPr>
          <a:xfrm>
            <a:off x="1453896" y="1901952"/>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Written Assessment (SAQ) — 1 hour.  Practical Performance (PP) — 1 hour.</a:t>
            </a:r>
          </a:p>
        </p:txBody>
      </p:sp>
      <p:sp>
        <p:nvSpPr>
          <p:cNvPr id="12" name="Rectangle 11"/>
          <p:cNvSpPr/>
          <p:nvPr/>
        </p:nvSpPr>
        <p:spPr>
          <a:xfrm>
            <a:off x="6176772" y="1828800"/>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6772" y="1828800"/>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59652" y="2688336"/>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2" y="2706624"/>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2</a:t>
            </a:r>
          </a:p>
        </p:txBody>
      </p:sp>
      <p:sp>
        <p:nvSpPr>
          <p:cNvPr id="16" name="TextBox 15"/>
          <p:cNvSpPr txBox="1"/>
          <p:nvPr/>
        </p:nvSpPr>
        <p:spPr>
          <a:xfrm>
            <a:off x="6853428" y="1901952"/>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Open book: slides, Learner Guide and approved materials only.</a:t>
            </a:r>
          </a:p>
        </p:txBody>
      </p:sp>
      <p:sp>
        <p:nvSpPr>
          <p:cNvPr id="17" name="Rectangle 16"/>
          <p:cNvSpPr/>
          <p:nvPr/>
        </p:nvSpPr>
        <p:spPr>
          <a:xfrm>
            <a:off x="777240" y="4059936"/>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59936"/>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4919472"/>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3</a:t>
            </a:r>
          </a:p>
        </p:txBody>
      </p:sp>
      <p:sp>
        <p:nvSpPr>
          <p:cNvPr id="21" name="TextBox 20"/>
          <p:cNvSpPr txBox="1"/>
          <p:nvPr/>
        </p:nvSpPr>
        <p:spPr>
          <a:xfrm>
            <a:off x="1453896" y="4133088"/>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Remember to take the Assessment digital attendance (TRAQOM).</a:t>
            </a:r>
          </a:p>
        </p:txBody>
      </p:sp>
      <p:sp>
        <p:nvSpPr>
          <p:cNvPr id="22" name="Rectangle 21"/>
          <p:cNvSpPr/>
          <p:nvPr/>
        </p:nvSpPr>
        <p:spPr>
          <a:xfrm>
            <a:off x="6176772" y="4059936"/>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6772" y="4059936"/>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359652" y="4919472"/>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9652" y="4937760"/>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4</a:t>
            </a:r>
          </a:p>
        </p:txBody>
      </p:sp>
      <p:sp>
        <p:nvSpPr>
          <p:cNvPr id="26" name="TextBox 25"/>
          <p:cNvSpPr txBox="1"/>
          <p:nvPr/>
        </p:nvSpPr>
        <p:spPr>
          <a:xfrm>
            <a:off x="6853428" y="4133088"/>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Submit your completed answers on the LMS at https://lms-tms.tertiaryinfotech.com/.</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276</a:t>
            </a:r>
          </a:p>
        </p:txBody>
      </p:sp>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ON ASSESSMENT DAY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Assessment Flow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E8E6DD"/>
                </a:solidFill>
                <a:latin typeface="Arial"/>
              </a:rPr>
              <a:t>TRAQOM survey — scan the QR code on the LMS</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3" name="Rectangle 12"/>
          <p:cNvSpPr/>
          <p:nvPr/>
        </p:nvSpPr>
        <p:spPr>
          <a:xfrm>
            <a:off x="2966313" y="2331720"/>
            <a:ext cx="1878177" cy="28803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E8E6DD"/>
                </a:solidFill>
                <a:latin typeface="Arial"/>
              </a:rPr>
              <a:t>Assessment digital attendance — scan the SSG QR</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9" name="Rectangle 18"/>
          <p:cNvSpPr/>
          <p:nvPr/>
        </p:nvSpPr>
        <p:spPr>
          <a:xfrm>
            <a:off x="5155386" y="2331720"/>
            <a:ext cx="1878177" cy="28803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E8E6DD"/>
                </a:solidFill>
                <a:latin typeface="Arial"/>
              </a:rPr>
              <a:t>Sit WA (SAQ) then PP — open book</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25" name="Rectangle 24"/>
          <p:cNvSpPr/>
          <p:nvPr/>
        </p:nvSpPr>
        <p:spPr>
          <a:xfrm>
            <a:off x="7344459" y="2331720"/>
            <a:ext cx="1878177" cy="28803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E8E6DD"/>
                </a:solidFill>
                <a:latin typeface="Arial"/>
              </a:rPr>
              <a:t>Submit your answers on the LMS</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1" name="Rectangle 30"/>
          <p:cNvSpPr/>
          <p:nvPr/>
        </p:nvSpPr>
        <p:spPr>
          <a:xfrm>
            <a:off x="9533532" y="2331720"/>
            <a:ext cx="1878177" cy="28803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E8E6DD"/>
                </a:solidFill>
                <a:latin typeface="Arial"/>
              </a:rPr>
              <a:t>Sign the Assessment Summary Record</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277</a:t>
            </a:r>
          </a:p>
        </p:txBody>
      </p:sp>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TRAQOM · SSG DIGITAL ATTENDANCE</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Digital Attendance (Mandatory)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688336"/>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1</a:t>
            </a:r>
          </a:p>
        </p:txBody>
      </p:sp>
      <p:sp>
        <p:nvSpPr>
          <p:cNvPr id="11" name="TextBox 10"/>
          <p:cNvSpPr txBox="1"/>
          <p:nvPr/>
        </p:nvSpPr>
        <p:spPr>
          <a:xfrm>
            <a:off x="1453896" y="1901952"/>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It is mandatory to take the AM, PM and Assessment digital attendance for WSQ-funded courses.</a:t>
            </a:r>
          </a:p>
        </p:txBody>
      </p:sp>
      <p:sp>
        <p:nvSpPr>
          <p:cNvPr id="12" name="Rectangle 11"/>
          <p:cNvSpPr/>
          <p:nvPr/>
        </p:nvSpPr>
        <p:spPr>
          <a:xfrm>
            <a:off x="6176772" y="1828800"/>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6772" y="1828800"/>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59652" y="2688336"/>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2" y="2706624"/>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2</a:t>
            </a:r>
          </a:p>
        </p:txBody>
      </p:sp>
      <p:sp>
        <p:nvSpPr>
          <p:cNvPr id="16" name="TextBox 15"/>
          <p:cNvSpPr txBox="1"/>
          <p:nvPr/>
        </p:nvSpPr>
        <p:spPr>
          <a:xfrm>
            <a:off x="6853428" y="1901952"/>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The trainer/administrator displays the digital attendance QR code from the SSG portal.</a:t>
            </a:r>
          </a:p>
        </p:txBody>
      </p:sp>
      <p:sp>
        <p:nvSpPr>
          <p:cNvPr id="17" name="Rectangle 16"/>
          <p:cNvSpPr/>
          <p:nvPr/>
        </p:nvSpPr>
        <p:spPr>
          <a:xfrm>
            <a:off x="777240" y="4059936"/>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59936"/>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4919472"/>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3</a:t>
            </a:r>
          </a:p>
        </p:txBody>
      </p:sp>
      <p:sp>
        <p:nvSpPr>
          <p:cNvPr id="21" name="TextBox 20"/>
          <p:cNvSpPr txBox="1"/>
          <p:nvPr/>
        </p:nvSpPr>
        <p:spPr>
          <a:xfrm>
            <a:off x="1453896" y="4133088"/>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Scan the QR code with your mobile phone camera and submit your attendance.</a:t>
            </a:r>
          </a:p>
        </p:txBody>
      </p:sp>
      <p:sp>
        <p:nvSpPr>
          <p:cNvPr id="22" name="Rectangle 21"/>
          <p:cNvSpPr/>
          <p:nvPr/>
        </p:nvSpPr>
        <p:spPr>
          <a:xfrm>
            <a:off x="6176772" y="4059936"/>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6772" y="4059936"/>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359652" y="4919472"/>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9652" y="4937760"/>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4</a:t>
            </a:r>
          </a:p>
        </p:txBody>
      </p:sp>
      <p:sp>
        <p:nvSpPr>
          <p:cNvPr id="26" name="TextBox 25"/>
          <p:cNvSpPr txBox="1"/>
          <p:nvPr/>
        </p:nvSpPr>
        <p:spPr>
          <a:xfrm>
            <a:off x="6853428" y="4133088"/>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A minimum of 75% attendance is required to be eligible for assessment and funding.</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278</a:t>
            </a:r>
          </a:p>
        </p:txBody>
      </p:sp>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BUILD YOUR AI WORKFORCE</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E8E6DD"/>
                </a:solidFill>
                <a:latin typeface="Arial"/>
              </a:rPr>
              <a:t>Thank You!</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8A8D86"/>
                </a:solidFill>
                <a:latin typeface="Arial"/>
              </a:rPr>
              <a:t>You can now build, secure and orchestrate autonomous AI agents — from a single assistant to a company of agents.</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279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