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https://www.straitstimes.com/tech/new-platform-to-create-ai-agents-available-to-all-public-healthcare-professionals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 analogy: human brain/body/food vs model/harness/tokens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https://wa.me/message/YMQB2CFYVGL3I1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https://www.genicsolutions.com/ai-agents-for-business-use-cases-and-implementation/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https://www.quantamagazine.org/ai-has-solved-one-of-maths-1-million-millennium-prize-problems-20260908/ ; https://med.stanford.edu/news/all-news/2026/09/virtual-biotech-company.html ; https://www.nature.com/articles/d41586-026-03196-8 ; https://www.firstpost.com/tech/openai-claims-three-new-ai-breakthroughs-in-math-physics-and-computer-science-14055633.html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https://ai.meta.com/blog/introducing-muse-spark-msl/ ; https://research.meta.ai/blog/muse-wonder ; https://openai.com/index/introducing-dots/ ; https://x.ai/news/grok-4-7 ; https://claude.com/resources/articles/claude-duet ; https://manus.im/blog/introducing-manus-2-0 ; https://buldrr.com/claude-duet-vs-muse-vs-grokbot-vs-dots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 ; https://www.meta.com/help/superintelligence/1687253048996149/ ; https://apps.apple.com/sg/app/muse-from-meta/id6760173601 ; https://play.google.com/store/apps/details?gl=sg&amp;id=com.facebook.aura ; https://www.youtube.com/shorts/zuAAjV5dNMA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https://learn.chatgpt.com/docs/dots/getting-started ; https://www.youtube.com/shorts/gdHwOn2kvT8</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https://docs.x.ai/grok-bot/computer-and-apps ; https://www.youtube.com/shorts/Gm_dlNAVOGI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https://claude.com/resources/articles/claude-duet ; https://www.youtube.com/shorts/7G5hOD6oF4M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https://cue.im/ ; https://www.youtube.com/shorts/ZW7gCKTLtpo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https://muse.ai/ ; Muse in-app Invite friends card, 30 Oct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https://openai.com/index/introducing-dots/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https://wisprflow.ai/ ; https://wisprflow.ai/pricing</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https://hermes-agent.nousresearch.com/desktop ; trainer screenshot, Hermes Desktop v0.22.5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https://hermes-agent.nousresearch.com/docs/user-guide/features/context-files ; trainer screenshot (chat box + → Attach)</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https://portal.nousresearch.com/ ; https://portal.nousresearch.com/models (Upstage: Solar Mini 4 — FREE, checked 31 Oct 2026; also free: Beam 1.0, Step 3.7 Flash, Ornith 1.5) ; trainer screenshot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https://hermes-agent.nousresearch.com/docs/user-guide/messaging/telegram ; trainer screenshots, Hermes Desktop Messaging → Telegram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https://hermes-agent.nousresearch.com/docs/user-guide/messaging/telegram ; https://core.telegram.org/bots/features#botfather ; trainer steps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https://hermes-agent.nousresearch.com/docs/user-guide/messaging/telegram ; trainer screenshots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Trainer screenshots, Hermes Desktop v0.22.5 Settings → Voice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https://hermes-agent.nousresearch.com/docs/user-guide/features/tools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https://www.firecrawl.dev/pricing ; https://hermes-agent.nousresearch.com/docs/user-guide/features/web-search</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https://hermes-agent.nousresearch.com/docs/user-guide/features/tool-search#connectors-remote-tools ; trainer screenshot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SETUP</a:t>
            </a:r>
          </a:p>
          <a:p>
            <a:r>
              <a:t>Source: https://hermes-agent.nousresearch.com/docs/user-guide/features/cron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TOOLS</a:t>
            </a:r>
          </a:p>
          <a:p>
            <a:r>
              <a:t>Source: https://skills.sh/</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https://hermes-agent.nousresearch.com/docs/user-guide/features/skills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Trainer’s Activity 2 run (Hermes Desktop, 31 Oct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kopi-pitch-deck SKILL.md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Hermes profiles and Kanban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https://hermes-agent.nousresearch.com/docs/user-guide/profiles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Redrawn from trainer-supplied screenshots (v3.5);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Redrawn from trainer-supplied screenshot (v3.5);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Trainer slide (v3.3 hand edit) recreated; Hermes profiles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Trainer slide (v3.3 hand edit) recreated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Redrawn from trainer-supplied screenshot (v3.5)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Redrawn from trainer-supplied screenshot (v3.5)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https://hermes-agent.nousresearch.com/docs/user-guide/features/delegation ; redrawn from trainer-supplied screenshot (v3.5)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https://hermes-agent.nousresearch.com/docs/user-guide/bot-mode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https://hermes-agent.nousresearch.com/docs/user-guide/bot-mode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role files in labs/lab04-social-media-marketing-team/data/souls/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TOOLS</a:t>
            </a:r>
          </a:p>
          <a:p>
            <a:r>
              <a:t>Source: https://hyperframes.heygen.com/ ; https://www.remotion.dev/ ; https://www.manim.community/</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https://hermes-agent.nousresearch.com/docs/user-guide/features/kanban ; https://hyperframes.heygen.com/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 https://hermes-agent.nousresearch.com/docs/user-guide/features/cron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POLICY</a:t>
            </a:r>
          </a:p>
          <a:p>
            <a:r>
              <a:t>Source: Same five principles as TGS-2025052468 Agentic AI Applications with Claude Code (slide 75)</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Lewis et al. 2020, Retrieval-Augmented Generation;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test design; Kopi Kaki source files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CONCEPT</a:t>
            </a:r>
          </a:p>
          <a:p>
            <a:r>
              <a:t>Source: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evaluation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Course evaluation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https://github.com/paperclipai/paperclip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PROMPT</a:t>
            </a:r>
          </a:p>
          <a:p>
            <a:r>
              <a:t>Source: Bonus lab prompt; https://github.com/paperclipai/paperclip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 https://github.com/paperclipai/paperclip ; https://hermes-agent.nousresearch.com/docs/user-guide/features/kanban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16.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notesSlide" Target="../notesSlides/notesSlide4.xml"/><Relationship Id="rId6" Type="http://schemas.openxmlformats.org/officeDocument/2006/relationships/hyperlink" Target="https://www.straitstimes.com/tech/new-platform-to-create-ai-agents-available-to-all-public-healthcare-professional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6.png"/><Relationship Id="rId4"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46.png"/><Relationship Id="rId9" Type="http://schemas.openxmlformats.org/officeDocument/2006/relationships/image" Target="../media/image20.png"/><Relationship Id="rId10" Type="http://schemas.openxmlformats.org/officeDocument/2006/relationships/image" Target="../media/image37.png"/><Relationship Id="rId11" Type="http://schemas.openxmlformats.org/officeDocument/2006/relationships/image" Target="../media/image17.png"/><Relationship Id="rId1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3.png"/><Relationship Id="rId5" Type="http://schemas.openxmlformats.org/officeDocument/2006/relationships/image" Target="../media/image18.png"/><Relationship Id="rId6" Type="http://schemas.openxmlformats.org/officeDocument/2006/relationships/image" Target="../media/image47.png"/><Relationship Id="rId7" Type="http://schemas.openxmlformats.org/officeDocument/2006/relationships/image" Target="../media/image44.png"/><Relationship Id="rId8"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 Id="rId6" Type="http://schemas.openxmlformats.org/officeDocument/2006/relationships/image" Target="../media/image5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image" Target="../media/image32.png"/><Relationship Id="rId5" Type="http://schemas.openxmlformats.org/officeDocument/2006/relationships/image" Target="../media/image52.jpg"/><Relationship Id="rId6" Type="http://schemas.openxmlformats.org/officeDocument/2006/relationships/image" Target="../media/image5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hyperlink" Target="https://wa.me/message/YMQB2CFYVGL3I1" TargetMode="External"/><Relationship Id="rId4" Type="http://schemas.openxmlformats.org/officeDocument/2006/relationships/image" Target="../media/image33.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notesSlide" Target="../notesSlides/notesSlide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56.jpg"/><Relationship Id="rId6"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55.png"/><Relationship Id="rId5" Type="http://schemas.openxmlformats.org/officeDocument/2006/relationships/image" Target="../media/image6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2.png"/><Relationship Id="rId5" Type="http://schemas.openxmlformats.org/officeDocument/2006/relationships/image" Target="../media/image6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 Id="rId4" Type="http://schemas.openxmlformats.org/officeDocument/2006/relationships/hyperlink" Target="https://www.genicsolutions.com/ai-agents-for-business-use-cases-and-implementati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 Id="rId4" Type="http://schemas.openxmlformats.org/officeDocument/2006/relationships/hyperlink" Target="https://www.genicsolutions.com/ai-agents-for-business-use-cases-and-implementati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 Id="rId4" Type="http://schemas.openxmlformats.org/officeDocument/2006/relationships/hyperlink" Target="https://www.genicsolutions.com/ai-agents-for-business-use-cases-and-implementati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notesSlide" Target="../notesSlides/notesSlide15.xml"/><Relationship Id="rId7" Type="http://schemas.openxmlformats.org/officeDocument/2006/relationships/hyperlink" Target="https://www.quantamagazine.org/ai-has-solved-one-of-maths-1-million-millennium-prize-problems-20260908/" TargetMode="External"/><Relationship Id="rId8" Type="http://schemas.openxmlformats.org/officeDocument/2006/relationships/hyperlink" Target="https://med.stanford.edu/news/all-news/2026/09/virtual-biotech-company.html" TargetMode="External"/><Relationship Id="rId9" Type="http://schemas.openxmlformats.org/officeDocument/2006/relationships/hyperlink" Target="https://www.nature.com/articles/d41586-026-03196-8" TargetMode="External"/><Relationship Id="rId10" Type="http://schemas.openxmlformats.org/officeDocument/2006/relationships/hyperlink" Target="https://www.firstpost.com/tech/openai-claims-three-new-ai-breakthroughs-in-math-physics-and-computer-science-14055633.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buldrr.com/claude-duet-vs-muse-vs-grokbot-vs-dots"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video" Target="https://www.youtube.com/embed/zuAAjV5dNMA?feature=oembed" TargetMode="External"/><Relationship Id="rId4" Type="http://schemas.openxmlformats.org/officeDocument/2006/relationships/image" Target="../media/image70.jpg"/><Relationship Id="rId5" Type="http://schemas.openxmlformats.org/officeDocument/2006/relationships/hyperlink" Target="https://www.youtube.com/shorts/zuAAjV5dNMA" TargetMode="External"/><Relationship Id="rId6" Type="http://schemas.openxmlformats.org/officeDocument/2006/relationships/image" Target="../media/image17.png"/><Relationship Id="rId7" Type="http://schemas.openxmlformats.org/officeDocument/2006/relationships/image" Target="../media/image71.png"/><Relationship Id="rId8" Type="http://schemas.openxmlformats.org/officeDocument/2006/relationships/image" Target="../media/image41.png"/><Relationship Id="rId9" Type="http://schemas.openxmlformats.org/officeDocument/2006/relationships/image" Target="../media/image31.png"/><Relationship Id="rId10" Type="http://schemas.openxmlformats.org/officeDocument/2006/relationships/notesSlide" Target="../notesSlides/notesSlide20.xml"/><Relationship Id="rId11" Type="http://schemas.openxmlformats.org/officeDocument/2006/relationships/hyperlink" Target="https://about.fb.com/news/2026/10/muse-is-now-available-in-singapore-the-worlds-first-personal-ai-agent-built-for-everyone/" TargetMode="External"/><Relationship Id="rId12" Type="http://schemas.openxmlformats.org/officeDocument/2006/relationships/hyperlink" Target="https://www.meta.com/help/superintelligence/1687253048996149/" TargetMode="External"/><Relationship Id="rId13" Type="http://schemas.openxmlformats.org/officeDocument/2006/relationships/hyperlink" Target="https://apps.apple.com/sg/app/muse-from-meta/id6760173601" TargetMode="External"/><Relationship Id="rId14" Type="http://schemas.openxmlformats.org/officeDocument/2006/relationships/hyperlink" Target="https://play.google.com/store/apps/details?gl=sg&amp;id=com.facebook.aur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video" Target="https://www.youtube.com/embed/gdHwOn2kvT8?feature=oembed" TargetMode="External"/><Relationship Id="rId4" Type="http://schemas.openxmlformats.org/officeDocument/2006/relationships/image" Target="../media/image72.jpg"/><Relationship Id="rId5" Type="http://schemas.openxmlformats.org/officeDocument/2006/relationships/hyperlink" Target="https://www.youtube.com/shorts/gdHwOn2kvT8" TargetMode="External"/><Relationship Id="rId6" Type="http://schemas.openxmlformats.org/officeDocument/2006/relationships/image" Target="../media/image13.png"/><Relationship Id="rId7" Type="http://schemas.openxmlformats.org/officeDocument/2006/relationships/image" Target="../media/image48.png"/><Relationship Id="rId8" Type="http://schemas.openxmlformats.org/officeDocument/2006/relationships/image" Target="../media/image73.png"/><Relationship Id="rId9" Type="http://schemas.openxmlformats.org/officeDocument/2006/relationships/image" Target="../media/image16.png"/><Relationship Id="rId10" Type="http://schemas.openxmlformats.org/officeDocument/2006/relationships/notesSlide" Target="../notesSlides/notesSlide21.xml"/><Relationship Id="rId11" Type="http://schemas.openxmlformats.org/officeDocument/2006/relationships/hyperlink" Target="https://learn.chatgpt.com/docs/dots/getting-starte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video" Target="https://www.youtube.com/embed/Gm_dlNAVOGI?feature=oembed" TargetMode="External"/><Relationship Id="rId4" Type="http://schemas.openxmlformats.org/officeDocument/2006/relationships/image" Target="../media/image74.jpg"/><Relationship Id="rId5" Type="http://schemas.openxmlformats.org/officeDocument/2006/relationships/hyperlink" Target="https://www.youtube.com/shorts/Gm_dlNAVOGI" TargetMode="External"/><Relationship Id="rId6" Type="http://schemas.openxmlformats.org/officeDocument/2006/relationships/image" Target="../media/image48.png"/><Relationship Id="rId7" Type="http://schemas.openxmlformats.org/officeDocument/2006/relationships/image" Target="../media/image9.png"/><Relationship Id="rId8" Type="http://schemas.openxmlformats.org/officeDocument/2006/relationships/image" Target="../media/image6.png"/><Relationship Id="rId9" Type="http://schemas.openxmlformats.org/officeDocument/2006/relationships/image" Target="../media/image75.png"/><Relationship Id="rId10" Type="http://schemas.openxmlformats.org/officeDocument/2006/relationships/notesSlide" Target="../notesSlides/notesSlide22.xml"/><Relationship Id="rId11" Type="http://schemas.openxmlformats.org/officeDocument/2006/relationships/hyperlink" Target="https://docs.x.ai/grok-bot/computer-and-app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video" Target="https://www.youtube.com/embed/7G5hOD6oF4M?feature=oembed" TargetMode="External"/><Relationship Id="rId4" Type="http://schemas.openxmlformats.org/officeDocument/2006/relationships/image" Target="../media/image76.jpg"/><Relationship Id="rId5" Type="http://schemas.openxmlformats.org/officeDocument/2006/relationships/hyperlink" Target="https://www.youtube.com/shorts/7G5hOD6oF4M" TargetMode="External"/><Relationship Id="rId6" Type="http://schemas.openxmlformats.org/officeDocument/2006/relationships/image" Target="../media/image40.png"/><Relationship Id="rId7" Type="http://schemas.openxmlformats.org/officeDocument/2006/relationships/image" Target="../media/image48.png"/><Relationship Id="rId8" Type="http://schemas.openxmlformats.org/officeDocument/2006/relationships/image" Target="../media/image73.png"/><Relationship Id="rId9" Type="http://schemas.openxmlformats.org/officeDocument/2006/relationships/image" Target="../media/image41.png"/><Relationship Id="rId10" Type="http://schemas.openxmlformats.org/officeDocument/2006/relationships/notesSlide" Target="../notesSlides/notesSlide23.xml"/><Relationship Id="rId11" Type="http://schemas.openxmlformats.org/officeDocument/2006/relationships/hyperlink" Target="https://claude.com/resources/articles/claude-due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video" Target="https://www.youtube.com/embed/ZW7gCKTLtpo?feature=oembed" TargetMode="External"/><Relationship Id="rId4" Type="http://schemas.openxmlformats.org/officeDocument/2006/relationships/image" Target="../media/image77.jpg"/><Relationship Id="rId5" Type="http://schemas.openxmlformats.org/officeDocument/2006/relationships/hyperlink" Target="https://www.youtube.com/shorts/ZW7gCKTLtpo" TargetMode="External"/><Relationship Id="rId6" Type="http://schemas.openxmlformats.org/officeDocument/2006/relationships/image" Target="../media/image12.png"/><Relationship Id="rId7" Type="http://schemas.openxmlformats.org/officeDocument/2006/relationships/image" Target="../media/image2.png"/><Relationship Id="rId8" Type="http://schemas.openxmlformats.org/officeDocument/2006/relationships/image" Target="../media/image9.png"/><Relationship Id="rId9" Type="http://schemas.openxmlformats.org/officeDocument/2006/relationships/image" Target="../media/image73.png"/><Relationship Id="rId10" Type="http://schemas.openxmlformats.org/officeDocument/2006/relationships/notesSlide" Target="../notesSlides/notesSlide24.xml"/><Relationship Id="rId11" Type="http://schemas.openxmlformats.org/officeDocument/2006/relationships/hyperlink" Target="https://cue.im/"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tertiarycourses.github.io/TGS-2024043854-Build-a-Human-AI-Workforce-with-Autonomous-AI-Agents/prompts/#lab-0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45.png"/><Relationship Id="rId4" Type="http://schemas.openxmlformats.org/officeDocument/2006/relationships/image" Target="../media/image13.png"/><Relationship Id="rId5"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18.png"/><Relationship Id="rId4" Type="http://schemas.openxmlformats.org/officeDocument/2006/relationships/image" Target="../media/image40.png"/><Relationship Id="rId5" Type="http://schemas.openxmlformats.org/officeDocument/2006/relationships/image" Target="../media/image8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hyperlink" Target="https://muse.ai/" TargetMode="External"/><Relationship Id="rId4"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video" Target="https://www.youtube.com/embed/gdHwOn2kvT8?feature=oembed" TargetMode="External"/><Relationship Id="rId6" Type="http://schemas.openxmlformats.org/officeDocument/2006/relationships/image" Target="../media/image72.jpg"/><Relationship Id="rId7" Type="http://schemas.openxmlformats.org/officeDocument/2006/relationships/hyperlink" Target="https://www.youtube.com/shorts/gdHwOn2kvT8" TargetMode="External"/><Relationship Id="rId8" Type="http://schemas.openxmlformats.org/officeDocument/2006/relationships/notesSlide" Target="../notesSlides/notesSlide26.xml"/><Relationship Id="rId9" Type="http://schemas.openxmlformats.org/officeDocument/2006/relationships/hyperlink" Target="https://openai.com/index/introducing-dots/" TargetMode="External"/><Relationship Id="rId10" Type="http://schemas.openxmlformats.org/officeDocument/2006/relationships/hyperlink" Target="https://learn.chatgpt.com/docs/dots/getting-started"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7.png"/><Relationship Id="rId4" Type="http://schemas.openxmlformats.org/officeDocument/2006/relationships/image" Target="../media/image2.png"/><Relationship Id="rId5" Type="http://schemas.openxmlformats.org/officeDocument/2006/relationships/hyperlink" Target="https://wisprflow.ai/" TargetMode="External"/><Relationship Id="rId6" Type="http://schemas.openxmlformats.org/officeDocument/2006/relationships/image" Target="../media/image14.png"/><Relationship Id="rId7"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1"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1"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image" Target="../media/image82.png"/><Relationship Id="rId6" Type="http://schemas.openxmlformats.org/officeDocument/2006/relationships/image" Target="../media/image29.png"/><Relationship Id="rId7" Type="http://schemas.openxmlformats.org/officeDocument/2006/relationships/image" Target="../media/image23.png"/><Relationship Id="rId8" Type="http://schemas.openxmlformats.org/officeDocument/2006/relationships/image" Target="../media/image41.png"/><Relationship Id="rId9" Type="http://schemas.openxmlformats.org/officeDocument/2006/relationships/notesSlide" Target="../notesSlides/notesSlide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6.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55.png"/><Relationship Id="rId8" Type="http://schemas.openxmlformats.org/officeDocument/2006/relationships/notesSlide" Target="../notesSlides/notesSlide2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3.png"/><Relationship Id="rId4" Type="http://schemas.openxmlformats.org/officeDocument/2006/relationships/image" Target="../media/image82.png"/><Relationship Id="rId5" Type="http://schemas.openxmlformats.org/officeDocument/2006/relationships/image" Target="../media/image73.png"/><Relationship Id="rId6" Type="http://schemas.openxmlformats.org/officeDocument/2006/relationships/image" Target="../media/image18.png"/><Relationship Id="rId7" Type="http://schemas.openxmlformats.org/officeDocument/2006/relationships/image" Target="../media/image2.png"/><Relationship Id="rId8" Type="http://schemas.openxmlformats.org/officeDocument/2006/relationships/notesSlide" Target="../notesSlides/notesSlide3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14.png"/><Relationship Id="rId4" Type="http://schemas.openxmlformats.org/officeDocument/2006/relationships/image" Target="../media/image73.png"/><Relationship Id="rId5" Type="http://schemas.openxmlformats.org/officeDocument/2006/relationships/image" Target="../media/image2.png"/><Relationship Id="rId6" Type="http://schemas.openxmlformats.org/officeDocument/2006/relationships/image" Target="../media/image16.png"/><Relationship Id="rId7"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hyperlink" Target="https://hermes-agent.nousresearch.com/desktop" TargetMode="External"/><Relationship Id="rId4" Type="http://schemas.openxmlformats.org/officeDocument/2006/relationships/notesSlide" Target="../notesSlides/notesSlide3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9.png"/><Relationship Id="rId4" Type="http://schemas.openxmlformats.org/officeDocument/2006/relationships/image" Target="../media/image85.png"/><Relationship Id="rId5" Type="http://schemas.openxmlformats.org/officeDocument/2006/relationships/image" Target="../media/image22.png"/><Relationship Id="rId6" Type="http://schemas.openxmlformats.org/officeDocument/2006/relationships/notesSlide" Target="../notesSlides/notesSlide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38.png"/><Relationship Id="rId4" Type="http://schemas.openxmlformats.org/officeDocument/2006/relationships/image" Target="../media/image31.png"/><Relationship Id="rId5" Type="http://schemas.openxmlformats.org/officeDocument/2006/relationships/image" Target="../media/image2.png"/><Relationship Id="rId6"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4.png"/><Relationship Id="rId4" Type="http://schemas.openxmlformats.org/officeDocument/2006/relationships/notesSlide" Target="../notesSlides/notesSlide3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92.png"/><Relationship Id="rId4" Type="http://schemas.openxmlformats.org/officeDocument/2006/relationships/image" Target="../media/image29.png"/><Relationship Id="rId5" Type="http://schemas.openxmlformats.org/officeDocument/2006/relationships/image" Target="../media/image75.png"/><Relationship Id="rId6" Type="http://schemas.openxmlformats.org/officeDocument/2006/relationships/image" Target="../media/image85.png"/><Relationship Id="rId7" Type="http://schemas.openxmlformats.org/officeDocument/2006/relationships/image" Target="../media/image14.png"/><Relationship Id="rId8" Type="http://schemas.openxmlformats.org/officeDocument/2006/relationships/image" Target="../media/image16.png"/><Relationship Id="rId9" Type="http://schemas.openxmlformats.org/officeDocument/2006/relationships/image" Target="../media/image82.png"/><Relationship Id="rId10" Type="http://schemas.openxmlformats.org/officeDocument/2006/relationships/image" Target="../media/image73.png"/><Relationship Id="rId11" Type="http://schemas.openxmlformats.org/officeDocument/2006/relationships/image" Target="../media/image9.png"/><Relationship Id="rId12" Type="http://schemas.openxmlformats.org/officeDocument/2006/relationships/notesSlide" Target="../notesSlides/notesSlide3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14.png"/><Relationship Id="rId4" Type="http://schemas.openxmlformats.org/officeDocument/2006/relationships/image" Target="../media/image73.png"/><Relationship Id="rId5"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34.png"/><Relationship Id="rId4" Type="http://schemas.openxmlformats.org/officeDocument/2006/relationships/image" Target="../media/image94.png"/><Relationship Id="rId5" Type="http://schemas.openxmlformats.org/officeDocument/2006/relationships/image" Target="../media/image17.png"/><Relationship Id="rId6" Type="http://schemas.openxmlformats.org/officeDocument/2006/relationships/notesSlide" Target="../notesSlides/notesSlide4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71.png"/><Relationship Id="rId5" Type="http://schemas.openxmlformats.org/officeDocument/2006/relationships/image" Target="../media/image6.png"/><Relationship Id="rId6" Type="http://schemas.openxmlformats.org/officeDocument/2006/relationships/image" Target="../media/image41.png"/><Relationship Id="rId7" Type="http://schemas.openxmlformats.org/officeDocument/2006/relationships/notesSlide" Target="../notesSlides/notesSlide4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14.png"/><Relationship Id="rId5" Type="http://schemas.openxmlformats.org/officeDocument/2006/relationships/image" Target="../media/image99.png"/><Relationship Id="rId6" Type="http://schemas.openxmlformats.org/officeDocument/2006/relationships/image" Target="../media/image10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kills.sh/" TargetMode="External"/><Relationship Id="rId3" Type="http://schemas.openxmlformats.org/officeDocument/2006/relationships/notesSlide" Target="../notesSlides/notesSlide4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tertiarycourses.github.io/TGS-2024043854-Build-a-Human-AI-Workforce-with-Autonomous-AI-Agents/prompts/#lab-S2"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1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S2"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S2"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notesSlide" Target="../notesSlides/notesSlide4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hyperlink" Target="https://tertiarycourses.github.io/TGS-2024043854-Build-a-Human-AI-Workforce-with-Autonomous-AI-Agents/prompts/#lab-02"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image" Target="../media/image73.png"/><Relationship Id="rId5" Type="http://schemas.openxmlformats.org/officeDocument/2006/relationships/image" Target="../media/image49.png"/><Relationship Id="rId6" Type="http://schemas.openxmlformats.org/officeDocument/2006/relationships/image" Target="../media/image8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2"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2"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2"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45.png"/><Relationship Id="rId4" Type="http://schemas.openxmlformats.org/officeDocument/2006/relationships/image" Target="../media/image4.png"/><Relationship Id="rId5" Type="http://schemas.openxmlformats.org/officeDocument/2006/relationships/image" Target="../media/image108.png"/><Relationship Id="rId6" Type="http://schemas.openxmlformats.org/officeDocument/2006/relationships/image" Target="../media/image13.png"/><Relationship Id="rId7" Type="http://schemas.openxmlformats.org/officeDocument/2006/relationships/notesSlide" Target="../notesSlides/notesSlide4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09.png"/><Relationship Id="rId4" Type="http://schemas.openxmlformats.org/officeDocument/2006/relationships/image" Target="../media/image75.png"/><Relationship Id="rId5" Type="http://schemas.openxmlformats.org/officeDocument/2006/relationships/image" Target="../media/image44.png"/><Relationship Id="rId6" Type="http://schemas.openxmlformats.org/officeDocument/2006/relationships/notesSlide" Target="../notesSlides/notesSlide4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hyperlink" Target="https://tertiarycourses.github.io/TGS-2024043854-Build-a-Human-AI-Workforce-with-Autonomous-AI-Agents/prompts/#lab-03"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110.png"/><Relationship Id="rId4" Type="http://schemas.openxmlformats.org/officeDocument/2006/relationships/image" Target="../media/image109.png"/><Relationship Id="rId5" Type="http://schemas.openxmlformats.org/officeDocument/2006/relationships/image" Target="../media/image75.png"/><Relationship Id="rId6" Type="http://schemas.openxmlformats.org/officeDocument/2006/relationships/image" Target="../media/image8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3"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3"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73.png"/><Relationship Id="rId4" Type="http://schemas.openxmlformats.org/officeDocument/2006/relationships/image" Target="../media/image43.png"/><Relationship Id="rId5" Type="http://schemas.openxmlformats.org/officeDocument/2006/relationships/image" Target="../media/image23.png"/><Relationship Id="rId6" Type="http://schemas.openxmlformats.org/officeDocument/2006/relationships/image" Target="../media/image111.png"/><Relationship Id="rId7" Type="http://schemas.openxmlformats.org/officeDocument/2006/relationships/notesSlide" Target="../notesSlides/notesSlide5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11.png"/><Relationship Id="rId7" Type="http://schemas.openxmlformats.org/officeDocument/2006/relationships/image" Target="../media/image85.png"/><Relationship Id="rId8" Type="http://schemas.openxmlformats.org/officeDocument/2006/relationships/image" Target="../media/image33.png"/><Relationship Id="rId9" Type="http://schemas.openxmlformats.org/officeDocument/2006/relationships/image" Target="../media/image12.png"/><Relationship Id="rId10" Type="http://schemas.openxmlformats.org/officeDocument/2006/relationships/notesSlide" Target="../notesSlides/notesSlide5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1.png"/><Relationship Id="rId4" Type="http://schemas.openxmlformats.org/officeDocument/2006/relationships/image" Target="../media/image39.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notesSlide" Target="../notesSlides/notesSlide5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3.png"/><Relationship Id="rId4" Type="http://schemas.openxmlformats.org/officeDocument/2006/relationships/image" Target="../media/image31.png"/><Relationship Id="rId5" Type="http://schemas.openxmlformats.org/officeDocument/2006/relationships/image" Target="../media/image9.png"/><Relationship Id="rId6" Type="http://schemas.openxmlformats.org/officeDocument/2006/relationships/notesSlide" Target="../notesSlides/notesSlide5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2.png"/><Relationship Id="rId4" Type="http://schemas.openxmlformats.org/officeDocument/2006/relationships/image" Target="../media/image39.png"/><Relationship Id="rId5" Type="http://schemas.openxmlformats.org/officeDocument/2006/relationships/image" Target="../media/image94.png"/><Relationship Id="rId6" Type="http://schemas.openxmlformats.org/officeDocument/2006/relationships/notesSlide" Target="../notesSlides/notesSlide5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8.png"/><Relationship Id="rId4" Type="http://schemas.openxmlformats.org/officeDocument/2006/relationships/image" Target="../media/image24.png"/><Relationship Id="rId5" Type="http://schemas.openxmlformats.org/officeDocument/2006/relationships/image" Target="../media/image113.png"/><Relationship Id="rId6" Type="http://schemas.openxmlformats.org/officeDocument/2006/relationships/image" Target="../media/image47.png"/><Relationship Id="rId7" Type="http://schemas.openxmlformats.org/officeDocument/2006/relationships/notesSlide" Target="../notesSlides/notesSlide5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23.png"/><Relationship Id="rId6" Type="http://schemas.openxmlformats.org/officeDocument/2006/relationships/image" Target="../media/image36.png"/><Relationship Id="rId7" Type="http://schemas.openxmlformats.org/officeDocument/2006/relationships/notesSlide" Target="../notesSlides/notesSlide5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notesSlide" Target="../notesSlides/notesSlide5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46.png"/><Relationship Id="rId6" Type="http://schemas.openxmlformats.org/officeDocument/2006/relationships/notesSlide" Target="../notesSlides/notesSlide5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41.png"/><Relationship Id="rId6" Type="http://schemas.openxmlformats.org/officeDocument/2006/relationships/notesSlide" Target="../notesSlides/notesSlide5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85.png"/><Relationship Id="rId6" Type="http://schemas.openxmlformats.org/officeDocument/2006/relationships/image" Target="../media/image46.png"/><Relationship Id="rId7" Type="http://schemas.openxmlformats.org/officeDocument/2006/relationships/image" Target="../media/image80.png"/><Relationship Id="rId8" Type="http://schemas.openxmlformats.org/officeDocument/2006/relationships/notesSlide" Target="../notesSlides/notesSlide6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image" Target="../media/image85.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hyperlink" Target="https://tertiarycourses.github.io/TGS-2024043854-Build-a-Human-AI-Workforce-with-Autonomous-AI-Agents/prompts/#lab-04" TargetMode="Externa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19.png"/><Relationship Id="rId4" Type="http://schemas.openxmlformats.org/officeDocument/2006/relationships/image" Target="../media/image38.png"/><Relationship Id="rId5" Type="http://schemas.openxmlformats.org/officeDocument/2006/relationships/image" Target="../media/image85.png"/><Relationship Id="rId6" Type="http://schemas.openxmlformats.org/officeDocument/2006/relationships/image" Target="../media/image75.png"/><Relationship Id="rId7" Type="http://schemas.openxmlformats.org/officeDocument/2006/relationships/image" Target="../media/image8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4"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4"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4"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yperframes.heygen.com/" TargetMode="External"/><Relationship Id="rId3" Type="http://schemas.openxmlformats.org/officeDocument/2006/relationships/hyperlink" Target="https://www.remotion.dev/" TargetMode="External"/><Relationship Id="rId4" Type="http://schemas.openxmlformats.org/officeDocument/2006/relationships/hyperlink" Target="https://www.manim.community/" TargetMode="External"/><Relationship Id="rId5" Type="http://schemas.openxmlformats.org/officeDocument/2006/relationships/notesSlide" Target="../notesSlides/notesSlide6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8.png"/><Relationship Id="rId4" Type="http://schemas.openxmlformats.org/officeDocument/2006/relationships/image" Target="../media/image80.png"/><Relationship Id="rId5" Type="http://schemas.openxmlformats.org/officeDocument/2006/relationships/image" Target="../media/image14.png"/><Relationship Id="rId6" Type="http://schemas.openxmlformats.org/officeDocument/2006/relationships/image" Target="../media/image113.png"/><Relationship Id="rId7" Type="http://schemas.openxmlformats.org/officeDocument/2006/relationships/image" Target="../media/image47.png"/><Relationship Id="rId8" Type="http://schemas.openxmlformats.org/officeDocument/2006/relationships/notesSlide" Target="../notesSlides/notesSlide6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hyperlink" Target="https://tertiarycourses.github.io/TGS-2024043854-Build-a-Human-AI-Workforce-with-Autonomous-AI-Agents/prompts/#lab-05"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9.png"/><Relationship Id="rId4" Type="http://schemas.openxmlformats.org/officeDocument/2006/relationships/image" Target="../media/image110.png"/><Relationship Id="rId5" Type="http://schemas.openxmlformats.org/officeDocument/2006/relationships/image" Target="../media/image113.png"/><Relationship Id="rId6" Type="http://schemas.openxmlformats.org/officeDocument/2006/relationships/image" Target="../media/image47.png"/><Relationship Id="rId7" Type="http://schemas.openxmlformats.org/officeDocument/2006/relationships/image" Target="../media/image8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5"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5"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5"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tertiarycourses.github.io/TGS-2024043854-Build-a-Human-AI-Workforce-with-Autonomous-AI-Agents/prompts/#lab-06"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99.png"/><Relationship Id="rId5" Type="http://schemas.openxmlformats.org/officeDocument/2006/relationships/image" Target="../media/image2.png"/><Relationship Id="rId6" Type="http://schemas.openxmlformats.org/officeDocument/2006/relationships/image" Target="../media/image80.png"/><Relationship Id="rId7" Type="http://schemas.openxmlformats.org/officeDocument/2006/relationships/image" Target="../media/image12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6"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06"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3.png"/><Relationship Id="rId4" Type="http://schemas.openxmlformats.org/officeDocument/2006/relationships/image" Target="../media/image41.png"/><Relationship Id="rId5" Type="http://schemas.openxmlformats.org/officeDocument/2006/relationships/image" Target="../media/image107.png"/><Relationship Id="rId6" Type="http://schemas.openxmlformats.org/officeDocument/2006/relationships/notesSlide" Target="../notesSlides/notesSlide6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7.png"/><Relationship Id="rId5" Type="http://schemas.openxmlformats.org/officeDocument/2006/relationships/image" Target="../media/image107.png"/><Relationship Id="rId6" Type="http://schemas.openxmlformats.org/officeDocument/2006/relationships/notesSlide" Target="../notesSlides/notesSlide70.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2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3.png"/><Relationship Id="rId4" Type="http://schemas.openxmlformats.org/officeDocument/2006/relationships/image" Target="../media/image124.png"/><Relationship Id="rId5" Type="http://schemas.openxmlformats.org/officeDocument/2006/relationships/notesSlide" Target="../notesSlides/notesSlide7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124.png"/><Relationship Id="rId5" Type="http://schemas.openxmlformats.org/officeDocument/2006/relationships/image" Target="../media/image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hyperlink" Target="https://tertiarycourses.github.io/TGS-2024043854-Build-a-Human-AI-Workforce-with-Autonomous-AI-Agents/prompts/#lab-B"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9.png"/><Relationship Id="rId6" Type="http://schemas.openxmlformats.org/officeDocument/2006/relationships/image" Target="../media/image129.png"/><Relationship Id="rId7" Type="http://schemas.openxmlformats.org/officeDocument/2006/relationships/image" Target="../media/image113.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B"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B"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courses.github.io/TGS-2024043854-Build-a-Human-AI-Workforce-with-Autonomous-AI-Agents/prompts/#lab-B" TargetMode="Externa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44.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1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73.png"/><Relationship Id="rId4" Type="http://schemas.openxmlformats.org/officeDocument/2006/relationships/image" Target="../media/image41.png"/><Relationship Id="rId5" Type="http://schemas.openxmlformats.org/officeDocument/2006/relationships/image" Target="../media/image109.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8.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17.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3.7  ·  1 November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 are the founder of Kopi Kaki Co. Three topics of agents help you start it; a bonus topic runs it as a one-person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1</a:t>
            </a:r>
          </a:p>
        </p:txBody>
      </p:sp>
      <p:sp>
        <p:nvSpPr>
          <p:cNvPr id="11" name="TextBox 10"/>
          <p:cNvSpPr txBox="1"/>
          <p:nvPr/>
        </p:nvSpPr>
        <p:spPr>
          <a:xfrm>
            <a:off x="1417319"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1</a:t>
            </a:r>
          </a:p>
        </p:txBody>
      </p:sp>
      <p:sp>
        <p:nvSpPr>
          <p:cNvPr id="12" name="TextBox 11"/>
          <p:cNvSpPr txBox="1"/>
          <p:nvPr/>
        </p:nvSpPr>
        <p:spPr>
          <a:xfrm>
            <a:off x="777240"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Landscape &amp; Always-On</a:t>
            </a:r>
          </a:p>
        </p:txBody>
      </p:sp>
      <p:sp>
        <p:nvSpPr>
          <p:cNvPr id="13" name="TextBox 12"/>
          <p:cNvSpPr txBox="1"/>
          <p:nvPr/>
        </p:nvSpPr>
        <p:spPr>
          <a:xfrm>
            <a:off x="777240" y="4023360"/>
            <a:ext cx="2286000" cy="2103120"/>
          </a:xfrm>
          <a:prstGeom prst="rect">
            <a:avLst/>
          </a:prstGeom>
          <a:noFill/>
        </p:spPr>
        <p:txBody>
          <a:bodyPr wrap="square" lIns="36576" rIns="36576" tIns="18288" bIns="18288" anchor="t">
            <a:spAutoFit/>
          </a:bodyPr>
          <a:lstStyle/>
          <a:p>
            <a:pPr algn="l">
              <a:lnSpc>
                <a:spcPct val="118000"/>
              </a:lnSpc>
            </a:pPr>
            <a:r>
              <a:rPr sz="1050" b="0" i="0">
                <a:solidFill>
                  <a:srgbClr val="6B6862"/>
                </a:solidFill>
                <a:latin typeface="Calibri"/>
              </a:rPr>
              <a:t>•  Brief AI history and what agentic AI is</a:t>
            </a:r>
          </a:p>
          <a:p>
            <a:pPr algn="l">
              <a:lnSpc>
                <a:spcPct val="118000"/>
              </a:lnSpc>
            </a:pPr>
            <a:r>
              <a:rPr sz="1050" b="0" i="0">
                <a:solidFill>
                  <a:srgbClr val="6B6862"/>
                </a:solidFill>
                <a:latin typeface="Calibri"/>
              </a:rPr>
              <a:t>•  Under the hood: the model in a harness, tools, skills and the agentic loop; humans decide</a:t>
            </a:r>
          </a:p>
          <a:p>
            <a:pPr algn="l">
              <a:lnSpc>
                <a:spcPct val="118000"/>
              </a:lnSpc>
            </a:pPr>
            <a:r>
              <a:rPr sz="1050" b="0" i="0">
                <a:solidFill>
                  <a:srgbClr val="6B6862"/>
                </a:solidFill>
                <a:latin typeface="Calibri"/>
              </a:rPr>
              <a:t>•  Two work modes, five collaboration scenarios, use cases and the Big Five always-on agents</a:t>
            </a:r>
          </a:p>
          <a:p>
            <a:pPr algn="l">
              <a:lnSpc>
                <a:spcPct val="118000"/>
              </a:lnSpc>
            </a:pPr>
            <a:r>
              <a:rPr sz="1050" b="0" i="0">
                <a:solidFill>
                  <a:srgbClr val="6B6862"/>
                </a:solidFill>
                <a:latin typeface="Calibri"/>
              </a:rPr>
              <a:t>•  Activity 1 · Join Meta Muse (invite code) and set up an OpenAI Dot</a:t>
            </a:r>
          </a:p>
        </p:txBody>
      </p:sp>
      <p:sp>
        <p:nvSpPr>
          <p:cNvPr id="14" name="Rounded Rectangle 13"/>
          <p:cNvSpPr/>
          <p:nvPr/>
        </p:nvSpPr>
        <p:spPr>
          <a:xfrm>
            <a:off x="3364992"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93592"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93592"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2</a:t>
            </a:r>
          </a:p>
        </p:txBody>
      </p:sp>
      <p:sp>
        <p:nvSpPr>
          <p:cNvPr id="17" name="TextBox 16"/>
          <p:cNvSpPr txBox="1"/>
          <p:nvPr/>
        </p:nvSpPr>
        <p:spPr>
          <a:xfrm>
            <a:off x="4233672"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2</a:t>
            </a:r>
          </a:p>
        </p:txBody>
      </p:sp>
      <p:sp>
        <p:nvSpPr>
          <p:cNvPr id="18" name="TextBox 17"/>
          <p:cNvSpPr txBox="1"/>
          <p:nvPr/>
        </p:nvSpPr>
        <p:spPr>
          <a:xfrm>
            <a:off x="3593592"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Agent</a:t>
            </a:r>
          </a:p>
        </p:txBody>
      </p:sp>
      <p:sp>
        <p:nvSpPr>
          <p:cNvPr id="19" name="TextBox 18"/>
          <p:cNvSpPr txBox="1"/>
          <p:nvPr/>
        </p:nvSpPr>
        <p:spPr>
          <a:xfrm>
            <a:off x="3593592" y="4023360"/>
            <a:ext cx="2286000" cy="2103120"/>
          </a:xfrm>
          <a:prstGeom prst="rect">
            <a:avLst/>
          </a:prstGeom>
          <a:noFill/>
        </p:spPr>
        <p:txBody>
          <a:bodyPr wrap="square" lIns="36576" rIns="36576" tIns="18288" bIns="18288" anchor="t">
            <a:spAutoFit/>
          </a:bodyPr>
          <a:lstStyle/>
          <a:p>
            <a:pPr algn="l">
              <a:lnSpc>
                <a:spcPct val="118000"/>
              </a:lnSpc>
            </a:pPr>
            <a:r>
              <a:rPr sz="850" b="0" i="0">
                <a:solidFill>
                  <a:srgbClr val="6B6862"/>
                </a:solidFill>
                <a:latin typeface="Calibri"/>
              </a:rPr>
              <a:t>•  What an AI agent is, part by part; what Hermes Agent is; install Hermes Desktop and point it at your kopi-kaki folder</a:t>
            </a:r>
          </a:p>
          <a:p>
            <a:pPr algn="l">
              <a:lnSpc>
                <a:spcPct val="118000"/>
              </a:lnSpc>
            </a:pPr>
            <a:r>
              <a:rPr sz="850" b="0" i="0">
                <a:solidFill>
                  <a:srgbClr val="6B6862"/>
                </a:solidFill>
                <a:latin typeface="Calibri"/>
              </a:rPr>
              <a:t>•  Provider and model: Nous Portal free (Upstage Solar Mini 4) or your ChatGPT Plus plan; Telegram bot by QR code or BotFather</a:t>
            </a:r>
          </a:p>
          <a:p>
            <a:pPr algn="l">
              <a:lnSpc>
                <a:spcPct val="118000"/>
              </a:lnSpc>
            </a:pPr>
            <a:r>
              <a:rPr sz="850" b="0" i="0">
                <a:solidFill>
                  <a:srgbClr val="6B6862"/>
                </a:solidFill>
                <a:latin typeface="Calibri"/>
              </a:rPr>
              <a:t>•  Tools and skills: the difference, then Gmail, web design and PPTX; Firecrawl web search; scheduled jobs</a:t>
            </a:r>
          </a:p>
          <a:p>
            <a:pPr algn="l">
              <a:lnSpc>
                <a:spcPct val="118000"/>
              </a:lnSpc>
            </a:pPr>
            <a:r>
              <a:rPr sz="850" b="0" i="0">
                <a:solidFill>
                  <a:srgbClr val="6B6862"/>
                </a:solidFill>
                <a:latin typeface="Calibri"/>
              </a:rPr>
              <a:t>•  Activity 2 · One agent + UX skills build the Kopi Kaki website</a:t>
            </a:r>
          </a:p>
          <a:p>
            <a:pPr algn="l">
              <a:lnSpc>
                <a:spcPct val="118000"/>
              </a:lnSpc>
            </a:pPr>
            <a:r>
              <a:rPr sz="850" b="0" i="0">
                <a:solidFill>
                  <a:srgbClr val="6B6862"/>
                </a:solidFill>
                <a:latin typeface="Calibri"/>
              </a:rPr>
              <a:t>•  Activity 3 · One agent + PPT tool and skill build the Kopi Kaki deck (PP Task 2)</a:t>
            </a:r>
          </a:p>
        </p:txBody>
      </p:sp>
      <p:sp>
        <p:nvSpPr>
          <p:cNvPr id="20" name="Rounded Rectangle 19"/>
          <p:cNvSpPr/>
          <p:nvPr/>
        </p:nvSpPr>
        <p:spPr>
          <a:xfrm>
            <a:off x="6181344" y="2240280"/>
            <a:ext cx="26517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09944"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09944"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3</a:t>
            </a:r>
          </a:p>
        </p:txBody>
      </p:sp>
      <p:sp>
        <p:nvSpPr>
          <p:cNvPr id="23" name="TextBox 22"/>
          <p:cNvSpPr txBox="1"/>
          <p:nvPr/>
        </p:nvSpPr>
        <p:spPr>
          <a:xfrm>
            <a:off x="7050024"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3</a:t>
            </a:r>
          </a:p>
        </p:txBody>
      </p:sp>
      <p:sp>
        <p:nvSpPr>
          <p:cNvPr id="24" name="TextBox 23"/>
          <p:cNvSpPr txBox="1"/>
          <p:nvPr/>
        </p:nvSpPr>
        <p:spPr>
          <a:xfrm>
            <a:off x="6409944"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Teams</a:t>
            </a:r>
          </a:p>
        </p:txBody>
      </p:sp>
      <p:sp>
        <p:nvSpPr>
          <p:cNvPr id="25" name="TextBox 24"/>
          <p:cNvSpPr txBox="1"/>
          <p:nvPr/>
        </p:nvSpPr>
        <p:spPr>
          <a:xfrm>
            <a:off x="6409944" y="4023360"/>
            <a:ext cx="2286000" cy="2103120"/>
          </a:xfrm>
          <a:prstGeom prst="rect">
            <a:avLst/>
          </a:prstGeom>
          <a:noFill/>
        </p:spPr>
        <p:txBody>
          <a:bodyPr wrap="square" lIns="36576" rIns="36576" tIns="18288" bIns="18288" anchor="t">
            <a:spAutoFit/>
          </a:bodyPr>
          <a:lstStyle/>
          <a:p>
            <a:pPr algn="l">
              <a:lnSpc>
                <a:spcPct val="118000"/>
              </a:lnSpc>
            </a:pPr>
            <a:r>
              <a:rPr sz="900" b="0" i="0">
                <a:solidFill>
                  <a:srgbClr val="6B6862"/>
                </a:solidFill>
                <a:latin typeface="Calibri"/>
              </a:rPr>
              <a:t>•  Multiple agents: own tools, skills, model, instructions and context window; hub-and-spoke, task decomposition and subagents</a:t>
            </a:r>
          </a:p>
          <a:p>
            <a:pPr algn="l">
              <a:lnSpc>
                <a:spcPct val="118000"/>
              </a:lnSpc>
            </a:pPr>
            <a:r>
              <a:rPr sz="900" b="0" i="0">
                <a:solidFill>
                  <a:srgbClr val="6B6862"/>
                </a:solidFill>
                <a:latin typeface="Calibri"/>
              </a:rPr>
              <a:t>•  Activity 4 · Hire five named bots, put them in one group chat, get LinkedIn, Facebook and Instagram posts</a:t>
            </a:r>
          </a:p>
          <a:p>
            <a:pPr algn="l">
              <a:lnSpc>
                <a:spcPct val="118000"/>
              </a:lnSpc>
            </a:pPr>
            <a:r>
              <a:rPr sz="900" b="0" i="0">
                <a:solidFill>
                  <a:srgbClr val="6B6862"/>
                </a:solidFill>
                <a:latin typeface="Calibri"/>
              </a:rPr>
              <a:t>•  Activity 5 · One prompt builds a video team and its Kanban board: research → script → video → review → your approval (PP Task 3)</a:t>
            </a:r>
          </a:p>
          <a:p>
            <a:pPr algn="l">
              <a:lnSpc>
                <a:spcPct val="118000"/>
              </a:lnSpc>
            </a:pPr>
            <a:r>
              <a:rPr sz="900" b="0" i="0">
                <a:solidFill>
                  <a:srgbClr val="6B6862"/>
                </a:solidFill>
                <a:latin typeface="Calibri"/>
              </a:rPr>
              <a:t>•  Activity 6 · Crons auto-generate next week’s posts and video drafts, still behind your approval</a:t>
            </a:r>
          </a:p>
          <a:p>
            <a:pPr algn="l">
              <a:lnSpc>
                <a:spcPct val="118000"/>
              </a:lnSpc>
            </a:pPr>
            <a:r>
              <a:rPr sz="900" b="0" i="0">
                <a:solidFill>
                  <a:srgbClr val="6B6862"/>
                </a:solidFill>
                <a:latin typeface="Calibri"/>
              </a:rPr>
              <a:t>•  Five principles of AI security</a:t>
            </a:r>
          </a:p>
        </p:txBody>
      </p:sp>
      <p:sp>
        <p:nvSpPr>
          <p:cNvPr id="26" name="Rounded Rectangle 25"/>
          <p:cNvSpPr/>
          <p:nvPr/>
        </p:nvSpPr>
        <p:spPr>
          <a:xfrm>
            <a:off x="8997696" y="2240280"/>
            <a:ext cx="2651760" cy="3977639"/>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226296" y="242316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26296" y="2423160"/>
            <a:ext cx="530352" cy="530352"/>
          </a:xfrm>
          <a:prstGeom prst="rect">
            <a:avLst/>
          </a:prstGeom>
          <a:noFill/>
        </p:spPr>
        <p:txBody>
          <a:bodyPr wrap="square" lIns="36576" rIns="36576" tIns="18288" bIns="18288" anchor="ctr">
            <a:spAutoFit/>
          </a:bodyPr>
          <a:lstStyle/>
          <a:p>
            <a:pPr algn="ctr">
              <a:lnSpc>
                <a:spcPct val="112000"/>
              </a:lnSpc>
            </a:pPr>
            <a:r>
              <a:rPr sz="1800" b="1" i="0">
                <a:solidFill>
                  <a:srgbClr val="FFFFFF"/>
                </a:solidFill>
                <a:latin typeface="Cambria"/>
              </a:rPr>
              <a:t>B</a:t>
            </a:r>
          </a:p>
        </p:txBody>
      </p:sp>
      <p:sp>
        <p:nvSpPr>
          <p:cNvPr id="29" name="TextBox 28"/>
          <p:cNvSpPr txBox="1"/>
          <p:nvPr/>
        </p:nvSpPr>
        <p:spPr>
          <a:xfrm>
            <a:off x="9866376" y="2487168"/>
            <a:ext cx="1691640" cy="41148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BONUS · OPTIONAL</a:t>
            </a:r>
          </a:p>
        </p:txBody>
      </p:sp>
      <p:sp>
        <p:nvSpPr>
          <p:cNvPr id="30" name="TextBox 29"/>
          <p:cNvSpPr txBox="1"/>
          <p:nvPr/>
        </p:nvSpPr>
        <p:spPr>
          <a:xfrm>
            <a:off x="9226296" y="3063240"/>
            <a:ext cx="2240280" cy="9601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Paperclip one-person company</a:t>
            </a:r>
          </a:p>
        </p:txBody>
      </p:sp>
      <p:sp>
        <p:nvSpPr>
          <p:cNvPr id="31" name="TextBox 30"/>
          <p:cNvSpPr txBox="1"/>
          <p:nvPr/>
        </p:nvSpPr>
        <p:spPr>
          <a:xfrm>
            <a:off x="9226296" y="4023360"/>
            <a:ext cx="2286000" cy="2103120"/>
          </a:xfrm>
          <a:prstGeom prst="rect">
            <a:avLst/>
          </a:prstGeom>
          <a:noFill/>
        </p:spPr>
        <p:txBody>
          <a:bodyPr wrap="square" lIns="36576" rIns="36576" tIns="18288" bIns="18288" anchor="t">
            <a:spAutoFit/>
          </a:bodyPr>
          <a:lstStyle/>
          <a:p>
            <a:pPr algn="l">
              <a:lnSpc>
                <a:spcPct val="118000"/>
              </a:lnSpc>
            </a:pPr>
            <a:r>
              <a:rPr sz="1050" b="0" i="0">
                <a:solidFill>
                  <a:srgbClr val="C9C4B9"/>
                </a:solidFill>
                <a:latin typeface="Calibri"/>
              </a:rPr>
              <a:t>•  What Paperclip is; install it</a:t>
            </a:r>
          </a:p>
          <a:p>
            <a:pPr algn="l">
              <a:lnSpc>
                <a:spcPct val="118000"/>
              </a:lnSpc>
            </a:pPr>
            <a:r>
              <a:rPr sz="1050" b="0" i="0">
                <a:solidFill>
                  <a:srgbClr val="C9C4B9"/>
                </a:solidFill>
                <a:latin typeface="Calibri"/>
              </a:rPr>
              <a:t>•  Set up the company and the CEO (with instructions)</a:t>
            </a:r>
          </a:p>
          <a:p>
            <a:pPr algn="l">
              <a:lnSpc>
                <a:spcPct val="118000"/>
              </a:lnSpc>
            </a:pPr>
            <a:r>
              <a:rPr sz="1050" b="0" i="0">
                <a:solidFill>
                  <a:srgbClr val="C9C4B9"/>
                </a:solidFill>
                <a:latin typeface="Calibri"/>
              </a:rPr>
              <a:t>•  CEO hires a Chief of Staff; the Chief of Staff hires the marketing team</a:t>
            </a:r>
          </a:p>
          <a:p>
            <a:pPr algn="l">
              <a:lnSpc>
                <a:spcPct val="118000"/>
              </a:lnSpc>
            </a:pPr>
            <a:r>
              <a:rPr sz="1050" b="0" i="0">
                <a:solidFill>
                  <a:srgbClr val="C9C4B9"/>
                </a:solidFill>
                <a:latin typeface="Calibri"/>
              </a:rPr>
              <a:t>•  Org chart, then the team produces the video</a:t>
            </a:r>
          </a:p>
          <a:p>
            <a:pPr algn="l">
              <a:lnSpc>
                <a:spcPct val="118000"/>
              </a:lnSpc>
            </a:pPr>
            <a:r>
              <a:rPr sz="1050" b="0" i="0">
                <a:solidFill>
                  <a:srgbClr val="C9C4B9"/>
                </a:solidFill>
                <a:latin typeface="Calibri"/>
              </a:rPr>
              <a:t>•  Compare Paperclip with the Hermes Kanban team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250">
                          <a:solidFill>
                            <a:srgbClr val="FFFFFF"/>
                          </a:solidFill>
                          <a:latin typeface="Cambria"/>
                        </a:rPr>
                        <a:t>LU</a:t>
                      </a:r>
                    </a:p>
                  </a:txBody>
                  <a:tcPr marL="64008" marR="64008" marT="27432" marB="27432" anchor="ctr">
                    <a:solidFill>
                      <a:srgbClr val="21201C"/>
                    </a:solidFill>
                  </a:tcPr>
                </a:tc>
                <a:tc>
                  <a:txBody>
                    <a:bodyPr wrap="square"/>
                    <a:lstStyle/>
                    <a:p>
                      <a:r>
                        <a:rPr b="1" sz="1250">
                          <a:solidFill>
                            <a:srgbClr val="FFFFFF"/>
                          </a:solidFill>
                          <a:latin typeface="Cambria"/>
                        </a:rPr>
                        <a:t>Learning unit</a:t>
                      </a:r>
                    </a:p>
                  </a:txBody>
                  <a:tcPr marL="64008" marR="64008" marT="27432" marB="27432" anchor="ctr">
                    <a:solidFill>
                      <a:srgbClr val="21201C"/>
                    </a:solidFill>
                  </a:tcPr>
                </a:tc>
                <a:tc>
                  <a:txBody>
                    <a:bodyPr wrap="square"/>
                    <a:lstStyle/>
                    <a:p>
                      <a:r>
                        <a:rPr b="1" sz="1250">
                          <a:solidFill>
                            <a:srgbClr val="FFFFFF"/>
                          </a:solidFill>
                          <a:latin typeface="Cambria"/>
                        </a:rPr>
                        <a:t>Delivered through</a:t>
                      </a:r>
                    </a:p>
                  </a:txBody>
                  <a:tcPr marL="64008" marR="64008" marT="27432" marB="27432" anchor="ctr">
                    <a:solidFill>
                      <a:srgbClr val="21201C"/>
                    </a:solidFill>
                  </a:tcPr>
                </a:tc>
                <a:tc>
                  <a:txBody>
                    <a:bodyPr wrap="square"/>
                    <a:lstStyle/>
                    <a:p>
                      <a:r>
                        <a:rPr b="1" sz="1250">
                          <a:solidFill>
                            <a:srgbClr val="FFFFFF"/>
                          </a:solidFill>
                          <a:latin typeface="Cambria"/>
                        </a:rPr>
                        <a:t>K &amp; A</a:t>
                      </a:r>
                    </a:p>
                  </a:txBody>
                  <a:tcPr marL="64008" marR="64008" marT="27432" marB="27432" anchor="ctr">
                    <a:solidFill>
                      <a:srgbClr val="21201C"/>
                    </a:solidFill>
                  </a:tcPr>
                </a:tc>
                <a:tc>
                  <a:txBody>
                    <a:bodyPr wrap="square"/>
                    <a:lstStyle/>
                    <a:p>
                      <a:r>
                        <a:rPr b="1" sz="1250">
                          <a:solidFill>
                            <a:srgbClr val="FFFFFF"/>
                          </a:solidFill>
                          <a:latin typeface="Cambria"/>
                        </a:rPr>
                        <a:t>Hours</a:t>
                      </a:r>
                    </a:p>
                  </a:txBody>
                  <a:tcPr marL="64008" marR="64008" marT="27432" marB="27432" anchor="ctr">
                    <a:solidFill>
                      <a:srgbClr val="21201C"/>
                    </a:solidFill>
                  </a:tcPr>
                </a:tc>
              </a:tr>
              <a:tr h="795527">
                <a:tc>
                  <a:txBody>
                    <a:bodyPr wrap="square"/>
                    <a:lstStyle/>
                    <a:p>
                      <a:r>
                        <a:rPr b="1" sz="1200">
                          <a:solidFill>
                            <a:srgbClr val="21201C"/>
                          </a:solidFill>
                          <a:latin typeface="Cambria"/>
                        </a:rPr>
                        <a:t>LU1</a:t>
                      </a:r>
                    </a:p>
                  </a:txBody>
                  <a:tcPr marL="64008" marR="64008" marT="27432" marB="27432" anchor="ctr">
                    <a:solidFill>
                      <a:srgbClr val="FFFFFF"/>
                    </a:solidFill>
                  </a:tcPr>
                </a:tc>
                <a:tc>
                  <a:txBody>
                    <a:bodyPr wrap="square"/>
                    <a:lstStyle/>
                    <a:p>
                      <a:r>
                        <a:rPr b="0" sz="12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200">
                          <a:solidFill>
                            <a:srgbClr val="6B6862"/>
                          </a:solidFill>
                          <a:latin typeface="Calibri"/>
                        </a:rPr>
                        <a:t>Topic 1 history, collaboration, harness and Big Five + Activity 1 always-on assistant + Topic 2 Part A: what an AI agent is, Hermes Agent, Desktop and the company folder, provider and model (Nous free Solar Mini 4 or ChatGPT Plus) and a Telegram bot (QR or BotFather)</a:t>
                      </a:r>
                    </a:p>
                  </a:txBody>
                  <a:tcPr marL="64008" marR="64008" marT="27432" marB="27432" anchor="ctr">
                    <a:solidFill>
                      <a:srgbClr val="FFFFFF"/>
                    </a:solidFill>
                  </a:tcPr>
                </a:tc>
                <a:tc>
                  <a:txBody>
                    <a:bodyPr wrap="square"/>
                    <a:lstStyle/>
                    <a:p>
                      <a:r>
                        <a:rPr b="0" sz="1200">
                          <a:solidFill>
                            <a:srgbClr val="6B6862"/>
                          </a:solidFill>
                          <a:latin typeface="Calibri"/>
                        </a:rPr>
                        <a:t>K1, K6, A1, A3</a:t>
                      </a:r>
                    </a:p>
                  </a:txBody>
                  <a:tcPr marL="64008" marR="64008" marT="27432" marB="27432" anchor="ctr">
                    <a:solidFill>
                      <a:srgbClr val="FFFFFF"/>
                    </a:solidFill>
                  </a:tcPr>
                </a:tc>
                <a:tc>
                  <a:txBody>
                    <a:bodyPr wrap="square"/>
                    <a:lstStyle/>
                    <a:p>
                      <a:r>
                        <a:rPr b="0" sz="1200">
                          <a:solidFill>
                            <a:srgbClr val="6B6862"/>
                          </a:solidFill>
                          <a:latin typeface="Calibri"/>
                        </a:rPr>
                        <a:t>5 h</a:t>
                      </a:r>
                    </a:p>
                  </a:txBody>
                  <a:tcPr marL="64008" marR="64008" marT="27432" marB="27432" anchor="ctr">
                    <a:solidFill>
                      <a:srgbClr val="FFFFFF"/>
                    </a:solidFill>
                  </a:tcPr>
                </a:tc>
              </a:tr>
              <a:tr h="795527">
                <a:tc>
                  <a:txBody>
                    <a:bodyPr wrap="square"/>
                    <a:lstStyle/>
                    <a:p>
                      <a:r>
                        <a:rPr b="1" sz="1200">
                          <a:solidFill>
                            <a:srgbClr val="21201C"/>
                          </a:solidFill>
                          <a:latin typeface="Cambria"/>
                        </a:rPr>
                        <a:t>LU2</a:t>
                      </a:r>
                    </a:p>
                  </a:txBody>
                  <a:tcPr marL="64008" marR="64008" marT="27432" marB="27432" anchor="ctr">
                    <a:solidFill>
                      <a:srgbClr val="F3F1EB"/>
                    </a:solidFill>
                  </a:tcPr>
                </a:tc>
                <a:tc>
                  <a:txBody>
                    <a:bodyPr wrap="square"/>
                    <a:lstStyle/>
                    <a:p>
                      <a:r>
                        <a:rPr b="0" sz="12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200">
                          <a:solidFill>
                            <a:srgbClr val="6B6862"/>
                          </a:solidFill>
                          <a:latin typeface="Calibri"/>
                        </a:rPr>
                        <a:t>Topic 2 Parts B–C: voice, tools vs skills, Firecrawl, then Gmail (connector + scheduled brief), web design and PPTX + Activities 2–3 (single-agent website and PPT) + Topic 3 bots and group chats + Activity 4 social media bots</a:t>
                      </a:r>
                    </a:p>
                  </a:txBody>
                  <a:tcPr marL="64008" marR="64008" marT="27432" marB="27432" anchor="ctr">
                    <a:solidFill>
                      <a:srgbClr val="F3F1EB"/>
                    </a:solidFill>
                  </a:tcPr>
                </a:tc>
                <a:tc>
                  <a:txBody>
                    <a:bodyPr wrap="square"/>
                    <a:lstStyle/>
                    <a:p>
                      <a:r>
                        <a:rPr b="0" sz="1200">
                          <a:solidFill>
                            <a:srgbClr val="6B6862"/>
                          </a:solidFill>
                          <a:latin typeface="Calibri"/>
                        </a:rPr>
                        <a:t>K4, K5, A2, A6</a:t>
                      </a:r>
                    </a:p>
                  </a:txBody>
                  <a:tcPr marL="64008" marR="64008" marT="27432" marB="27432" anchor="ctr">
                    <a:solidFill>
                      <a:srgbClr val="F3F1EB"/>
                    </a:solidFill>
                  </a:tcPr>
                </a:tc>
                <a:tc>
                  <a:txBody>
                    <a:bodyPr wrap="square"/>
                    <a:lstStyle/>
                    <a:p>
                      <a:r>
                        <a:rPr b="0" sz="1200">
                          <a:solidFill>
                            <a:srgbClr val="6B6862"/>
                          </a:solidFill>
                          <a:latin typeface="Calibri"/>
                        </a:rPr>
                        <a:t>5 h</a:t>
                      </a:r>
                    </a:p>
                  </a:txBody>
                  <a:tcPr marL="64008" marR="64008" marT="27432" marB="27432" anchor="ctr">
                    <a:solidFill>
                      <a:srgbClr val="F3F1EB"/>
                    </a:solidFill>
                  </a:tcPr>
                </a:tc>
              </a:tr>
              <a:tr h="795527">
                <a:tc>
                  <a:txBody>
                    <a:bodyPr wrap="square"/>
                    <a:lstStyle/>
                    <a:p>
                      <a:r>
                        <a:rPr b="1" sz="1200">
                          <a:solidFill>
                            <a:srgbClr val="21201C"/>
                          </a:solidFill>
                          <a:latin typeface="Cambria"/>
                        </a:rPr>
                        <a:t>LU3</a:t>
                      </a:r>
                    </a:p>
                  </a:txBody>
                  <a:tcPr marL="64008" marR="64008" marT="27432" marB="27432" anchor="ctr">
                    <a:solidFill>
                      <a:srgbClr val="FFFFFF"/>
                    </a:solidFill>
                  </a:tcPr>
                </a:tc>
                <a:tc>
                  <a:txBody>
                    <a:bodyPr wrap="square"/>
                    <a:lstStyle/>
                    <a:p>
                      <a:r>
                        <a:rPr b="0" sz="12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200">
                          <a:solidFill>
                            <a:srgbClr val="6B6862"/>
                          </a:solidFill>
                          <a:latin typeface="Calibri"/>
                        </a:rPr>
                        <a:t>Activity 5 Kanban video team (researcher source checks, review and human approval), Activity 6 content crons, five principles of AI security, evaluation metrics and the optional Paperclip comparison</a:t>
                      </a:r>
                    </a:p>
                  </a:txBody>
                  <a:tcPr marL="64008" marR="64008" marT="27432" marB="27432" anchor="ctr">
                    <a:solidFill>
                      <a:srgbClr val="FFFFFF"/>
                    </a:solidFill>
                  </a:tcPr>
                </a:tc>
                <a:tc>
                  <a:txBody>
                    <a:bodyPr wrap="square"/>
                    <a:lstStyle/>
                    <a:p>
                      <a:r>
                        <a:rPr b="0" sz="1200">
                          <a:solidFill>
                            <a:srgbClr val="6B6862"/>
                          </a:solidFill>
                          <a:latin typeface="Calibri"/>
                        </a:rPr>
                        <a:t>K2, K3, A4, A5</a:t>
                      </a:r>
                    </a:p>
                  </a:txBody>
                  <a:tcPr marL="64008" marR="64008" marT="27432" marB="27432" anchor="ctr">
                    <a:solidFill>
                      <a:srgbClr val="FFFFFF"/>
                    </a:solidFill>
                  </a:tcPr>
                </a:tc>
                <a:tc>
                  <a:txBody>
                    <a:bodyPr wrap="square"/>
                    <a:lstStyle/>
                    <a:p>
                      <a:r>
                        <a:rPr b="0" sz="1200">
                          <a:solidFill>
                            <a:srgbClr val="6B6862"/>
                          </a:solidFill>
                          <a:latin typeface="Calibri"/>
                        </a:rPr>
                        <a:t>4 h</a:t>
                      </a:r>
                    </a:p>
                  </a:txBody>
                  <a:tcPr marL="64008" marR="64008" marT="27432" marB="27432" anchor="ctr">
                    <a:solidFill>
                      <a:srgbClr val="FFFFFF"/>
                    </a:solidFill>
                  </a:tcPr>
                </a:tc>
              </a:tr>
              <a:tr h="795527">
                <a:tc>
                  <a:txBody>
                    <a:bodyPr wrap="square"/>
                    <a:lstStyle/>
                    <a:p>
                      <a:r>
                        <a:rPr b="1" sz="1200">
                          <a:solidFill>
                            <a:srgbClr val="21201C"/>
                          </a:solidFill>
                          <a:latin typeface="Cambria"/>
                        </a:rPr>
                        <a:t>Assess</a:t>
                      </a:r>
                    </a:p>
                  </a:txBody>
                  <a:tcPr marL="64008" marR="64008" marT="27432" marB="27432" anchor="ctr">
                    <a:solidFill>
                      <a:srgbClr val="F3F1EB"/>
                    </a:solidFill>
                  </a:tcPr>
                </a:tc>
                <a:tc>
                  <a:txBody>
                    <a:bodyPr wrap="square"/>
                    <a:lstStyle/>
                    <a:p>
                      <a:r>
                        <a:rPr b="0" sz="12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200">
                          <a:solidFill>
                            <a:srgbClr val="6B6862"/>
                          </a:solidFill>
                          <a:latin typeface="Calibri"/>
                        </a:rPr>
                        <a:t>Day 2, 4:30–6:30 PM</a:t>
                      </a:r>
                    </a:p>
                  </a:txBody>
                  <a:tcPr marL="64008" marR="64008" marT="27432" marB="27432" anchor="ctr">
                    <a:solidFill>
                      <a:srgbClr val="F3F1EB"/>
                    </a:solidFill>
                  </a:tcPr>
                </a:tc>
                <a:tc>
                  <a:txBody>
                    <a:bodyPr wrap="square"/>
                    <a:lstStyle/>
                    <a:p>
                      <a:r>
                        <a:rPr b="0" sz="1200">
                          <a:solidFill>
                            <a:srgbClr val="6B6862"/>
                          </a:solidFill>
                          <a:latin typeface="Calibri"/>
                        </a:rPr>
                        <a:t>K1–K6 · A1–A6</a:t>
                      </a:r>
                    </a:p>
                  </a:txBody>
                  <a:tcPr marL="64008" marR="64008" marT="27432" marB="27432" anchor="ctr">
                    <a:solidFill>
                      <a:srgbClr val="F3F1EB"/>
                    </a:solidFill>
                  </a:tcPr>
                </a:tc>
                <a:tc>
                  <a:txBody>
                    <a:bodyPr wrap="square"/>
                    <a:lstStyle/>
                    <a:p>
                      <a:r>
                        <a:rPr b="0" sz="12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AI history; what agentic AI is; under the hood (brain-and-body analogy, the agentic loop); humans decide; assistant vs digital worker; five collaboration scenarios (Scenario 2 tried live on WhatsApp); use cases, AI for Science, humanoid elderly care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11:20–12:00</a:t>
                      </a:r>
                    </a:p>
                  </a:txBody>
                  <a:tcPr marL="64008" marR="64008" marT="27432" marB="27432" anchor="ctr">
                    <a:solidFill>
                      <a:srgbClr val="F3F1EB"/>
                    </a:solidFill>
                  </a:tcPr>
                </a:tc>
                <a:tc>
                  <a:txBody>
                    <a:bodyPr wrap="square"/>
                    <a:lstStyle/>
                    <a:p>
                      <a:r>
                        <a:rPr b="0" sz="1050">
                          <a:solidFill>
                            <a:srgbClr val="6B6862"/>
                          </a:solidFill>
                          <a:latin typeface="Calibri"/>
                        </a:rPr>
                        <a:t>Topic 1 (Part B) — deployment evolution (OpenClaw → Hermes → hosted agents); the Big Five and one briefing slide each (Muse, Dots, Grok Bot, Duet, Cue) with embedded setup videos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12:00–13:15</a:t>
                      </a:r>
                    </a:p>
                  </a:txBody>
                  <a:tcPr marL="64008" marR="64008" marT="27432" marB="27432" anchor="ctr">
                    <a:solidFill>
                      <a:srgbClr val="FFFFFF"/>
                    </a:solidFill>
                  </a:tcPr>
                </a:tc>
                <a:tc>
                  <a:txBody>
                    <a:bodyPr wrap="square"/>
                    <a:lstStyle/>
                    <a:p>
                      <a:r>
                        <a:rPr b="0" sz="1050">
                          <a:solidFill>
                            <a:srgbClr val="6B6862"/>
                          </a:solidFill>
                          <a:latin typeface="Calibri"/>
                        </a:rPr>
                        <a:t>Lab 1: Activity 1 — 1A join Meta Muse with the trainer’s invite code; 1B set up an OpenAI Dot (Pro/Business Premium); 1C speak prompts with Wispr Flow; Kopi Kaki schedule check and email draft (PP Task 1)</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13:15–13:30</a:t>
                      </a:r>
                    </a:p>
                  </a:txBody>
                  <a:tcPr marL="64008" marR="64008" marT="27432" marB="27432" anchor="ctr">
                    <a:solidFill>
                      <a:srgbClr val="F3F1EB"/>
                    </a:solidFill>
                  </a:tcPr>
                </a:tc>
                <a:tc>
                  <a:txBody>
                    <a:bodyPr wrap="square"/>
                    <a:lstStyle/>
                    <a:p>
                      <a:r>
                        <a:rPr b="0" sz="1050">
                          <a:solidFill>
                            <a:srgbClr val="6B6862"/>
                          </a:solidFill>
                          <a:latin typeface="Calibri"/>
                        </a:rPr>
                        <a:t>Activity 1 checkpoint and results review — source accuracy, approval controls, limits and actual stop state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Topic 2 (Part A) — meet Kopi Kaki Co.; what an AI agent is (its components); what Hermes Agent is; install Hermes Desktop and point it at the kopi-kaki folder; provider and model (Nous free Solar Mini 4 or ChatGPT Plus); a Telegram bot (Create with QR, or manually with BotFather)</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Topic 2 (Part B) — voice; tools vs skills; tools and skills from Capabilities; Firecrawl web search</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16:15–16:45</a:t>
                      </a:r>
                    </a:p>
                  </a:txBody>
                  <a:tcPr marL="64008" marR="64008" marT="27432" marB="27432" anchor="ctr">
                    <a:solidFill>
                      <a:srgbClr val="FFFFFF"/>
                    </a:solidFill>
                  </a:tcPr>
                </a:tc>
                <a:tc>
                  <a:txBody>
                    <a:bodyPr wrap="square"/>
                    <a:lstStyle/>
                    <a:p>
                      <a:r>
                        <a:rPr b="0" sz="1050">
                          <a:solidFill>
                            <a:srgbClr val="6B6862"/>
                          </a:solidFill>
                          <a:latin typeface="Calibri"/>
                        </a:rPr>
                        <a:t>Topic 2 (Part C) — tools and skills in action: Gmail by Google sign-in plus a daily email summary; web-design skills from skills.sh; the PPTX tool and pitch-deck skill</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16:45–17:30</a:t>
                      </a:r>
                    </a:p>
                  </a:txBody>
                  <a:tcPr marL="64008" marR="64008" marT="27432" marB="27432" anchor="ctr">
                    <a:solidFill>
                      <a:srgbClr val="F3F1EB"/>
                    </a:solidFill>
                  </a:tcPr>
                </a:tc>
                <a:tc>
                  <a:txBody>
                    <a:bodyPr wrap="square"/>
                    <a:lstStyle/>
                    <a:p>
                      <a:r>
                        <a:rPr b="0" sz="1050">
                          <a:solidFill>
                            <a:srgbClr val="6B6862"/>
                          </a:solidFill>
                          <a:latin typeface="Calibri"/>
                        </a:rPr>
                        <a:t>Lab 2: Activity 2 — single agent: Mia installs UX skills from skills.sh and builds the Kopi Kaki website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17:30–18:15</a:t>
                      </a:r>
                    </a:p>
                  </a:txBody>
                  <a:tcPr marL="64008" marR="64008" marT="27432" marB="27432" anchor="ctr">
                    <a:solidFill>
                      <a:srgbClr val="FFFFFF"/>
                    </a:solidFill>
                  </a:tcPr>
                </a:tc>
                <a:tc>
                  <a:txBody>
                    <a:bodyPr wrap="square"/>
                    <a:lstStyle/>
                    <a:p>
                      <a:r>
                        <a:rPr b="0" sz="1050">
                          <a:solidFill>
                            <a:srgbClr val="6B6862"/>
                          </a:solidFill>
                          <a:latin typeface="Calibri"/>
                        </a:rPr>
                        <a:t>Lab 3: Activity 3 — single agent: PPT tool + skill build a professional Kopi Kaki deck (PP Task 2)</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80035">
                <a:tc>
                  <a:txBody>
                    <a:bodyPr wrap="square"/>
                    <a:lstStyle/>
                    <a:p>
                      <a:r>
                        <a:rPr b="1" sz="1150">
                          <a:solidFill>
                            <a:srgbClr val="FFFFFF"/>
                          </a:solidFill>
                          <a:latin typeface="Cambria"/>
                        </a:rPr>
                        <a:t>Time</a:t>
                      </a:r>
                    </a:p>
                  </a:txBody>
                  <a:tcPr marL="64008" marR="64008" marT="27432" marB="27432" anchor="ctr">
                    <a:solidFill>
                      <a:srgbClr val="21201C"/>
                    </a:solidFill>
                  </a:tcPr>
                </a:tc>
                <a:tc>
                  <a:txBody>
                    <a:bodyPr wrap="square"/>
                    <a:lstStyle/>
                    <a:p>
                      <a:r>
                        <a:rPr b="1" sz="1150">
                          <a:solidFill>
                            <a:srgbClr val="FFFFFF"/>
                          </a:solidFill>
                          <a:latin typeface="Cambria"/>
                        </a:rPr>
                        <a:t>Session</a:t>
                      </a:r>
                    </a:p>
                  </a:txBody>
                  <a:tcPr marL="64008" marR="64008" marT="27432" marB="27432" anchor="ctr">
                    <a:solidFill>
                      <a:srgbClr val="21201C"/>
                    </a:solidFill>
                  </a:tcPr>
                </a:tc>
                <a:tc>
                  <a:txBody>
                    <a:bodyPr wrap="square"/>
                    <a:lstStyle/>
                    <a:p>
                      <a:r>
                        <a:rPr b="1" sz="1150">
                          <a:solidFill>
                            <a:srgbClr val="FFFFFF"/>
                          </a:solidFill>
                          <a:latin typeface="Cambria"/>
                        </a:rPr>
                        <a:t>LU</a:t>
                      </a:r>
                    </a:p>
                  </a:txBody>
                  <a:tcPr marL="64008" marR="64008" marT="27432" marB="27432" anchor="ctr">
                    <a:solidFill>
                      <a:srgbClr val="21201C"/>
                    </a:solidFill>
                  </a:tcPr>
                </a:tc>
              </a:tr>
              <a:tr h="280035">
                <a:tc>
                  <a:txBody>
                    <a:bodyPr wrap="square"/>
                    <a:lstStyle/>
                    <a:p>
                      <a:r>
                        <a:rPr b="1" sz="1100">
                          <a:solidFill>
                            <a:srgbClr val="21201C"/>
                          </a:solidFill>
                          <a:latin typeface="Cambria"/>
                        </a:rPr>
                        <a:t>9:30–9:45</a:t>
                      </a:r>
                    </a:p>
                  </a:txBody>
                  <a:tcPr marL="64008" marR="64008" marT="27432" marB="27432" anchor="ctr">
                    <a:solidFill>
                      <a:srgbClr val="FFFFFF"/>
                    </a:solidFill>
                  </a:tcPr>
                </a:tc>
                <a:tc>
                  <a:txBody>
                    <a:bodyPr wrap="square"/>
                    <a:lstStyle/>
                    <a:p>
                      <a:r>
                        <a:rPr b="0" sz="1100">
                          <a:solidFill>
                            <a:srgbClr val="6B6862"/>
                          </a:solidFill>
                          <a:latin typeface="Calibri"/>
                        </a:rPr>
                        <a:t>Day 1 recap and AM attendance</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80035">
                <a:tc>
                  <a:txBody>
                    <a:bodyPr wrap="square"/>
                    <a:lstStyle/>
                    <a:p>
                      <a:r>
                        <a:rPr b="1" sz="1100">
                          <a:solidFill>
                            <a:srgbClr val="21201C"/>
                          </a:solidFill>
                          <a:latin typeface="Cambria"/>
                        </a:rPr>
                        <a:t>9:45–10:15</a:t>
                      </a:r>
                    </a:p>
                  </a:txBody>
                  <a:tcPr marL="64008" marR="64008" marT="27432" marB="27432" anchor="ctr">
                    <a:solidFill>
                      <a:srgbClr val="F3F1EB"/>
                    </a:solidFill>
                  </a:tcPr>
                </a:tc>
                <a:tc>
                  <a:txBody>
                    <a:bodyPr wrap="square"/>
                    <a:lstStyle/>
                    <a:p>
                      <a:r>
                        <a:rPr b="0" sz="1100">
                          <a:solidFill>
                            <a:srgbClr val="6B6862"/>
                          </a:solidFill>
                          <a:latin typeface="Calibri"/>
                        </a:rPr>
                        <a:t>Topic 3 (Part A) — introduction to multiple agents (each with its own tools, skills, model, instructions and context window); hub-and-spoke, task decomposition and subagents; hire bots with New Agent; group chats</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80035">
                <a:tc>
                  <a:txBody>
                    <a:bodyPr wrap="square"/>
                    <a:lstStyle/>
                    <a:p>
                      <a:r>
                        <a:rPr b="1" sz="1100">
                          <a:solidFill>
                            <a:srgbClr val="21201C"/>
                          </a:solidFill>
                          <a:latin typeface="Cambria"/>
                        </a:rPr>
                        <a:t>10:15–11:15</a:t>
                      </a:r>
                    </a:p>
                  </a:txBody>
                  <a:tcPr marL="64008" marR="64008" marT="27432" marB="27432" anchor="ctr">
                    <a:solidFill>
                      <a:srgbClr val="FFFFFF"/>
                    </a:solidFill>
                  </a:tcPr>
                </a:tc>
                <a:tc>
                  <a:txBody>
                    <a:bodyPr wrap="square"/>
                    <a:lstStyle/>
                    <a:p>
                      <a:r>
                        <a:rPr b="0" sz="1100">
                          <a:solidFill>
                            <a:srgbClr val="6B6862"/>
                          </a:solidFill>
                          <a:latin typeface="Calibri"/>
                        </a:rPr>
                        <a:t>Lab 4: Activity 4 — five named bots (researcher, LinkedIn, Facebook and Instagram writers, image creator) in one group chat write the launch posts; you approve each</a:t>
                      </a:r>
                    </a:p>
                  </a:txBody>
                  <a:tcPr marL="64008" marR="64008" marT="27432" marB="27432" anchor="ctr">
                    <a:solidFill>
                      <a:srgbClr val="FFFFFF"/>
                    </a:solidFill>
                  </a:tcPr>
                </a:tc>
                <a:tc>
                  <a:txBody>
                    <a:bodyPr wrap="square"/>
                    <a:lstStyle/>
                    <a:p>
                      <a:r>
                        <a:rPr b="0" sz="1100">
                          <a:solidFill>
                            <a:srgbClr val="6B6862"/>
                          </a:solidFill>
                          <a:latin typeface="Calibri"/>
                        </a:rPr>
                        <a:t>LU2</a:t>
                      </a:r>
                    </a:p>
                  </a:txBody>
                  <a:tcPr marL="64008" marR="64008" marT="27432" marB="27432" anchor="ctr">
                    <a:solidFill>
                      <a:srgbClr val="FFFFFF"/>
                    </a:solidFill>
                  </a:tcPr>
                </a:tc>
              </a:tr>
              <a:tr h="280035">
                <a:tc>
                  <a:txBody>
                    <a:bodyPr wrap="square"/>
                    <a:lstStyle/>
                    <a:p>
                      <a:r>
                        <a:rPr b="1" sz="1100">
                          <a:solidFill>
                            <a:srgbClr val="21201C"/>
                          </a:solidFill>
                          <a:latin typeface="Cambria"/>
                        </a:rPr>
                        <a:t>11:15–11:30</a:t>
                      </a:r>
                    </a:p>
                  </a:txBody>
                  <a:tcPr marL="64008" marR="64008" marT="27432" marB="27432" anchor="ctr">
                    <a:solidFill>
                      <a:srgbClr val="F3F1EB"/>
                    </a:solidFill>
                  </a:tcPr>
                </a:tc>
                <a:tc>
                  <a:txBody>
                    <a:bodyPr wrap="square"/>
                    <a:lstStyle/>
                    <a:p>
                      <a:r>
                        <a:rPr b="0" sz="11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100">
                          <a:solidFill>
                            <a:srgbClr val="6B6862"/>
                          </a:solidFill>
                          <a:latin typeface="Calibri"/>
                        </a:rPr>
                        <a:t>LU2</a:t>
                      </a:r>
                    </a:p>
                  </a:txBody>
                  <a:tcPr marL="64008" marR="64008" marT="27432" marB="27432" anchor="ctr">
                    <a:solidFill>
                      <a:srgbClr val="F3F1EB"/>
                    </a:solidFill>
                  </a:tcPr>
                </a:tc>
              </a:tr>
              <a:tr h="280035">
                <a:tc>
                  <a:txBody>
                    <a:bodyPr wrap="square"/>
                    <a:lstStyle/>
                    <a:p>
                      <a:r>
                        <a:rPr b="1" sz="1100">
                          <a:solidFill>
                            <a:srgbClr val="21201C"/>
                          </a:solidFill>
                          <a:latin typeface="Cambria"/>
                        </a:rPr>
                        <a:t>11:30–12:15</a:t>
                      </a:r>
                    </a:p>
                  </a:txBody>
                  <a:tcPr marL="64008" marR="64008" marT="27432" marB="27432" anchor="ctr">
                    <a:solidFill>
                      <a:srgbClr val="FFFFFF"/>
                    </a:solidFill>
                  </a:tcPr>
                </a:tc>
                <a:tc>
                  <a:txBody>
                    <a:bodyPr wrap="square"/>
                    <a:lstStyle/>
                    <a:p>
                      <a:r>
                        <a:rPr b="0" sz="1100">
                          <a:solidFill>
                            <a:srgbClr val="6B6862"/>
                          </a:solidFill>
                          <a:latin typeface="Calibri"/>
                        </a:rPr>
                        <a:t>Lab 5: Activity 5A — video skills and tools; one prompt creates the video team and its Kanban board; researcher source checks and script</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12:15–13:15</a:t>
                      </a:r>
                    </a:p>
                  </a:txBody>
                  <a:tcPr marL="64008" marR="64008" marT="27432" marB="27432" anchor="ctr">
                    <a:solidFill>
                      <a:srgbClr val="F3F1EB"/>
                    </a:solidFill>
                  </a:tcPr>
                </a:tc>
                <a:tc>
                  <a:txBody>
                    <a:bodyPr wrap="square"/>
                    <a:lstStyle/>
                    <a:p>
                      <a:r>
                        <a:rPr b="0" sz="1100">
                          <a:solidFill>
                            <a:srgbClr val="6B6862"/>
                          </a:solidFill>
                          <a:latin typeface="Calibri"/>
                        </a:rPr>
                        <a:t>Lunch break</a:t>
                      </a:r>
                    </a:p>
                  </a:txBody>
                  <a:tcPr marL="64008" marR="64008" marT="27432" marB="27432" anchor="ctr">
                    <a:solidFill>
                      <a:srgbClr val="F3F1EB"/>
                    </a:solidFill>
                  </a:tcPr>
                </a:tc>
                <a:tc>
                  <a:txBody>
                    <a:bodyPr wrap="square"/>
                    <a:lstStyle/>
                    <a:p>
                      <a:r>
                        <a:rPr b="0" sz="1100">
                          <a:solidFill>
                            <a:srgbClr val="6B6862"/>
                          </a:solidFill>
                          <a:latin typeface="Calibri"/>
                        </a:rPr>
                        <a:t>—</a:t>
                      </a:r>
                    </a:p>
                  </a:txBody>
                  <a:tcPr marL="64008" marR="64008" marT="27432" marB="27432" anchor="ctr">
                    <a:solidFill>
                      <a:srgbClr val="F3F1EB"/>
                    </a:solidFill>
                  </a:tcPr>
                </a:tc>
              </a:tr>
              <a:tr h="280035">
                <a:tc>
                  <a:txBody>
                    <a:bodyPr wrap="square"/>
                    <a:lstStyle/>
                    <a:p>
                      <a:r>
                        <a:rPr b="1" sz="1100">
                          <a:solidFill>
                            <a:srgbClr val="21201C"/>
                          </a:solidFill>
                          <a:latin typeface="Cambria"/>
                        </a:rPr>
                        <a:t>13:15–14:25</a:t>
                      </a:r>
                    </a:p>
                  </a:txBody>
                  <a:tcPr marL="64008" marR="64008" marT="27432" marB="27432" anchor="ctr">
                    <a:solidFill>
                      <a:srgbClr val="FFFFFF"/>
                    </a:solidFill>
                  </a:tcPr>
                </a:tc>
                <a:tc>
                  <a:txBody>
                    <a:bodyPr wrap="square"/>
                    <a:lstStyle/>
                    <a:p>
                      <a:r>
                        <a:rPr b="0" sz="1100">
                          <a:solidFill>
                            <a:srgbClr val="6B6862"/>
                          </a:solidFill>
                          <a:latin typeface="Calibri"/>
                        </a:rPr>
                        <a:t>Lab 5: Activity 5B — video production, voice-over and review; human approval of the exact video via its review link (PP Task 3)</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14:25–14:55</a:t>
                      </a:r>
                    </a:p>
                  </a:txBody>
                  <a:tcPr marL="64008" marR="64008" marT="27432" marB="27432" anchor="ctr">
                    <a:solidFill>
                      <a:srgbClr val="F3F1EB"/>
                    </a:solidFill>
                  </a:tcPr>
                </a:tc>
                <a:tc>
                  <a:txBody>
                    <a:bodyPr wrap="square"/>
                    <a:lstStyle/>
                    <a:p>
                      <a:r>
                        <a:rPr b="0" sz="1100">
                          <a:solidFill>
                            <a:srgbClr val="6B6862"/>
                          </a:solidFill>
                          <a:latin typeface="Calibri"/>
                        </a:rPr>
                        <a:t>Lab 6: Activity 6 — scheduled jobs auto-generate the weekly social posts and a video draft; you approve before anything is used</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14:55–15:10</a:t>
                      </a:r>
                    </a:p>
                  </a:txBody>
                  <a:tcPr marL="64008" marR="64008" marT="27432" marB="27432" anchor="ctr">
                    <a:solidFill>
                      <a:srgbClr val="FFFFFF"/>
                    </a:solidFill>
                  </a:tcPr>
                </a:tc>
                <a:tc>
                  <a:txBody>
                    <a:bodyPr wrap="square"/>
                    <a:lstStyle/>
                    <a:p>
                      <a:r>
                        <a:rPr b="0" sz="11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15:10–15:40</a:t>
                      </a:r>
                    </a:p>
                  </a:txBody>
                  <a:tcPr marL="64008" marR="64008" marT="27432" marB="27432" anchor="ctr">
                    <a:solidFill>
                      <a:srgbClr val="F3F1EB"/>
                    </a:solidFill>
                  </a:tcPr>
                </a:tc>
                <a:tc>
                  <a:txBody>
                    <a:bodyPr wrap="square"/>
                    <a:lstStyle/>
                    <a:p>
                      <a:r>
                        <a:rPr b="0" sz="1100">
                          <a:solidFill>
                            <a:srgbClr val="6B6862"/>
                          </a:solidFill>
                          <a:latin typeface="Calibri"/>
                        </a:rPr>
                        <a:t>Topic 3 (Part B) — five principles of AI security; RAG vs a standard LLM; four metrics to evaluate and improve the team</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15:40–16:00</a:t>
                      </a:r>
                    </a:p>
                  </a:txBody>
                  <a:tcPr marL="64008" marR="64008" marT="27432" marB="27432" anchor="ctr">
                    <a:solidFill>
                      <a:srgbClr val="FFFFFF"/>
                    </a:solidFill>
                  </a:tcPr>
                </a:tc>
                <a:tc>
                  <a:txBody>
                    <a:bodyPr wrap="square"/>
                    <a:lstStyle/>
                    <a:p>
                      <a:r>
                        <a:rPr b="0" sz="1100">
                          <a:solidFill>
                            <a:srgbClr val="6B6862"/>
                          </a:solidFill>
                          <a:latin typeface="Calibri"/>
                        </a:rPr>
                        <a:t>Bonus (optional) — Paperclip: Kopi Kaki as a one-person company (trainer demo; full lab self-paced) and comparison with the Hermes Kanban team</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16:00–16:15</a:t>
                      </a:r>
                    </a:p>
                  </a:txBody>
                  <a:tcPr marL="64008" marR="64008" marT="27432" marB="27432" anchor="ctr">
                    <a:solidFill>
                      <a:srgbClr val="F3F1EB"/>
                    </a:solidFill>
                  </a:tcPr>
                </a:tc>
                <a:tc>
                  <a:txBody>
                    <a:bodyPr wrap="square"/>
                    <a:lstStyle/>
                    <a:p>
                      <a:r>
                        <a:rPr b="0" sz="1100">
                          <a:solidFill>
                            <a:srgbClr val="6B6862"/>
                          </a:solidFill>
                          <a:latin typeface="Calibri"/>
                        </a:rPr>
                        <a:t>Course recap, practice questions and Q&amp;A</a:t>
                      </a:r>
                    </a:p>
                  </a:txBody>
                  <a:tcPr marL="64008" marR="64008" marT="27432" marB="27432" anchor="ctr">
                    <a:solidFill>
                      <a:srgbClr val="F3F1EB"/>
                    </a:solidFill>
                  </a:tcPr>
                </a:tc>
                <a:tc>
                  <a:txBody>
                    <a:bodyPr wrap="square"/>
                    <a:lstStyle/>
                    <a:p>
                      <a:r>
                        <a:rPr b="0" sz="1100">
                          <a:solidFill>
                            <a:srgbClr val="6B6862"/>
                          </a:solidFill>
                          <a:latin typeface="Calibri"/>
                        </a:rPr>
                        <a:t>LU3</a:t>
                      </a:r>
                    </a:p>
                  </a:txBody>
                  <a:tcPr marL="64008" marR="64008" marT="27432" marB="27432" anchor="ctr">
                    <a:solidFill>
                      <a:srgbClr val="F3F1EB"/>
                    </a:solidFill>
                  </a:tcPr>
                </a:tc>
              </a:tr>
              <a:tr h="280035">
                <a:tc>
                  <a:txBody>
                    <a:bodyPr wrap="square"/>
                    <a:lstStyle/>
                    <a:p>
                      <a:r>
                        <a:rPr b="1" sz="1100">
                          <a:solidFill>
                            <a:srgbClr val="21201C"/>
                          </a:solidFill>
                          <a:latin typeface="Cambria"/>
                        </a:rPr>
                        <a:t>16:15–16:30</a:t>
                      </a:r>
                    </a:p>
                  </a:txBody>
                  <a:tcPr marL="64008" marR="64008" marT="27432" marB="27432" anchor="ctr">
                    <a:solidFill>
                      <a:srgbClr val="FFFFFF"/>
                    </a:solidFill>
                  </a:tcPr>
                </a:tc>
                <a:tc>
                  <a:txBody>
                    <a:bodyPr wrap="square"/>
                    <a:lstStyle/>
                    <a:p>
                      <a:r>
                        <a:rPr b="0" sz="1100">
                          <a:solidFill>
                            <a:srgbClr val="6B6862"/>
                          </a:solidFill>
                          <a:latin typeface="Calibri"/>
                        </a:rPr>
                        <a:t>Briefing for Assessment</a:t>
                      </a:r>
                    </a:p>
                  </a:txBody>
                  <a:tcPr marL="64008" marR="64008" marT="27432" marB="27432" anchor="ctr">
                    <a:solidFill>
                      <a:srgbClr val="FFFFFF"/>
                    </a:solidFill>
                  </a:tcPr>
                </a:tc>
                <a:tc>
                  <a:txBody>
                    <a:bodyPr wrap="square"/>
                    <a:lstStyle/>
                    <a:p>
                      <a:r>
                        <a:rPr b="0" sz="1100">
                          <a:solidFill>
                            <a:srgbClr val="6B6862"/>
                          </a:solidFill>
                          <a:latin typeface="Calibri"/>
                        </a:rPr>
                        <a:t>LU3</a:t>
                      </a:r>
                    </a:p>
                  </a:txBody>
                  <a:tcPr marL="64008" marR="64008" marT="27432" marB="27432" anchor="ctr">
                    <a:solidFill>
                      <a:srgbClr val="FFFFFF"/>
                    </a:solidFill>
                  </a:tcPr>
                </a:tc>
              </a:tr>
              <a:tr h="280035">
                <a:tc>
                  <a:txBody>
                    <a:bodyPr wrap="square"/>
                    <a:lstStyle/>
                    <a:p>
                      <a:r>
                        <a:rPr b="1" sz="1100">
                          <a:solidFill>
                            <a:srgbClr val="21201C"/>
                          </a:solidFill>
                          <a:latin typeface="Cambria"/>
                        </a:rPr>
                        <a:t>16:30–17:30</a:t>
                      </a:r>
                    </a:p>
                  </a:txBody>
                  <a:tcPr marL="64008" marR="64008" marT="27432" marB="27432" anchor="ctr">
                    <a:solidFill>
                      <a:srgbClr val="F3F1EB"/>
                    </a:solidFill>
                  </a:tcPr>
                </a:tc>
                <a:tc>
                  <a:txBody>
                    <a:bodyPr wrap="square"/>
                    <a:lstStyle/>
                    <a:p>
                      <a:r>
                        <a:rPr b="0" sz="1100">
                          <a:solidFill>
                            <a:srgbClr val="6B6862"/>
                          </a:solidFill>
                          <a:latin typeface="Calibri"/>
                        </a:rPr>
                        <a:t>Written Assessment (WA) — 1 hour, open book; TRAQOM survey and assessment attendance first</a:t>
                      </a:r>
                    </a:p>
                  </a:txBody>
                  <a:tcPr marL="64008" marR="64008" marT="27432" marB="27432" anchor="ctr">
                    <a:solidFill>
                      <a:srgbClr val="F3F1EB"/>
                    </a:solidFill>
                  </a:tcPr>
                </a:tc>
                <a:tc>
                  <a:txBody>
                    <a:bodyPr wrap="square"/>
                    <a:lstStyle/>
                    <a:p>
                      <a:r>
                        <a:rPr b="0" sz="1100">
                          <a:solidFill>
                            <a:srgbClr val="6B6862"/>
                          </a:solidFill>
                          <a:latin typeface="Calibri"/>
                        </a:rPr>
                        <a:t>Assess</a:t>
                      </a:r>
                    </a:p>
                  </a:txBody>
                  <a:tcPr marL="64008" marR="64008" marT="27432" marB="27432" anchor="ctr">
                    <a:solidFill>
                      <a:srgbClr val="F3F1EB"/>
                    </a:solidFill>
                  </a:tcPr>
                </a:tc>
              </a:tr>
              <a:tr h="280035">
                <a:tc>
                  <a:txBody>
                    <a:bodyPr wrap="square"/>
                    <a:lstStyle/>
                    <a:p>
                      <a:r>
                        <a:rPr b="1" sz="1100">
                          <a:solidFill>
                            <a:srgbClr val="21201C"/>
                          </a:solidFill>
                          <a:latin typeface="Cambria"/>
                        </a:rPr>
                        <a:t>17:30–18:30</a:t>
                      </a:r>
                    </a:p>
                  </a:txBody>
                  <a:tcPr marL="64008" marR="64008" marT="27432" marB="27432" anchor="ctr">
                    <a:solidFill>
                      <a:srgbClr val="FFFFFF"/>
                    </a:solidFill>
                  </a:tcPr>
                </a:tc>
                <a:tc>
                  <a:txBody>
                    <a:bodyPr wrap="square"/>
                    <a:lstStyle/>
                    <a:p>
                      <a:r>
                        <a:rPr b="0" sz="1100">
                          <a:solidFill>
                            <a:srgbClr val="6B6862"/>
                          </a:solidFill>
                          <a:latin typeface="Calibri"/>
                        </a:rPr>
                        <a:t>Practical Performance (PP) — 1 hour, open book; submit answers on the LMS and take PM attendance</a:t>
                      </a:r>
                    </a:p>
                  </a:txBody>
                  <a:tcPr marL="64008" marR="64008" marT="27432" marB="27432" anchor="ctr">
                    <a:solidFill>
                      <a:srgbClr val="FFFFFF"/>
                    </a:solidFill>
                  </a:tcPr>
                </a:tc>
                <a:tc>
                  <a:txBody>
                    <a:bodyPr wrap="square"/>
                    <a:lstStyle/>
                    <a:p>
                      <a:r>
                        <a:rPr b="0" sz="1100">
                          <a:solidFill>
                            <a:srgbClr val="6B6862"/>
                          </a:solidFill>
                          <a:latin typeface="Calibri"/>
                        </a:rPr>
                        <a:t>Assess</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Six Activities and a Bonus, One Startup Story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a CEO assistant, then one AI employee builds your website and deck. Day 2: bots, a Kanban team and crons — then an AI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665658"/>
            <a:ext cx="228234" cy="228234"/>
          </a:xfrm>
          <a:prstGeom prst="rect">
            <a:avLst/>
          </a:prstGeom>
        </p:spPr>
      </p:pic>
      <p:sp>
        <p:nvSpPr>
          <p:cNvPr id="12" name="TextBox 11"/>
          <p:cNvSpPr txBox="1"/>
          <p:nvPr/>
        </p:nvSpPr>
        <p:spPr>
          <a:xfrm>
            <a:off x="1280160" y="2578608"/>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21201C"/>
                </a:solidFill>
                <a:latin typeface="Cambria"/>
              </a:rPr>
              <a:t>Always-On Assistant</a:t>
            </a:r>
          </a:p>
        </p:txBody>
      </p:sp>
      <p:sp>
        <p:nvSpPr>
          <p:cNvPr id="13" name="TextBox 12"/>
          <p:cNvSpPr txBox="1"/>
          <p:nvPr/>
        </p:nvSpPr>
        <p:spPr>
          <a:xfrm>
            <a:off x="713232"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Personal assistant + human decisions</a:t>
            </a:r>
          </a:p>
        </p:txBody>
      </p:sp>
      <p:sp>
        <p:nvSpPr>
          <p:cNvPr id="14" name="Rounded Rectangle 13"/>
          <p:cNvSpPr/>
          <p:nvPr/>
        </p:nvSpPr>
        <p:spPr>
          <a:xfrm>
            <a:off x="3364992"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TOPIC 2 SETUP  ·  DAY 1</a:t>
            </a:r>
          </a:p>
        </p:txBody>
      </p:sp>
      <p:sp>
        <p:nvSpPr>
          <p:cNvPr id="16" name="Oval 15"/>
          <p:cNvSpPr/>
          <p:nvPr/>
        </p:nvSpPr>
        <p:spPr>
          <a:xfrm>
            <a:off x="3529584"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3634922" y="2665658"/>
            <a:ext cx="228234" cy="228234"/>
          </a:xfrm>
          <a:prstGeom prst="rect">
            <a:avLst/>
          </a:prstGeom>
        </p:spPr>
      </p:pic>
      <p:sp>
        <p:nvSpPr>
          <p:cNvPr id="18" name="TextBox 17"/>
          <p:cNvSpPr txBox="1"/>
          <p:nvPr/>
        </p:nvSpPr>
        <p:spPr>
          <a:xfrm>
            <a:off x="4096512" y="2578608"/>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21201C"/>
                </a:solidFill>
                <a:latin typeface="Cambria"/>
              </a:rPr>
              <a:t>Hermes Setup</a:t>
            </a:r>
          </a:p>
        </p:txBody>
      </p:sp>
      <p:sp>
        <p:nvSpPr>
          <p:cNvPr id="19" name="TextBox 18"/>
          <p:cNvSpPr txBox="1"/>
          <p:nvPr/>
        </p:nvSpPr>
        <p:spPr>
          <a:xfrm>
            <a:off x="3529584"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One agent, many tools</a:t>
            </a:r>
          </a:p>
        </p:txBody>
      </p:sp>
      <p:sp>
        <p:nvSpPr>
          <p:cNvPr id="20" name="Rounded Rectangle 19"/>
          <p:cNvSpPr/>
          <p:nvPr/>
        </p:nvSpPr>
        <p:spPr>
          <a:xfrm>
            <a:off x="6181344"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22" name="Oval 21"/>
          <p:cNvSpPr/>
          <p:nvPr/>
        </p:nvSpPr>
        <p:spPr>
          <a:xfrm>
            <a:off x="6345936"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lobe-FFFFFF.png"/>
          <p:cNvPicPr>
            <a:picLocks noChangeAspect="1"/>
          </p:cNvPicPr>
          <p:nvPr/>
        </p:nvPicPr>
        <p:blipFill>
          <a:blip r:embed="rId4"/>
          <a:stretch>
            <a:fillRect/>
          </a:stretch>
        </p:blipFill>
        <p:spPr>
          <a:xfrm>
            <a:off x="6451274" y="2665658"/>
            <a:ext cx="228234" cy="228234"/>
          </a:xfrm>
          <a:prstGeom prst="rect">
            <a:avLst/>
          </a:prstGeom>
        </p:spPr>
      </p:pic>
      <p:sp>
        <p:nvSpPr>
          <p:cNvPr id="24" name="TextBox 23"/>
          <p:cNvSpPr txBox="1"/>
          <p:nvPr/>
        </p:nvSpPr>
        <p:spPr>
          <a:xfrm>
            <a:off x="6912864" y="2578608"/>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21201C"/>
                </a:solidFill>
                <a:latin typeface="Cambria"/>
              </a:rPr>
              <a:t>Website · single agent</a:t>
            </a:r>
          </a:p>
        </p:txBody>
      </p:sp>
      <p:sp>
        <p:nvSpPr>
          <p:cNvPr id="25" name="TextBox 24"/>
          <p:cNvSpPr txBox="1"/>
          <p:nvPr/>
        </p:nvSpPr>
        <p:spPr>
          <a:xfrm>
            <a:off x="6345936"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Single agent + installed UX skills</a:t>
            </a:r>
          </a:p>
        </p:txBody>
      </p:sp>
      <p:sp>
        <p:nvSpPr>
          <p:cNvPr id="26" name="Rounded Rectangle 25"/>
          <p:cNvSpPr/>
          <p:nvPr/>
        </p:nvSpPr>
        <p:spPr>
          <a:xfrm>
            <a:off x="8997696" y="2103120"/>
            <a:ext cx="2651760" cy="180136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231136"/>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8" name="Oval 27"/>
          <p:cNvSpPr/>
          <p:nvPr/>
        </p:nvSpPr>
        <p:spPr>
          <a:xfrm>
            <a:off x="9162288" y="25603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ile-FFFFFF.png"/>
          <p:cNvPicPr>
            <a:picLocks noChangeAspect="1"/>
          </p:cNvPicPr>
          <p:nvPr/>
        </p:nvPicPr>
        <p:blipFill>
          <a:blip r:embed="rId5"/>
          <a:stretch>
            <a:fillRect/>
          </a:stretch>
        </p:blipFill>
        <p:spPr>
          <a:xfrm>
            <a:off x="9267626" y="2665658"/>
            <a:ext cx="228234" cy="228234"/>
          </a:xfrm>
          <a:prstGeom prst="rect">
            <a:avLst/>
          </a:prstGeom>
        </p:spPr>
      </p:pic>
      <p:sp>
        <p:nvSpPr>
          <p:cNvPr id="30" name="TextBox 29"/>
          <p:cNvSpPr txBox="1"/>
          <p:nvPr/>
        </p:nvSpPr>
        <p:spPr>
          <a:xfrm>
            <a:off x="9729216" y="2578608"/>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21201C"/>
                </a:solidFill>
                <a:latin typeface="Cambria"/>
              </a:rPr>
              <a:t>Pitch deck · single agent (PP Task 2)</a:t>
            </a:r>
          </a:p>
        </p:txBody>
      </p:sp>
      <p:sp>
        <p:nvSpPr>
          <p:cNvPr id="31" name="TextBox 30"/>
          <p:cNvSpPr txBox="1"/>
          <p:nvPr/>
        </p:nvSpPr>
        <p:spPr>
          <a:xfrm>
            <a:off x="9162288" y="3127248"/>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6B6862"/>
                </a:solidFill>
                <a:latin typeface="Calibri"/>
              </a:rPr>
              <a:t>Single agent + PPT tool and skill</a:t>
            </a:r>
          </a:p>
        </p:txBody>
      </p:sp>
      <p:sp>
        <p:nvSpPr>
          <p:cNvPr id="32" name="Rounded Rectangle 31"/>
          <p:cNvSpPr/>
          <p:nvPr/>
        </p:nvSpPr>
        <p:spPr>
          <a:xfrm>
            <a:off x="548640"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2</a:t>
            </a:r>
          </a:p>
        </p:txBody>
      </p:sp>
      <p:sp>
        <p:nvSpPr>
          <p:cNvPr id="34" name="Oval 33"/>
          <p:cNvSpPr/>
          <p:nvPr/>
        </p:nvSpPr>
        <p:spPr>
          <a:xfrm>
            <a:off x="713232"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megaphone-FFFFFF.png"/>
          <p:cNvPicPr>
            <a:picLocks noChangeAspect="1"/>
          </p:cNvPicPr>
          <p:nvPr/>
        </p:nvPicPr>
        <p:blipFill>
          <a:blip r:embed="rId6"/>
          <a:stretch>
            <a:fillRect/>
          </a:stretch>
        </p:blipFill>
        <p:spPr>
          <a:xfrm>
            <a:off x="818570" y="4558466"/>
            <a:ext cx="228234" cy="228234"/>
          </a:xfrm>
          <a:prstGeom prst="rect">
            <a:avLst/>
          </a:prstGeom>
        </p:spPr>
      </p:pic>
      <p:sp>
        <p:nvSpPr>
          <p:cNvPr id="36" name="TextBox 35"/>
          <p:cNvSpPr txBox="1"/>
          <p:nvPr/>
        </p:nvSpPr>
        <p:spPr>
          <a:xfrm>
            <a:off x="1280160"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Social posts · bots + group</a:t>
            </a:r>
          </a:p>
        </p:txBody>
      </p:sp>
      <p:sp>
        <p:nvSpPr>
          <p:cNvPr id="37" name="TextBox 36"/>
          <p:cNvSpPr txBox="1"/>
          <p:nvPr/>
        </p:nvSpPr>
        <p:spPr>
          <a:xfrm>
            <a:off x="713232"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Multiple named bots in one group chat</a:t>
            </a:r>
          </a:p>
        </p:txBody>
      </p:sp>
      <p:sp>
        <p:nvSpPr>
          <p:cNvPr id="38" name="Rounded Rectangle 37"/>
          <p:cNvSpPr/>
          <p:nvPr/>
        </p:nvSpPr>
        <p:spPr>
          <a:xfrm>
            <a:off x="3364992"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40" name="Oval 39"/>
          <p:cNvSpPr/>
          <p:nvPr/>
        </p:nvSpPr>
        <p:spPr>
          <a:xfrm>
            <a:off x="3529584"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video-FFFFFF.png"/>
          <p:cNvPicPr>
            <a:picLocks noChangeAspect="1"/>
          </p:cNvPicPr>
          <p:nvPr/>
        </p:nvPicPr>
        <p:blipFill>
          <a:blip r:embed="rId7"/>
          <a:stretch>
            <a:fillRect/>
          </a:stretch>
        </p:blipFill>
        <p:spPr>
          <a:xfrm>
            <a:off x="3634922" y="4558466"/>
            <a:ext cx="228234" cy="228234"/>
          </a:xfrm>
          <a:prstGeom prst="rect">
            <a:avLst/>
          </a:prstGeom>
        </p:spPr>
      </p:pic>
      <p:sp>
        <p:nvSpPr>
          <p:cNvPr id="42" name="TextBox 41"/>
          <p:cNvSpPr txBox="1"/>
          <p:nvPr/>
        </p:nvSpPr>
        <p:spPr>
          <a:xfrm>
            <a:off x="4096512"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Video · Kanban team (PP Task 3)</a:t>
            </a:r>
          </a:p>
        </p:txBody>
      </p:sp>
      <p:sp>
        <p:nvSpPr>
          <p:cNvPr id="43" name="TextBox 42"/>
          <p:cNvSpPr txBox="1"/>
          <p:nvPr/>
        </p:nvSpPr>
        <p:spPr>
          <a:xfrm>
            <a:off x="3529584"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Agent team on a Kanban board + human gates</a:t>
            </a:r>
          </a:p>
        </p:txBody>
      </p:sp>
      <p:sp>
        <p:nvSpPr>
          <p:cNvPr id="44" name="Rounded Rectangle 43"/>
          <p:cNvSpPr/>
          <p:nvPr/>
        </p:nvSpPr>
        <p:spPr>
          <a:xfrm>
            <a:off x="6181344"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6" name="Oval 45"/>
          <p:cNvSpPr/>
          <p:nvPr/>
        </p:nvSpPr>
        <p:spPr>
          <a:xfrm>
            <a:off x="6345936"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clock-FFFFFF.png"/>
          <p:cNvPicPr>
            <a:picLocks noChangeAspect="1"/>
          </p:cNvPicPr>
          <p:nvPr/>
        </p:nvPicPr>
        <p:blipFill>
          <a:blip r:embed="rId8"/>
          <a:stretch>
            <a:fillRect/>
          </a:stretch>
        </p:blipFill>
        <p:spPr>
          <a:xfrm>
            <a:off x="6451274" y="4558466"/>
            <a:ext cx="228234" cy="228234"/>
          </a:xfrm>
          <a:prstGeom prst="rect">
            <a:avLst/>
          </a:prstGeom>
        </p:spPr>
      </p:pic>
      <p:sp>
        <p:nvSpPr>
          <p:cNvPr id="48" name="TextBox 47"/>
          <p:cNvSpPr txBox="1"/>
          <p:nvPr/>
        </p:nvSpPr>
        <p:spPr>
          <a:xfrm>
            <a:off x="6912864" y="4471415"/>
            <a:ext cx="1783080" cy="457200"/>
          </a:xfrm>
          <a:prstGeom prst="rect">
            <a:avLst/>
          </a:prstGeom>
          <a:noFill/>
        </p:spPr>
        <p:txBody>
          <a:bodyPr wrap="square" lIns="36576" rIns="36576" tIns="18288" bIns="18288" anchor="t">
            <a:spAutoFit/>
          </a:bodyPr>
          <a:lstStyle/>
          <a:p>
            <a:pPr algn="l">
              <a:lnSpc>
                <a:spcPct val="100000"/>
              </a:lnSpc>
            </a:pPr>
            <a:r>
              <a:rPr sz="1350" b="1" i="0">
                <a:solidFill>
                  <a:srgbClr val="FFFFFF"/>
                </a:solidFill>
                <a:latin typeface="Cambria"/>
              </a:rPr>
              <a:t>Content crons</a:t>
            </a:r>
          </a:p>
        </p:txBody>
      </p:sp>
      <p:sp>
        <p:nvSpPr>
          <p:cNvPr id="49" name="TextBox 48"/>
          <p:cNvSpPr txBox="1"/>
          <p:nvPr/>
        </p:nvSpPr>
        <p:spPr>
          <a:xfrm>
            <a:off x="6345936"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Scheduled jobs that start the team's work</a:t>
            </a:r>
          </a:p>
        </p:txBody>
      </p:sp>
      <p:sp>
        <p:nvSpPr>
          <p:cNvPr id="50" name="Rounded Rectangle 49"/>
          <p:cNvSpPr/>
          <p:nvPr/>
        </p:nvSpPr>
        <p:spPr>
          <a:xfrm>
            <a:off x="8997696" y="3995927"/>
            <a:ext cx="2651760" cy="180136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23943"/>
            <a:ext cx="237744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BONUS LAB  ·  DAY 2</a:t>
            </a:r>
          </a:p>
        </p:txBody>
      </p:sp>
      <p:sp>
        <p:nvSpPr>
          <p:cNvPr id="52" name="Oval 51"/>
          <p:cNvSpPr/>
          <p:nvPr/>
        </p:nvSpPr>
        <p:spPr>
          <a:xfrm>
            <a:off x="9162288" y="4453127"/>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building-FFFFFF.png"/>
          <p:cNvPicPr>
            <a:picLocks noChangeAspect="1"/>
          </p:cNvPicPr>
          <p:nvPr/>
        </p:nvPicPr>
        <p:blipFill>
          <a:blip r:embed="rId9"/>
          <a:stretch>
            <a:fillRect/>
          </a:stretch>
        </p:blipFill>
        <p:spPr>
          <a:xfrm>
            <a:off x="9267626" y="4558466"/>
            <a:ext cx="228234" cy="228234"/>
          </a:xfrm>
          <a:prstGeom prst="rect">
            <a:avLst/>
          </a:prstGeom>
        </p:spPr>
      </p:pic>
      <p:sp>
        <p:nvSpPr>
          <p:cNvPr id="54" name="TextBox 53"/>
          <p:cNvSpPr txBox="1"/>
          <p:nvPr/>
        </p:nvSpPr>
        <p:spPr>
          <a:xfrm>
            <a:off x="9729216" y="4471415"/>
            <a:ext cx="1783080" cy="457200"/>
          </a:xfrm>
          <a:prstGeom prst="rect">
            <a:avLst/>
          </a:prstGeom>
          <a:noFill/>
        </p:spPr>
        <p:txBody>
          <a:bodyPr wrap="square" lIns="36576" rIns="36576" tIns="18288" bIns="18288" anchor="t">
            <a:spAutoFit/>
          </a:bodyPr>
          <a:lstStyle/>
          <a:p>
            <a:pPr algn="l">
              <a:lnSpc>
                <a:spcPct val="100000"/>
              </a:lnSpc>
            </a:pPr>
            <a:r>
              <a:rPr sz="1300" b="1" i="0">
                <a:solidFill>
                  <a:srgbClr val="FFFFFF"/>
                </a:solidFill>
                <a:latin typeface="Cambria"/>
              </a:rPr>
              <a:t>Bonus · Paperclip OPC</a:t>
            </a:r>
          </a:p>
        </p:txBody>
      </p:sp>
      <p:sp>
        <p:nvSpPr>
          <p:cNvPr id="55" name="TextBox 54"/>
          <p:cNvSpPr txBox="1"/>
          <p:nvPr/>
        </p:nvSpPr>
        <p:spPr>
          <a:xfrm>
            <a:off x="9162288" y="5020055"/>
            <a:ext cx="2331720" cy="685800"/>
          </a:xfrm>
          <a:prstGeom prst="rect">
            <a:avLst/>
          </a:prstGeom>
          <a:noFill/>
        </p:spPr>
        <p:txBody>
          <a:bodyPr wrap="square" lIns="36576" rIns="36576" tIns="18288" bIns="18288" anchor="t">
            <a:spAutoFit/>
          </a:bodyPr>
          <a:lstStyle/>
          <a:p>
            <a:pPr algn="l">
              <a:lnSpc>
                <a:spcPct val="105000"/>
              </a:lnSpc>
            </a:pPr>
            <a:r>
              <a:rPr sz="1000" b="0" i="0">
                <a:solidFill>
                  <a:srgbClr val="C9C4B9"/>
                </a:solidFill>
                <a:latin typeface="Calibri"/>
              </a:rPr>
              <a:t>AI company with an org chart, governed by you</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evidence: Task 1 = Lab 1 Muse/Dots · Task 2 = Lab 3 Hermes PPT · Task 3 = Lab 5 Kanban + video. The bonus is optional.</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Hermes Desktop. No terminal needed.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sheet ends with its checks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ONE Meta Muse or OpenAI Dots screenshot (Activity 1). Task 2: ONE Hermes Desktop/dashboard screenshot of the professional PPT (Activity 3). Task 3: TWO screenshots — the Hermes Kanban board and the video it produced (Activity 5).</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Redeem It as ChatGPT Plus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 ChatGPT Plus</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For this class, pick ChatGPT Plus: it becomes your Hermes agent’s brain.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Sign up for ChatGPT Plus for this class: Hermes Desktop uses your plan as its model (no extra subscription). One free six-month subscription per person; eligible course end date 16 Sep 2026 or later; submit within 60 days of notification.</a:t>
            </a:r>
          </a:p>
        </p:txBody>
      </p:sp>
      <p:sp>
        <p:nvSpPr>
          <p:cNvPr id="35" name="TextBox 34"/>
          <p:cNvSpPr txBox="1"/>
          <p:nvPr/>
        </p:nvSpPr>
        <p:spPr>
          <a:xfrm>
            <a:off x="640080" y="6217920"/>
            <a:ext cx="10789920" cy="219456"/>
          </a:xfrm>
          <a:prstGeom prst="rect">
            <a:avLst/>
          </a:prstGeom>
          <a:noFill/>
        </p:spPr>
        <p:txBody>
          <a:bodyPr wrap="square" lIns="36576" rIns="36576" tIns="18288" bIns="18288" anchor="t">
            <a:spAutoFit/>
          </a:bodyPr>
          <a:lstStyle/>
          <a:p>
            <a:pPr algn="l">
              <a:lnSpc>
                <a:spcPct val="112000"/>
              </a:lnSpc>
            </a:pPr>
            <a:r>
              <a:rPr sz="1050" b="0" i="0">
                <a:solidFill>
                  <a:srgbClr val="C2603F"/>
                </a:solidFill>
                <a:latin typeface="Calibri"/>
                <a:hlinkClick r:id="rId7"/>
              </a:rPr>
              <a:t>Official redemption guide (click)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1504187"/>
            <a:ext cx="3520440" cy="3483864"/>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173278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173278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24485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24485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0" name="TextBox 9"/>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2" name="TextBox 11"/>
          <p:cNvSpPr txBox="1"/>
          <p:nvPr/>
        </p:nvSpPr>
        <p:spPr>
          <a:xfrm>
            <a:off x="8366760" y="3268980"/>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268980"/>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collaboration scenarios</a:t>
            </a:r>
          </a:p>
        </p:txBody>
      </p:sp>
      <p:sp>
        <p:nvSpPr>
          <p:cNvPr id="14" name="TextBox 13"/>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5" name="TextBox 14"/>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Use cases and the Big Five always-on agents</a:t>
            </a:r>
          </a:p>
        </p:txBody>
      </p:sp>
      <p:sp>
        <p:nvSpPr>
          <p:cNvPr id="16" name="TextBox 15"/>
          <p:cNvSpPr txBox="1"/>
          <p:nvPr/>
        </p:nvSpPr>
        <p:spPr>
          <a:xfrm>
            <a:off x="8366760" y="429310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6</a:t>
            </a:r>
          </a:p>
        </p:txBody>
      </p:sp>
      <p:sp>
        <p:nvSpPr>
          <p:cNvPr id="17" name="TextBox 16"/>
          <p:cNvSpPr txBox="1"/>
          <p:nvPr/>
        </p:nvSpPr>
        <p:spPr>
          <a:xfrm>
            <a:off x="8823960" y="4293108"/>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1 · Join Muse, set up a dot</a:t>
            </a:r>
          </a:p>
        </p:txBody>
      </p:sp>
      <p:sp>
        <p:nvSpPr>
          <p:cNvPr id="18" name="TextBox 17"/>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Singapore Healthcare: 12,000+ AI Agents in Three Months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AgentSea, Synapxe’s agentic AI platform built with AWS, lets public healthcare staff build their own agents in plain language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3566160" cy="17830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12,000+</a:t>
            </a:r>
          </a:p>
        </p:txBody>
      </p:sp>
      <p:sp>
        <p:nvSpPr>
          <p:cNvPr id="10" name="TextBox 9"/>
          <p:cNvSpPr txBox="1"/>
          <p:nvPr/>
        </p:nvSpPr>
        <p:spPr>
          <a:xfrm>
            <a:off x="777240"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AI agents created</a:t>
            </a:r>
          </a:p>
        </p:txBody>
      </p:sp>
      <p:sp>
        <p:nvSpPr>
          <p:cNvPr id="11" name="TextBox 10"/>
          <p:cNvSpPr txBox="1"/>
          <p:nvPr/>
        </p:nvSpPr>
        <p:spPr>
          <a:xfrm>
            <a:off x="777240"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By healthcare professionals, from the end-May 2026 launch to 24 Aug 2026.</a:t>
            </a:r>
          </a:p>
        </p:txBody>
      </p:sp>
      <p:sp>
        <p:nvSpPr>
          <p:cNvPr id="12" name="Rounded Rectangle 11"/>
          <p:cNvSpPr/>
          <p:nvPr/>
        </p:nvSpPr>
        <p:spPr>
          <a:xfrm>
            <a:off x="429767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2627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80,000+</a:t>
            </a:r>
          </a:p>
        </p:txBody>
      </p:sp>
      <p:sp>
        <p:nvSpPr>
          <p:cNvPr id="14" name="TextBox 13"/>
          <p:cNvSpPr txBox="1"/>
          <p:nvPr/>
        </p:nvSpPr>
        <p:spPr>
          <a:xfrm>
            <a:off x="452627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healthcare professionals</a:t>
            </a:r>
          </a:p>
        </p:txBody>
      </p:sp>
      <p:sp>
        <p:nvSpPr>
          <p:cNvPr id="15" name="TextBox 14"/>
          <p:cNvSpPr txBox="1"/>
          <p:nvPr/>
        </p:nvSpPr>
        <p:spPr>
          <a:xfrm>
            <a:off x="452627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Everyone in Singapore’s public health sector can create agents, with little or no coding.</a:t>
            </a:r>
          </a:p>
        </p:txBody>
      </p:sp>
      <p:sp>
        <p:nvSpPr>
          <p:cNvPr id="16" name="Rounded Rectangle 15"/>
          <p:cNvSpPr/>
          <p:nvPr/>
        </p:nvSpPr>
        <p:spPr>
          <a:xfrm>
            <a:off x="8046719" y="2103120"/>
            <a:ext cx="356616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75319" y="2157984"/>
            <a:ext cx="3108960" cy="77724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300+</a:t>
            </a:r>
          </a:p>
        </p:txBody>
      </p:sp>
      <p:sp>
        <p:nvSpPr>
          <p:cNvPr id="18" name="TextBox 17"/>
          <p:cNvSpPr txBox="1"/>
          <p:nvPr/>
        </p:nvSpPr>
        <p:spPr>
          <a:xfrm>
            <a:off x="8275319" y="2907792"/>
            <a:ext cx="3108960" cy="292608"/>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agents shared</a:t>
            </a:r>
          </a:p>
        </p:txBody>
      </p:sp>
      <p:sp>
        <p:nvSpPr>
          <p:cNvPr id="19" name="TextBox 18"/>
          <p:cNvSpPr txBox="1"/>
          <p:nvPr/>
        </p:nvSpPr>
        <p:spPr>
          <a:xfrm>
            <a:off x="8275319" y="3200400"/>
            <a:ext cx="3154680" cy="6400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Published for colleagues to reuse and adapt for their own work.</a:t>
            </a:r>
          </a:p>
        </p:txBody>
      </p:sp>
      <p:sp>
        <p:nvSpPr>
          <p:cNvPr id="20" name="Rounded Rectangle 19"/>
          <p:cNvSpPr/>
          <p:nvPr/>
        </p:nvSpPr>
        <p:spPr>
          <a:xfrm>
            <a:off x="548640"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980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2"/>
          <a:stretch>
            <a:fillRect/>
          </a:stretch>
        </p:blipFill>
        <p:spPr>
          <a:xfrm>
            <a:off x="841979" y="4298411"/>
            <a:ext cx="199704" cy="199704"/>
          </a:xfrm>
          <a:prstGeom prst="rect">
            <a:avLst/>
          </a:prstGeom>
        </p:spPr>
      </p:pic>
      <p:sp>
        <p:nvSpPr>
          <p:cNvPr id="23" name="TextBox 22"/>
          <p:cNvSpPr txBox="1"/>
          <p:nvPr/>
        </p:nvSpPr>
        <p:spPr>
          <a:xfrm>
            <a:off x="1234440" y="4206240"/>
            <a:ext cx="2743200" cy="384048"/>
          </a:xfrm>
          <a:prstGeom prst="rect">
            <a:avLst/>
          </a:prstGeom>
          <a:noFill/>
        </p:spPr>
        <p:txBody>
          <a:bodyPr wrap="square" lIns="36576" rIns="36576" tIns="18288" bIns="18288" anchor="ctr">
            <a:spAutoFit/>
          </a:bodyPr>
          <a:lstStyle/>
          <a:p>
            <a:pPr algn="l">
              <a:lnSpc>
                <a:spcPct val="112000"/>
              </a:lnSpc>
            </a:pPr>
            <a:r>
              <a:rPr sz="1150" b="1" i="0">
                <a:solidFill>
                  <a:srgbClr val="21201C"/>
                </a:solidFill>
                <a:latin typeface="Cambria"/>
              </a:rPr>
              <a:t>Cardiologist, National Heart Centre</a:t>
            </a:r>
          </a:p>
        </p:txBody>
      </p:sp>
      <p:sp>
        <p:nvSpPr>
          <p:cNvPr id="24" name="TextBox 23"/>
          <p:cNvSpPr txBox="1"/>
          <p:nvPr/>
        </p:nvSpPr>
        <p:spPr>
          <a:xfrm>
            <a:off x="74980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summarises patient histories before clinic, halving 40+ minutes of daily pre-clerking. He still verifies and makes the clinical assessment.</a:t>
            </a:r>
          </a:p>
        </p:txBody>
      </p:sp>
      <p:sp>
        <p:nvSpPr>
          <p:cNvPr id="25" name="Rounded Rectangle 24"/>
          <p:cNvSpPr/>
          <p:nvPr/>
        </p:nvSpPr>
        <p:spPr>
          <a:xfrm>
            <a:off x="429767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498847"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calendar-FFFFFF.png"/>
          <p:cNvPicPr>
            <a:picLocks noChangeAspect="1"/>
          </p:cNvPicPr>
          <p:nvPr/>
        </p:nvPicPr>
        <p:blipFill>
          <a:blip r:embed="rId3"/>
          <a:stretch>
            <a:fillRect/>
          </a:stretch>
        </p:blipFill>
        <p:spPr>
          <a:xfrm>
            <a:off x="4591019" y="4298411"/>
            <a:ext cx="199704" cy="199704"/>
          </a:xfrm>
          <a:prstGeom prst="rect">
            <a:avLst/>
          </a:prstGeom>
        </p:spPr>
      </p:pic>
      <p:sp>
        <p:nvSpPr>
          <p:cNvPr id="28" name="TextBox 27"/>
          <p:cNvSpPr txBox="1"/>
          <p:nvPr/>
        </p:nvSpPr>
        <p:spPr>
          <a:xfrm>
            <a:off x="4983479" y="4206240"/>
            <a:ext cx="2743200" cy="384048"/>
          </a:xfrm>
          <a:prstGeom prst="rect">
            <a:avLst/>
          </a:prstGeom>
          <a:noFill/>
        </p:spPr>
        <p:txBody>
          <a:bodyPr wrap="square" lIns="36576" rIns="36576" tIns="18288" bIns="18288" anchor="ctr">
            <a:spAutoFit/>
          </a:bodyPr>
          <a:lstStyle/>
          <a:p>
            <a:pPr algn="l">
              <a:lnSpc>
                <a:spcPct val="112000"/>
              </a:lnSpc>
            </a:pPr>
            <a:r>
              <a:rPr sz="1200" b="1" i="0">
                <a:solidFill>
                  <a:srgbClr val="21201C"/>
                </a:solidFill>
                <a:latin typeface="Cambria"/>
              </a:rPr>
              <a:t>KK Women’s and Children’s Hospital</a:t>
            </a:r>
          </a:p>
        </p:txBody>
      </p:sp>
      <p:sp>
        <p:nvSpPr>
          <p:cNvPr id="29" name="TextBox 28"/>
          <p:cNvSpPr txBox="1"/>
          <p:nvPr/>
        </p:nvSpPr>
        <p:spPr>
          <a:xfrm>
            <a:off x="4498847"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An agent generates daily staff rosters, cutting manual data entry and transcription errors.</a:t>
            </a:r>
          </a:p>
        </p:txBody>
      </p:sp>
      <p:sp>
        <p:nvSpPr>
          <p:cNvPr id="30" name="Rounded Rectangle 29"/>
          <p:cNvSpPr/>
          <p:nvPr/>
        </p:nvSpPr>
        <p:spPr>
          <a:xfrm>
            <a:off x="8046719" y="4069080"/>
            <a:ext cx="3566160" cy="16459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247888" y="4206240"/>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hield-FFFFFF.png"/>
          <p:cNvPicPr>
            <a:picLocks noChangeAspect="1"/>
          </p:cNvPicPr>
          <p:nvPr/>
        </p:nvPicPr>
        <p:blipFill>
          <a:blip r:embed="rId4"/>
          <a:stretch>
            <a:fillRect/>
          </a:stretch>
        </p:blipFill>
        <p:spPr>
          <a:xfrm>
            <a:off x="8340059" y="4298411"/>
            <a:ext cx="199704" cy="199704"/>
          </a:xfrm>
          <a:prstGeom prst="rect">
            <a:avLst/>
          </a:prstGeom>
        </p:spPr>
      </p:pic>
      <p:sp>
        <p:nvSpPr>
          <p:cNvPr id="33" name="TextBox 32"/>
          <p:cNvSpPr txBox="1"/>
          <p:nvPr/>
        </p:nvSpPr>
        <p:spPr>
          <a:xfrm>
            <a:off x="8732519" y="4206240"/>
            <a:ext cx="2743200" cy="384048"/>
          </a:xfrm>
          <a:prstGeom prst="rect">
            <a:avLst/>
          </a:prstGeom>
          <a:noFill/>
        </p:spPr>
        <p:txBody>
          <a:bodyPr wrap="square" lIns="36576" rIns="36576" tIns="18288" bIns="18288" anchor="ctr">
            <a:spAutoFit/>
          </a:bodyPr>
          <a:lstStyle/>
          <a:p>
            <a:pPr algn="l">
              <a:lnSpc>
                <a:spcPct val="112000"/>
              </a:lnSpc>
            </a:pPr>
            <a:r>
              <a:rPr sz="1250" b="1" i="0">
                <a:solidFill>
                  <a:srgbClr val="21201C"/>
                </a:solidFill>
                <a:latin typeface="Cambria"/>
              </a:rPr>
              <a:t>Guardrails and governance</a:t>
            </a:r>
          </a:p>
        </p:txBody>
      </p:sp>
      <p:sp>
        <p:nvSpPr>
          <p:cNvPr id="34" name="TextBox 33"/>
          <p:cNvSpPr txBox="1"/>
          <p:nvPr/>
        </p:nvSpPr>
        <p:spPr>
          <a:xfrm>
            <a:off x="8247888" y="4681728"/>
            <a:ext cx="3200400" cy="987552"/>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Rejects requests for card or ID numbers; MOH’s updated AI in Healthcare Guidelines keep professional judgment with people.</a:t>
            </a:r>
          </a:p>
        </p:txBody>
      </p:sp>
      <p:sp>
        <p:nvSpPr>
          <p:cNvPr id="35" name="TextBox 34"/>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course pattern at national scale: agents prepare the work; clinicians verify and decide.</a:t>
            </a:r>
          </a:p>
        </p:txBody>
      </p:sp>
      <p:sp>
        <p:nvSpPr>
          <p:cNvPr id="36" name="TextBox 35"/>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6"/>
              </a:rPr>
              <a:t>The Straits Times, 24 Aug 2026: New platform to create AI agents available to all public healthcare professionals · click</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AI Agent Works Like a Person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Brain + body need food to do work. Model + harness need tokens to do work.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2011680"/>
            <a:ext cx="109728" cy="1783080"/>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14400" y="2286000"/>
            <a:ext cx="768096" cy="76809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05840" y="2377440"/>
            <a:ext cx="585216" cy="585216"/>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2"/>
          <a:stretch>
            <a:fillRect/>
          </a:stretch>
        </p:blipFill>
        <p:spPr>
          <a:xfrm>
            <a:off x="1146291" y="2517891"/>
            <a:ext cx="304312" cy="304312"/>
          </a:xfrm>
          <a:prstGeom prst="rect">
            <a:avLst/>
          </a:prstGeom>
        </p:spPr>
      </p:pic>
      <p:sp>
        <p:nvSpPr>
          <p:cNvPr id="13" name="TextBox 12"/>
          <p:cNvSpPr txBox="1"/>
          <p:nvPr/>
        </p:nvSpPr>
        <p:spPr>
          <a:xfrm>
            <a:off x="685800" y="3127248"/>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6D2E46"/>
                </a:solidFill>
                <a:latin typeface="Calibri"/>
              </a:rPr>
              <a:t>HUMAN</a:t>
            </a:r>
          </a:p>
        </p:txBody>
      </p:sp>
      <p:sp>
        <p:nvSpPr>
          <p:cNvPr id="14" name="Oval 13"/>
          <p:cNvSpPr/>
          <p:nvPr/>
        </p:nvSpPr>
        <p:spPr>
          <a:xfrm>
            <a:off x="24688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877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2772095" y="2470343"/>
            <a:ext cx="399409" cy="399409"/>
          </a:xfrm>
          <a:prstGeom prst="rect">
            <a:avLst/>
          </a:prstGeom>
        </p:spPr>
      </p:pic>
      <p:sp>
        <p:nvSpPr>
          <p:cNvPr id="17" name="TextBox 16"/>
          <p:cNvSpPr txBox="1"/>
          <p:nvPr/>
        </p:nvSpPr>
        <p:spPr>
          <a:xfrm>
            <a:off x="19202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Brain</a:t>
            </a:r>
          </a:p>
        </p:txBody>
      </p:sp>
      <p:sp>
        <p:nvSpPr>
          <p:cNvPr id="18" name="TextBox 17"/>
          <p:cNvSpPr txBox="1"/>
          <p:nvPr/>
        </p:nvSpPr>
        <p:spPr>
          <a:xfrm>
            <a:off x="19202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Thinks, plans, decides</a:t>
            </a:r>
          </a:p>
        </p:txBody>
      </p:sp>
      <p:sp>
        <p:nvSpPr>
          <p:cNvPr id="19" name="TextBox 18"/>
          <p:cNvSpPr txBox="1"/>
          <p:nvPr/>
        </p:nvSpPr>
        <p:spPr>
          <a:xfrm>
            <a:off x="4069080" y="2286000"/>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20" name="Oval 19"/>
          <p:cNvSpPr/>
          <p:nvPr/>
        </p:nvSpPr>
        <p:spPr>
          <a:xfrm>
            <a:off x="5212080" y="2167128"/>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330952" y="228600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5515295" y="2470343"/>
            <a:ext cx="399409" cy="399409"/>
          </a:xfrm>
          <a:prstGeom prst="rect">
            <a:avLst/>
          </a:prstGeom>
        </p:spPr>
      </p:pic>
      <p:sp>
        <p:nvSpPr>
          <p:cNvPr id="23" name="TextBox 22"/>
          <p:cNvSpPr txBox="1"/>
          <p:nvPr/>
        </p:nvSpPr>
        <p:spPr>
          <a:xfrm>
            <a:off x="466344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Body</a:t>
            </a:r>
          </a:p>
        </p:txBody>
      </p:sp>
      <p:sp>
        <p:nvSpPr>
          <p:cNvPr id="24" name="TextBox 23"/>
          <p:cNvSpPr txBox="1"/>
          <p:nvPr/>
        </p:nvSpPr>
        <p:spPr>
          <a:xfrm>
            <a:off x="466344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Hands, eyes and tools act</a:t>
            </a:r>
          </a:p>
        </p:txBody>
      </p:sp>
      <p:sp>
        <p:nvSpPr>
          <p:cNvPr id="25" name="Rectangle 24"/>
          <p:cNvSpPr/>
          <p:nvPr/>
        </p:nvSpPr>
        <p:spPr>
          <a:xfrm>
            <a:off x="6766560" y="2596896"/>
            <a:ext cx="1965960" cy="146304"/>
          </a:xfrm>
          <a:prstGeom prst="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8641080" y="2395728"/>
            <a:ext cx="411480" cy="548640"/>
          </a:xfrm>
          <a:prstGeom prst="triangl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949440" y="2871216"/>
            <a:ext cx="1600200" cy="566928"/>
          </a:xfrm>
          <a:prstGeom prst="roundRect">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004304" y="2926080"/>
            <a:ext cx="457200" cy="457200"/>
          </a:xfrm>
          <a:prstGeom prst="ellipse">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ffee-FFFFFF.png"/>
          <p:cNvPicPr>
            <a:picLocks noChangeAspect="1"/>
          </p:cNvPicPr>
          <p:nvPr/>
        </p:nvPicPr>
        <p:blipFill>
          <a:blip r:embed="rId5"/>
          <a:stretch>
            <a:fillRect/>
          </a:stretch>
        </p:blipFill>
        <p:spPr>
          <a:xfrm>
            <a:off x="7114032" y="3035808"/>
            <a:ext cx="237744" cy="237744"/>
          </a:xfrm>
          <a:prstGeom prst="rect">
            <a:avLst/>
          </a:prstGeom>
        </p:spPr>
      </p:pic>
      <p:sp>
        <p:nvSpPr>
          <p:cNvPr id="30" name="TextBox 29"/>
          <p:cNvSpPr txBox="1"/>
          <p:nvPr/>
        </p:nvSpPr>
        <p:spPr>
          <a:xfrm>
            <a:off x="7479792" y="2871216"/>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Food</a:t>
            </a:r>
          </a:p>
        </p:txBody>
      </p:sp>
      <p:sp>
        <p:nvSpPr>
          <p:cNvPr id="31" name="TextBox 30"/>
          <p:cNvSpPr txBox="1"/>
          <p:nvPr/>
        </p:nvSpPr>
        <p:spPr>
          <a:xfrm>
            <a:off x="7479792" y="3145536"/>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Energy</a:t>
            </a:r>
          </a:p>
        </p:txBody>
      </p:sp>
      <p:sp>
        <p:nvSpPr>
          <p:cNvPr id="32" name="Oval 31"/>
          <p:cNvSpPr/>
          <p:nvPr/>
        </p:nvSpPr>
        <p:spPr>
          <a:xfrm>
            <a:off x="9418319" y="2167128"/>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37192" y="2286000"/>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briefcase-FFFFFF.png"/>
          <p:cNvPicPr>
            <a:picLocks noChangeAspect="1"/>
          </p:cNvPicPr>
          <p:nvPr/>
        </p:nvPicPr>
        <p:blipFill>
          <a:blip r:embed="rId6"/>
          <a:stretch>
            <a:fillRect/>
          </a:stretch>
        </p:blipFill>
        <p:spPr>
          <a:xfrm>
            <a:off x="9721535" y="2470343"/>
            <a:ext cx="399409" cy="399409"/>
          </a:xfrm>
          <a:prstGeom prst="rect">
            <a:avLst/>
          </a:prstGeom>
        </p:spPr>
      </p:pic>
      <p:sp>
        <p:nvSpPr>
          <p:cNvPr id="35" name="TextBox 34"/>
          <p:cNvSpPr txBox="1"/>
          <p:nvPr/>
        </p:nvSpPr>
        <p:spPr>
          <a:xfrm>
            <a:off x="8869680" y="3236976"/>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36" name="TextBox 35"/>
          <p:cNvSpPr txBox="1"/>
          <p:nvPr/>
        </p:nvSpPr>
        <p:spPr>
          <a:xfrm>
            <a:off x="8869680" y="3566160"/>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The job gets done</a:t>
            </a:r>
          </a:p>
        </p:txBody>
      </p:sp>
      <p:sp>
        <p:nvSpPr>
          <p:cNvPr id="37" name="Rounded Rectangle 36"/>
          <p:cNvSpPr/>
          <p:nvPr/>
        </p:nvSpPr>
        <p:spPr>
          <a:xfrm>
            <a:off x="548640" y="3913632"/>
            <a:ext cx="11064240" cy="1783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3913632"/>
            <a:ext cx="109728" cy="178308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4400" y="4187952"/>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005840" y="4279392"/>
            <a:ext cx="585216" cy="58521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robot-FFFFFF.png"/>
          <p:cNvPicPr>
            <a:picLocks noChangeAspect="1"/>
          </p:cNvPicPr>
          <p:nvPr/>
        </p:nvPicPr>
        <p:blipFill>
          <a:blip r:embed="rId7"/>
          <a:stretch>
            <a:fillRect/>
          </a:stretch>
        </p:blipFill>
        <p:spPr>
          <a:xfrm>
            <a:off x="1146291" y="4419843"/>
            <a:ext cx="304312" cy="304312"/>
          </a:xfrm>
          <a:prstGeom prst="rect">
            <a:avLst/>
          </a:prstGeom>
        </p:spPr>
      </p:pic>
      <p:sp>
        <p:nvSpPr>
          <p:cNvPr id="42" name="TextBox 41"/>
          <p:cNvSpPr txBox="1"/>
          <p:nvPr/>
        </p:nvSpPr>
        <p:spPr>
          <a:xfrm>
            <a:off x="685800" y="5029200"/>
            <a:ext cx="1234440" cy="274320"/>
          </a:xfrm>
          <a:prstGeom prst="rect">
            <a:avLst/>
          </a:prstGeom>
          <a:noFill/>
        </p:spPr>
        <p:txBody>
          <a:bodyPr wrap="square" lIns="36576" rIns="36576" tIns="18288" bIns="18288" anchor="t">
            <a:spAutoFit/>
          </a:bodyPr>
          <a:lstStyle/>
          <a:p>
            <a:pPr algn="ctr">
              <a:lnSpc>
                <a:spcPct val="112000"/>
              </a:lnSpc>
            </a:pPr>
            <a:r>
              <a:rPr sz="1200" b="1" i="0">
                <a:solidFill>
                  <a:srgbClr val="3A7D7B"/>
                </a:solidFill>
                <a:latin typeface="Calibri"/>
              </a:rPr>
              <a:t>AI AGENT</a:t>
            </a:r>
          </a:p>
        </p:txBody>
      </p:sp>
      <p:sp>
        <p:nvSpPr>
          <p:cNvPr id="43" name="Oval 42"/>
          <p:cNvSpPr/>
          <p:nvPr/>
        </p:nvSpPr>
        <p:spPr>
          <a:xfrm>
            <a:off x="24688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5877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sparkles-FFFFFF.png"/>
          <p:cNvPicPr>
            <a:picLocks noChangeAspect="1"/>
          </p:cNvPicPr>
          <p:nvPr/>
        </p:nvPicPr>
        <p:blipFill>
          <a:blip r:embed="rId8"/>
          <a:stretch>
            <a:fillRect/>
          </a:stretch>
        </p:blipFill>
        <p:spPr>
          <a:xfrm>
            <a:off x="2772095" y="4372295"/>
            <a:ext cx="399409" cy="399409"/>
          </a:xfrm>
          <a:prstGeom prst="rect">
            <a:avLst/>
          </a:prstGeom>
        </p:spPr>
      </p:pic>
      <p:sp>
        <p:nvSpPr>
          <p:cNvPr id="46" name="TextBox 45"/>
          <p:cNvSpPr txBox="1"/>
          <p:nvPr/>
        </p:nvSpPr>
        <p:spPr>
          <a:xfrm>
            <a:off x="19202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Model</a:t>
            </a:r>
          </a:p>
        </p:txBody>
      </p:sp>
      <p:sp>
        <p:nvSpPr>
          <p:cNvPr id="47" name="TextBox 46"/>
          <p:cNvSpPr txBox="1"/>
          <p:nvPr/>
        </p:nvSpPr>
        <p:spPr>
          <a:xfrm>
            <a:off x="192024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Reasons, proposes next step</a:t>
            </a:r>
          </a:p>
        </p:txBody>
      </p:sp>
      <p:sp>
        <p:nvSpPr>
          <p:cNvPr id="48" name="TextBox 47"/>
          <p:cNvSpPr txBox="1"/>
          <p:nvPr/>
        </p:nvSpPr>
        <p:spPr>
          <a:xfrm>
            <a:off x="4069080" y="4187952"/>
            <a:ext cx="548640" cy="768096"/>
          </a:xfrm>
          <a:prstGeom prst="rect">
            <a:avLst/>
          </a:prstGeom>
          <a:noFill/>
        </p:spPr>
        <p:txBody>
          <a:bodyPr wrap="square" lIns="36576" rIns="36576" tIns="18288" bIns="18288" anchor="ctr">
            <a:spAutoFit/>
          </a:bodyPr>
          <a:lstStyle/>
          <a:p>
            <a:pPr algn="ctr">
              <a:lnSpc>
                <a:spcPct val="112000"/>
              </a:lnSpc>
            </a:pPr>
            <a:r>
              <a:rPr sz="4000" b="1" i="0">
                <a:solidFill>
                  <a:srgbClr val="D97757"/>
                </a:solidFill>
                <a:latin typeface="Cambria"/>
              </a:rPr>
              <a:t>+</a:t>
            </a:r>
          </a:p>
        </p:txBody>
      </p:sp>
      <p:sp>
        <p:nvSpPr>
          <p:cNvPr id="49" name="Oval 48"/>
          <p:cNvSpPr/>
          <p:nvPr/>
        </p:nvSpPr>
        <p:spPr>
          <a:xfrm>
            <a:off x="5212080" y="4069080"/>
            <a:ext cx="1005840" cy="10058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330952" y="4187952"/>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gear-FFFFFF.png"/>
          <p:cNvPicPr>
            <a:picLocks noChangeAspect="1"/>
          </p:cNvPicPr>
          <p:nvPr/>
        </p:nvPicPr>
        <p:blipFill>
          <a:blip r:embed="rId9"/>
          <a:stretch>
            <a:fillRect/>
          </a:stretch>
        </p:blipFill>
        <p:spPr>
          <a:xfrm>
            <a:off x="5515295" y="4372295"/>
            <a:ext cx="399409" cy="399409"/>
          </a:xfrm>
          <a:prstGeom prst="rect">
            <a:avLst/>
          </a:prstGeom>
        </p:spPr>
      </p:pic>
      <p:sp>
        <p:nvSpPr>
          <p:cNvPr id="52" name="TextBox 51"/>
          <p:cNvSpPr txBox="1"/>
          <p:nvPr/>
        </p:nvSpPr>
        <p:spPr>
          <a:xfrm>
            <a:off x="466344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Harness</a:t>
            </a:r>
          </a:p>
        </p:txBody>
      </p:sp>
      <p:sp>
        <p:nvSpPr>
          <p:cNvPr id="53" name="TextBox 52"/>
          <p:cNvSpPr txBox="1"/>
          <p:nvPr/>
        </p:nvSpPr>
        <p:spPr>
          <a:xfrm>
            <a:off x="4663440" y="5468112"/>
            <a:ext cx="2103120" cy="329184"/>
          </a:xfrm>
          <a:prstGeom prst="rect">
            <a:avLst/>
          </a:prstGeom>
          <a:noFill/>
        </p:spPr>
        <p:txBody>
          <a:bodyPr wrap="square" lIns="36576" rIns="36576" tIns="18288" bIns="18288" anchor="t">
            <a:spAutoFit/>
          </a:bodyPr>
          <a:lstStyle/>
          <a:p>
            <a:pPr algn="ctr">
              <a:lnSpc>
                <a:spcPct val="112000"/>
              </a:lnSpc>
            </a:pPr>
            <a:r>
              <a:rPr sz="1000" b="0" i="0">
                <a:solidFill>
                  <a:srgbClr val="6B6862"/>
                </a:solidFill>
                <a:latin typeface="Calibri"/>
              </a:rPr>
              <a:t>Tools, memory, skills, controls</a:t>
            </a:r>
          </a:p>
        </p:txBody>
      </p:sp>
      <p:sp>
        <p:nvSpPr>
          <p:cNvPr id="54" name="Rectangle 53"/>
          <p:cNvSpPr/>
          <p:nvPr/>
        </p:nvSpPr>
        <p:spPr>
          <a:xfrm>
            <a:off x="6766560" y="4498848"/>
            <a:ext cx="1965960" cy="146304"/>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Isosceles Triangle 54"/>
          <p:cNvSpPr/>
          <p:nvPr/>
        </p:nvSpPr>
        <p:spPr>
          <a:xfrm rot="5400000">
            <a:off x="8641080" y="4297680"/>
            <a:ext cx="411480" cy="548640"/>
          </a:xfrm>
          <a:prstGeom prst="triangl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6949440" y="4773168"/>
            <a:ext cx="1600200" cy="566928"/>
          </a:xfrm>
          <a:prstGeom prst="round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7004304" y="482803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coins-FFFFFF.png"/>
          <p:cNvPicPr>
            <a:picLocks noChangeAspect="1"/>
          </p:cNvPicPr>
          <p:nvPr/>
        </p:nvPicPr>
        <p:blipFill>
          <a:blip r:embed="rId10"/>
          <a:stretch>
            <a:fillRect/>
          </a:stretch>
        </p:blipFill>
        <p:spPr>
          <a:xfrm>
            <a:off x="7114032" y="4937760"/>
            <a:ext cx="237744" cy="237744"/>
          </a:xfrm>
          <a:prstGeom prst="rect">
            <a:avLst/>
          </a:prstGeom>
        </p:spPr>
      </p:pic>
      <p:sp>
        <p:nvSpPr>
          <p:cNvPr id="59" name="TextBox 58"/>
          <p:cNvSpPr txBox="1"/>
          <p:nvPr/>
        </p:nvSpPr>
        <p:spPr>
          <a:xfrm>
            <a:off x="7479792" y="4773168"/>
            <a:ext cx="1051560" cy="329184"/>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mbria"/>
              </a:rPr>
              <a:t>Tokens</a:t>
            </a:r>
          </a:p>
        </p:txBody>
      </p:sp>
      <p:sp>
        <p:nvSpPr>
          <p:cNvPr id="60" name="TextBox 59"/>
          <p:cNvSpPr txBox="1"/>
          <p:nvPr/>
        </p:nvSpPr>
        <p:spPr>
          <a:xfrm>
            <a:off x="7479792" y="5047488"/>
            <a:ext cx="1051560" cy="256032"/>
          </a:xfrm>
          <a:prstGeom prst="rect">
            <a:avLst/>
          </a:prstGeom>
          <a:noFill/>
        </p:spPr>
        <p:txBody>
          <a:bodyPr wrap="square" lIns="36576" rIns="36576" tIns="18288" bIns="18288" anchor="t">
            <a:spAutoFit/>
          </a:bodyPr>
          <a:lstStyle/>
          <a:p>
            <a:pPr algn="l">
              <a:lnSpc>
                <a:spcPct val="112000"/>
              </a:lnSpc>
            </a:pPr>
            <a:r>
              <a:rPr sz="950" b="0" i="0">
                <a:solidFill>
                  <a:srgbClr val="FFFFFF"/>
                </a:solidFill>
                <a:latin typeface="Calibri"/>
              </a:rPr>
              <a:t>Fuel and cost</a:t>
            </a:r>
          </a:p>
        </p:txBody>
      </p:sp>
      <p:sp>
        <p:nvSpPr>
          <p:cNvPr id="61" name="Oval 60"/>
          <p:cNvSpPr/>
          <p:nvPr/>
        </p:nvSpPr>
        <p:spPr>
          <a:xfrm>
            <a:off x="9418319" y="4069080"/>
            <a:ext cx="1005840" cy="1005840"/>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9537192" y="4187952"/>
            <a:ext cx="768096" cy="768096"/>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3" name="Picture 62" descr="check-FFFFFF.png"/>
          <p:cNvPicPr>
            <a:picLocks noChangeAspect="1"/>
          </p:cNvPicPr>
          <p:nvPr/>
        </p:nvPicPr>
        <p:blipFill>
          <a:blip r:embed="rId11"/>
          <a:stretch>
            <a:fillRect/>
          </a:stretch>
        </p:blipFill>
        <p:spPr>
          <a:xfrm>
            <a:off x="9721535" y="4372295"/>
            <a:ext cx="399409" cy="399409"/>
          </a:xfrm>
          <a:prstGeom prst="rect">
            <a:avLst/>
          </a:prstGeom>
        </p:spPr>
      </p:pic>
      <p:sp>
        <p:nvSpPr>
          <p:cNvPr id="64" name="TextBox 63"/>
          <p:cNvSpPr txBox="1"/>
          <p:nvPr/>
        </p:nvSpPr>
        <p:spPr>
          <a:xfrm>
            <a:off x="8869680" y="5138928"/>
            <a:ext cx="2103120" cy="365760"/>
          </a:xfrm>
          <a:prstGeom prst="rect">
            <a:avLst/>
          </a:prstGeom>
          <a:noFill/>
        </p:spPr>
        <p:txBody>
          <a:bodyPr wrap="square" lIns="36576" rIns="36576" tIns="18288" bIns="18288" anchor="t">
            <a:spAutoFit/>
          </a:bodyPr>
          <a:lstStyle/>
          <a:p>
            <a:pPr algn="ctr">
              <a:lnSpc>
                <a:spcPct val="112000"/>
              </a:lnSpc>
            </a:pPr>
            <a:r>
              <a:rPr sz="1900" b="1" i="0">
                <a:solidFill>
                  <a:srgbClr val="21201C"/>
                </a:solidFill>
                <a:latin typeface="Cambria"/>
              </a:rPr>
              <a:t>Work</a:t>
            </a:r>
          </a:p>
        </p:txBody>
      </p:sp>
      <p:sp>
        <p:nvSpPr>
          <p:cNvPr id="65" name="TextBox 64"/>
          <p:cNvSpPr txBox="1"/>
          <p:nvPr/>
        </p:nvSpPr>
        <p:spPr>
          <a:xfrm>
            <a:off x="8869680" y="5468112"/>
            <a:ext cx="2103120" cy="329184"/>
          </a:xfrm>
          <a:prstGeom prst="rect">
            <a:avLst/>
          </a:prstGeom>
          <a:noFill/>
        </p:spPr>
        <p:txBody>
          <a:bodyPr wrap="square" lIns="36576" rIns="36576" tIns="18288" bIns="18288" anchor="t">
            <a:spAutoFit/>
          </a:bodyPr>
          <a:lstStyle/>
          <a:p>
            <a:pPr algn="ctr">
              <a:lnSpc>
                <a:spcPct val="112000"/>
              </a:lnSpc>
            </a:pPr>
            <a:r>
              <a:rPr sz="1100" b="0" i="0">
                <a:solidFill>
                  <a:srgbClr val="6B6862"/>
                </a:solidFill>
                <a:latin typeface="Calibri"/>
              </a:rPr>
              <a:t>Verified output</a:t>
            </a:r>
          </a:p>
        </p:txBody>
      </p:sp>
      <p:sp>
        <p:nvSpPr>
          <p:cNvPr id="66" name="TextBox 65"/>
          <p:cNvSpPr txBox="1"/>
          <p:nvPr/>
        </p:nvSpPr>
        <p:spPr>
          <a:xfrm>
            <a:off x="548640" y="585216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food, no work; no tokens, no work. Every read, reasoning step and reply spends tokens, so a token budget is the agent’s running cost.</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1 · One Human,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own chief of staff that never clocks off</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one always-on agent. It works through your inbox and calendar overnight and is waiting with a brief, a clash and a draft before you wake 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parkles-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Always-on personal assistants</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OpenAI Dots, Meta Muse, Grok Bot, Claude Duet and Manus Cue: the Big Five you meet later today.</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desktop agent on your own laptop</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Hermes Desktop, the single office worker you run this afternoon.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coding partner for one developer</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Code or OpenAI Codex working through one person’s repository.</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1.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694776" y="2340863"/>
            <a:ext cx="1640647" cy="343814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1-assistant-chat.png"/>
          <p:cNvPicPr>
            <a:picLocks noChangeAspect="1"/>
          </p:cNvPicPr>
          <p:nvPr/>
        </p:nvPicPr>
        <p:blipFill>
          <a:blip r:embed="rId6"/>
          <a:stretch>
            <a:fillRect/>
          </a:stretch>
        </p:blipFill>
        <p:spPr>
          <a:xfrm>
            <a:off x="5749640" y="2395727"/>
            <a:ext cx="1530919" cy="3328416"/>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an assistant spots a weekend clash between two booked course days and a new teaching request.</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2 · Multiple Humans, One AI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agent, a whole team asking it for help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Drop one agent into the team chat and it becomes the colleague everyone pings. It updates systems, chases blockers and reports back to the whole group.</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bot in the team group chat</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An OpenClaw or Hermes agent in Telegram or WhatsApp, like the trainers’ chat on the right.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An assistant the whole channel can call</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Claude in Slack, or any bot a channel can @mention.</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nbox-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shared front desk</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One agent triaging a shared support inbox for the whole service team.</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2.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names blurred</a:t>
            </a:r>
          </a:p>
        </p:txBody>
      </p:sp>
      <p:sp>
        <p:nvSpPr>
          <p:cNvPr id="26" name="Rounded Rectangle 25"/>
          <p:cNvSpPr/>
          <p:nvPr/>
        </p:nvSpPr>
        <p:spPr>
          <a:xfrm>
            <a:off x="5221224" y="2491179"/>
            <a:ext cx="2587751" cy="313751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2-group-chat.png"/>
          <p:cNvPicPr>
            <a:picLocks noChangeAspect="1"/>
          </p:cNvPicPr>
          <p:nvPr/>
        </p:nvPicPr>
        <p:blipFill>
          <a:blip r:embed="rId6"/>
          <a:stretch>
            <a:fillRect/>
          </a:stretch>
        </p:blipFill>
        <p:spPr>
          <a:xfrm>
            <a:off x="5276088" y="2546043"/>
            <a:ext cx="2478023" cy="3027784"/>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best shared agents say out loud what they verified and what is still unknown.</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TRY SCENARIO 2 NOW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Scan It: One WhatsApp Account, the Whole Room Chatting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Everyone here messages the same Tertiary Infotech Academy account at once. That is Scenario 2 in your pocket.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89900" y="2002536"/>
            <a:ext cx="3283639" cy="349300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whatsapp-qr.png"/>
          <p:cNvPicPr>
            <a:picLocks noChangeAspect="1"/>
          </p:cNvPicPr>
          <p:nvPr/>
        </p:nvPicPr>
        <p:blipFill>
          <a:blip r:embed="rId2"/>
          <a:stretch>
            <a:fillRect/>
          </a:stretch>
        </p:blipFill>
        <p:spPr>
          <a:xfrm>
            <a:off x="744764" y="2057400"/>
            <a:ext cx="3173911" cy="3383280"/>
          </a:xfrm>
          <a:prstGeom prst="rect">
            <a:avLst/>
          </a:prstGeom>
        </p:spPr>
      </p:pic>
      <p:sp>
        <p:nvSpPr>
          <p:cNvPr id="10" name="TextBox 9"/>
          <p:cNvSpPr txBox="1"/>
          <p:nvPr/>
        </p:nvSpPr>
        <p:spPr>
          <a:xfrm>
            <a:off x="548640" y="5550408"/>
            <a:ext cx="3566160" cy="237744"/>
          </a:xfrm>
          <a:prstGeom prst="rect">
            <a:avLst/>
          </a:prstGeom>
          <a:noFill/>
        </p:spPr>
        <p:txBody>
          <a:bodyPr wrap="square" lIns="36576" rIns="36576" tIns="18288" bIns="18288" anchor="t">
            <a:spAutoFit/>
          </a:bodyPr>
          <a:lstStyle/>
          <a:p>
            <a:pPr algn="ctr">
              <a:lnSpc>
                <a:spcPct val="112000"/>
              </a:lnSpc>
            </a:pPr>
            <a:r>
              <a:rPr sz="1000" b="0" i="0">
                <a:solidFill>
                  <a:srgbClr val="3A7D7B"/>
                </a:solidFill>
                <a:latin typeface="Calibri"/>
                <a:hlinkClick r:id="rId3"/>
              </a:rPr>
              <a:t>No camera? Click: wa.me/message/YMQB2CFYVGL3I1</a:t>
            </a:r>
          </a:p>
        </p:txBody>
      </p:sp>
      <p:sp>
        <p:nvSpPr>
          <p:cNvPr id="11" name="Rounded Rectangle 10"/>
          <p:cNvSpPr/>
          <p:nvPr/>
        </p:nvSpPr>
        <p:spPr>
          <a:xfrm>
            <a:off x="4526280" y="2057400"/>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27448" y="233172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27448" y="2331720"/>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4" name="Oval 13"/>
          <p:cNvSpPr/>
          <p:nvPr/>
        </p:nvSpPr>
        <p:spPr>
          <a:xfrm>
            <a:off x="5349240" y="235915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mera-FFFFFF.png"/>
          <p:cNvPicPr>
            <a:picLocks noChangeAspect="1"/>
          </p:cNvPicPr>
          <p:nvPr/>
        </p:nvPicPr>
        <p:blipFill>
          <a:blip r:embed="rId4"/>
          <a:stretch>
            <a:fillRect/>
          </a:stretch>
        </p:blipFill>
        <p:spPr>
          <a:xfrm>
            <a:off x="5450189" y="2460101"/>
            <a:ext cx="218724" cy="218724"/>
          </a:xfrm>
          <a:prstGeom prst="rect">
            <a:avLst/>
          </a:prstGeom>
        </p:spPr>
      </p:pic>
      <p:sp>
        <p:nvSpPr>
          <p:cNvPr id="16" name="TextBox 15"/>
          <p:cNvSpPr txBox="1"/>
          <p:nvPr/>
        </p:nvSpPr>
        <p:spPr>
          <a:xfrm>
            <a:off x="5943600" y="2167128"/>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Scan the code</a:t>
            </a:r>
          </a:p>
        </p:txBody>
      </p:sp>
      <p:sp>
        <p:nvSpPr>
          <p:cNvPr id="17" name="TextBox 16"/>
          <p:cNvSpPr txBox="1"/>
          <p:nvPr/>
        </p:nvSpPr>
        <p:spPr>
          <a:xfrm>
            <a:off x="5943600" y="2496312"/>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Point your phone camera at it. WhatsApp opens a chat with Tertiary Infotech Academy.</a:t>
            </a:r>
          </a:p>
        </p:txBody>
      </p:sp>
      <p:sp>
        <p:nvSpPr>
          <p:cNvPr id="18" name="Rounded Rectangle 17"/>
          <p:cNvSpPr/>
          <p:nvPr/>
        </p:nvSpPr>
        <p:spPr>
          <a:xfrm>
            <a:off x="4526280" y="3218688"/>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727448" y="3493008"/>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27448" y="3493008"/>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21" name="Oval 20"/>
          <p:cNvSpPr/>
          <p:nvPr/>
        </p:nvSpPr>
        <p:spPr>
          <a:xfrm>
            <a:off x="5349240" y="3520440"/>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t-FFFFFF.png"/>
          <p:cNvPicPr>
            <a:picLocks noChangeAspect="1"/>
          </p:cNvPicPr>
          <p:nvPr/>
        </p:nvPicPr>
        <p:blipFill>
          <a:blip r:embed="rId5"/>
          <a:stretch>
            <a:fillRect/>
          </a:stretch>
        </p:blipFill>
        <p:spPr>
          <a:xfrm>
            <a:off x="5450189" y="3621389"/>
            <a:ext cx="218724" cy="218724"/>
          </a:xfrm>
          <a:prstGeom prst="rect">
            <a:avLst/>
          </a:prstGeom>
        </p:spPr>
      </p:pic>
      <p:sp>
        <p:nvSpPr>
          <p:cNvPr id="23" name="TextBox 22"/>
          <p:cNvSpPr txBox="1"/>
          <p:nvPr/>
        </p:nvSpPr>
        <p:spPr>
          <a:xfrm>
            <a:off x="5943600" y="3328416"/>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Ask it something real</a:t>
            </a:r>
          </a:p>
        </p:txBody>
      </p:sp>
      <p:sp>
        <p:nvSpPr>
          <p:cNvPr id="24" name="TextBox 23"/>
          <p:cNvSpPr txBox="1"/>
          <p:nvPr/>
        </p:nvSpPr>
        <p:spPr>
          <a:xfrm>
            <a:off x="5943600" y="3657600"/>
            <a:ext cx="5486400"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“Which AI agent courses run next month?”   “Send me this course’s brochure.”   “How do I check my SkillsFuture credit?”</a:t>
            </a:r>
          </a:p>
        </p:txBody>
      </p:sp>
      <p:sp>
        <p:nvSpPr>
          <p:cNvPr id="25" name="Rounded Rectangle 24"/>
          <p:cNvSpPr/>
          <p:nvPr/>
        </p:nvSpPr>
        <p:spPr>
          <a:xfrm>
            <a:off x="4526280" y="4379976"/>
            <a:ext cx="7086600" cy="10241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727448" y="465429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727448" y="4654296"/>
            <a:ext cx="475488" cy="475488"/>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8" name="Oval 27"/>
          <p:cNvSpPr/>
          <p:nvPr/>
        </p:nvSpPr>
        <p:spPr>
          <a:xfrm>
            <a:off x="5349240" y="4681728"/>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users-FFFFFF.png"/>
          <p:cNvPicPr>
            <a:picLocks noChangeAspect="1"/>
          </p:cNvPicPr>
          <p:nvPr/>
        </p:nvPicPr>
        <p:blipFill>
          <a:blip r:embed="rId6"/>
          <a:stretch>
            <a:fillRect/>
          </a:stretch>
        </p:blipFill>
        <p:spPr>
          <a:xfrm>
            <a:off x="5450189" y="4782677"/>
            <a:ext cx="218724" cy="218724"/>
          </a:xfrm>
          <a:prstGeom prst="rect">
            <a:avLst/>
          </a:prstGeom>
        </p:spPr>
      </p:pic>
      <p:sp>
        <p:nvSpPr>
          <p:cNvPr id="30" name="TextBox 29"/>
          <p:cNvSpPr txBox="1"/>
          <p:nvPr/>
        </p:nvSpPr>
        <p:spPr>
          <a:xfrm>
            <a:off x="5943600" y="4489704"/>
            <a:ext cx="5486400" cy="329184"/>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 with your neighbour</a:t>
            </a:r>
          </a:p>
        </p:txBody>
      </p:sp>
      <p:sp>
        <p:nvSpPr>
          <p:cNvPr id="31" name="TextBox 30"/>
          <p:cNvSpPr txBox="1"/>
          <p:nvPr/>
        </p:nvSpPr>
        <p:spPr>
          <a:xfrm>
            <a:off x="5943600" y="4818888"/>
            <a:ext cx="5486400" cy="5486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question, same answer? Which replies came back instantly, and which waited for a person?</a:t>
            </a:r>
          </a:p>
        </p:txBody>
      </p:sp>
      <p:sp>
        <p:nvSpPr>
          <p:cNvPr id="32" name="TextBox 31"/>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account, twenty conversations at once: notice how each chat stays separate, and when a human steps in.</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3 · One Human,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Be the manager of your own AI department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2628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406908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One person splits the goal and hands each piece to a specialist: a researcher, a writer, a producer and an auditor. The work runs in parallel while you approve the hand-offs.</a:t>
            </a:r>
          </a:p>
        </p:txBody>
      </p:sp>
      <p:sp>
        <p:nvSpPr>
          <p:cNvPr id="10" name="TextBox 9"/>
          <p:cNvSpPr txBox="1"/>
          <p:nvPr/>
        </p:nvSpPr>
        <p:spPr>
          <a:xfrm>
            <a:off x="777240" y="3346704"/>
            <a:ext cx="406908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kanban-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Hermes profiles on a Kanban board</a:t>
            </a:r>
          </a:p>
        </p:txBody>
      </p:sp>
      <p:sp>
        <p:nvSpPr>
          <p:cNvPr id="14" name="TextBox 13"/>
          <p:cNvSpPr txBox="1"/>
          <p:nvPr/>
        </p:nvSpPr>
        <p:spPr>
          <a:xfrm>
            <a:off x="1234440" y="3858768"/>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Your Day 2 video studio: research → script → video → audit.</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Several Grok Bots on one cloud computer</a:t>
            </a:r>
          </a:p>
        </p:txBody>
      </p:sp>
      <p:sp>
        <p:nvSpPr>
          <p:cNvPr id="18" name="TextBox 17"/>
          <p:cNvSpPr txBox="1"/>
          <p:nvPr/>
        </p:nvSpPr>
        <p:spPr>
          <a:xfrm>
            <a:off x="1234440" y="4541520"/>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while sharing files and logins.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bot-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3657600"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 Manus Cue agent team</a:t>
            </a:r>
          </a:p>
        </p:txBody>
      </p:sp>
      <p:sp>
        <p:nvSpPr>
          <p:cNvPr id="22" name="TextBox 21"/>
          <p:cNvSpPr txBox="1"/>
          <p:nvPr/>
        </p:nvSpPr>
        <p:spPr>
          <a:xfrm>
            <a:off x="1234440" y="5224272"/>
            <a:ext cx="3657600"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3.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276088" y="2084831"/>
            <a:ext cx="2478023" cy="237744"/>
          </a:xfrm>
          <a:prstGeom prst="rect">
            <a:avLst/>
          </a:prstGeom>
          <a:noFill/>
        </p:spPr>
        <p:txBody>
          <a:bodyPr wrap="square" lIns="36576" rIns="36576" tIns="18288" bIns="18288" anchor="t">
            <a:spAutoFit/>
          </a:bodyPr>
          <a:lstStyle/>
          <a:p>
            <a:pPr algn="ctr">
              <a:lnSpc>
                <a:spcPct val="112000"/>
              </a:lnSpc>
            </a:pPr>
            <a:r>
              <a:rPr sz="1000" b="1" i="0">
                <a:solidFill>
                  <a:srgbClr val="3A7D7B"/>
                </a:solidFill>
                <a:latin typeface="Calibri"/>
              </a:rPr>
              <a:t>Real example · Hermes profiles</a:t>
            </a:r>
          </a:p>
        </p:txBody>
      </p:sp>
      <p:sp>
        <p:nvSpPr>
          <p:cNvPr id="26" name="Rounded Rectangle 25"/>
          <p:cNvSpPr/>
          <p:nvPr/>
        </p:nvSpPr>
        <p:spPr>
          <a:xfrm>
            <a:off x="5221224" y="3025741"/>
            <a:ext cx="2587751" cy="206838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3-hermes-profiles.png"/>
          <p:cNvPicPr>
            <a:picLocks noChangeAspect="1"/>
          </p:cNvPicPr>
          <p:nvPr/>
        </p:nvPicPr>
        <p:blipFill>
          <a:blip r:embed="rId6"/>
          <a:stretch>
            <a:fillRect/>
          </a:stretch>
        </p:blipFill>
        <p:spPr>
          <a:xfrm>
            <a:off x="5276088" y="3080605"/>
            <a:ext cx="2478023" cy="1958661"/>
          </a:xfrm>
          <a:prstGeom prst="rect">
            <a:avLst/>
          </a:prstGeom>
        </p:spPr>
      </p:pic>
      <p:sp>
        <p:nvSpPr>
          <p:cNvPr id="28" name="TextBox 27"/>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 the right: six Hermes profiles that run a YouTube channel from research to upload.</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4 · Multiple Humans, Multiple AI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When a whole organisation runs on agents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Many people, each building and running their own agents, all pointed at shared goals. This is where agents stop being a gadget and become part of the workforce.</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ospital-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Singapore public healthcare</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80,000+ staff have built 12,000+ AgentSea agents and shared 300+ for colleagues to reuse.</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lask-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Stanford’s virtual biotech</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research team directs 37,000 AI scientist agents across drug-discovery divisions.</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kanban-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Your department’s shared board</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Every card has a human owner and an agent assignee: Day 2 at team scale.</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4.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Scale needs governance: named owners, permissions for each role and an audit trail.</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FIVE COLLABORATION SCENARIOS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Scenario 5 · Inter-Company Collaboration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agent negotiates with their agent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717804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49424"/>
            <a:ext cx="6720840" cy="1024128"/>
          </a:xfrm>
          <a:prstGeom prst="rect">
            <a:avLst/>
          </a:prstGeom>
          <a:noFill/>
        </p:spPr>
        <p:txBody>
          <a:bodyPr wrap="square" lIns="36576" rIns="36576" tIns="18288" bIns="18288" anchor="t">
            <a:spAutoFit/>
          </a:bodyPr>
          <a:lstStyle/>
          <a:p>
            <a:pPr algn="l">
              <a:lnSpc>
                <a:spcPct val="112000"/>
              </a:lnSpc>
            </a:pPr>
            <a:r>
              <a:rPr sz="1300" b="0" i="0">
                <a:solidFill>
                  <a:srgbClr val="21201C"/>
                </a:solidFill>
                <a:latin typeface="Cambria"/>
              </a:rPr>
              <a:t>Agents start working across the company wall. A buyer’s agent requests quotes, a supplier’s agent checks stock and replies, and people on both sides sign off.</a:t>
            </a:r>
          </a:p>
        </p:txBody>
      </p:sp>
      <p:sp>
        <p:nvSpPr>
          <p:cNvPr id="10" name="TextBox 9"/>
          <p:cNvSpPr txBox="1"/>
          <p:nvPr/>
        </p:nvSpPr>
        <p:spPr>
          <a:xfrm>
            <a:off x="777240" y="3346704"/>
            <a:ext cx="672084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WHERE YOU SEE IT TODAY</a:t>
            </a:r>
          </a:p>
        </p:txBody>
      </p:sp>
      <p:sp>
        <p:nvSpPr>
          <p:cNvPr id="11" name="Oval 10"/>
          <p:cNvSpPr/>
          <p:nvPr/>
        </p:nvSpPr>
        <p:spPr>
          <a:xfrm>
            <a:off x="777240" y="3639312"/>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2"/>
          <a:stretch>
            <a:fillRect/>
          </a:stretch>
        </p:blipFill>
        <p:spPr>
          <a:xfrm>
            <a:off x="860633" y="3722705"/>
            <a:ext cx="180685" cy="180685"/>
          </a:xfrm>
          <a:prstGeom prst="rect">
            <a:avLst/>
          </a:prstGeom>
        </p:spPr>
      </p:pic>
      <p:sp>
        <p:nvSpPr>
          <p:cNvPr id="13" name="TextBox 12"/>
          <p:cNvSpPr txBox="1"/>
          <p:nvPr/>
        </p:nvSpPr>
        <p:spPr>
          <a:xfrm>
            <a:off x="1234440" y="3593592"/>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Agents with their own inbox</a:t>
            </a:r>
          </a:p>
        </p:txBody>
      </p:sp>
      <p:sp>
        <p:nvSpPr>
          <p:cNvPr id="14" name="TextBox 13"/>
          <p:cNvSpPr txBox="1"/>
          <p:nvPr/>
        </p:nvSpPr>
        <p:spPr>
          <a:xfrm>
            <a:off x="1234440" y="3858768"/>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Grok Bot gets its own @mail.grokbot.com address: an email from another company can start its routine.</a:t>
            </a:r>
          </a:p>
        </p:txBody>
      </p:sp>
      <p:sp>
        <p:nvSpPr>
          <p:cNvPr id="15" name="Oval 14"/>
          <p:cNvSpPr/>
          <p:nvPr/>
        </p:nvSpPr>
        <p:spPr>
          <a:xfrm>
            <a:off x="777240" y="4322064"/>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rt-FFFFFF.png"/>
          <p:cNvPicPr>
            <a:picLocks noChangeAspect="1"/>
          </p:cNvPicPr>
          <p:nvPr/>
        </p:nvPicPr>
        <p:blipFill>
          <a:blip r:embed="rId3"/>
          <a:stretch>
            <a:fillRect/>
          </a:stretch>
        </p:blipFill>
        <p:spPr>
          <a:xfrm>
            <a:off x="860633" y="4405457"/>
            <a:ext cx="180685" cy="180685"/>
          </a:xfrm>
          <a:prstGeom prst="rect">
            <a:avLst/>
          </a:prstGeom>
        </p:spPr>
      </p:pic>
      <p:sp>
        <p:nvSpPr>
          <p:cNvPr id="17" name="TextBox 16"/>
          <p:cNvSpPr txBox="1"/>
          <p:nvPr/>
        </p:nvSpPr>
        <p:spPr>
          <a:xfrm>
            <a:off x="1234440" y="4276344"/>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Personal agents meeting business services</a:t>
            </a:r>
          </a:p>
        </p:txBody>
      </p:sp>
      <p:sp>
        <p:nvSpPr>
          <p:cNvPr id="18" name="TextBox 17"/>
          <p:cNvSpPr txBox="1"/>
          <p:nvPr/>
        </p:nvSpPr>
        <p:spPr>
          <a:xfrm>
            <a:off x="1234440" y="4541520"/>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Meta Muse working with Singapore partners such as Grab and Singapore Airlines as they roll out.</a:t>
            </a:r>
          </a:p>
        </p:txBody>
      </p:sp>
      <p:sp>
        <p:nvSpPr>
          <p:cNvPr id="19" name="Oval 18"/>
          <p:cNvSpPr/>
          <p:nvPr/>
        </p:nvSpPr>
        <p:spPr>
          <a:xfrm>
            <a:off x="777240" y="5004815"/>
            <a:ext cx="347472" cy="34747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hone-FFFFFF.png"/>
          <p:cNvPicPr>
            <a:picLocks noChangeAspect="1"/>
          </p:cNvPicPr>
          <p:nvPr/>
        </p:nvPicPr>
        <p:blipFill>
          <a:blip r:embed="rId4"/>
          <a:stretch>
            <a:fillRect/>
          </a:stretch>
        </p:blipFill>
        <p:spPr>
          <a:xfrm>
            <a:off x="860633" y="5088209"/>
            <a:ext cx="180685" cy="180685"/>
          </a:xfrm>
          <a:prstGeom prst="rect">
            <a:avLst/>
          </a:prstGeom>
        </p:spPr>
      </p:pic>
      <p:sp>
        <p:nvSpPr>
          <p:cNvPr id="21" name="TextBox 20"/>
          <p:cNvSpPr txBox="1"/>
          <p:nvPr/>
        </p:nvSpPr>
        <p:spPr>
          <a:xfrm>
            <a:off x="1234440" y="4959096"/>
            <a:ext cx="6309359" cy="27432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mbria"/>
              </a:rPr>
              <a:t>Agents with their own identity</a:t>
            </a:r>
          </a:p>
        </p:txBody>
      </p:sp>
      <p:sp>
        <p:nvSpPr>
          <p:cNvPr id="22" name="TextBox 21"/>
          <p:cNvSpPr txBox="1"/>
          <p:nvPr/>
        </p:nvSpPr>
        <p:spPr>
          <a:xfrm>
            <a:off x="1234440" y="5224272"/>
            <a:ext cx="6309359" cy="4267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Manus Cue agents with their own email, phone and wallet, calling and paying outside businesses.</a:t>
            </a:r>
          </a:p>
        </p:txBody>
      </p:sp>
      <p:sp>
        <p:nvSpPr>
          <p:cNvPr id="23" name="Rounded Rectangle 22"/>
          <p:cNvSpPr/>
          <p:nvPr/>
        </p:nvSpPr>
        <p:spPr>
          <a:xfrm>
            <a:off x="7900415" y="2048255"/>
            <a:ext cx="3767328"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attern5.jpg"/>
          <p:cNvPicPr>
            <a:picLocks noChangeAspect="1"/>
          </p:cNvPicPr>
          <p:nvPr/>
        </p:nvPicPr>
        <p:blipFill>
          <a:blip r:embed="rId5"/>
          <a:stretch>
            <a:fillRect/>
          </a:stretch>
        </p:blipFill>
        <p:spPr>
          <a:xfrm>
            <a:off x="7955279" y="2103120"/>
            <a:ext cx="3657600" cy="3657600"/>
          </a:xfrm>
          <a:prstGeom prst="rect">
            <a:avLst/>
          </a:prstGeom>
        </p:spPr>
      </p:pic>
      <p:sp>
        <p:nvSpPr>
          <p:cNvPr id="25" name="TextBox 24"/>
          <p:cNvSpPr txBox="1"/>
          <p:nvPr/>
        </p:nvSpPr>
        <p:spPr>
          <a:xfrm>
            <a:off x="548640" y="587044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Treat anything from another company’s agent as untrusted until a person verifies it.</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Customer service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customer service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Incoming requests + account history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Classify, look up the account, draft a reply, suggest next step</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Complex or sensitive cases; limits on what it may complete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Prepared response + next action</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time spent searching for information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IT service management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IT support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Access, account, device and software requests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Collect details, check known issues, create and route tickets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fixes; approves access changes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Triage-ready ticket with details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Repeat requests routed to the right group</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Finance operations</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finance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Invoices, payment queries, internal records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documents, match records, flag missing details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Approves payments and high-risk actions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Items prepared for approval</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Clear approval rules applied every time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Sales operations</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sales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Customer records + meeting notes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 records, prepare notes, create follow-up tasks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Salesperson owns the customer relationship</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Updated records + follow-up tasks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Less administration for sales staff</a:t>
            </a:r>
          </a:p>
        </p:txBody>
      </p:sp>
      <p:sp>
        <p:nvSpPr>
          <p:cNvPr id="48" name="TextBox 4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USE CASES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for Business: Five Use Cases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Business functions · what the agent does, what people decide, and the evidence to check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Procurement and supply chain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 operations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stock, supplier and delivery data</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Monitor orders, flag delays, gather facts across systems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Operations manager decides the response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Delay alert with consolidated records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Delays flagged with supporting records</a:t>
            </a:r>
          </a:p>
        </p:txBody>
      </p:sp>
      <p:sp>
        <p:nvSpPr>
          <p:cNvPr id="28" name="TextBox 27"/>
          <p:cNvSpPr txBox="1"/>
          <p:nvPr/>
        </p:nvSpPr>
        <p:spPr>
          <a:xfrm>
            <a:off x="640080" y="623620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Genic Solutions, 30 Sep 2026: AI Agents for Business, Use Cases and Implementation · click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Research goal</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 sets the question and constraints.</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Hypotheses</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An AI co-scientist proposes, critiques and ranks ideas.</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Experiment</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Scientists test the selected hypotheses in the lab.</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Validation</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New evidence supports or rejects the claim.</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ai-for-scienc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AI FOR SCIENCE IN THE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2026 Breakthroughs: Agents at Scale, Humans Verify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reported results. Each shows what the agents did, and what still has to be checked before it counts as a discovery.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lask-FFFFFF.png"/>
          <p:cNvPicPr>
            <a:picLocks noChangeAspect="1"/>
          </p:cNvPicPr>
          <p:nvPr/>
        </p:nvPicPr>
        <p:blipFill>
          <a:blip r:embed="rId2"/>
          <a:stretch>
            <a:fillRect/>
          </a:stretch>
        </p:blipFill>
        <p:spPr>
          <a:xfrm>
            <a:off x="823691" y="2295875"/>
            <a:ext cx="199704" cy="199704"/>
          </a:xfrm>
          <a:prstGeom prst="rect">
            <a:avLst/>
          </a:prstGeom>
        </p:spPr>
      </p:pic>
      <p:sp>
        <p:nvSpPr>
          <p:cNvPr id="11" name="TextBox 10"/>
          <p:cNvSpPr txBox="1"/>
          <p:nvPr/>
        </p:nvSpPr>
        <p:spPr>
          <a:xfrm>
            <a:off x="123444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 a Millennium Prize problem</a:t>
            </a:r>
          </a:p>
        </p:txBody>
      </p:sp>
      <p:sp>
        <p:nvSpPr>
          <p:cNvPr id="12" name="TextBox 11"/>
          <p:cNvSpPr txBox="1"/>
          <p:nvPr/>
        </p:nvSpPr>
        <p:spPr>
          <a:xfrm>
            <a:off x="123444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Quanta Magazine · 8 Sep 2026</a:t>
            </a:r>
          </a:p>
        </p:txBody>
      </p:sp>
      <p:sp>
        <p:nvSpPr>
          <p:cNvPr id="13" name="TextBox 12"/>
          <p:cNvSpPr txBox="1"/>
          <p:nvPr/>
        </p:nvSpPr>
        <p:spPr>
          <a:xfrm>
            <a:off x="73152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ran about 10,000 autonomous agents to show the 3D Navier–Stokes fluid equations can “blow up”.</a:t>
            </a:r>
          </a:p>
        </p:txBody>
      </p:sp>
      <p:sp>
        <p:nvSpPr>
          <p:cNvPr id="14" name="TextBox 13"/>
          <p:cNvSpPr txBox="1"/>
          <p:nvPr/>
        </p:nvSpPr>
        <p:spPr>
          <a:xfrm>
            <a:off x="73152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Checked in the Lean proof assistant; humans confirmed the formal statement. Priority dispute with two mathematicians.</a:t>
            </a:r>
          </a:p>
        </p:txBody>
      </p:sp>
      <p:sp>
        <p:nvSpPr>
          <p:cNvPr id="15" name="Rounded Rectangle 14"/>
          <p:cNvSpPr/>
          <p:nvPr/>
        </p:nvSpPr>
        <p:spPr>
          <a:xfrm>
            <a:off x="6172200" y="20574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55080" y="22037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FFFFFF.png"/>
          <p:cNvPicPr>
            <a:picLocks noChangeAspect="1"/>
          </p:cNvPicPr>
          <p:nvPr/>
        </p:nvPicPr>
        <p:blipFill>
          <a:blip r:embed="rId3"/>
          <a:stretch>
            <a:fillRect/>
          </a:stretch>
        </p:blipFill>
        <p:spPr>
          <a:xfrm>
            <a:off x="6447251" y="2295875"/>
            <a:ext cx="199704" cy="199704"/>
          </a:xfrm>
          <a:prstGeom prst="rect">
            <a:avLst/>
          </a:prstGeom>
        </p:spPr>
      </p:pic>
      <p:sp>
        <p:nvSpPr>
          <p:cNvPr id="18" name="TextBox 17"/>
          <p:cNvSpPr txBox="1"/>
          <p:nvPr/>
        </p:nvSpPr>
        <p:spPr>
          <a:xfrm>
            <a:off x="6858000" y="21671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Drug discovery · a virtual biotech</a:t>
            </a:r>
          </a:p>
        </p:txBody>
      </p:sp>
      <p:sp>
        <p:nvSpPr>
          <p:cNvPr id="19" name="TextBox 18"/>
          <p:cNvSpPr txBox="1"/>
          <p:nvPr/>
        </p:nvSpPr>
        <p:spPr>
          <a:xfrm>
            <a:off x="6858000" y="24414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Stanford Medicine · 17 Sep 2026</a:t>
            </a:r>
          </a:p>
        </p:txBody>
      </p:sp>
      <p:sp>
        <p:nvSpPr>
          <p:cNvPr id="20" name="TextBox 19"/>
          <p:cNvSpPr txBox="1"/>
          <p:nvPr/>
        </p:nvSpPr>
        <p:spPr>
          <a:xfrm>
            <a:off x="6355080" y="27340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Stanford’s 37,000 AI agents catalogued about 50,000 clinical trials in under a week and designed a lung-cancer antibody–drug conjugate.</a:t>
            </a:r>
          </a:p>
        </p:txBody>
      </p:sp>
      <p:sp>
        <p:nvSpPr>
          <p:cNvPr id="21" name="TextBox 20"/>
          <p:cNvSpPr txBox="1"/>
          <p:nvPr/>
        </p:nvSpPr>
        <p:spPr>
          <a:xfrm>
            <a:off x="6355080" y="32461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A pharma company independently reached the same design; real-lab testing of other findings is next.</a:t>
            </a:r>
          </a:p>
        </p:txBody>
      </p:sp>
      <p:sp>
        <p:nvSpPr>
          <p:cNvPr id="22" name="Rounded Rectangle 21"/>
          <p:cNvSpPr/>
          <p:nvPr/>
        </p:nvSpPr>
        <p:spPr>
          <a:xfrm>
            <a:off x="54864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ile-FFFFFF.png"/>
          <p:cNvPicPr>
            <a:picLocks noChangeAspect="1"/>
          </p:cNvPicPr>
          <p:nvPr/>
        </p:nvPicPr>
        <p:blipFill>
          <a:blip r:embed="rId4"/>
          <a:stretch>
            <a:fillRect/>
          </a:stretch>
        </p:blipFill>
        <p:spPr>
          <a:xfrm>
            <a:off x="823691" y="4124675"/>
            <a:ext cx="199704" cy="199704"/>
          </a:xfrm>
          <a:prstGeom prst="rect">
            <a:avLst/>
          </a:prstGeom>
        </p:spPr>
      </p:pic>
      <p:sp>
        <p:nvSpPr>
          <p:cNvPr id="25" name="TextBox 24"/>
          <p:cNvSpPr txBox="1"/>
          <p:nvPr/>
        </p:nvSpPr>
        <p:spPr>
          <a:xfrm>
            <a:off x="123444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at volume · 700+ preprints</a:t>
            </a:r>
          </a:p>
        </p:txBody>
      </p:sp>
      <p:sp>
        <p:nvSpPr>
          <p:cNvPr id="26" name="TextBox 25"/>
          <p:cNvSpPr txBox="1"/>
          <p:nvPr/>
        </p:nvSpPr>
        <p:spPr>
          <a:xfrm>
            <a:off x="123444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Nature · 7 Oct 2026</a:t>
            </a:r>
          </a:p>
        </p:txBody>
      </p:sp>
      <p:sp>
        <p:nvSpPr>
          <p:cNvPr id="27" name="TextBox 26"/>
          <p:cNvSpPr txBox="1"/>
          <p:nvPr/>
        </p:nvSpPr>
        <p:spPr>
          <a:xfrm>
            <a:off x="73152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posted more than 700 AI-generated maths preprints from an unreleased model.</a:t>
            </a:r>
          </a:p>
        </p:txBody>
      </p:sp>
      <p:sp>
        <p:nvSpPr>
          <p:cNvPr id="28" name="TextBox 27"/>
          <p:cNvSpPr txBox="1"/>
          <p:nvPr/>
        </p:nvSpPr>
        <p:spPr>
          <a:xfrm>
            <a:off x="73152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Mathematicians call them a “messy first draft” and raise credit and pre-emption concerns.</a:t>
            </a:r>
          </a:p>
        </p:txBody>
      </p:sp>
      <p:sp>
        <p:nvSpPr>
          <p:cNvPr id="29" name="Rounded Rectangle 28"/>
          <p:cNvSpPr/>
          <p:nvPr/>
        </p:nvSpPr>
        <p:spPr>
          <a:xfrm>
            <a:off x="6172200" y="3886200"/>
            <a:ext cx="544068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355080" y="4032504"/>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target-FFFFFF.png"/>
          <p:cNvPicPr>
            <a:picLocks noChangeAspect="1"/>
          </p:cNvPicPr>
          <p:nvPr/>
        </p:nvPicPr>
        <p:blipFill>
          <a:blip r:embed="rId5"/>
          <a:stretch>
            <a:fillRect/>
          </a:stretch>
        </p:blipFill>
        <p:spPr>
          <a:xfrm>
            <a:off x="6447251" y="4124675"/>
            <a:ext cx="199704" cy="199704"/>
          </a:xfrm>
          <a:prstGeom prst="rect">
            <a:avLst/>
          </a:prstGeom>
        </p:spPr>
      </p:pic>
      <p:sp>
        <p:nvSpPr>
          <p:cNvPr id="32" name="TextBox 31"/>
          <p:cNvSpPr txBox="1"/>
          <p:nvPr/>
        </p:nvSpPr>
        <p:spPr>
          <a:xfrm>
            <a:off x="6858000" y="3995928"/>
            <a:ext cx="4526280" cy="292608"/>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Maths, physics and computing claims</a:t>
            </a:r>
          </a:p>
        </p:txBody>
      </p:sp>
      <p:sp>
        <p:nvSpPr>
          <p:cNvPr id="33" name="TextBox 32"/>
          <p:cNvSpPr txBox="1"/>
          <p:nvPr/>
        </p:nvSpPr>
        <p:spPr>
          <a:xfrm>
            <a:off x="6858000" y="4270248"/>
            <a:ext cx="4572000" cy="32918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Firstpost · 27 Oct 2026</a:t>
            </a:r>
          </a:p>
        </p:txBody>
      </p:sp>
      <p:sp>
        <p:nvSpPr>
          <p:cNvPr id="34" name="TextBox 33"/>
          <p:cNvSpPr txBox="1"/>
          <p:nvPr/>
        </p:nvSpPr>
        <p:spPr>
          <a:xfrm>
            <a:off x="6355080" y="4562856"/>
            <a:ext cx="5074920" cy="512064"/>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OpenAI claims proofs on Kakeya conjectures and 4D quantum field theory, and an algorithm that would disprove the Exponential Time Hypothesis.</a:t>
            </a:r>
          </a:p>
        </p:txBody>
      </p:sp>
      <p:sp>
        <p:nvSpPr>
          <p:cNvPr id="35" name="TextBox 34"/>
          <p:cNvSpPr txBox="1"/>
          <p:nvPr/>
        </p:nvSpPr>
        <p:spPr>
          <a:xfrm>
            <a:off x="6355080" y="5074920"/>
            <a:ext cx="5074920" cy="502920"/>
          </a:xfrm>
          <a:prstGeom prst="rect">
            <a:avLst/>
          </a:prstGeom>
          <a:noFill/>
        </p:spPr>
        <p:txBody>
          <a:bodyPr wrap="square" lIns="36576" rIns="36576" tIns="18288" bIns="18288" anchor="t">
            <a:spAutoFit/>
          </a:bodyPr>
          <a:lstStyle/>
          <a:p>
            <a:pPr algn="l">
              <a:lnSpc>
                <a:spcPct val="115000"/>
              </a:lnSpc>
              <a:spcAft>
                <a:spcPts val="400"/>
              </a:spcAft>
            </a:pPr>
            <a:r>
              <a:rPr sz="1050" b="1" i="0">
                <a:solidFill>
                  <a:srgbClr val="D97757"/>
                </a:solidFill>
                <a:latin typeface="Calibri"/>
              </a:rPr>
              <a:t>CHECK  </a:t>
            </a:r>
            <a:r>
              <a:rPr sz="1050" b="0" i="0">
                <a:solidFill>
                  <a:srgbClr val="21201C"/>
                </a:solidFill>
                <a:latin typeface="Calibri"/>
              </a:rPr>
              <a:t>Claims awaiting verification; expert panels are reviewing them.</a:t>
            </a:r>
          </a:p>
        </p:txBody>
      </p:sp>
      <p:sp>
        <p:nvSpPr>
          <p:cNvPr id="36" name="TextBox 35"/>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now propose at massive scale. Proof checkers, laboratories and experts still decide what counts as a discovery.</a:t>
            </a:r>
          </a:p>
        </p:txBody>
      </p:sp>
      <p:sp>
        <p:nvSpPr>
          <p:cNvPr id="37" name="TextBox 36"/>
          <p:cNvSpPr txBox="1"/>
          <p:nvPr/>
        </p:nvSpPr>
        <p:spPr>
          <a:xfrm>
            <a:off x="64008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Quanta Magazine · 8 Sep 2026 · click</a:t>
            </a:r>
          </a:p>
        </p:txBody>
      </p:sp>
      <p:sp>
        <p:nvSpPr>
          <p:cNvPr id="38" name="TextBox 37"/>
          <p:cNvSpPr txBox="1"/>
          <p:nvPr/>
        </p:nvSpPr>
        <p:spPr>
          <a:xfrm>
            <a:off x="342900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Stanford Medicine · 17 Sep 2026 · click</a:t>
            </a:r>
          </a:p>
        </p:txBody>
      </p:sp>
      <p:sp>
        <p:nvSpPr>
          <p:cNvPr id="39" name="TextBox 38"/>
          <p:cNvSpPr txBox="1"/>
          <p:nvPr/>
        </p:nvSpPr>
        <p:spPr>
          <a:xfrm>
            <a:off x="6217920"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Nature · 7 Oct 2026 · click</a:t>
            </a:r>
          </a:p>
        </p:txBody>
      </p:sp>
      <p:sp>
        <p:nvSpPr>
          <p:cNvPr id="40" name="TextBox 39"/>
          <p:cNvSpPr txBox="1"/>
          <p:nvPr/>
        </p:nvSpPr>
        <p:spPr>
          <a:xfrm>
            <a:off x="9006839" y="6236208"/>
            <a:ext cx="2697479"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Firstpost · 27 Oct 2026 · click</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480060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568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19568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cxnSp>
        <p:nvCxnSpPr>
          <p:cNvPr id="10" name="Connector 9"/>
          <p:cNvCxnSpPr/>
          <p:nvPr/>
        </p:nvCxnSpPr>
        <p:spPr>
          <a:xfrm>
            <a:off x="941832" y="2368296"/>
            <a:ext cx="0" cy="475488"/>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98448" y="1892807"/>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Sense</a:t>
            </a:r>
          </a:p>
        </p:txBody>
      </p:sp>
      <p:sp>
        <p:nvSpPr>
          <p:cNvPr id="12" name="TextBox 11"/>
          <p:cNvSpPr txBox="1"/>
          <p:nvPr/>
        </p:nvSpPr>
        <p:spPr>
          <a:xfrm>
            <a:off x="1298448" y="21945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robot observes the authorised room and the resident it is helping.</a:t>
            </a:r>
          </a:p>
        </p:txBody>
      </p:sp>
      <p:sp>
        <p:nvSpPr>
          <p:cNvPr id="13" name="Oval 12"/>
          <p:cNvSpPr/>
          <p:nvPr/>
        </p:nvSpPr>
        <p:spPr>
          <a:xfrm>
            <a:off x="749808" y="28712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28712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cxnSp>
        <p:nvCxnSpPr>
          <p:cNvPr id="15" name="Connector 14"/>
          <p:cNvCxnSpPr/>
          <p:nvPr/>
        </p:nvCxnSpPr>
        <p:spPr>
          <a:xfrm>
            <a:off x="941832" y="32826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298448" y="28072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Plan</a:t>
            </a:r>
          </a:p>
        </p:txBody>
      </p:sp>
      <p:sp>
        <p:nvSpPr>
          <p:cNvPr id="17" name="TextBox 16"/>
          <p:cNvSpPr txBox="1"/>
          <p:nvPr/>
        </p:nvSpPr>
        <p:spPr>
          <a:xfrm>
            <a:off x="1298448" y="3108960"/>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It proposes one bounded task, such as handing over water or a walking aid.</a:t>
            </a:r>
          </a:p>
        </p:txBody>
      </p:sp>
      <p:sp>
        <p:nvSpPr>
          <p:cNvPr id="18" name="Oval 17"/>
          <p:cNvSpPr/>
          <p:nvPr/>
        </p:nvSpPr>
        <p:spPr>
          <a:xfrm>
            <a:off x="749808" y="3785615"/>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9808" y="3785615"/>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cxnSp>
        <p:nvCxnSpPr>
          <p:cNvPr id="20" name="Connector 19"/>
          <p:cNvCxnSpPr/>
          <p:nvPr/>
        </p:nvCxnSpPr>
        <p:spPr>
          <a:xfrm>
            <a:off x="941832" y="4197096"/>
            <a:ext cx="0" cy="475487"/>
          </a:xfrm>
          <a:prstGeom prst="line">
            <a:avLst/>
          </a:prstGeom>
          <a:ln w="15875">
            <a:solidFill>
              <a:srgbClr val="C9C4B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98448" y="37216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Authorise</a:t>
            </a:r>
          </a:p>
        </p:txBody>
      </p:sp>
      <p:sp>
        <p:nvSpPr>
          <p:cNvPr id="22" name="TextBox 21"/>
          <p:cNvSpPr txBox="1"/>
          <p:nvPr/>
        </p:nvSpPr>
        <p:spPr>
          <a:xfrm>
            <a:off x="1298448" y="40233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 caregiver confirms the task and keeps the stop control.</a:t>
            </a:r>
          </a:p>
        </p:txBody>
      </p:sp>
      <p:sp>
        <p:nvSpPr>
          <p:cNvPr id="23" name="Oval 22"/>
          <p:cNvSpPr/>
          <p:nvPr/>
        </p:nvSpPr>
        <p:spPr>
          <a:xfrm>
            <a:off x="749808" y="4700016"/>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9808" y="4700016"/>
            <a:ext cx="384048" cy="384048"/>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25" name="TextBox 24"/>
          <p:cNvSpPr txBox="1"/>
          <p:nvPr/>
        </p:nvSpPr>
        <p:spPr>
          <a:xfrm>
            <a:off x="1298448" y="4636008"/>
            <a:ext cx="3886200" cy="310896"/>
          </a:xfrm>
          <a:prstGeom prst="rect">
            <a:avLst/>
          </a:prstGeom>
          <a:noFill/>
        </p:spPr>
        <p:txBody>
          <a:bodyPr wrap="square" lIns="36576" rIns="36576" tIns="18288" bIns="18288" anchor="t">
            <a:spAutoFit/>
          </a:bodyPr>
          <a:lstStyle/>
          <a:p>
            <a:pPr algn="l">
              <a:lnSpc>
                <a:spcPct val="112000"/>
              </a:lnSpc>
            </a:pPr>
            <a:r>
              <a:rPr sz="1400" b="1" i="0">
                <a:solidFill>
                  <a:srgbClr val="21201C"/>
                </a:solidFill>
                <a:latin typeface="Cambria"/>
              </a:rPr>
              <a:t>Verify</a:t>
            </a:r>
          </a:p>
        </p:txBody>
      </p:sp>
      <p:sp>
        <p:nvSpPr>
          <p:cNvPr id="26" name="TextBox 25"/>
          <p:cNvSpPr txBox="1"/>
          <p:nvPr/>
        </p:nvSpPr>
        <p:spPr>
          <a:xfrm>
            <a:off x="1298448" y="4937759"/>
            <a:ext cx="3886200" cy="603503"/>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The caregiver checks the hand-off, the resident’s response and recovery behaviour.</a:t>
            </a:r>
          </a:p>
        </p:txBody>
      </p:sp>
      <p:sp>
        <p:nvSpPr>
          <p:cNvPr id="27" name="Rounded Rectangle 26"/>
          <p:cNvSpPr/>
          <p:nvPr/>
        </p:nvSpPr>
        <p:spPr>
          <a:xfrm>
            <a:off x="5522976" y="1962888"/>
            <a:ext cx="6144768" cy="348086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umanoid-elderly-care.jpg"/>
          <p:cNvPicPr>
            <a:picLocks noChangeAspect="1"/>
          </p:cNvPicPr>
          <p:nvPr/>
        </p:nvPicPr>
        <p:blipFill>
          <a:blip r:embed="rId2"/>
          <a:stretch>
            <a:fillRect/>
          </a:stretch>
        </p:blipFill>
        <p:spPr>
          <a:xfrm>
            <a:off x="5577840" y="2017752"/>
            <a:ext cx="6035040" cy="3371135"/>
          </a:xfrm>
          <a:prstGeom prst="rect">
            <a:avLst/>
          </a:prstGeom>
        </p:spPr>
      </p:pic>
      <p:sp>
        <p:nvSpPr>
          <p:cNvPr id="29" name="TextBox 28"/>
          <p:cNvSpPr txBox="1"/>
          <p:nvPr/>
        </p:nvSpPr>
        <p:spPr>
          <a:xfrm>
            <a:off x="548640" y="5779008"/>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design for elderly care. Manufacturer demos are not proof of safe deployment in homes or care facilities.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Grok Bot and Cue.</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Same Always-On Idea, Five Different Brains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The model decides how it thinks; the use case decides whether it fits your job. Pick by the job, then check who can get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103120"/>
            <a:ext cx="2157984" cy="397763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ogo-muse.png"/>
          <p:cNvPicPr>
            <a:picLocks noChangeAspect="1"/>
          </p:cNvPicPr>
          <p:nvPr/>
        </p:nvPicPr>
        <p:blipFill>
          <a:blip r:embed="rId2"/>
          <a:stretch>
            <a:fillRect/>
          </a:stretch>
        </p:blipFill>
        <p:spPr>
          <a:xfrm>
            <a:off x="685800" y="2212848"/>
            <a:ext cx="502920" cy="502920"/>
          </a:xfrm>
          <a:prstGeom prst="rect">
            <a:avLst/>
          </a:prstGeom>
        </p:spPr>
      </p:pic>
      <p:sp>
        <p:nvSpPr>
          <p:cNvPr id="10" name="TextBox 9"/>
          <p:cNvSpPr txBox="1"/>
          <p:nvPr/>
        </p:nvSpPr>
        <p:spPr>
          <a:xfrm>
            <a:off x="1261872" y="2194560"/>
            <a:ext cx="1380743"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Meta Muse</a:t>
            </a:r>
          </a:p>
        </p:txBody>
      </p:sp>
      <p:sp>
        <p:nvSpPr>
          <p:cNvPr id="11" name="TextBox 10"/>
          <p:cNvSpPr txBox="1"/>
          <p:nvPr/>
        </p:nvSpPr>
        <p:spPr>
          <a:xfrm>
            <a:off x="1261872" y="2487168"/>
            <a:ext cx="1380743" cy="237744"/>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Meta</a:t>
            </a:r>
          </a:p>
        </p:txBody>
      </p:sp>
      <p:sp>
        <p:nvSpPr>
          <p:cNvPr id="12" name="TextBox 11"/>
          <p:cNvSpPr txBox="1"/>
          <p:nvPr/>
        </p:nvSpPr>
        <p:spPr>
          <a:xfrm>
            <a:off x="685800" y="28529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MODEL INSIDE</a:t>
            </a:r>
          </a:p>
        </p:txBody>
      </p:sp>
      <p:sp>
        <p:nvSpPr>
          <p:cNvPr id="13" name="TextBox 12"/>
          <p:cNvSpPr txBox="1"/>
          <p:nvPr/>
        </p:nvSpPr>
        <p:spPr>
          <a:xfrm>
            <a:off x="685800" y="3054096"/>
            <a:ext cx="1883664" cy="347472"/>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Muse Spark</a:t>
            </a:r>
          </a:p>
        </p:txBody>
      </p:sp>
      <p:sp>
        <p:nvSpPr>
          <p:cNvPr id="14" name="TextBox 13"/>
          <p:cNvSpPr txBox="1"/>
          <p:nvPr/>
        </p:nvSpPr>
        <p:spPr>
          <a:xfrm>
            <a:off x="685800" y="3401568"/>
            <a:ext cx="1883664" cy="329184"/>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Muse Wonder coming soon, subscribers first</a:t>
            </a:r>
          </a:p>
        </p:txBody>
      </p:sp>
      <p:sp>
        <p:nvSpPr>
          <p:cNvPr id="15" name="TextBox 14"/>
          <p:cNvSpPr txBox="1"/>
          <p:nvPr/>
        </p:nvSpPr>
        <p:spPr>
          <a:xfrm>
            <a:off x="685800" y="37673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USE IT FOR</a:t>
            </a:r>
          </a:p>
        </p:txBody>
      </p:sp>
      <p:sp>
        <p:nvSpPr>
          <p:cNvPr id="16" name="TextBox 15"/>
          <p:cNvSpPr txBox="1"/>
          <p:nvPr/>
        </p:nvSpPr>
        <p:spPr>
          <a:xfrm>
            <a:off x="685800" y="3968496"/>
            <a:ext cx="1883664" cy="841248"/>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Personal email, schedules and goals; errands with Grab, Shopee and SIA as partners roll out</a:t>
            </a:r>
          </a:p>
        </p:txBody>
      </p:sp>
      <p:sp>
        <p:nvSpPr>
          <p:cNvPr id="17" name="TextBox 16"/>
          <p:cNvSpPr txBox="1"/>
          <p:nvPr/>
        </p:nvSpPr>
        <p:spPr>
          <a:xfrm>
            <a:off x="685800" y="4828032"/>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AT KOPI KAKI</a:t>
            </a:r>
          </a:p>
        </p:txBody>
      </p:sp>
      <p:sp>
        <p:nvSpPr>
          <p:cNvPr id="18" name="TextBox 17"/>
          <p:cNvSpPr txBox="1"/>
          <p:nvPr/>
        </p:nvSpPr>
        <p:spPr>
          <a:xfrm>
            <a:off x="685800" y="5029200"/>
            <a:ext cx="1883664" cy="566928"/>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Sort your inbox and calendar before the Saturday pop-up</a:t>
            </a:r>
          </a:p>
        </p:txBody>
      </p:sp>
      <p:sp>
        <p:nvSpPr>
          <p:cNvPr id="19" name="TextBox 18"/>
          <p:cNvSpPr txBox="1"/>
          <p:nvPr/>
        </p:nvSpPr>
        <p:spPr>
          <a:xfrm>
            <a:off x="685800" y="5641848"/>
            <a:ext cx="1883664" cy="365760"/>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Singapore · free core use</a:t>
            </a:r>
          </a:p>
        </p:txBody>
      </p:sp>
      <p:sp>
        <p:nvSpPr>
          <p:cNvPr id="20" name="Rounded Rectangle 19"/>
          <p:cNvSpPr/>
          <p:nvPr/>
        </p:nvSpPr>
        <p:spPr>
          <a:xfrm>
            <a:off x="2770632" y="2103120"/>
            <a:ext cx="2157984" cy="397763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ogo-dots.png"/>
          <p:cNvPicPr>
            <a:picLocks noChangeAspect="1"/>
          </p:cNvPicPr>
          <p:nvPr/>
        </p:nvPicPr>
        <p:blipFill>
          <a:blip r:embed="rId3"/>
          <a:stretch>
            <a:fillRect/>
          </a:stretch>
        </p:blipFill>
        <p:spPr>
          <a:xfrm>
            <a:off x="2907791" y="2212848"/>
            <a:ext cx="502920" cy="502920"/>
          </a:xfrm>
          <a:prstGeom prst="rect">
            <a:avLst/>
          </a:prstGeom>
        </p:spPr>
      </p:pic>
      <p:sp>
        <p:nvSpPr>
          <p:cNvPr id="22" name="TextBox 21"/>
          <p:cNvSpPr txBox="1"/>
          <p:nvPr/>
        </p:nvSpPr>
        <p:spPr>
          <a:xfrm>
            <a:off x="3483863" y="2194560"/>
            <a:ext cx="1380743"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OpenAI Dots</a:t>
            </a:r>
          </a:p>
        </p:txBody>
      </p:sp>
      <p:sp>
        <p:nvSpPr>
          <p:cNvPr id="23" name="TextBox 22"/>
          <p:cNvSpPr txBox="1"/>
          <p:nvPr/>
        </p:nvSpPr>
        <p:spPr>
          <a:xfrm>
            <a:off x="3483863" y="2487168"/>
            <a:ext cx="1380743" cy="237744"/>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OpenAI</a:t>
            </a:r>
          </a:p>
        </p:txBody>
      </p:sp>
      <p:sp>
        <p:nvSpPr>
          <p:cNvPr id="24" name="TextBox 23"/>
          <p:cNvSpPr txBox="1"/>
          <p:nvPr/>
        </p:nvSpPr>
        <p:spPr>
          <a:xfrm>
            <a:off x="2907791" y="28529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MODEL INSIDE</a:t>
            </a:r>
          </a:p>
        </p:txBody>
      </p:sp>
      <p:sp>
        <p:nvSpPr>
          <p:cNvPr id="25" name="TextBox 24"/>
          <p:cNvSpPr txBox="1"/>
          <p:nvPr/>
        </p:nvSpPr>
        <p:spPr>
          <a:xfrm>
            <a:off x="2907791" y="3054096"/>
            <a:ext cx="1883664" cy="347472"/>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GPT-6 Astra</a:t>
            </a:r>
          </a:p>
        </p:txBody>
      </p:sp>
      <p:sp>
        <p:nvSpPr>
          <p:cNvPr id="26" name="TextBox 25"/>
          <p:cNvSpPr txBox="1"/>
          <p:nvPr/>
        </p:nvSpPr>
        <p:spPr>
          <a:xfrm>
            <a:off x="2907791" y="3401568"/>
            <a:ext cx="1883664" cy="329184"/>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its own cloud computer, 24/7</a:t>
            </a:r>
          </a:p>
        </p:txBody>
      </p:sp>
      <p:sp>
        <p:nvSpPr>
          <p:cNvPr id="27" name="TextBox 26"/>
          <p:cNvSpPr txBox="1"/>
          <p:nvPr/>
        </p:nvSpPr>
        <p:spPr>
          <a:xfrm>
            <a:off x="2907791" y="37673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USE IT FOR</a:t>
            </a:r>
          </a:p>
        </p:txBody>
      </p:sp>
      <p:sp>
        <p:nvSpPr>
          <p:cNvPr id="28" name="TextBox 27"/>
          <p:cNvSpPr txBox="1"/>
          <p:nvPr/>
        </p:nvSpPr>
        <p:spPr>
          <a:xfrm>
            <a:off x="2907791" y="3968496"/>
            <a:ext cx="1883664" cy="841248"/>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Ongoing goals inside ChatGPT, Slack and Teams; hands code to Codex</a:t>
            </a:r>
          </a:p>
        </p:txBody>
      </p:sp>
      <p:sp>
        <p:nvSpPr>
          <p:cNvPr id="29" name="TextBox 28"/>
          <p:cNvSpPr txBox="1"/>
          <p:nvPr/>
        </p:nvSpPr>
        <p:spPr>
          <a:xfrm>
            <a:off x="2907791" y="4828032"/>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AT KOPI KAKI</a:t>
            </a:r>
          </a:p>
        </p:txBody>
      </p:sp>
      <p:sp>
        <p:nvSpPr>
          <p:cNvPr id="30" name="TextBox 29"/>
          <p:cNvSpPr txBox="1"/>
          <p:nvPr/>
        </p:nvSpPr>
        <p:spPr>
          <a:xfrm>
            <a:off x="2907791" y="5029200"/>
            <a:ext cx="1883664" cy="566928"/>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Check pre-orders every morning and flag a dip</a:t>
            </a:r>
          </a:p>
        </p:txBody>
      </p:sp>
      <p:sp>
        <p:nvSpPr>
          <p:cNvPr id="31" name="TextBox 30"/>
          <p:cNvSpPr txBox="1"/>
          <p:nvPr/>
        </p:nvSpPr>
        <p:spPr>
          <a:xfrm>
            <a:off x="2907791" y="5641848"/>
            <a:ext cx="1883664" cy="365760"/>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ChatGPT Pro · Business Premium</a:t>
            </a:r>
          </a:p>
        </p:txBody>
      </p:sp>
      <p:sp>
        <p:nvSpPr>
          <p:cNvPr id="32" name="Rounded Rectangle 31"/>
          <p:cNvSpPr/>
          <p:nvPr/>
        </p:nvSpPr>
        <p:spPr>
          <a:xfrm>
            <a:off x="4992623" y="2103120"/>
            <a:ext cx="2157984" cy="397763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ogo-grok.png"/>
          <p:cNvPicPr>
            <a:picLocks noChangeAspect="1"/>
          </p:cNvPicPr>
          <p:nvPr/>
        </p:nvPicPr>
        <p:blipFill>
          <a:blip r:embed="rId4"/>
          <a:stretch>
            <a:fillRect/>
          </a:stretch>
        </p:blipFill>
        <p:spPr>
          <a:xfrm>
            <a:off x="5129783" y="2212848"/>
            <a:ext cx="502920" cy="502920"/>
          </a:xfrm>
          <a:prstGeom prst="rect">
            <a:avLst/>
          </a:prstGeom>
        </p:spPr>
      </p:pic>
      <p:sp>
        <p:nvSpPr>
          <p:cNvPr id="34" name="TextBox 33"/>
          <p:cNvSpPr txBox="1"/>
          <p:nvPr/>
        </p:nvSpPr>
        <p:spPr>
          <a:xfrm>
            <a:off x="5705855" y="2194560"/>
            <a:ext cx="1380743"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Grok Bot</a:t>
            </a:r>
          </a:p>
        </p:txBody>
      </p:sp>
      <p:sp>
        <p:nvSpPr>
          <p:cNvPr id="35" name="TextBox 34"/>
          <p:cNvSpPr txBox="1"/>
          <p:nvPr/>
        </p:nvSpPr>
        <p:spPr>
          <a:xfrm>
            <a:off x="5705855" y="2487168"/>
            <a:ext cx="1380743" cy="237744"/>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xAI</a:t>
            </a:r>
          </a:p>
        </p:txBody>
      </p:sp>
      <p:sp>
        <p:nvSpPr>
          <p:cNvPr id="36" name="TextBox 35"/>
          <p:cNvSpPr txBox="1"/>
          <p:nvPr/>
        </p:nvSpPr>
        <p:spPr>
          <a:xfrm>
            <a:off x="5129783" y="28529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MODEL INSIDE</a:t>
            </a:r>
          </a:p>
        </p:txBody>
      </p:sp>
      <p:sp>
        <p:nvSpPr>
          <p:cNvPr id="37" name="TextBox 36"/>
          <p:cNvSpPr txBox="1"/>
          <p:nvPr/>
        </p:nvSpPr>
        <p:spPr>
          <a:xfrm>
            <a:off x="5129783" y="3054096"/>
            <a:ext cx="1883664" cy="347472"/>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Grok 4.6 </a:t>
            </a:r>
            <a:r>
              <a:rPr sz="1550" b="1" i="0">
                <a:solidFill>
                  <a:srgbClr val="FFFFFF"/>
                </a:solidFill>
                <a:latin typeface="Calibri"/>
              </a:rPr>
              <a:t>→</a:t>
            </a:r>
            <a:r>
              <a:rPr sz="1550" b="1" i="0">
                <a:solidFill>
                  <a:srgbClr val="FFFFFF"/>
                </a:solidFill>
                <a:latin typeface="Cambria"/>
              </a:rPr>
              <a:t> 4.7</a:t>
            </a:r>
          </a:p>
        </p:txBody>
      </p:sp>
      <p:sp>
        <p:nvSpPr>
          <p:cNvPr id="38" name="TextBox 37"/>
          <p:cNvSpPr txBox="1"/>
          <p:nvPr/>
        </p:nvSpPr>
        <p:spPr>
          <a:xfrm>
            <a:off x="5129783" y="3401568"/>
            <a:ext cx="1883664" cy="329184"/>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4.7 is trained for the Grok Bot harness</a:t>
            </a:r>
          </a:p>
        </p:txBody>
      </p:sp>
      <p:sp>
        <p:nvSpPr>
          <p:cNvPr id="39" name="TextBox 38"/>
          <p:cNvSpPr txBox="1"/>
          <p:nvPr/>
        </p:nvSpPr>
        <p:spPr>
          <a:xfrm>
            <a:off x="5129783" y="37673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USE IT FOR</a:t>
            </a:r>
          </a:p>
        </p:txBody>
      </p:sp>
      <p:sp>
        <p:nvSpPr>
          <p:cNvPr id="40" name="TextBox 39"/>
          <p:cNvSpPr txBox="1"/>
          <p:nvPr/>
        </p:nvSpPr>
        <p:spPr>
          <a:xfrm>
            <a:off x="5129783" y="3968496"/>
            <a:ext cx="1883664" cy="841248"/>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A team of named bots (Research, Sales, Ops) on one shared cloud computer</a:t>
            </a:r>
          </a:p>
        </p:txBody>
      </p:sp>
      <p:sp>
        <p:nvSpPr>
          <p:cNvPr id="41" name="TextBox 40"/>
          <p:cNvSpPr txBox="1"/>
          <p:nvPr/>
        </p:nvSpPr>
        <p:spPr>
          <a:xfrm>
            <a:off x="5129783" y="4828032"/>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AT KOPI KAKI</a:t>
            </a:r>
          </a:p>
        </p:txBody>
      </p:sp>
      <p:sp>
        <p:nvSpPr>
          <p:cNvPr id="42" name="TextBox 41"/>
          <p:cNvSpPr txBox="1"/>
          <p:nvPr/>
        </p:nvSpPr>
        <p:spPr>
          <a:xfrm>
            <a:off x="5129783" y="5029200"/>
            <a:ext cx="1883664" cy="566928"/>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A Research bot and a Sales bot share one supplier list</a:t>
            </a:r>
          </a:p>
        </p:txBody>
      </p:sp>
      <p:sp>
        <p:nvSpPr>
          <p:cNvPr id="43" name="TextBox 42"/>
          <p:cNvSpPr txBox="1"/>
          <p:nvPr/>
        </p:nvSpPr>
        <p:spPr>
          <a:xfrm>
            <a:off x="5129783" y="5641848"/>
            <a:ext cx="1883664" cy="365760"/>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Paid plans · check yours</a:t>
            </a:r>
          </a:p>
        </p:txBody>
      </p:sp>
      <p:sp>
        <p:nvSpPr>
          <p:cNvPr id="44" name="Rounded Rectangle 43"/>
          <p:cNvSpPr/>
          <p:nvPr/>
        </p:nvSpPr>
        <p:spPr>
          <a:xfrm>
            <a:off x="7214615" y="2103120"/>
            <a:ext cx="2157984" cy="397763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logo-duet.png"/>
          <p:cNvPicPr>
            <a:picLocks noChangeAspect="1"/>
          </p:cNvPicPr>
          <p:nvPr/>
        </p:nvPicPr>
        <p:blipFill>
          <a:blip r:embed="rId5"/>
          <a:stretch>
            <a:fillRect/>
          </a:stretch>
        </p:blipFill>
        <p:spPr>
          <a:xfrm>
            <a:off x="7351775" y="2212848"/>
            <a:ext cx="502920" cy="502920"/>
          </a:xfrm>
          <a:prstGeom prst="rect">
            <a:avLst/>
          </a:prstGeom>
        </p:spPr>
      </p:pic>
      <p:sp>
        <p:nvSpPr>
          <p:cNvPr id="46" name="TextBox 45"/>
          <p:cNvSpPr txBox="1"/>
          <p:nvPr/>
        </p:nvSpPr>
        <p:spPr>
          <a:xfrm>
            <a:off x="7927847" y="2194560"/>
            <a:ext cx="1380743"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Claude Duet</a:t>
            </a:r>
          </a:p>
        </p:txBody>
      </p:sp>
      <p:sp>
        <p:nvSpPr>
          <p:cNvPr id="47" name="TextBox 46"/>
          <p:cNvSpPr txBox="1"/>
          <p:nvPr/>
        </p:nvSpPr>
        <p:spPr>
          <a:xfrm>
            <a:off x="7927847" y="2487168"/>
            <a:ext cx="1380743" cy="237744"/>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Anthropic</a:t>
            </a:r>
          </a:p>
        </p:txBody>
      </p:sp>
      <p:sp>
        <p:nvSpPr>
          <p:cNvPr id="48" name="TextBox 47"/>
          <p:cNvSpPr txBox="1"/>
          <p:nvPr/>
        </p:nvSpPr>
        <p:spPr>
          <a:xfrm>
            <a:off x="7351775" y="28529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MODEL INSIDE</a:t>
            </a:r>
          </a:p>
        </p:txBody>
      </p:sp>
      <p:sp>
        <p:nvSpPr>
          <p:cNvPr id="49" name="TextBox 48"/>
          <p:cNvSpPr txBox="1"/>
          <p:nvPr/>
        </p:nvSpPr>
        <p:spPr>
          <a:xfrm>
            <a:off x="7351775" y="3054096"/>
            <a:ext cx="1883664" cy="347472"/>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Claude Opus 5.5</a:t>
            </a:r>
          </a:p>
        </p:txBody>
      </p:sp>
      <p:sp>
        <p:nvSpPr>
          <p:cNvPr id="50" name="TextBox 49"/>
          <p:cNvSpPr txBox="1"/>
          <p:nvPr/>
        </p:nvSpPr>
        <p:spPr>
          <a:xfrm>
            <a:off x="7351775" y="3401568"/>
            <a:ext cx="1883664" cy="329184"/>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chosen for judgement: what needs you</a:t>
            </a:r>
          </a:p>
        </p:txBody>
      </p:sp>
      <p:sp>
        <p:nvSpPr>
          <p:cNvPr id="51" name="TextBox 50"/>
          <p:cNvSpPr txBox="1"/>
          <p:nvPr/>
        </p:nvSpPr>
        <p:spPr>
          <a:xfrm>
            <a:off x="7351775" y="37673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USE IT FOR</a:t>
            </a:r>
          </a:p>
        </p:txBody>
      </p:sp>
      <p:sp>
        <p:nvSpPr>
          <p:cNvPr id="52" name="TextBox 51"/>
          <p:cNvSpPr txBox="1"/>
          <p:nvPr/>
        </p:nvSpPr>
        <p:spPr>
          <a:xfrm>
            <a:off x="7351775" y="3968496"/>
            <a:ext cx="1883664" cy="841248"/>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A morning brief, business inbox, invoices and follow-ups; asks before it sends, pays or signs</a:t>
            </a:r>
          </a:p>
        </p:txBody>
      </p:sp>
      <p:sp>
        <p:nvSpPr>
          <p:cNvPr id="53" name="TextBox 52"/>
          <p:cNvSpPr txBox="1"/>
          <p:nvPr/>
        </p:nvSpPr>
        <p:spPr>
          <a:xfrm>
            <a:off x="7351775" y="4828032"/>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AT KOPI KAKI</a:t>
            </a:r>
          </a:p>
        </p:txBody>
      </p:sp>
      <p:sp>
        <p:nvSpPr>
          <p:cNvPr id="54" name="TextBox 53"/>
          <p:cNvSpPr txBox="1"/>
          <p:nvPr/>
        </p:nvSpPr>
        <p:spPr>
          <a:xfrm>
            <a:off x="7351775" y="5029200"/>
            <a:ext cx="1883664" cy="566928"/>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A 7 am brief: overdue invoices and supplier emails</a:t>
            </a:r>
          </a:p>
        </p:txBody>
      </p:sp>
      <p:sp>
        <p:nvSpPr>
          <p:cNvPr id="55" name="TextBox 54"/>
          <p:cNvSpPr txBox="1"/>
          <p:nvPr/>
        </p:nvSpPr>
        <p:spPr>
          <a:xfrm>
            <a:off x="7351775" y="5641848"/>
            <a:ext cx="1883664" cy="365760"/>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US Pro/Max · waitlist</a:t>
            </a:r>
          </a:p>
        </p:txBody>
      </p:sp>
      <p:sp>
        <p:nvSpPr>
          <p:cNvPr id="56" name="Rounded Rectangle 55"/>
          <p:cNvSpPr/>
          <p:nvPr/>
        </p:nvSpPr>
        <p:spPr>
          <a:xfrm>
            <a:off x="9436607" y="2103120"/>
            <a:ext cx="2157984" cy="3977639"/>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logo-cue.png"/>
          <p:cNvPicPr>
            <a:picLocks noChangeAspect="1"/>
          </p:cNvPicPr>
          <p:nvPr/>
        </p:nvPicPr>
        <p:blipFill>
          <a:blip r:embed="rId6"/>
          <a:stretch>
            <a:fillRect/>
          </a:stretch>
        </p:blipFill>
        <p:spPr>
          <a:xfrm>
            <a:off x="9573767" y="2212848"/>
            <a:ext cx="502920" cy="502920"/>
          </a:xfrm>
          <a:prstGeom prst="rect">
            <a:avLst/>
          </a:prstGeom>
        </p:spPr>
      </p:pic>
      <p:sp>
        <p:nvSpPr>
          <p:cNvPr id="58" name="TextBox 57"/>
          <p:cNvSpPr txBox="1"/>
          <p:nvPr/>
        </p:nvSpPr>
        <p:spPr>
          <a:xfrm>
            <a:off x="10149839" y="2194560"/>
            <a:ext cx="1380743"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Manus Cue</a:t>
            </a:r>
          </a:p>
        </p:txBody>
      </p:sp>
      <p:sp>
        <p:nvSpPr>
          <p:cNvPr id="59" name="TextBox 58"/>
          <p:cNvSpPr txBox="1"/>
          <p:nvPr/>
        </p:nvSpPr>
        <p:spPr>
          <a:xfrm>
            <a:off x="10149839" y="2487168"/>
            <a:ext cx="1380743" cy="237744"/>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Manus</a:t>
            </a:r>
          </a:p>
        </p:txBody>
      </p:sp>
      <p:sp>
        <p:nvSpPr>
          <p:cNvPr id="60" name="TextBox 59"/>
          <p:cNvSpPr txBox="1"/>
          <p:nvPr/>
        </p:nvSpPr>
        <p:spPr>
          <a:xfrm>
            <a:off x="9573767" y="28529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MODEL INSIDE</a:t>
            </a:r>
          </a:p>
        </p:txBody>
      </p:sp>
      <p:sp>
        <p:nvSpPr>
          <p:cNvPr id="61" name="TextBox 60"/>
          <p:cNvSpPr txBox="1"/>
          <p:nvPr/>
        </p:nvSpPr>
        <p:spPr>
          <a:xfrm>
            <a:off x="9573767" y="3054096"/>
            <a:ext cx="1883664" cy="347472"/>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Manus 2.0 harness</a:t>
            </a:r>
          </a:p>
        </p:txBody>
      </p:sp>
      <p:sp>
        <p:nvSpPr>
          <p:cNvPr id="62" name="TextBox 61"/>
          <p:cNvSpPr txBox="1"/>
          <p:nvPr/>
        </p:nvSpPr>
        <p:spPr>
          <a:xfrm>
            <a:off x="9573767" y="3401568"/>
            <a:ext cx="1883664" cy="329184"/>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model not published by Manus</a:t>
            </a:r>
          </a:p>
        </p:txBody>
      </p:sp>
      <p:sp>
        <p:nvSpPr>
          <p:cNvPr id="63" name="TextBox 62"/>
          <p:cNvSpPr txBox="1"/>
          <p:nvPr/>
        </p:nvSpPr>
        <p:spPr>
          <a:xfrm>
            <a:off x="9573767" y="3767328"/>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USE IT FOR</a:t>
            </a:r>
          </a:p>
        </p:txBody>
      </p:sp>
      <p:sp>
        <p:nvSpPr>
          <p:cNvPr id="64" name="TextBox 63"/>
          <p:cNvSpPr txBox="1"/>
          <p:nvPr/>
        </p:nvSpPr>
        <p:spPr>
          <a:xfrm>
            <a:off x="9573767" y="3968496"/>
            <a:ext cx="1883664" cy="841248"/>
          </a:xfrm>
          <a:prstGeom prst="rect">
            <a:avLst/>
          </a:prstGeom>
          <a:noFill/>
        </p:spPr>
        <p:txBody>
          <a:bodyPr wrap="square" lIns="36576" rIns="36576" tIns="18288" bIns="18288" anchor="t">
            <a:spAutoFit/>
          </a:bodyPr>
          <a:lstStyle/>
          <a:p>
            <a:pPr algn="l">
              <a:lnSpc>
                <a:spcPct val="112000"/>
              </a:lnSpc>
            </a:pPr>
            <a:r>
              <a:rPr sz="1050" b="0" i="0">
                <a:solidFill>
                  <a:srgbClr val="E8E5DE"/>
                </a:solidFill>
                <a:latin typeface="Calibri"/>
              </a:rPr>
              <a:t>Agents with their own email, phone and wallet: calls, bookings, payments within a budget</a:t>
            </a:r>
          </a:p>
        </p:txBody>
      </p:sp>
      <p:sp>
        <p:nvSpPr>
          <p:cNvPr id="65" name="TextBox 64"/>
          <p:cNvSpPr txBox="1"/>
          <p:nvPr/>
        </p:nvSpPr>
        <p:spPr>
          <a:xfrm>
            <a:off x="9573767" y="4828032"/>
            <a:ext cx="1883664" cy="201168"/>
          </a:xfrm>
          <a:prstGeom prst="rect">
            <a:avLst/>
          </a:prstGeom>
          <a:noFill/>
        </p:spPr>
        <p:txBody>
          <a:bodyPr wrap="square" lIns="36576" rIns="36576" tIns="18288" bIns="18288" anchor="t">
            <a:spAutoFit/>
          </a:bodyPr>
          <a:lstStyle/>
          <a:p>
            <a:pPr algn="l">
              <a:lnSpc>
                <a:spcPct val="112000"/>
              </a:lnSpc>
            </a:pPr>
            <a:r>
              <a:rPr sz="900" b="1" i="0">
                <a:solidFill>
                  <a:srgbClr val="D97757"/>
                </a:solidFill>
                <a:latin typeface="Calibri"/>
              </a:rPr>
              <a:t>AT KOPI KAKI</a:t>
            </a:r>
          </a:p>
        </p:txBody>
      </p:sp>
      <p:sp>
        <p:nvSpPr>
          <p:cNvPr id="66" name="TextBox 65"/>
          <p:cNvSpPr txBox="1"/>
          <p:nvPr/>
        </p:nvSpPr>
        <p:spPr>
          <a:xfrm>
            <a:off x="9573767" y="5029200"/>
            <a:ext cx="1883664" cy="566928"/>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Call three venues and shortlist the launch party</a:t>
            </a:r>
          </a:p>
        </p:txBody>
      </p:sp>
      <p:sp>
        <p:nvSpPr>
          <p:cNvPr id="67" name="TextBox 66"/>
          <p:cNvSpPr txBox="1"/>
          <p:nvPr/>
        </p:nvSpPr>
        <p:spPr>
          <a:xfrm>
            <a:off x="9573767" y="5641848"/>
            <a:ext cx="1883664" cy="365760"/>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Early access · invite code</a:t>
            </a:r>
          </a:p>
        </p:txBody>
      </p:sp>
      <p:sp>
        <p:nvSpPr>
          <p:cNvPr id="68" name="TextBox 67"/>
          <p:cNvSpPr txBox="1"/>
          <p:nvPr/>
        </p:nvSpPr>
        <p:spPr>
          <a:xfrm>
            <a:off x="548640" y="6144768"/>
            <a:ext cx="11064240" cy="219456"/>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Models checked 31 Oct 2026 from Meta, OpenAI, xAI, Anthropic and Manus; vendors swap models without notice. Comparison: BULDRR, 22 Oct 2026.</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FIVE</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Before You Connect Anything: Who Asks First, Who Can Get In</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Same always-on idea, different guard-rails. One briefing slide per agent follows, with its official source.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9" cy="3352800"/>
        </p:xfrm>
        <a:graphic>
          <a:graphicData uri="http://schemas.openxmlformats.org/drawingml/2006/table">
            <a:tbl>
              <a:tblPr firstRow="0" bandRow="0">
                <a:tableStyleId>{5C22544A-7EE6-4342-B048-85BDC9FD1C3A}</a:tableStyleId>
              </a:tblPr>
              <a:tblGrid>
                <a:gridCol w="1463040"/>
                <a:gridCol w="5760719"/>
                <a:gridCol w="38404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579120">
                <a:tc>
                  <a:txBody>
                    <a:bodyPr wrap="square"/>
                    <a:lstStyle/>
                    <a:p>
                      <a:r>
                        <a:rPr b="1" sz="1500">
                          <a:solidFill>
                            <a:srgbClr val="21201C"/>
                          </a:solidFill>
                          <a:latin typeface="Cambria"/>
                        </a:rPr>
                        <a:t>Muse</a:t>
                      </a:r>
                    </a:p>
                  </a:txBody>
                  <a:tcPr marL="64008" marR="64008" marT="27432" marB="27432" anchor="ctr">
                    <a:solidFill>
                      <a:srgbClr val="FFFFFF"/>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FFFFF"/>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FFFFF"/>
                    </a:solidFill>
                  </a:tcPr>
                </a:tc>
              </a:tr>
              <a:tr h="579120">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Pro, Business Premium; Enterprise beta</a:t>
                      </a:r>
                    </a:p>
                  </a:txBody>
                  <a:tcPr marL="64008" marR="64008" marT="27432" marB="27432" anchor="ctr">
                    <a:solidFill>
                      <a:srgbClr val="F3F1EB"/>
                    </a:solidFill>
                  </a:tcPr>
                </a:tc>
              </a:tr>
              <a:tr h="579120">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Check your plan’s access</a:t>
                      </a:r>
                    </a:p>
                  </a:txBody>
                  <a:tcPr marL="64008" marR="64008" marT="27432" marB="27432" anchor="ctr">
                    <a:solidFill>
                      <a:srgbClr val="FFFFFF"/>
                    </a:solidFill>
                  </a:tcPr>
                </a:tc>
              </a:tr>
              <a:tr h="579120">
                <a:tc>
                  <a:txBody>
                    <a:bodyPr wrap="square"/>
                    <a:lstStyle/>
                    <a:p>
                      <a:r>
                        <a:rPr b="1" sz="1500">
                          <a:solidFill>
                            <a:srgbClr val="21201C"/>
                          </a:solidFill>
                          <a:latin typeface="Cambria"/>
                        </a:rPr>
                        <a:t>Duet</a:t>
                      </a:r>
                    </a:p>
                  </a:txBody>
                  <a:tcPr marL="64008" marR="64008" marT="27432" marB="27432" anchor="ctr">
                    <a:solidFill>
                      <a:srgbClr val="F3F1EB"/>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3F1EB"/>
                    </a:solidFill>
                  </a:tcPr>
                </a:tc>
                <a:tc>
                  <a:txBody>
                    <a:bodyPr wrap="square"/>
                    <a:lstStyle/>
                    <a:p>
                      <a:r>
                        <a:rPr b="0" sz="1500">
                          <a:solidFill>
                            <a:srgbClr val="6B6862"/>
                          </a:solidFill>
                          <a:latin typeface="Calibri"/>
                        </a:rPr>
                        <a:t>US Pro/Max waitlist preview</a:t>
                      </a:r>
                    </a:p>
                  </a:txBody>
                  <a:tcPr marL="64008" marR="64008" marT="27432" marB="27432" anchor="ctr">
                    <a:solidFill>
                      <a:srgbClr val="F3F1EB"/>
                    </a:solidFill>
                  </a:tcPr>
                </a:tc>
              </a:tr>
              <a:tr h="579120">
                <a:tc>
                  <a:txBody>
                    <a:bodyPr wrap="square"/>
                    <a:lstStyle/>
                    <a:p>
                      <a:r>
                        <a:rPr b="1" sz="1500">
                          <a:solidFill>
                            <a:srgbClr val="21201C"/>
                          </a:solidFill>
                          <a:latin typeface="Cambria"/>
                        </a:rPr>
                        <a:t>Cue</a:t>
                      </a:r>
                    </a:p>
                  </a:txBody>
                  <a:tcPr marL="64008" marR="64008" marT="27432" marB="27432" anchor="ctr">
                    <a:solidFill>
                      <a:srgbClr val="FFFFFF"/>
                    </a:solidFill>
                  </a:tcPr>
                </a:tc>
                <a:tc>
                  <a:txBody>
                    <a:bodyPr wrap="square"/>
                    <a:lstStyle/>
                    <a:p>
                      <a:r>
                        <a:rPr b="0" sz="1500">
                          <a:solidFill>
                            <a:srgbClr val="6B6862"/>
                          </a:solidFill>
                          <a:latin typeface="Calibri"/>
                        </a:rPr>
                        <a:t>Per-agent permissions, wallet budget, review boundaries</a:t>
                      </a:r>
                    </a:p>
                  </a:txBody>
                  <a:tcPr marL="64008" marR="64008" marT="27432" marB="27432" anchor="ctr">
                    <a:solidFill>
                      <a:srgbClr val="FFFFFF"/>
                    </a:solidFill>
                  </a:tcPr>
                </a:tc>
                <a:tc>
                  <a:txBody>
                    <a:bodyPr wrap="square"/>
                    <a:lstStyle/>
                    <a:p>
                      <a:r>
                        <a:rPr b="0" sz="1500">
                          <a:solidFill>
                            <a:srgbClr val="6B6862"/>
                          </a:solidFill>
                          <a:latin typeface="Calibri"/>
                        </a:rPr>
                        <a:t>Early access; free with invite code</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
        <p:nvSpPr>
          <p:cNvPr id="10" name="TextBox 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Comparison reference: BULDRR · click to read</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META MUSE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Meta · available in Singapore since 27 Oct 2026 · Activity 1A: everyone joins with the trainer’s invite code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mus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eta Muse video" descr="Meta Mus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eck-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Does the work</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Manages email, coordinates schedules and turns long-term goals into action plans.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lug-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Connected apps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Gmail, Google Calendar and Instagram; Singapore partners such as Grab, Shopee and Singapore Airlines are rolling out.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Asks before acting</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Checks with you before sending an email or making a purchase; retrieve-only connectors available.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Secure and mostly free</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Muse Secure VM keeps passwords and payment methods out of the agent’s view; iOS, Android and muse.ai.</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Muse from Meta (iOS / Android) or muse.ai.</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Sign in</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Complete onboarding; link your Meta accounts.</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Gmail</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Settings → Connectors → Connect beside Gmail → Continue.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Approvals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Keep retrieve-only where offered; approve every send or invite.</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Partner features roll out progressively; no bookings or purchases in class.</a:t>
            </a:r>
          </a:p>
        </p:txBody>
      </p:sp>
      <p:sp>
        <p:nvSpPr>
          <p:cNvPr id="55" name="TextBox 54"/>
          <p:cNvSpPr txBox="1"/>
          <p:nvPr/>
        </p:nvSpPr>
        <p:spPr>
          <a:xfrm>
            <a:off x="640080" y="6236208"/>
            <a:ext cx="2139696" cy="219456"/>
          </a:xfrm>
          <a:prstGeom prst="rect">
            <a:avLst/>
          </a:prstGeom>
          <a:noFill/>
        </p:spPr>
        <p:txBody>
          <a:bodyPr wrap="square" lIns="36576" rIns="36576" tIns="18288" bIns="18288" anchor="t">
            <a:spAutoFit/>
          </a:bodyPr>
          <a:lstStyle/>
          <a:p>
            <a:pPr algn="l">
              <a:lnSpc>
                <a:spcPct val="112000"/>
              </a:lnSpc>
            </a:pPr>
            <a:r>
              <a:rPr sz="950" b="0" i="0">
                <a:solidFill>
                  <a:srgbClr val="3A7D7B"/>
                </a:solidFill>
                <a:latin typeface="Calibri"/>
                <a:hlinkClick r:id="rId11"/>
              </a:rPr>
              <a:t>Meta Newsroom: Muse in SG · click</a:t>
            </a:r>
          </a:p>
        </p:txBody>
      </p:sp>
      <p:sp>
        <p:nvSpPr>
          <p:cNvPr id="56" name="TextBox 55"/>
          <p:cNvSpPr txBox="1"/>
          <p:nvPr/>
        </p:nvSpPr>
        <p:spPr>
          <a:xfrm>
            <a:off x="2871215"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2"/>
              </a:rPr>
              <a:t>Meta Help: Connectors · click</a:t>
            </a:r>
          </a:p>
        </p:txBody>
      </p:sp>
      <p:sp>
        <p:nvSpPr>
          <p:cNvPr id="57" name="TextBox 56"/>
          <p:cNvSpPr txBox="1"/>
          <p:nvPr/>
        </p:nvSpPr>
        <p:spPr>
          <a:xfrm>
            <a:off x="5102352"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3"/>
              </a:rPr>
              <a:t>Muse iOS (SG) · click</a:t>
            </a:r>
          </a:p>
        </p:txBody>
      </p:sp>
      <p:sp>
        <p:nvSpPr>
          <p:cNvPr id="58" name="TextBox 57"/>
          <p:cNvSpPr txBox="1"/>
          <p:nvPr/>
        </p:nvSpPr>
        <p:spPr>
          <a:xfrm>
            <a:off x="7333488"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4"/>
              </a:rPr>
              <a:t>Muse Android (SG) · click</a:t>
            </a:r>
          </a:p>
        </p:txBody>
      </p:sp>
      <p:sp>
        <p:nvSpPr>
          <p:cNvPr id="59" name="TextBox 58"/>
          <p:cNvSpPr txBox="1"/>
          <p:nvPr/>
        </p:nvSpPr>
        <p:spPr>
          <a:xfrm>
            <a:off x="9564624" y="6236208"/>
            <a:ext cx="2139696"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10 ways to use Muse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OPENAI DOTS</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OpenAI Dots: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OpenAI · rolling out to ChatGPT Pro and Business Premium · Activity 1B if your plan has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ots.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OpenAI Dots video" descr="OpenAI Dots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arget-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Ongoing responsibilities</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Give one dot several long-running jobs instead of one-off chats.</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Its own cloud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Works in its own browser; optionally on your computer while the ChatGPT app is open.</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Plugins and channels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Email, calendar and files through plugins; Slack and other contact methods for messages.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Delegates and schedules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Hands parts to ChatGPT Work or Codex; fixed schedules, event triggers and an Activity view.</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Open dots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ChatGPT mobile app, desktop app or desktop browser (not mobile web).</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dot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Follow the intro; name it and pick its look (changeable later).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Plugins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email, calendar and files plugins; authorise each one.</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Channels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1000" b="0" i="0">
                <a:solidFill>
                  <a:srgbClr val="C9C4B9"/>
                </a:solidFill>
                <a:latin typeface="Calibri"/>
              </a:rPr>
              <a:t>Optional: profile → Add a contact method such as Slack.</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Assign work</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Describe an ongoing responsibility, its sources and your decisions.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messaging channel does not grant inbox access. Ending a chat does not stop assigned work: check Activity.</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ChatGPT Learn: Get started with your dot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How to set up your first dot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GROK BOT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Grok Bot: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xAI · Grok Bot documentation, updated 28 Oct 2026 · check your plan’s access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grok.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Grok Bot video" descr="Grok Bo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rv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Persistent cloud computer</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Browser, command line and files; keeps working while your laptop is closed.</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users-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Several bots, one computer</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bot has its own screen; sessions, files and logins are shared across your bots.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mail-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Apps, MCP and its own email</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Calendar, Sheets, Slack and Notion; mail to name@mail.grokbot.com can start routines.</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ey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Watch, take over, review</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Live computer view; take control for a sign-in or CAPTCHA; Auto Review gates sends.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Start at x.ai/bot; get the desktop or mobile app and sign in.</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 bot</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Sidebar + → Create a Bot → name it → Create.</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Connect apps (mobile: avatar → Connect apps); add Gmail.</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Authorise</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Finish the Google login in the browser; repeat for Google Calendar.</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Verify</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Both show under Installed; “Added” is not signed in, so fix “Needs auth”.</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and logins. The bot’s @mail.grokbot.com inbox is not your Gmail.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xAI docs: Grok Bot computer and apps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3 steps to set up Grok Bot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CLAUDE DUET</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Claude Duet: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Anthropic research preview · 21 Oct 2026 · US Pro/Max via waitlist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duet.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Claude Duet video" descr="Claude Duet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alenda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Morning brief, then watching</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 daily brief, then checks every few hours; messages you only when something needs you.</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erver-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Works while you are away</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Its own virtual machine and browser: meetings, dashboards, forecasts, prototypes and web apps.</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6,000+ connectors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Slack, QuickBooks, Stripe, HubSpot, Docusign, Canva, Shopify and more.</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hield-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You approve actions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Shows exactly what it will send, pay, sign or delete and waits; some actions stay off-limits.</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access</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Pro or Max plan; join the Claude Duet waitlist on claude.com.</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Install</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Open the Claude Duet app (iOS / Android) or claude.ai once invited.</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Carry context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Memory, skills and apps carry over from your Claude account.</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apps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Add Gmail, Calendar, Slack or others from the Claude Marketplace.</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Set the brief</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Tell it what to watch and how often; approve every send or payment.</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Background checks use your plan limits; some actions stay off-limits even with approval.</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Anthropic: Introducing Claude Duet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Claude Duet is here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964692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MANUS CUE</a:t>
            </a:r>
          </a:p>
        </p:txBody>
      </p:sp>
      <p:sp>
        <p:nvSpPr>
          <p:cNvPr id="3" name="TextBox 2"/>
          <p:cNvSpPr txBox="1"/>
          <p:nvPr/>
        </p:nvSpPr>
        <p:spPr>
          <a:xfrm>
            <a:off x="548640" y="658368"/>
            <a:ext cx="964692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Manus Cue: What It Does and How to Set It Up</a:t>
            </a:r>
          </a:p>
        </p:txBody>
      </p:sp>
      <p:sp>
        <p:nvSpPr>
          <p:cNvPr id="4" name="TextBox 3"/>
          <p:cNvSpPr txBox="1"/>
          <p:nvPr/>
        </p:nvSpPr>
        <p:spPr>
          <a:xfrm>
            <a:off x="548640" y="1481328"/>
            <a:ext cx="964692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Manus · early access since 28 Sep 2026 · free with an invite code · reference route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pic>
        <p:nvPicPr>
          <p:cNvPr id="8" name="Picture 7" descr="logo-cue.png"/>
          <p:cNvPicPr>
            <a:picLocks noChangeAspect="1"/>
          </p:cNvPicPr>
          <p:nvPr/>
        </p:nvPicPr>
        <p:blipFill>
          <a:blip r:embed="rId2"/>
          <a:stretch>
            <a:fillRect/>
          </a:stretch>
        </p:blipFill>
        <p:spPr>
          <a:xfrm>
            <a:off x="10442448" y="457200"/>
            <a:ext cx="1170432" cy="1170432"/>
          </a:xfrm>
          <a:prstGeom prst="rect">
            <a:avLst/>
          </a:prstGeom>
        </p:spPr>
      </p:pic>
      <p:sp>
        <p:nvSpPr>
          <p:cNvPr id="9" name="Rounded Rectangle 8"/>
          <p:cNvSpPr/>
          <p:nvPr/>
        </p:nvSpPr>
        <p:spPr>
          <a:xfrm>
            <a:off x="9584055" y="2048255"/>
            <a:ext cx="1992249" cy="345643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anus Cue video" descr="Manus Cue video">
            <a:hlinkClick r:id="" action="ppaction://media"/>
          </p:cNvPr>
          <p:cNvPicPr>
            <a:picLocks noChangeAspect="1" noRot="1"/>
          </p:cNvPicPr>
          <p:nvPr>
            <a:videoFile r:link="rId3"/>
          </p:nvPr>
        </p:nvPicPr>
        <p:blipFill>
          <a:blip r:embed="rId4"/>
          <a:stretch>
            <a:fillRect/>
          </a:stretch>
        </p:blipFill>
        <p:spPr>
          <a:xfrm>
            <a:off x="9638919" y="2103120"/>
            <a:ext cx="1882521" cy="3346704"/>
          </a:xfrm>
          <a:prstGeom prst="rect">
            <a:avLst/>
          </a:prstGeom>
        </p:spPr>
      </p:pic>
      <p:sp>
        <p:nvSpPr>
          <p:cNvPr id="13" name="TextBox 12"/>
          <p:cNvSpPr txBox="1"/>
          <p:nvPr/>
        </p:nvSpPr>
        <p:spPr>
          <a:xfrm>
            <a:off x="9547479" y="5513832"/>
            <a:ext cx="2065401"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5"/>
              </a:rPr>
              <a:t>▶ Open in YouTube</a:t>
            </a:r>
          </a:p>
        </p:txBody>
      </p:sp>
      <p:sp>
        <p:nvSpPr>
          <p:cNvPr id="14" name="Rounded Rectangle 13"/>
          <p:cNvSpPr/>
          <p:nvPr/>
        </p:nvSpPr>
        <p:spPr>
          <a:xfrm>
            <a:off x="548640" y="2103120"/>
            <a:ext cx="4160520" cy="36758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77240" y="2231136"/>
            <a:ext cx="370332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What it can do</a:t>
            </a:r>
          </a:p>
        </p:txBody>
      </p:sp>
      <p:sp>
        <p:nvSpPr>
          <p:cNvPr id="16" name="Oval 15"/>
          <p:cNvSpPr/>
          <p:nvPr/>
        </p:nvSpPr>
        <p:spPr>
          <a:xfrm>
            <a:off x="777240" y="2679191"/>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6"/>
          <a:stretch>
            <a:fillRect/>
          </a:stretch>
        </p:blipFill>
        <p:spPr>
          <a:xfrm>
            <a:off x="869411" y="2771363"/>
            <a:ext cx="199704" cy="199704"/>
          </a:xfrm>
          <a:prstGeom prst="rect">
            <a:avLst/>
          </a:prstGeom>
        </p:spPr>
      </p:pic>
      <p:sp>
        <p:nvSpPr>
          <p:cNvPr id="18" name="TextBox 17"/>
          <p:cNvSpPr txBox="1"/>
          <p:nvPr/>
        </p:nvSpPr>
        <p:spPr>
          <a:xfrm>
            <a:off x="1298448" y="262432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identity</a:t>
            </a:r>
          </a:p>
        </p:txBody>
      </p:sp>
      <p:sp>
        <p:nvSpPr>
          <p:cNvPr id="19" name="TextBox 18"/>
          <p:cNvSpPr txBox="1"/>
          <p:nvPr/>
        </p:nvSpPr>
        <p:spPr>
          <a:xfrm>
            <a:off x="1298448" y="291693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Each agent has its own email address, phone number, wallet and computer.</a:t>
            </a:r>
          </a:p>
        </p:txBody>
      </p:sp>
      <p:sp>
        <p:nvSpPr>
          <p:cNvPr id="20" name="Oval 19"/>
          <p:cNvSpPr/>
          <p:nvPr/>
        </p:nvSpPr>
        <p:spPr>
          <a:xfrm>
            <a:off x="777240" y="345643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phone-FFFFFF.png"/>
          <p:cNvPicPr>
            <a:picLocks noChangeAspect="1"/>
          </p:cNvPicPr>
          <p:nvPr/>
        </p:nvPicPr>
        <p:blipFill>
          <a:blip r:embed="rId7"/>
          <a:stretch>
            <a:fillRect/>
          </a:stretch>
        </p:blipFill>
        <p:spPr>
          <a:xfrm>
            <a:off x="869411" y="3548603"/>
            <a:ext cx="199704" cy="199704"/>
          </a:xfrm>
          <a:prstGeom prst="rect">
            <a:avLst/>
          </a:prstGeom>
        </p:spPr>
      </p:pic>
      <p:sp>
        <p:nvSpPr>
          <p:cNvPr id="22" name="TextBox 21"/>
          <p:cNvSpPr txBox="1"/>
          <p:nvPr/>
        </p:nvSpPr>
        <p:spPr>
          <a:xfrm>
            <a:off x="1298448" y="340156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Calls, messages, payments</a:t>
            </a:r>
          </a:p>
        </p:txBody>
      </p:sp>
      <p:sp>
        <p:nvSpPr>
          <p:cNvPr id="23" name="TextBox 22"/>
          <p:cNvSpPr txBox="1"/>
          <p:nvPr/>
        </p:nvSpPr>
        <p:spPr>
          <a:xfrm>
            <a:off x="1298448" y="369417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Takes forwarded calls, emails from its own address and pays within the budget you set.</a:t>
            </a:r>
          </a:p>
        </p:txBody>
      </p:sp>
      <p:sp>
        <p:nvSpPr>
          <p:cNvPr id="24" name="Oval 23"/>
          <p:cNvSpPr/>
          <p:nvPr/>
        </p:nvSpPr>
        <p:spPr>
          <a:xfrm>
            <a:off x="777240" y="423367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8"/>
          <a:stretch>
            <a:fillRect/>
          </a:stretch>
        </p:blipFill>
        <p:spPr>
          <a:xfrm>
            <a:off x="869411" y="4325843"/>
            <a:ext cx="199704" cy="199704"/>
          </a:xfrm>
          <a:prstGeom prst="rect">
            <a:avLst/>
          </a:prstGeom>
        </p:spPr>
      </p:pic>
      <p:sp>
        <p:nvSpPr>
          <p:cNvPr id="26" name="TextBox 25"/>
          <p:cNvSpPr txBox="1"/>
          <p:nvPr/>
        </p:nvSpPr>
        <p:spPr>
          <a:xfrm>
            <a:off x="1298448" y="4178807"/>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Agent teams</a:t>
            </a:r>
          </a:p>
        </p:txBody>
      </p:sp>
      <p:sp>
        <p:nvSpPr>
          <p:cNvPr id="27" name="TextBox 26"/>
          <p:cNvSpPr txBox="1"/>
          <p:nvPr/>
        </p:nvSpPr>
        <p:spPr>
          <a:xfrm>
            <a:off x="1298448" y="447141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Agents share a group chat and a goal; you make the final call.</a:t>
            </a:r>
          </a:p>
        </p:txBody>
      </p:sp>
      <p:sp>
        <p:nvSpPr>
          <p:cNvPr id="28" name="Oval 27"/>
          <p:cNvSpPr/>
          <p:nvPr/>
        </p:nvSpPr>
        <p:spPr>
          <a:xfrm>
            <a:off x="777240" y="5010912"/>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uzzle-FFFFFF.png"/>
          <p:cNvPicPr>
            <a:picLocks noChangeAspect="1"/>
          </p:cNvPicPr>
          <p:nvPr/>
        </p:nvPicPr>
        <p:blipFill>
          <a:blip r:embed="rId9"/>
          <a:stretch>
            <a:fillRect/>
          </a:stretch>
        </p:blipFill>
        <p:spPr>
          <a:xfrm>
            <a:off x="869411" y="5103083"/>
            <a:ext cx="199704" cy="199704"/>
          </a:xfrm>
          <a:prstGeom prst="rect">
            <a:avLst/>
          </a:prstGeom>
        </p:spPr>
      </p:pic>
      <p:sp>
        <p:nvSpPr>
          <p:cNvPr id="30" name="TextBox 29"/>
          <p:cNvSpPr txBox="1"/>
          <p:nvPr/>
        </p:nvSpPr>
        <p:spPr>
          <a:xfrm>
            <a:off x="1298448" y="4956048"/>
            <a:ext cx="3273552" cy="310896"/>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Connectors and routines</a:t>
            </a:r>
          </a:p>
        </p:txBody>
      </p:sp>
      <p:sp>
        <p:nvSpPr>
          <p:cNvPr id="31" name="TextBox 30"/>
          <p:cNvSpPr txBox="1"/>
          <p:nvPr/>
        </p:nvSpPr>
        <p:spPr>
          <a:xfrm>
            <a:off x="1298448" y="5248656"/>
            <a:ext cx="3273552" cy="502920"/>
          </a:xfrm>
          <a:prstGeom prst="rect">
            <a:avLst/>
          </a:prstGeom>
          <a:noFill/>
        </p:spPr>
        <p:txBody>
          <a:bodyPr wrap="square" lIns="36576" rIns="36576" tIns="18288" bIns="18288" anchor="t">
            <a:spAutoFit/>
          </a:bodyPr>
          <a:lstStyle/>
          <a:p>
            <a:pPr algn="l">
              <a:lnSpc>
                <a:spcPct val="112000"/>
              </a:lnSpc>
            </a:pPr>
            <a:r>
              <a:rPr sz="1050" b="0" i="0">
                <a:solidFill>
                  <a:srgbClr val="6B6862"/>
                </a:solidFill>
                <a:latin typeface="Calibri"/>
              </a:rPr>
              <a:t>Gmail, Trip.com, Oura and more; routines repeat your steps; scan a QR code to create an agent.</a:t>
            </a:r>
          </a:p>
        </p:txBody>
      </p:sp>
      <p:sp>
        <p:nvSpPr>
          <p:cNvPr id="32" name="Rounded Rectangle 31"/>
          <p:cNvSpPr/>
          <p:nvPr/>
        </p:nvSpPr>
        <p:spPr>
          <a:xfrm>
            <a:off x="4892040" y="2103120"/>
            <a:ext cx="4526280" cy="3675888"/>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0" y="2231136"/>
            <a:ext cx="4069080" cy="329184"/>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mbria"/>
              </a:rPr>
              <a:t>How to set it up</a:t>
            </a:r>
          </a:p>
        </p:txBody>
      </p:sp>
      <p:sp>
        <p:nvSpPr>
          <p:cNvPr id="34" name="Oval 33"/>
          <p:cNvSpPr/>
          <p:nvPr/>
        </p:nvSpPr>
        <p:spPr>
          <a:xfrm>
            <a:off x="5120640" y="2670048"/>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120640" y="2670048"/>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1</a:t>
            </a:r>
          </a:p>
        </p:txBody>
      </p:sp>
      <p:sp>
        <p:nvSpPr>
          <p:cNvPr id="36" name="TextBox 35"/>
          <p:cNvSpPr txBox="1"/>
          <p:nvPr/>
        </p:nvSpPr>
        <p:spPr>
          <a:xfrm>
            <a:off x="5623559" y="2624328"/>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Get Cue</a:t>
            </a:r>
          </a:p>
        </p:txBody>
      </p:sp>
      <p:sp>
        <p:nvSpPr>
          <p:cNvPr id="37" name="TextBox 36"/>
          <p:cNvSpPr txBox="1"/>
          <p:nvPr/>
        </p:nvSpPr>
        <p:spPr>
          <a:xfrm>
            <a:off x="5623559" y="2907791"/>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cue.im on the web, desktop or Android; iOS pending.</a:t>
            </a:r>
          </a:p>
        </p:txBody>
      </p:sp>
      <p:sp>
        <p:nvSpPr>
          <p:cNvPr id="38" name="Oval 37"/>
          <p:cNvSpPr/>
          <p:nvPr/>
        </p:nvSpPr>
        <p:spPr>
          <a:xfrm>
            <a:off x="5120640" y="329184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120640" y="3291840"/>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2</a:t>
            </a:r>
          </a:p>
        </p:txBody>
      </p:sp>
      <p:sp>
        <p:nvSpPr>
          <p:cNvPr id="40" name="TextBox 39"/>
          <p:cNvSpPr txBox="1"/>
          <p:nvPr/>
        </p:nvSpPr>
        <p:spPr>
          <a:xfrm>
            <a:off x="5623559" y="3246120"/>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Invite code</a:t>
            </a:r>
          </a:p>
        </p:txBody>
      </p:sp>
      <p:sp>
        <p:nvSpPr>
          <p:cNvPr id="41" name="TextBox 40"/>
          <p:cNvSpPr txBox="1"/>
          <p:nvPr/>
        </p:nvSpPr>
        <p:spPr>
          <a:xfrm>
            <a:off x="5623559" y="3529584"/>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Sign up with an invite code from your trainer or a user.</a:t>
            </a:r>
          </a:p>
        </p:txBody>
      </p:sp>
      <p:sp>
        <p:nvSpPr>
          <p:cNvPr id="42" name="Oval 41"/>
          <p:cNvSpPr/>
          <p:nvPr/>
        </p:nvSpPr>
        <p:spPr>
          <a:xfrm>
            <a:off x="5120640" y="3913631"/>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120640" y="3913631"/>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3</a:t>
            </a:r>
          </a:p>
        </p:txBody>
      </p:sp>
      <p:sp>
        <p:nvSpPr>
          <p:cNvPr id="44" name="TextBox 43"/>
          <p:cNvSpPr txBox="1"/>
          <p:nvPr/>
        </p:nvSpPr>
        <p:spPr>
          <a:xfrm>
            <a:off x="5623559" y="3867911"/>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Create an agent</a:t>
            </a:r>
          </a:p>
        </p:txBody>
      </p:sp>
      <p:sp>
        <p:nvSpPr>
          <p:cNvPr id="45" name="TextBox 44"/>
          <p:cNvSpPr txBox="1"/>
          <p:nvPr/>
        </p:nvSpPr>
        <p:spPr>
          <a:xfrm>
            <a:off x="5623559" y="4151376"/>
            <a:ext cx="3611880" cy="347472"/>
          </a:xfrm>
          <a:prstGeom prst="rect">
            <a:avLst/>
          </a:prstGeom>
          <a:noFill/>
        </p:spPr>
        <p:txBody>
          <a:bodyPr wrap="square" lIns="36576" rIns="36576" tIns="18288" bIns="18288" anchor="t">
            <a:spAutoFit/>
          </a:bodyPr>
          <a:lstStyle/>
          <a:p>
            <a:pPr algn="l">
              <a:lnSpc>
                <a:spcPct val="112000"/>
              </a:lnSpc>
            </a:pPr>
            <a:r>
              <a:rPr sz="1050" b="0" i="0">
                <a:solidFill>
                  <a:srgbClr val="C9C4B9"/>
                </a:solidFill>
                <a:latin typeface="Calibri"/>
              </a:rPr>
              <a:t>Give it one responsibility and the context it needs.</a:t>
            </a:r>
          </a:p>
        </p:txBody>
      </p:sp>
      <p:sp>
        <p:nvSpPr>
          <p:cNvPr id="46" name="Oval 45"/>
          <p:cNvSpPr/>
          <p:nvPr/>
        </p:nvSpPr>
        <p:spPr>
          <a:xfrm>
            <a:off x="5120640" y="4535423"/>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120640" y="4535423"/>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4</a:t>
            </a:r>
          </a:p>
        </p:txBody>
      </p:sp>
      <p:sp>
        <p:nvSpPr>
          <p:cNvPr id="48" name="TextBox 47"/>
          <p:cNvSpPr txBox="1"/>
          <p:nvPr/>
        </p:nvSpPr>
        <p:spPr>
          <a:xfrm>
            <a:off x="5623559" y="4489703"/>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Identity + limits</a:t>
            </a:r>
          </a:p>
        </p:txBody>
      </p:sp>
      <p:sp>
        <p:nvSpPr>
          <p:cNvPr id="49" name="TextBox 48"/>
          <p:cNvSpPr txBox="1"/>
          <p:nvPr/>
        </p:nvSpPr>
        <p:spPr>
          <a:xfrm>
            <a:off x="5623559" y="4773168"/>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Choose its email, phone, wallet; set budgets and approvals.</a:t>
            </a:r>
          </a:p>
        </p:txBody>
      </p:sp>
      <p:sp>
        <p:nvSpPr>
          <p:cNvPr id="50" name="Oval 49"/>
          <p:cNvSpPr/>
          <p:nvPr/>
        </p:nvSpPr>
        <p:spPr>
          <a:xfrm>
            <a:off x="5120640" y="5157216"/>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120640" y="5157216"/>
            <a:ext cx="365760" cy="365760"/>
          </a:xfrm>
          <a:prstGeom prst="rect">
            <a:avLst/>
          </a:prstGeom>
          <a:noFill/>
        </p:spPr>
        <p:txBody>
          <a:bodyPr wrap="square" lIns="36576" rIns="36576" tIns="18288" bIns="18288" anchor="ctr">
            <a:spAutoFit/>
          </a:bodyPr>
          <a:lstStyle/>
          <a:p>
            <a:pPr algn="ctr">
              <a:lnSpc>
                <a:spcPct val="112000"/>
              </a:lnSpc>
            </a:pPr>
            <a:r>
              <a:rPr sz="1300" b="1" i="0">
                <a:solidFill>
                  <a:srgbClr val="FFFFFF"/>
                </a:solidFill>
                <a:latin typeface="Cambria"/>
              </a:rPr>
              <a:t>5</a:t>
            </a:r>
          </a:p>
        </p:txBody>
      </p:sp>
      <p:sp>
        <p:nvSpPr>
          <p:cNvPr id="52" name="TextBox 51"/>
          <p:cNvSpPr txBox="1"/>
          <p:nvPr/>
        </p:nvSpPr>
        <p:spPr>
          <a:xfrm>
            <a:off x="5623559" y="5111496"/>
            <a:ext cx="3611880" cy="292608"/>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Connect + routines</a:t>
            </a:r>
          </a:p>
        </p:txBody>
      </p:sp>
      <p:sp>
        <p:nvSpPr>
          <p:cNvPr id="53" name="TextBox 52"/>
          <p:cNvSpPr txBox="1"/>
          <p:nvPr/>
        </p:nvSpPr>
        <p:spPr>
          <a:xfrm>
            <a:off x="5623559" y="5394960"/>
            <a:ext cx="36118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Connect Gmail or other services, then define routines for repeat steps.</a:t>
            </a:r>
          </a:p>
        </p:txBody>
      </p:sp>
      <p:sp>
        <p:nvSpPr>
          <p:cNvPr id="54" name="TextBox 53"/>
          <p:cNvSpPr txBox="1"/>
          <p:nvPr/>
        </p:nvSpPr>
        <p:spPr>
          <a:xfrm>
            <a:off x="548640" y="5833872"/>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Reference route, not assessed. Keep wallet budgets small; require approval for payments, calls and messages.</a:t>
            </a:r>
          </a:p>
        </p:txBody>
      </p:sp>
      <p:sp>
        <p:nvSpPr>
          <p:cNvPr id="55" name="TextBox 54"/>
          <p:cNvSpPr txBox="1"/>
          <p:nvPr/>
        </p:nvSpPr>
        <p:spPr>
          <a:xfrm>
            <a:off x="64008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1"/>
              </a:rPr>
              <a:t>Cue by Manus: cue.im · click</a:t>
            </a:r>
          </a:p>
        </p:txBody>
      </p:sp>
      <p:sp>
        <p:nvSpPr>
          <p:cNvPr id="56" name="TextBox 55"/>
          <p:cNvSpPr txBox="1"/>
          <p:nvPr/>
        </p:nvSpPr>
        <p:spPr>
          <a:xfrm>
            <a:off x="4480560" y="6236208"/>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5"/>
              </a:rPr>
              <a:t>YouTube: Meet Manus Cue (Short)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Your Always-On CEO Assistant: Meta Muse or OpenAI Dots</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Before you hire anyone, get a CEO assistant that never clocks off: it checks your schedule and drafts your email while you talk to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Your week is packed: a launch review with your two baristas, a supplier tasting for the gula melaka, a pop-up site visit. Your always-on CEO assistant checks the calendar and drafts the replies. Use only the trainer-assigned Google account with synthetic Kopi Kaki mail and events.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1A Meta Muse for everyone (muse.ai, trainer invite code); 1B OpenAI Dots if your ChatGPT plan includes dots; 1C Wispr Flow to speak your prompts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01</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https://tertiarycourses.github.io/TGS-2024043854-Build-a-Human-AI-Workforce-with-Autonomous-AI-Agents/prompts/#lab-01</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 · YOUR COMPANY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You are the founder-CEO of this fictional Singapore kopi startup. Agents help you start it, from this activity to Day 2.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A startup, founded by you</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Flagship in Tiong Bahru opens 1 Dec 2026; pop-ups and app pre-orders until then.</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Join</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Muse at muse.ai + invite code; dot if eligible.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Muse joined with the invite code (plus a dot if your plan has one); real source evidence, reviewed draft and stop check; PP Task 1 screenshot saved.</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1A · Join Meta Muse and Claim 1 Billion Tokens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Sign in with Facebook, key in your trainer’s code within 48 hours, and you both get 1 billion Muse tokens.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83013" y="1956816"/>
            <a:ext cx="3085933" cy="37673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use-invite.png"/>
          <p:cNvPicPr>
            <a:picLocks noChangeAspect="1"/>
          </p:cNvPicPr>
          <p:nvPr/>
        </p:nvPicPr>
        <p:blipFill>
          <a:blip r:embed="rId2"/>
          <a:stretch>
            <a:fillRect/>
          </a:stretch>
        </p:blipFill>
        <p:spPr>
          <a:xfrm>
            <a:off x="637877" y="2011680"/>
            <a:ext cx="2976205" cy="3657600"/>
          </a:xfrm>
          <a:prstGeom prst="rect">
            <a:avLst/>
          </a:prstGeom>
        </p:spPr>
      </p:pic>
      <p:sp>
        <p:nvSpPr>
          <p:cNvPr id="10" name="Oval 9"/>
          <p:cNvSpPr/>
          <p:nvPr/>
        </p:nvSpPr>
        <p:spPr>
          <a:xfrm>
            <a:off x="4069080" y="20482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9080" y="2048256"/>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1</a:t>
            </a:r>
          </a:p>
        </p:txBody>
      </p:sp>
      <p:sp>
        <p:nvSpPr>
          <p:cNvPr id="12" name="TextBox 11"/>
          <p:cNvSpPr txBox="1"/>
          <p:nvPr/>
        </p:nvSpPr>
        <p:spPr>
          <a:xfrm>
            <a:off x="4709160" y="1993392"/>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muse.ai</a:t>
            </a:r>
          </a:p>
        </p:txBody>
      </p:sp>
      <p:sp>
        <p:nvSpPr>
          <p:cNvPr id="13" name="TextBox 12"/>
          <p:cNvSpPr txBox="1"/>
          <p:nvPr/>
        </p:nvSpPr>
        <p:spPr>
          <a:xfrm>
            <a:off x="4709160" y="2340864"/>
            <a:ext cx="6903720" cy="38404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in with Facebook. It works much like ChatGPT. On your phone? Install Muse from Meta.</a:t>
            </a:r>
          </a:p>
        </p:txBody>
      </p:sp>
      <p:sp>
        <p:nvSpPr>
          <p:cNvPr id="14" name="Oval 13"/>
          <p:cNvSpPr/>
          <p:nvPr/>
        </p:nvSpPr>
        <p:spPr>
          <a:xfrm>
            <a:off x="4069080" y="2852928"/>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9080" y="2852928"/>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2</a:t>
            </a:r>
          </a:p>
        </p:txBody>
      </p:sp>
      <p:sp>
        <p:nvSpPr>
          <p:cNvPr id="16" name="TextBox 15"/>
          <p:cNvSpPr txBox="1"/>
          <p:nvPr/>
        </p:nvSpPr>
        <p:spPr>
          <a:xfrm>
            <a:off x="4709160" y="2798064"/>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Settings › General › Usage</a:t>
            </a:r>
          </a:p>
        </p:txBody>
      </p:sp>
      <p:sp>
        <p:nvSpPr>
          <p:cNvPr id="17" name="TextBox 16"/>
          <p:cNvSpPr txBox="1"/>
          <p:nvPr/>
        </p:nvSpPr>
        <p:spPr>
          <a:xfrm>
            <a:off x="4709160" y="3145536"/>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Tap Redeem invite code.</a:t>
            </a:r>
          </a:p>
        </p:txBody>
      </p:sp>
      <p:sp>
        <p:nvSpPr>
          <p:cNvPr id="18" name="Oval 17"/>
          <p:cNvSpPr/>
          <p:nvPr/>
        </p:nvSpPr>
        <p:spPr>
          <a:xfrm>
            <a:off x="4069080" y="36576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069080" y="3657600"/>
            <a:ext cx="457200" cy="4572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3</a:t>
            </a:r>
          </a:p>
        </p:txBody>
      </p:sp>
      <p:sp>
        <p:nvSpPr>
          <p:cNvPr id="20" name="TextBox 19"/>
          <p:cNvSpPr txBox="1"/>
          <p:nvPr/>
        </p:nvSpPr>
        <p:spPr>
          <a:xfrm>
            <a:off x="4709160" y="3602736"/>
            <a:ext cx="6903720" cy="329184"/>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Key in the code within 48 hours of joining</a:t>
            </a:r>
          </a:p>
        </p:txBody>
      </p:sp>
      <p:sp>
        <p:nvSpPr>
          <p:cNvPr id="21" name="TextBox 20"/>
          <p:cNvSpPr txBox="1"/>
          <p:nvPr/>
        </p:nvSpPr>
        <p:spPr>
          <a:xfrm>
            <a:off x="4709160" y="3950208"/>
            <a:ext cx="6903720" cy="38404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You and your trainer each receive 1 billion Muse tokens.</a:t>
            </a:r>
          </a:p>
        </p:txBody>
      </p:sp>
      <p:sp>
        <p:nvSpPr>
          <p:cNvPr id="22" name="Rounded Rectangle 21"/>
          <p:cNvSpPr/>
          <p:nvPr/>
        </p:nvSpPr>
        <p:spPr>
          <a:xfrm>
            <a:off x="4069080" y="4480560"/>
            <a:ext cx="7543800" cy="11887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89120" y="4572000"/>
            <a:ext cx="2743200" cy="274320"/>
          </a:xfrm>
          <a:prstGeom prst="rect">
            <a:avLst/>
          </a:prstGeom>
          <a:noFill/>
        </p:spPr>
        <p:txBody>
          <a:bodyPr wrap="square" lIns="36576" rIns="36576" tIns="18288" bIns="18288" anchor="t">
            <a:spAutoFit/>
          </a:bodyPr>
          <a:lstStyle/>
          <a:p>
            <a:pPr algn="l">
              <a:lnSpc>
                <a:spcPct val="112000"/>
              </a:lnSpc>
            </a:pPr>
            <a:r>
              <a:rPr sz="1100" b="1" i="0">
                <a:solidFill>
                  <a:srgbClr val="C9C4B9"/>
                </a:solidFill>
                <a:latin typeface="Calibri"/>
              </a:rPr>
              <a:t>YOUR TRAINER’S INVITE CODE</a:t>
            </a:r>
          </a:p>
        </p:txBody>
      </p:sp>
      <p:sp>
        <p:nvSpPr>
          <p:cNvPr id="24" name="TextBox 23"/>
          <p:cNvSpPr txBox="1"/>
          <p:nvPr/>
        </p:nvSpPr>
        <p:spPr>
          <a:xfrm>
            <a:off x="4389120" y="4846320"/>
            <a:ext cx="3840480" cy="731520"/>
          </a:xfrm>
          <a:prstGeom prst="rect">
            <a:avLst/>
          </a:prstGeom>
          <a:noFill/>
        </p:spPr>
        <p:txBody>
          <a:bodyPr wrap="square" lIns="36576" rIns="36576" tIns="18288" bIns="18288" anchor="ctr">
            <a:spAutoFit/>
          </a:bodyPr>
          <a:lstStyle/>
          <a:p>
            <a:pPr algn="l">
              <a:lnSpc>
                <a:spcPct val="112000"/>
              </a:lnSpc>
            </a:pPr>
            <a:r>
              <a:rPr sz="4400" b="1" i="0">
                <a:solidFill>
                  <a:srgbClr val="D97757"/>
                </a:solidFill>
                <a:latin typeface="Consolas"/>
              </a:rPr>
              <a:t>H1KWDZ</a:t>
            </a:r>
          </a:p>
        </p:txBody>
      </p:sp>
      <p:sp>
        <p:nvSpPr>
          <p:cNvPr id="25" name="TextBox 24">
            <a:hlinkClick r:id="rId3"/>
          </p:cNvPr>
          <p:cNvSpPr txBox="1"/>
          <p:nvPr/>
        </p:nvSpPr>
        <p:spPr>
          <a:xfrm>
            <a:off x="8366760" y="4681728"/>
            <a:ext cx="3017520" cy="822960"/>
          </a:xfrm>
          <a:prstGeom prst="rect">
            <a:avLst/>
          </a:prstGeom>
          <a:noFill/>
        </p:spPr>
        <p:txBody>
          <a:bodyPr wrap="square" lIns="36576" rIns="36576" tIns="18288" bIns="18288" anchor="t">
            <a:spAutoFit/>
          </a:bodyPr>
          <a:lstStyle/>
          <a:p>
            <a:pPr algn="r">
              <a:lnSpc>
                <a:spcPct val="112000"/>
              </a:lnSpc>
            </a:pPr>
            <a:r>
              <a:rPr sz="2000" b="1" i="0">
                <a:solidFill>
                  <a:srgbClr val="FFFFFF"/>
                </a:solidFill>
                <a:latin typeface="Cambria"/>
              </a:rPr>
              <a:t>muse.ai</a:t>
            </a:r>
          </a:p>
          <a:p>
            <a:pPr algn="r">
              <a:lnSpc>
                <a:spcPct val="112000"/>
              </a:lnSpc>
            </a:pPr>
            <a:r>
              <a:rPr sz="2000" b="1" i="0">
                <a:solidFill>
                  <a:srgbClr val="FFFFFF"/>
                </a:solidFill>
                <a:latin typeface="Cambria"/>
              </a:rPr>
              <a:t>click to open</a:t>
            </a:r>
          </a:p>
        </p:txBody>
      </p:sp>
      <p:sp>
        <p:nvSpPr>
          <p:cNvPr id="26" name="TextBox 25"/>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Next, connect Gmail and Google Calendar in Settings → Connectors. Keep retrieve-only access and approve every send.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1B · Give Your Own OpenAI Dot Its First Job</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ChatGPT Pro or Business Premium? Set up a dot that keeps working after you close the chat.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38328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9696"/>
            <a:ext cx="2926080" cy="292608"/>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DO YOU HAVE DOTS?</a:t>
            </a:r>
          </a:p>
        </p:txBody>
      </p:sp>
      <p:sp>
        <p:nvSpPr>
          <p:cNvPr id="10" name="Oval 9"/>
          <p:cNvSpPr/>
          <p:nvPr/>
        </p:nvSpPr>
        <p:spPr>
          <a:xfrm>
            <a:off x="777240" y="2578608"/>
            <a:ext cx="384048" cy="38404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eck-FFFFFF.png"/>
          <p:cNvPicPr>
            <a:picLocks noChangeAspect="1"/>
          </p:cNvPicPr>
          <p:nvPr/>
        </p:nvPicPr>
        <p:blipFill>
          <a:blip r:embed="rId2"/>
          <a:stretch>
            <a:fillRect/>
          </a:stretch>
        </p:blipFill>
        <p:spPr>
          <a:xfrm>
            <a:off x="869411" y="2670779"/>
            <a:ext cx="199704" cy="199704"/>
          </a:xfrm>
          <a:prstGeom prst="rect">
            <a:avLst/>
          </a:prstGeom>
        </p:spPr>
      </p:pic>
      <p:sp>
        <p:nvSpPr>
          <p:cNvPr id="12" name="TextBox 11"/>
          <p:cNvSpPr txBox="1"/>
          <p:nvPr/>
        </p:nvSpPr>
        <p:spPr>
          <a:xfrm>
            <a:off x="1280160" y="252374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Pro · Business Premium</a:t>
            </a:r>
          </a:p>
        </p:txBody>
      </p:sp>
      <p:sp>
        <p:nvSpPr>
          <p:cNvPr id="13" name="TextBox 12"/>
          <p:cNvSpPr txBox="1"/>
          <p:nvPr/>
        </p:nvSpPr>
        <p:spPr>
          <a:xfrm>
            <a:off x="1280160" y="281635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Rolling out now; your first dot is included.</a:t>
            </a:r>
          </a:p>
        </p:txBody>
      </p:sp>
      <p:sp>
        <p:nvSpPr>
          <p:cNvPr id="14" name="Oval 13"/>
          <p:cNvSpPr/>
          <p:nvPr/>
        </p:nvSpPr>
        <p:spPr>
          <a:xfrm>
            <a:off x="777240" y="358444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uilding-FFFFFF.png"/>
          <p:cNvPicPr>
            <a:picLocks noChangeAspect="1"/>
          </p:cNvPicPr>
          <p:nvPr/>
        </p:nvPicPr>
        <p:blipFill>
          <a:blip r:embed="rId3"/>
          <a:stretch>
            <a:fillRect/>
          </a:stretch>
        </p:blipFill>
        <p:spPr>
          <a:xfrm>
            <a:off x="869411" y="3676619"/>
            <a:ext cx="199704" cy="199704"/>
          </a:xfrm>
          <a:prstGeom prst="rect">
            <a:avLst/>
          </a:prstGeom>
        </p:spPr>
      </p:pic>
      <p:sp>
        <p:nvSpPr>
          <p:cNvPr id="16" name="TextBox 15"/>
          <p:cNvSpPr txBox="1"/>
          <p:nvPr/>
        </p:nvSpPr>
        <p:spPr>
          <a:xfrm>
            <a:off x="1280160" y="352958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Enterprise · Edu · Healthcare</a:t>
            </a:r>
          </a:p>
        </p:txBody>
      </p:sp>
      <p:sp>
        <p:nvSpPr>
          <p:cNvPr id="17" name="TextBox 16"/>
          <p:cNvSpPr txBox="1"/>
          <p:nvPr/>
        </p:nvSpPr>
        <p:spPr>
          <a:xfrm>
            <a:off x="1280160" y="382219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Beta, once your workspace admin turns it on.</a:t>
            </a:r>
          </a:p>
        </p:txBody>
      </p:sp>
      <p:sp>
        <p:nvSpPr>
          <p:cNvPr id="18" name="Oval 17"/>
          <p:cNvSpPr/>
          <p:nvPr/>
        </p:nvSpPr>
        <p:spPr>
          <a:xfrm>
            <a:off x="777240" y="4590288"/>
            <a:ext cx="384048" cy="384048"/>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lock-FFFFFF.png"/>
          <p:cNvPicPr>
            <a:picLocks noChangeAspect="1"/>
          </p:cNvPicPr>
          <p:nvPr/>
        </p:nvPicPr>
        <p:blipFill>
          <a:blip r:embed="rId4"/>
          <a:stretch>
            <a:fillRect/>
          </a:stretch>
        </p:blipFill>
        <p:spPr>
          <a:xfrm>
            <a:off x="869411" y="4682459"/>
            <a:ext cx="199704" cy="199704"/>
          </a:xfrm>
          <a:prstGeom prst="rect">
            <a:avLst/>
          </a:prstGeom>
        </p:spPr>
      </p:pic>
      <p:sp>
        <p:nvSpPr>
          <p:cNvPr id="20" name="TextBox 19"/>
          <p:cNvSpPr txBox="1"/>
          <p:nvPr/>
        </p:nvSpPr>
        <p:spPr>
          <a:xfrm>
            <a:off x="1280160" y="4535424"/>
            <a:ext cx="2560320" cy="292608"/>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Free · Go · Plus</a:t>
            </a:r>
          </a:p>
        </p:txBody>
      </p:sp>
      <p:sp>
        <p:nvSpPr>
          <p:cNvPr id="21" name="TextBox 20"/>
          <p:cNvSpPr txBox="1"/>
          <p:nvPr/>
        </p:nvSpPr>
        <p:spPr>
          <a:xfrm>
            <a:off x="1280160" y="4828032"/>
            <a:ext cx="2560320" cy="6858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Not in the launch rollout. Watch the demo; your Muse from 1A does the lab.</a:t>
            </a:r>
          </a:p>
        </p:txBody>
      </p:sp>
      <p:sp>
        <p:nvSpPr>
          <p:cNvPr id="22" name="Oval 21"/>
          <p:cNvSpPr/>
          <p:nvPr/>
        </p:nvSpPr>
        <p:spPr>
          <a:xfrm>
            <a:off x="411480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11480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24" name="TextBox 23"/>
          <p:cNvSpPr txBox="1"/>
          <p:nvPr/>
        </p:nvSpPr>
        <p:spPr>
          <a:xfrm>
            <a:off x="4681728" y="19933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Open chatgpt.com/dots</a:t>
            </a:r>
          </a:p>
        </p:txBody>
      </p:sp>
      <p:sp>
        <p:nvSpPr>
          <p:cNvPr id="25" name="TextBox 24"/>
          <p:cNvSpPr txBox="1"/>
          <p:nvPr/>
        </p:nvSpPr>
        <p:spPr>
          <a:xfrm>
            <a:off x="4681728" y="23042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ChatGPT mobile or desktop app, or a desktop browser (not mobile web).</a:t>
            </a:r>
          </a:p>
        </p:txBody>
      </p:sp>
      <p:sp>
        <p:nvSpPr>
          <p:cNvPr id="26" name="Oval 25"/>
          <p:cNvSpPr/>
          <p:nvPr/>
        </p:nvSpPr>
        <p:spPr>
          <a:xfrm>
            <a:off x="4114800" y="29626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14800" y="29626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28" name="TextBox 27"/>
          <p:cNvSpPr txBox="1"/>
          <p:nvPr/>
        </p:nvSpPr>
        <p:spPr>
          <a:xfrm>
            <a:off x="4681728" y="29077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Create and name your dot</a:t>
            </a:r>
          </a:p>
        </p:txBody>
      </p:sp>
      <p:sp>
        <p:nvSpPr>
          <p:cNvPr id="29" name="TextBox 28"/>
          <p:cNvSpPr txBox="1"/>
          <p:nvPr/>
        </p:nvSpPr>
        <p:spPr>
          <a:xfrm>
            <a:off x="4681728" y="32186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Follow the intro; pick its look. You can change both later.</a:t>
            </a:r>
          </a:p>
        </p:txBody>
      </p:sp>
      <p:sp>
        <p:nvSpPr>
          <p:cNvPr id="30" name="Oval 29"/>
          <p:cNvSpPr/>
          <p:nvPr/>
        </p:nvSpPr>
        <p:spPr>
          <a:xfrm>
            <a:off x="4114800" y="38770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114800" y="38770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2" name="TextBox 31"/>
          <p:cNvSpPr txBox="1"/>
          <p:nvPr/>
        </p:nvSpPr>
        <p:spPr>
          <a:xfrm>
            <a:off x="4681728" y="38221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Connect Gmail and Calendar</a:t>
            </a:r>
          </a:p>
        </p:txBody>
      </p:sp>
      <p:sp>
        <p:nvSpPr>
          <p:cNvPr id="33" name="TextBox 32"/>
          <p:cNvSpPr txBox="1"/>
          <p:nvPr/>
        </p:nvSpPr>
        <p:spPr>
          <a:xfrm>
            <a:off x="4681728" y="4133088"/>
            <a:ext cx="4690872" cy="5486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Add each plugin and authorise it separately in the browser.</a:t>
            </a:r>
          </a:p>
        </p:txBody>
      </p:sp>
      <p:sp>
        <p:nvSpPr>
          <p:cNvPr id="34" name="Oval 33"/>
          <p:cNvSpPr/>
          <p:nvPr/>
        </p:nvSpPr>
        <p:spPr>
          <a:xfrm>
            <a:off x="4114800" y="47914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114800" y="47914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4</a:t>
            </a:r>
          </a:p>
        </p:txBody>
      </p:sp>
      <p:sp>
        <p:nvSpPr>
          <p:cNvPr id="36" name="TextBox 35"/>
          <p:cNvSpPr txBox="1"/>
          <p:nvPr/>
        </p:nvSpPr>
        <p:spPr>
          <a:xfrm>
            <a:off x="4681728" y="4736592"/>
            <a:ext cx="4690872"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Give it a standing job</a:t>
            </a:r>
          </a:p>
        </p:txBody>
      </p:sp>
      <p:sp>
        <p:nvSpPr>
          <p:cNvPr id="37" name="TextBox 36"/>
          <p:cNvSpPr txBox="1"/>
          <p:nvPr/>
        </p:nvSpPr>
        <p:spPr>
          <a:xfrm>
            <a:off x="4681728" y="5047488"/>
            <a:ext cx="4690872" cy="548640"/>
          </a:xfrm>
          <a:prstGeom prst="rect">
            <a:avLst/>
          </a:prstGeom>
          <a:noFill/>
        </p:spPr>
        <p:txBody>
          <a:bodyPr wrap="square" lIns="36576" rIns="36576" tIns="18288" bIns="18288" anchor="t">
            <a:spAutoFit/>
          </a:bodyPr>
          <a:lstStyle/>
          <a:p>
            <a:pPr algn="l">
              <a:lnSpc>
                <a:spcPct val="112000"/>
              </a:lnSpc>
            </a:pPr>
            <a:r>
              <a:rPr sz="1150" b="0" i="1">
                <a:solidFill>
                  <a:srgbClr val="6B6862"/>
                </a:solidFill>
                <a:latin typeface="Calibri"/>
              </a:rPr>
              <a:t>“Every weekday at 8 am, check my calendar for Kopi Kaki meetings and flag any clash.”</a:t>
            </a:r>
          </a:p>
        </p:txBody>
      </p:sp>
      <p:sp>
        <p:nvSpPr>
          <p:cNvPr id="38" name="Rounded Rectangle 37"/>
          <p:cNvSpPr/>
          <p:nvPr/>
        </p:nvSpPr>
        <p:spPr>
          <a:xfrm>
            <a:off x="9594342" y="1956816"/>
            <a:ext cx="1981962" cy="3438144"/>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OpenAI Dots setup video" descr="OpenAI Dots setup video">
            <a:hlinkClick r:id="" action="ppaction://media"/>
          </p:cNvPr>
          <p:cNvPicPr>
            <a:picLocks noChangeAspect="1" noRot="1"/>
          </p:cNvPicPr>
          <p:nvPr>
            <a:videoFile r:link="rId5"/>
          </p:nvPr>
        </p:nvPicPr>
        <p:blipFill>
          <a:blip r:embed="rId6"/>
          <a:stretch>
            <a:fillRect/>
          </a:stretch>
        </p:blipFill>
        <p:spPr>
          <a:xfrm>
            <a:off x="9649206" y="2011680"/>
            <a:ext cx="1872234" cy="3328416"/>
          </a:xfrm>
          <a:prstGeom prst="rect">
            <a:avLst/>
          </a:prstGeom>
        </p:spPr>
      </p:pic>
      <p:sp>
        <p:nvSpPr>
          <p:cNvPr id="40" name="TextBox 39"/>
          <p:cNvSpPr txBox="1"/>
          <p:nvPr/>
        </p:nvSpPr>
        <p:spPr>
          <a:xfrm>
            <a:off x="9557766" y="5404104"/>
            <a:ext cx="2055114" cy="237744"/>
          </a:xfrm>
          <a:prstGeom prst="rect">
            <a:avLst/>
          </a:prstGeom>
          <a:noFill/>
        </p:spPr>
        <p:txBody>
          <a:bodyPr wrap="square" lIns="36576" rIns="36576" tIns="18288" bIns="18288" anchor="t">
            <a:spAutoFit/>
          </a:bodyPr>
          <a:lstStyle/>
          <a:p>
            <a:pPr algn="ctr">
              <a:lnSpc>
                <a:spcPct val="112000"/>
              </a:lnSpc>
            </a:pPr>
            <a:r>
              <a:rPr sz="1050" b="1" i="0">
                <a:solidFill>
                  <a:srgbClr val="3A7D7B"/>
                </a:solidFill>
                <a:latin typeface="Calibri"/>
                <a:hlinkClick r:id="rId7"/>
              </a:rPr>
              <a:t>▶ Open in YouTube</a:t>
            </a:r>
          </a:p>
        </p:txBody>
      </p:sp>
      <p:sp>
        <p:nvSpPr>
          <p:cNvPr id="41" name="TextBox 40"/>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Closing the chat does not stop a dot. Open Activity to see what it is doing, and pause it when class ends.</a:t>
            </a:r>
          </a:p>
        </p:txBody>
      </p:sp>
      <p:sp>
        <p:nvSpPr>
          <p:cNvPr id="42" name="TextBox 41"/>
          <p:cNvSpPr txBox="1"/>
          <p:nvPr/>
        </p:nvSpPr>
        <p:spPr>
          <a:xfrm>
            <a:off x="64008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OpenAI: Introducing dots (plans) · click</a:t>
            </a:r>
          </a:p>
        </p:txBody>
      </p:sp>
      <p:sp>
        <p:nvSpPr>
          <p:cNvPr id="43" name="TextBox 42"/>
          <p:cNvSpPr txBox="1"/>
          <p:nvPr/>
        </p:nvSpPr>
        <p:spPr>
          <a:xfrm>
            <a:off x="4480560" y="6217920"/>
            <a:ext cx="374904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ChatGPT Learn: Get started with your dot · click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9"/>
                </p:tgtEl>
              </p:cMediaNode>
            </p:video>
            <p:seq concurrent="1" nextAc="seek">
              <p:cTn id="8" restart="whenNotActive" fill="hold" evtFilter="cancelBubble" nodeType="interactiveSeq">
                <p:stCondLst>
                  <p:cond evt="onClick" delay="0">
                    <p:tgtEl>
                      <p:spTgt spid="3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9"/>
                                        </p:tgtEl>
                                      </p:cBhvr>
                                    </p:cmd>
                                  </p:childTnLst>
                                </p:cTn>
                              </p:par>
                            </p:childTnLst>
                          </p:cTn>
                        </p:par>
                      </p:childTnLst>
                    </p:cTn>
                  </p:par>
                </p:childTnLst>
              </p:cTn>
              <p:nextCondLst>
                <p:cond evt="onClick" delay="0">
                  <p:tgtEl>
                    <p:spTgt spid="39"/>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Activity 1C · Talk to Your Agents. Stop Typing to Them.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Wispr Flow turns your voice into clean text in any app, so every prompt to Muse, Dots or Hermes can be spoken.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011680"/>
            <a:ext cx="3063240" cy="33832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0312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4×</a:t>
            </a:r>
          </a:p>
        </p:txBody>
      </p:sp>
      <p:sp>
        <p:nvSpPr>
          <p:cNvPr id="10" name="TextBox 9"/>
          <p:cNvSpPr txBox="1"/>
          <p:nvPr/>
        </p:nvSpPr>
        <p:spPr>
          <a:xfrm>
            <a:off x="777240" y="3218688"/>
            <a:ext cx="2651760" cy="329184"/>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faster than your keyboard</a:t>
            </a:r>
          </a:p>
        </p:txBody>
      </p:sp>
      <p:sp>
        <p:nvSpPr>
          <p:cNvPr id="11" name="TextBox 10"/>
          <p:cNvSpPr txBox="1"/>
          <p:nvPr/>
        </p:nvSpPr>
        <p:spPr>
          <a:xfrm>
            <a:off x="777240" y="3547872"/>
            <a:ext cx="2651760" cy="237744"/>
          </a:xfrm>
          <a:prstGeom prst="rect">
            <a:avLst/>
          </a:prstGeom>
          <a:noFill/>
        </p:spPr>
        <p:txBody>
          <a:bodyPr wrap="square" lIns="36576" rIns="36576" tIns="18288" bIns="18288" anchor="t">
            <a:spAutoFit/>
          </a:bodyPr>
          <a:lstStyle/>
          <a:p>
            <a:pPr algn="l">
              <a:lnSpc>
                <a:spcPct val="112000"/>
              </a:lnSpc>
            </a:pPr>
            <a:r>
              <a:rPr sz="1000" b="0" i="1">
                <a:solidFill>
                  <a:srgbClr val="C9C4B9"/>
                </a:solidFill>
                <a:latin typeface="Calibri"/>
              </a:rPr>
              <a:t>Wispr Flow’s own claim</a:t>
            </a:r>
          </a:p>
        </p:txBody>
      </p:sp>
      <p:sp>
        <p:nvSpPr>
          <p:cNvPr id="12" name="Oval 11"/>
          <p:cNvSpPr/>
          <p:nvPr/>
        </p:nvSpPr>
        <p:spPr>
          <a:xfrm>
            <a:off x="777240" y="39502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lobe-FFFFFF.png"/>
          <p:cNvPicPr>
            <a:picLocks noChangeAspect="1"/>
          </p:cNvPicPr>
          <p:nvPr/>
        </p:nvPicPr>
        <p:blipFill>
          <a:blip r:embed="rId2"/>
          <a:stretch>
            <a:fillRect/>
          </a:stretch>
        </p:blipFill>
        <p:spPr>
          <a:xfrm>
            <a:off x="856244" y="4029212"/>
            <a:ext cx="171175" cy="171175"/>
          </a:xfrm>
          <a:prstGeom prst="rect">
            <a:avLst/>
          </a:prstGeom>
        </p:spPr>
      </p:pic>
      <p:sp>
        <p:nvSpPr>
          <p:cNvPr id="14" name="TextBox 13"/>
          <p:cNvSpPr txBox="1"/>
          <p:nvPr/>
        </p:nvSpPr>
        <p:spPr>
          <a:xfrm>
            <a:off x="1207008" y="39410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100+ languages</a:t>
            </a:r>
          </a:p>
        </p:txBody>
      </p:sp>
      <p:sp>
        <p:nvSpPr>
          <p:cNvPr id="15" name="Oval 14"/>
          <p:cNvSpPr/>
          <p:nvPr/>
        </p:nvSpPr>
        <p:spPr>
          <a:xfrm>
            <a:off x="777240" y="44074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3"/>
          <a:stretch>
            <a:fillRect/>
          </a:stretch>
        </p:blipFill>
        <p:spPr>
          <a:xfrm>
            <a:off x="856244" y="4486412"/>
            <a:ext cx="171175" cy="171175"/>
          </a:xfrm>
          <a:prstGeom prst="rect">
            <a:avLst/>
          </a:prstGeom>
        </p:spPr>
      </p:pic>
      <p:sp>
        <p:nvSpPr>
          <p:cNvPr id="17" name="TextBox 16"/>
          <p:cNvSpPr txBox="1"/>
          <p:nvPr/>
        </p:nvSpPr>
        <p:spPr>
          <a:xfrm>
            <a:off x="1207008" y="43982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Free: 2,000 words a week</a:t>
            </a:r>
          </a:p>
        </p:txBody>
      </p:sp>
      <p:sp>
        <p:nvSpPr>
          <p:cNvPr id="18" name="Oval 17"/>
          <p:cNvSpPr/>
          <p:nvPr/>
        </p:nvSpPr>
        <p:spPr>
          <a:xfrm>
            <a:off x="777240" y="4864608"/>
            <a:ext cx="329184" cy="329184"/>
          </a:xfrm>
          <a:prstGeom prst="ellipse">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phone-FFFFFF.png"/>
          <p:cNvPicPr>
            <a:picLocks noChangeAspect="1"/>
          </p:cNvPicPr>
          <p:nvPr/>
        </p:nvPicPr>
        <p:blipFill>
          <a:blip r:embed="rId4"/>
          <a:stretch>
            <a:fillRect/>
          </a:stretch>
        </p:blipFill>
        <p:spPr>
          <a:xfrm>
            <a:off x="856244" y="4943612"/>
            <a:ext cx="171175" cy="171175"/>
          </a:xfrm>
          <a:prstGeom prst="rect">
            <a:avLst/>
          </a:prstGeom>
        </p:spPr>
      </p:pic>
      <p:sp>
        <p:nvSpPr>
          <p:cNvPr id="20" name="TextBox 19"/>
          <p:cNvSpPr txBox="1"/>
          <p:nvPr/>
        </p:nvSpPr>
        <p:spPr>
          <a:xfrm>
            <a:off x="1207008" y="4855464"/>
            <a:ext cx="2331720" cy="347472"/>
          </a:xfrm>
          <a:prstGeom prst="rect">
            <a:avLst/>
          </a:prstGeom>
          <a:noFill/>
        </p:spPr>
        <p:txBody>
          <a:bodyPr wrap="square" lIns="36576" rIns="36576" tIns="18288" bIns="18288" anchor="ctr">
            <a:spAutoFit/>
          </a:bodyPr>
          <a:lstStyle/>
          <a:p>
            <a:pPr algn="l">
              <a:lnSpc>
                <a:spcPct val="112000"/>
              </a:lnSpc>
            </a:pPr>
            <a:r>
              <a:rPr sz="1200" b="0" i="0">
                <a:solidFill>
                  <a:srgbClr val="C9C4B9"/>
                </a:solidFill>
                <a:latin typeface="Calibri"/>
              </a:rPr>
              <a:t>Mac · Windows · iPhone · Android</a:t>
            </a:r>
          </a:p>
        </p:txBody>
      </p:sp>
      <p:sp>
        <p:nvSpPr>
          <p:cNvPr id="21" name="Rounded Rectangle 20"/>
          <p:cNvSpPr/>
          <p:nvPr/>
        </p:nvSpPr>
        <p:spPr>
          <a:xfrm>
            <a:off x="3840480" y="2011680"/>
            <a:ext cx="4343400" cy="960120"/>
          </a:xfrm>
          <a:prstGeom prst="roundRect">
            <a:avLst>
              <a:gd name="adj" fmla="val 3500"/>
            </a:avLst>
          </a:prstGeom>
          <a:solidFill>
            <a:srgbClr val="E8E5D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069080" y="212140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6B6862"/>
                </a:solidFill>
                <a:latin typeface="Calibri"/>
              </a:rPr>
              <a:t>TYPED</a:t>
            </a:r>
          </a:p>
        </p:txBody>
      </p:sp>
      <p:sp>
        <p:nvSpPr>
          <p:cNvPr id="23" name="TextBox 22"/>
          <p:cNvSpPr txBox="1"/>
          <p:nvPr/>
        </p:nvSpPr>
        <p:spPr>
          <a:xfrm>
            <a:off x="4069080" y="2395728"/>
            <a:ext cx="3886200" cy="45720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onsolas"/>
              </a:rPr>
              <a:t>“check meetings”</a:t>
            </a:r>
          </a:p>
        </p:txBody>
      </p:sp>
      <p:sp>
        <p:nvSpPr>
          <p:cNvPr id="24" name="Rounded Rectangle 23"/>
          <p:cNvSpPr/>
          <p:nvPr/>
        </p:nvSpPr>
        <p:spPr>
          <a:xfrm>
            <a:off x="3840480" y="3108960"/>
            <a:ext cx="4343400" cy="2286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069080" y="3218688"/>
            <a:ext cx="3886200" cy="237744"/>
          </a:xfrm>
          <a:prstGeom prst="rect">
            <a:avLst/>
          </a:prstGeom>
          <a:noFill/>
        </p:spPr>
        <p:txBody>
          <a:bodyPr wrap="square" lIns="36576" rIns="36576" tIns="18288" bIns="18288" anchor="t">
            <a:spAutoFit/>
          </a:bodyPr>
          <a:lstStyle/>
          <a:p>
            <a:pPr algn="l">
              <a:lnSpc>
                <a:spcPct val="112000"/>
              </a:lnSpc>
            </a:pPr>
            <a:r>
              <a:rPr sz="1000" b="1" i="0">
                <a:solidFill>
                  <a:srgbClr val="3A7D7B"/>
                </a:solidFill>
                <a:latin typeface="Calibri"/>
              </a:rPr>
              <a:t>SPOKEN · TIDIED BY FLOW</a:t>
            </a:r>
          </a:p>
        </p:txBody>
      </p:sp>
      <p:sp>
        <p:nvSpPr>
          <p:cNvPr id="26" name="TextBox 25"/>
          <p:cNvSpPr txBox="1"/>
          <p:nvPr/>
        </p:nvSpPr>
        <p:spPr>
          <a:xfrm>
            <a:off x="4069080" y="3493008"/>
            <a:ext cx="3886200" cy="1417320"/>
          </a:xfrm>
          <a:prstGeom prst="rect">
            <a:avLst/>
          </a:prstGeom>
          <a:noFill/>
        </p:spPr>
        <p:txBody>
          <a:bodyPr wrap="square" lIns="36576" rIns="36576" tIns="18288" bIns="18288" anchor="t">
            <a:spAutoFit/>
          </a:bodyPr>
          <a:lstStyle/>
          <a:p>
            <a:pPr algn="l">
              <a:lnSpc>
                <a:spcPct val="115000"/>
              </a:lnSpc>
            </a:pPr>
            <a:r>
              <a:rPr sz="1350" b="0" i="1">
                <a:solidFill>
                  <a:srgbClr val="21201C"/>
                </a:solidFill>
                <a:latin typeface="Cambria"/>
              </a:rPr>
              <a:t>“Check this week’s Kopi Kaki meetings in Singapore time, flag anything that clashes with Thursday’s supplier tasting, and draft a reply to the outlet manager for me to approve.”</a:t>
            </a:r>
          </a:p>
        </p:txBody>
      </p:sp>
      <p:sp>
        <p:nvSpPr>
          <p:cNvPr id="27" name="TextBox 26"/>
          <p:cNvSpPr txBox="1"/>
          <p:nvPr/>
        </p:nvSpPr>
        <p:spPr>
          <a:xfrm>
            <a:off x="4069080" y="4937760"/>
            <a:ext cx="3886200" cy="329184"/>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Talking, you give the goal, context and finish line agents need.</a:t>
            </a:r>
          </a:p>
        </p:txBody>
      </p:sp>
      <p:sp>
        <p:nvSpPr>
          <p:cNvPr id="28" name="Oval 27"/>
          <p:cNvSpPr/>
          <p:nvPr/>
        </p:nvSpPr>
        <p:spPr>
          <a:xfrm>
            <a:off x="8412480" y="204825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80" y="2048256"/>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1</a:t>
            </a:r>
          </a:p>
        </p:txBody>
      </p:sp>
      <p:sp>
        <p:nvSpPr>
          <p:cNvPr id="30" name="TextBox 29"/>
          <p:cNvSpPr txBox="1"/>
          <p:nvPr/>
        </p:nvSpPr>
        <p:spPr>
          <a:xfrm>
            <a:off x="8961119" y="1993392"/>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Get Flow</a:t>
            </a:r>
          </a:p>
        </p:txBody>
      </p:sp>
      <p:sp>
        <p:nvSpPr>
          <p:cNvPr id="31" name="TextBox 30"/>
          <p:cNvSpPr txBox="1"/>
          <p:nvPr/>
        </p:nvSpPr>
        <p:spPr>
          <a:xfrm>
            <a:off x="8961119" y="2304288"/>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Download from wisprflow.ai and sign up; the free plan needs no card.</a:t>
            </a:r>
          </a:p>
        </p:txBody>
      </p:sp>
      <p:sp>
        <p:nvSpPr>
          <p:cNvPr id="32" name="Oval 31"/>
          <p:cNvSpPr/>
          <p:nvPr/>
        </p:nvSpPr>
        <p:spPr>
          <a:xfrm>
            <a:off x="8412480" y="318211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12480" y="3182112"/>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2</a:t>
            </a:r>
          </a:p>
        </p:txBody>
      </p:sp>
      <p:sp>
        <p:nvSpPr>
          <p:cNvPr id="34" name="TextBox 33"/>
          <p:cNvSpPr txBox="1"/>
          <p:nvPr/>
        </p:nvSpPr>
        <p:spPr>
          <a:xfrm>
            <a:off x="8961119" y="3127248"/>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Allow the mic</a:t>
            </a:r>
          </a:p>
        </p:txBody>
      </p:sp>
      <p:sp>
        <p:nvSpPr>
          <p:cNvPr id="35" name="TextBox 34"/>
          <p:cNvSpPr txBox="1"/>
          <p:nvPr/>
        </p:nvSpPr>
        <p:spPr>
          <a:xfrm>
            <a:off x="8961119" y="3438144"/>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Grant microphone and accessibility access when asked.</a:t>
            </a:r>
          </a:p>
        </p:txBody>
      </p:sp>
      <p:sp>
        <p:nvSpPr>
          <p:cNvPr id="36" name="Oval 35"/>
          <p:cNvSpPr/>
          <p:nvPr/>
        </p:nvSpPr>
        <p:spPr>
          <a:xfrm>
            <a:off x="8412480" y="4315968"/>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12480" y="4315968"/>
            <a:ext cx="420624" cy="42062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mbria"/>
              </a:rPr>
              <a:t>3</a:t>
            </a:r>
          </a:p>
        </p:txBody>
      </p:sp>
      <p:sp>
        <p:nvSpPr>
          <p:cNvPr id="38" name="TextBox 37"/>
          <p:cNvSpPr txBox="1"/>
          <p:nvPr/>
        </p:nvSpPr>
        <p:spPr>
          <a:xfrm>
            <a:off x="8961119" y="4261104"/>
            <a:ext cx="2651760" cy="310896"/>
          </a:xfrm>
          <a:prstGeom prst="rect">
            <a:avLst/>
          </a:prstGeom>
          <a:noFill/>
        </p:spPr>
        <p:txBody>
          <a:bodyPr wrap="square" lIns="36576" rIns="36576" tIns="18288" bIns="18288" anchor="t">
            <a:spAutoFit/>
          </a:bodyPr>
          <a:lstStyle/>
          <a:p>
            <a:pPr algn="l">
              <a:lnSpc>
                <a:spcPct val="112000"/>
              </a:lnSpc>
            </a:pPr>
            <a:r>
              <a:rPr sz="1450" b="1" i="0">
                <a:solidFill>
                  <a:srgbClr val="21201C"/>
                </a:solidFill>
                <a:latin typeface="Cambria"/>
              </a:rPr>
              <a:t>Hold, speak, release</a:t>
            </a:r>
          </a:p>
        </p:txBody>
      </p:sp>
      <p:sp>
        <p:nvSpPr>
          <p:cNvPr id="39" name="TextBox 38"/>
          <p:cNvSpPr txBox="1"/>
          <p:nvPr/>
        </p:nvSpPr>
        <p:spPr>
          <a:xfrm>
            <a:off x="8961119" y="4572000"/>
            <a:ext cx="2651760" cy="77724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Hold your Flow shortcut, say the prompt, let go. The text lands in Muse, ChatGPT or Hermes.</a:t>
            </a:r>
          </a:p>
        </p:txBody>
      </p:sp>
      <p:sp>
        <p:nvSpPr>
          <p:cNvPr id="40" name="Rounded Rectangle 39">
            <a:hlinkClick r:id="rId5"/>
          </p:cNvPr>
          <p:cNvSpPr/>
          <p:nvPr/>
        </p:nvSpPr>
        <p:spPr>
          <a:xfrm>
            <a:off x="548640" y="5559552"/>
            <a:ext cx="11064240" cy="603504"/>
          </a:xfrm>
          <a:prstGeom prst="round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31520" y="5660136"/>
            <a:ext cx="402336" cy="402336"/>
          </a:xfrm>
          <a:prstGeom prst="ellipse">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chat-FFFFFF.png"/>
          <p:cNvPicPr>
            <a:picLocks noChangeAspect="1"/>
          </p:cNvPicPr>
          <p:nvPr/>
        </p:nvPicPr>
        <p:blipFill>
          <a:blip r:embed="rId6"/>
          <a:stretch>
            <a:fillRect/>
          </a:stretch>
        </p:blipFill>
        <p:spPr>
          <a:xfrm>
            <a:off x="828080" y="5756696"/>
            <a:ext cx="209214" cy="209214"/>
          </a:xfrm>
          <a:prstGeom prst="rect">
            <a:avLst/>
          </a:prstGeom>
        </p:spPr>
      </p:pic>
      <p:sp>
        <p:nvSpPr>
          <p:cNvPr id="43" name="TextBox 42">
            <a:hlinkClick r:id="rId5"/>
          </p:cNvPr>
          <p:cNvSpPr txBox="1"/>
          <p:nvPr/>
        </p:nvSpPr>
        <p:spPr>
          <a:xfrm>
            <a:off x="1280160" y="5632704"/>
            <a:ext cx="10149840" cy="457200"/>
          </a:xfrm>
          <a:prstGeom prst="rect">
            <a:avLst/>
          </a:prstGeom>
          <a:noFill/>
        </p:spPr>
        <p:txBody>
          <a:bodyPr wrap="square" lIns="36576" rIns="36576" tIns="18288" bIns="18288" anchor="ctr">
            <a:spAutoFit/>
          </a:bodyPr>
          <a:lstStyle/>
          <a:p>
            <a:pPr algn="l">
              <a:lnSpc>
                <a:spcPct val="112000"/>
              </a:lnSpc>
            </a:pPr>
            <a:r>
              <a:rPr sz="1600" b="1" i="0">
                <a:solidFill>
                  <a:srgbClr val="FFFFFF"/>
                </a:solidFill>
                <a:latin typeface="Cambria"/>
              </a:rPr>
              <a:t>Download Wispr Flow  </a:t>
            </a:r>
            <a:r>
              <a:rPr sz="1600" b="1" i="0">
                <a:solidFill>
                  <a:srgbClr val="FFFFFF"/>
                </a:solidFill>
                <a:latin typeface="Calibri"/>
              </a:rPr>
              <a:t>→</a:t>
            </a:r>
            <a:r>
              <a:rPr sz="1600" b="1" i="0">
                <a:solidFill>
                  <a:srgbClr val="FFFFFF"/>
                </a:solidFill>
                <a:latin typeface="Cambria"/>
              </a:rPr>
              <a:t>  wisprflow.ai   ·   then speak every prompt in this course</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Kopi Kaki meeting schedule and emails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prompts/#lab-01</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Kopi Kaki training Google account. Check this week’s Google Calendar meetings in Asia/Singapore (any meeting, such as the Gula Melaka Cold Brew launch review or a supplier tasting) and at most five related emails. Show each meeting’s start/end/time zone and the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(or your dot)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01</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prompts/#lab-01</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Pick one Kopi Kaki meeting you verified and draft a concise reply about it, using only that schedule and message.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assistant — speak it with Wispr Flow</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01</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Your First AI Employee: Setup, Tools, Skills &amp; Schedules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hire Mia, your first AI employee. One app, no command line.</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What an AI agent is, part by part; what Hermes Agent is; install Hermes Desktop and point it at your kopi-kaki folder</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Provider and model: Nous Portal free (Upstage Solar Mini 4) or your ChatGPT Plus plan; Telegram bot by QR code or BotFather</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Tools and skills: the difference, then Gmail, web design and PPTX; Firecrawl web search; scheduled jobs</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2 · One agent + UX skills build the Kopi Kaki website</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3 · One agent + PPT tool and skill build the Kopi Kaki deck (PP Task 2)</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2 · EMPLOYEE #1</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Mia</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Your first hire works from your laptop and never clocks off.</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This afternoon you give one Hermes agent a brain, a phone (Telegram), a voice, hands (tools), know-how (skills), your Gmail, web search and an alarm clock — all from the Hermes Desktop window. Then she builds your website and your pitch deck.</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58</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29768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64008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Who Kopi Kaki is and the rules; Hermes loads it from the folder</a:t>
                      </a:r>
                    </a:p>
                  </a:txBody>
                  <a:tcPr marL="64008" marR="64008" marT="27432" marB="27432" anchor="ctr">
                    <a:solidFill>
                      <a:srgbClr val="FFFFFF"/>
                    </a:solidFill>
                  </a:tcPr>
                </a:tc>
                <a:tc>
                  <a:txBody>
                    <a:bodyPr wrap="square"/>
                    <a:lstStyle/>
                    <a:p>
                      <a:r>
                        <a:rPr b="0" sz="1500">
                          <a:solidFill>
                            <a:srgbClr val="6B6862"/>
                          </a:solidFill>
                          <a:latin typeface="Calibri"/>
                        </a:rPr>
                        <a:t>Every Hermes lab</a:t>
                      </a:r>
                    </a:p>
                  </a:txBody>
                  <a:tcPr marL="64008" marR="64008" marT="27432" marB="27432" anchor="ctr">
                    <a:solidFill>
                      <a:srgbClr val="FFFFFF"/>
                    </a:solidFill>
                  </a:tcPr>
                </a:tc>
              </a:tr>
              <a:tr h="64008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Every Hermes lab</a:t>
                      </a:r>
                    </a:p>
                  </a:txBody>
                  <a:tcPr marL="64008" marR="64008" marT="27432" marB="27432" anchor="ctr">
                    <a:solidFill>
                      <a:srgbClr val="F3F1EB"/>
                    </a:solidFill>
                  </a:tcPr>
                </a:tc>
              </a:tr>
              <a:tr h="64008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Labs 2–5, bonus</a:t>
                      </a:r>
                    </a:p>
                  </a:txBody>
                  <a:tcPr marL="64008" marR="64008" marT="27432" marB="27432" anchor="ctr">
                    <a:solidFill>
                      <a:srgbClr val="FFFFFF"/>
                    </a:solidFill>
                  </a:tcPr>
                </a:tc>
              </a:tr>
              <a:tr h="64008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pop-up tasting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Setup, Labs 2–4</a:t>
                      </a:r>
                    </a:p>
                  </a:txBody>
                  <a:tcPr marL="64008" marR="64008" marT="27432" marB="27432" anchor="ctr">
                    <a:solidFill>
                      <a:srgbClr val="F3F1EB"/>
                    </a:solidFill>
                  </a:tcPr>
                </a:tc>
              </a:tr>
              <a:tr h="640080">
                <a:tc>
                  <a:txBody>
                    <a:bodyPr wrap="square"/>
                    <a:lstStyle/>
                    <a:p>
                      <a:r>
                        <a:rPr b="1" sz="1500">
                          <a:solidFill>
                            <a:srgbClr val="21201C"/>
                          </a:solidFill>
                          <a:latin typeface="Cambria"/>
                        </a:rPr>
                        <a:t>product-catalogue.csv</a:t>
                      </a:r>
                    </a:p>
                  </a:txBody>
                  <a:tcPr marL="64008" marR="64008" marT="27432" marB="27432" anchor="ctr">
                    <a:solidFill>
                      <a:srgbClr val="FFFFFF"/>
                    </a:solidFill>
                  </a:tcPr>
                </a:tc>
                <a:tc>
                  <a:txBody>
                    <a:bodyPr wrap="square"/>
                    <a:lstStyle/>
                    <a:p>
                      <a:r>
                        <a:rPr b="0" sz="1500">
                          <a:solidFill>
                            <a:srgbClr val="6B6862"/>
                          </a:solidFill>
                          <a:latin typeface="Calibri"/>
                        </a:rPr>
                        <a:t>Menu and prices</a:t>
                      </a:r>
                    </a:p>
                  </a:txBody>
                  <a:tcPr marL="64008" marR="64008" marT="27432" marB="27432" anchor="ctr">
                    <a:solidFill>
                      <a:srgbClr val="FFFFFF"/>
                    </a:solidFill>
                  </a:tcPr>
                </a:tc>
                <a:tc>
                  <a:txBody>
                    <a:bodyPr wrap="square"/>
                    <a:lstStyle/>
                    <a:p>
                      <a:r>
                        <a:rPr b="0" sz="1500">
                          <a:solidFill>
                            <a:srgbClr val="6B6862"/>
                          </a:solidFill>
                          <a:latin typeface="Calibri"/>
                        </a:rPr>
                        <a:t>Labs 2–5</a:t>
                      </a:r>
                    </a:p>
                  </a:txBody>
                  <a:tcPr marL="64008" marR="64008" marT="27432" marB="27432" anchor="ctr">
                    <a:solidFill>
                      <a:srgbClr val="FFFFFF"/>
                    </a:solidFill>
                  </a:tcPr>
                </a:tc>
              </a:tr>
              <a:tr h="640080">
                <a:tc>
                  <a:txBody>
                    <a:bodyPr wrap="square"/>
                    <a:lstStyle/>
                    <a:p>
                      <a:r>
                        <a:rPr b="1" sz="1500">
                          <a:solidFill>
                            <a:srgbClr val="21201C"/>
                          </a:solidFill>
                          <a:latin typeface="Cambria"/>
                        </a:rPr>
                        <a:t>skills/ · souls/ · tasks/ · tools/</a:t>
                      </a:r>
                    </a:p>
                  </a:txBody>
                  <a:tcPr marL="64008" marR="64008" marT="27432" marB="27432" anchor="ctr">
                    <a:solidFill>
                      <a:srgbClr val="F3F1EB"/>
                    </a:solidFill>
                  </a:tcPr>
                </a:tc>
                <a:tc>
                  <a:txBody>
                    <a:bodyPr wrap="square"/>
                    <a:lstStyle/>
                    <a:p>
                      <a:r>
                        <a:rPr b="0" sz="1500">
                          <a:solidFill>
                            <a:srgbClr val="6B6862"/>
                          </a:solidFill>
                          <a:latin typeface="Calibri"/>
                        </a:rPr>
                        <a:t>Reviewed skills, bot role files, Kanban task briefs, small tools</a:t>
                      </a:r>
                    </a:p>
                  </a:txBody>
                  <a:tcPr marL="64008" marR="64008" marT="27432" marB="27432" anchor="ctr">
                    <a:solidFill>
                      <a:srgbClr val="F3F1EB"/>
                    </a:solidFill>
                  </a:tcPr>
                </a:tc>
                <a:tc>
                  <a:txBody>
                    <a:bodyPr wrap="square"/>
                    <a:lstStyle/>
                    <a:p>
                      <a:r>
                        <a:rPr b="0" sz="1500">
                          <a:solidFill>
                            <a:srgbClr val="6B6862"/>
                          </a:solidFill>
                          <a:latin typeface="Calibri"/>
                        </a:rPr>
                        <a:t>Setup, Labs 3–6</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WHAT IS AN AI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Makes an AI Agent: a Model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751331"/>
            <a:ext cx="3109844"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877912"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1725833"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4373214" y="3749039"/>
            <a:ext cx="1725834" cy="144173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221135" y="3749039"/>
            <a:ext cx="3877913" cy="35607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2989203" y="2751331"/>
            <a:ext cx="3109845" cy="997708"/>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AI agent</a:t>
            </a:r>
          </a:p>
        </p:txBody>
      </p:sp>
      <p:sp>
        <p:nvSpPr>
          <p:cNvPr id="16" name="Rounded Rectangle 15"/>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9" name="TextBox 18"/>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20" name="TextBox 19"/>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Reasons and proposes the next action.</a:t>
            </a:r>
          </a:p>
        </p:txBody>
      </p:sp>
      <p:sp>
        <p:nvSpPr>
          <p:cNvPr id="21" name="Rounded Rectangle 20"/>
          <p:cNvSpPr/>
          <p:nvPr/>
        </p:nvSpPr>
        <p:spPr>
          <a:xfrm>
            <a:off x="7951592"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079608"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ool-FFFFFF.png"/>
          <p:cNvPicPr>
            <a:picLocks noChangeAspect="1"/>
          </p:cNvPicPr>
          <p:nvPr/>
        </p:nvPicPr>
        <p:blipFill>
          <a:blip r:embed="rId3"/>
          <a:stretch>
            <a:fillRect/>
          </a:stretch>
        </p:blipFill>
        <p:spPr>
          <a:xfrm>
            <a:off x="8171779" y="2491459"/>
            <a:ext cx="199704" cy="199704"/>
          </a:xfrm>
          <a:prstGeom prst="rect">
            <a:avLst/>
          </a:prstGeom>
        </p:spPr>
      </p:pic>
      <p:sp>
        <p:nvSpPr>
          <p:cNvPr id="24" name="TextBox 23"/>
          <p:cNvSpPr txBox="1"/>
          <p:nvPr/>
        </p:nvSpPr>
        <p:spPr>
          <a:xfrm>
            <a:off x="8536808"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25" name="TextBox 24"/>
          <p:cNvSpPr txBox="1"/>
          <p:nvPr/>
        </p:nvSpPr>
        <p:spPr>
          <a:xfrm>
            <a:off x="8079608"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6" name="Rounded Rectangle 25"/>
          <p:cNvSpPr/>
          <p:nvPr/>
        </p:nvSpPr>
        <p:spPr>
          <a:xfrm>
            <a:off x="8719660"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847676"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ook-FFFFFF.png"/>
          <p:cNvPicPr>
            <a:picLocks noChangeAspect="1"/>
          </p:cNvPicPr>
          <p:nvPr/>
        </p:nvPicPr>
        <p:blipFill>
          <a:blip r:embed="rId4"/>
          <a:stretch>
            <a:fillRect/>
          </a:stretch>
        </p:blipFill>
        <p:spPr>
          <a:xfrm>
            <a:off x="8939847" y="3845245"/>
            <a:ext cx="199704" cy="199704"/>
          </a:xfrm>
          <a:prstGeom prst="rect">
            <a:avLst/>
          </a:prstGeom>
        </p:spPr>
      </p:pic>
      <p:sp>
        <p:nvSpPr>
          <p:cNvPr id="29" name="TextBox 28"/>
          <p:cNvSpPr txBox="1"/>
          <p:nvPr/>
        </p:nvSpPr>
        <p:spPr>
          <a:xfrm>
            <a:off x="9304876"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0" name="TextBox 29"/>
          <p:cNvSpPr txBox="1"/>
          <p:nvPr/>
        </p:nvSpPr>
        <p:spPr>
          <a:xfrm>
            <a:off x="8847676"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31" name="Rounded Rectangle 30"/>
          <p:cNvSpPr/>
          <p:nvPr/>
        </p:nvSpPr>
        <p:spPr>
          <a:xfrm>
            <a:off x="6567581"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695597"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memory-FFFFFF.png"/>
          <p:cNvPicPr>
            <a:picLocks noChangeAspect="1"/>
          </p:cNvPicPr>
          <p:nvPr/>
        </p:nvPicPr>
        <p:blipFill>
          <a:blip r:embed="rId5"/>
          <a:stretch>
            <a:fillRect/>
          </a:stretch>
        </p:blipFill>
        <p:spPr>
          <a:xfrm>
            <a:off x="6787768" y="4930897"/>
            <a:ext cx="199704" cy="199704"/>
          </a:xfrm>
          <a:prstGeom prst="rect">
            <a:avLst/>
          </a:prstGeom>
        </p:spPr>
      </p:pic>
      <p:sp>
        <p:nvSpPr>
          <p:cNvPr id="34" name="TextBox 33"/>
          <p:cNvSpPr txBox="1"/>
          <p:nvPr/>
        </p:nvSpPr>
        <p:spPr>
          <a:xfrm>
            <a:off x="7152797"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35" name="TextBox 34"/>
          <p:cNvSpPr txBox="1"/>
          <p:nvPr/>
        </p:nvSpPr>
        <p:spPr>
          <a:xfrm>
            <a:off x="6695597"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6" name="Rounded Rectangle 35"/>
          <p:cNvSpPr/>
          <p:nvPr/>
        </p:nvSpPr>
        <p:spPr>
          <a:xfrm>
            <a:off x="3115914" y="471071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3243930" y="483872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older-FFFFFF.png"/>
          <p:cNvPicPr>
            <a:picLocks noChangeAspect="1"/>
          </p:cNvPicPr>
          <p:nvPr/>
        </p:nvPicPr>
        <p:blipFill>
          <a:blip r:embed="rId6"/>
          <a:stretch>
            <a:fillRect/>
          </a:stretch>
        </p:blipFill>
        <p:spPr>
          <a:xfrm>
            <a:off x="3336102" y="4930897"/>
            <a:ext cx="199704" cy="199704"/>
          </a:xfrm>
          <a:prstGeom prst="rect">
            <a:avLst/>
          </a:prstGeom>
        </p:spPr>
      </p:pic>
      <p:sp>
        <p:nvSpPr>
          <p:cNvPr id="39" name="TextBox 38"/>
          <p:cNvSpPr txBox="1"/>
          <p:nvPr/>
        </p:nvSpPr>
        <p:spPr>
          <a:xfrm>
            <a:off x="3701130" y="480215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40" name="TextBox 39"/>
          <p:cNvSpPr txBox="1"/>
          <p:nvPr/>
        </p:nvSpPr>
        <p:spPr>
          <a:xfrm>
            <a:off x="3243930" y="524106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41" name="Rounded Rectangle 40"/>
          <p:cNvSpPr/>
          <p:nvPr/>
        </p:nvSpPr>
        <p:spPr>
          <a:xfrm>
            <a:off x="963835" y="3625057"/>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91851" y="3753073"/>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file-FFFFFF.png"/>
          <p:cNvPicPr>
            <a:picLocks noChangeAspect="1"/>
          </p:cNvPicPr>
          <p:nvPr/>
        </p:nvPicPr>
        <p:blipFill>
          <a:blip r:embed="rId7"/>
          <a:stretch>
            <a:fillRect/>
          </a:stretch>
        </p:blipFill>
        <p:spPr>
          <a:xfrm>
            <a:off x="1184023" y="3845245"/>
            <a:ext cx="199704" cy="199704"/>
          </a:xfrm>
          <a:prstGeom prst="rect">
            <a:avLst/>
          </a:prstGeom>
        </p:spPr>
      </p:pic>
      <p:sp>
        <p:nvSpPr>
          <p:cNvPr id="44" name="TextBox 43"/>
          <p:cNvSpPr txBox="1"/>
          <p:nvPr/>
        </p:nvSpPr>
        <p:spPr>
          <a:xfrm>
            <a:off x="1549051" y="3716497"/>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45" name="TextBox 44"/>
          <p:cNvSpPr txBox="1"/>
          <p:nvPr/>
        </p:nvSpPr>
        <p:spPr>
          <a:xfrm>
            <a:off x="1091851" y="4155409"/>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6" name="Rounded Rectangle 45"/>
          <p:cNvSpPr/>
          <p:nvPr/>
        </p:nvSpPr>
        <p:spPr>
          <a:xfrm>
            <a:off x="1731903" y="2271271"/>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1859919" y="2399287"/>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shield-FFFFFF.png"/>
          <p:cNvPicPr>
            <a:picLocks noChangeAspect="1"/>
          </p:cNvPicPr>
          <p:nvPr/>
        </p:nvPicPr>
        <p:blipFill>
          <a:blip r:embed="rId8"/>
          <a:stretch>
            <a:fillRect/>
          </a:stretch>
        </p:blipFill>
        <p:spPr>
          <a:xfrm>
            <a:off x="1952091" y="2491459"/>
            <a:ext cx="199704" cy="199704"/>
          </a:xfrm>
          <a:prstGeom prst="rect">
            <a:avLst/>
          </a:prstGeom>
        </p:spPr>
      </p:pic>
      <p:sp>
        <p:nvSpPr>
          <p:cNvPr id="49" name="TextBox 48"/>
          <p:cNvSpPr txBox="1"/>
          <p:nvPr/>
        </p:nvSpPr>
        <p:spPr>
          <a:xfrm>
            <a:off x="2317119" y="2362711"/>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50" name="TextBox 49"/>
          <p:cNvSpPr txBox="1"/>
          <p:nvPr/>
        </p:nvSpPr>
        <p:spPr>
          <a:xfrm>
            <a:off x="1859919" y="2801623"/>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51" name="TextBox 50"/>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same agent you met this morning in theory: a model inside a harness of tools, skills, memory and channels.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on your laptop</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Hermes Desktop is the app: install it like any other.</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Desktop, Telegram, WhatsApp, Slack, Discord, Signal, email … one agent behind all of them.</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connectors</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browser, images, voice, and 100+ apps such as Gmail.</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Scheduled jobs run on their own and deliver the result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Bots, group chats and a Kanban board — that is Topic 3.</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Brain, Body, Hands, Know-how: How Mia Is Built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Desktop</a:t>
            </a:r>
          </a:p>
          <a:p>
            <a:pPr algn="ctr">
              <a:lnSpc>
                <a:spcPct val="112000"/>
              </a:lnSpc>
            </a:pPr>
            <a:r>
              <a:rPr sz="1600" b="1" i="0">
                <a:solidFill>
                  <a:srgbClr val="FFFFFF"/>
                </a:solidFill>
                <a:latin typeface="Cambria"/>
              </a:rPr>
              <a:t>+ your model</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ain-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Model</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ChatGPT Plus, Nous free models …</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in your kopi-kaki folder</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memory-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What she chose to remember</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uzzle-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Capabilities → Skills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tool-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connectors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voice, Gmail</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phone-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Messaging + schedules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 and Scheduled jobs</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Hermes Desktop at a Glance: Everything Is One Click Away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1729187"/>
            <a:ext cx="6784848" cy="4039704"/>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kills.png"/>
          <p:cNvPicPr>
            <a:picLocks noChangeAspect="1"/>
          </p:cNvPicPr>
          <p:nvPr/>
        </p:nvPicPr>
        <p:blipFill>
          <a:blip r:embed="rId2"/>
          <a:stretch>
            <a:fillRect/>
          </a:stretch>
        </p:blipFill>
        <p:spPr>
          <a:xfrm>
            <a:off x="640080" y="1784051"/>
            <a:ext cx="6675120" cy="3929976"/>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New session</a:t>
            </a:r>
          </a:p>
        </p:txBody>
      </p:sp>
      <p:sp>
        <p:nvSpPr>
          <p:cNvPr id="12" name="TextBox 11"/>
          <p:cNvSpPr txBox="1"/>
          <p:nvPr/>
        </p:nvSpPr>
        <p:spPr>
          <a:xfrm>
            <a:off x="8229600" y="205740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Talk to Mia; pick the working folder.</a:t>
            </a:r>
          </a:p>
        </p:txBody>
      </p:sp>
      <p:sp>
        <p:nvSpPr>
          <p:cNvPr id="13" name="Oval 12"/>
          <p:cNvSpPr/>
          <p:nvPr/>
        </p:nvSpPr>
        <p:spPr>
          <a:xfrm>
            <a:off x="7635240" y="256032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uzzle-FFFFFF.png"/>
          <p:cNvPicPr>
            <a:picLocks noChangeAspect="1"/>
          </p:cNvPicPr>
          <p:nvPr/>
        </p:nvPicPr>
        <p:blipFill>
          <a:blip r:embed="rId4"/>
          <a:stretch>
            <a:fillRect/>
          </a:stretch>
        </p:blipFill>
        <p:spPr>
          <a:xfrm>
            <a:off x="7744967" y="2670048"/>
            <a:ext cx="237744" cy="237744"/>
          </a:xfrm>
          <a:prstGeom prst="rect">
            <a:avLst/>
          </a:prstGeom>
        </p:spPr>
      </p:pic>
      <p:sp>
        <p:nvSpPr>
          <p:cNvPr id="15" name="TextBox 14"/>
          <p:cNvSpPr txBox="1"/>
          <p:nvPr/>
        </p:nvSpPr>
        <p:spPr>
          <a:xfrm>
            <a:off x="8229600" y="251460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Capabilities</a:t>
            </a:r>
          </a:p>
        </p:txBody>
      </p:sp>
      <p:sp>
        <p:nvSpPr>
          <p:cNvPr id="16" name="TextBox 15"/>
          <p:cNvSpPr txBox="1"/>
          <p:nvPr/>
        </p:nvSpPr>
        <p:spPr>
          <a:xfrm>
            <a:off x="8229600" y="288036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Skills, Plugins, Connectors, Tools.</a:t>
            </a:r>
          </a:p>
        </p:txBody>
      </p:sp>
      <p:sp>
        <p:nvSpPr>
          <p:cNvPr id="17" name="Oval 16"/>
          <p:cNvSpPr/>
          <p:nvPr/>
        </p:nvSpPr>
        <p:spPr>
          <a:xfrm>
            <a:off x="7635240" y="338328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hone-FFFFFF.png"/>
          <p:cNvPicPr>
            <a:picLocks noChangeAspect="1"/>
          </p:cNvPicPr>
          <p:nvPr/>
        </p:nvPicPr>
        <p:blipFill>
          <a:blip r:embed="rId5"/>
          <a:stretch>
            <a:fillRect/>
          </a:stretch>
        </p:blipFill>
        <p:spPr>
          <a:xfrm>
            <a:off x="7744967" y="3493008"/>
            <a:ext cx="237744" cy="237744"/>
          </a:xfrm>
          <a:prstGeom prst="rect">
            <a:avLst/>
          </a:prstGeom>
        </p:spPr>
      </p:pic>
      <p:sp>
        <p:nvSpPr>
          <p:cNvPr id="19" name="TextBox 18"/>
          <p:cNvSpPr txBox="1"/>
          <p:nvPr/>
        </p:nvSpPr>
        <p:spPr>
          <a:xfrm>
            <a:off x="8229600" y="333756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Messaging</a:t>
            </a:r>
          </a:p>
        </p:txBody>
      </p:sp>
      <p:sp>
        <p:nvSpPr>
          <p:cNvPr id="20" name="TextBox 19"/>
          <p:cNvSpPr txBox="1"/>
          <p:nvPr/>
        </p:nvSpPr>
        <p:spPr>
          <a:xfrm>
            <a:off x="8229600" y="370332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Telegram, WhatsApp, email …</a:t>
            </a:r>
          </a:p>
        </p:txBody>
      </p:sp>
      <p:sp>
        <p:nvSpPr>
          <p:cNvPr id="21" name="Oval 20"/>
          <p:cNvSpPr/>
          <p:nvPr/>
        </p:nvSpPr>
        <p:spPr>
          <a:xfrm>
            <a:off x="7635240" y="420624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6"/>
          <a:stretch>
            <a:fillRect/>
          </a:stretch>
        </p:blipFill>
        <p:spPr>
          <a:xfrm>
            <a:off x="7744967" y="4315968"/>
            <a:ext cx="237744" cy="237744"/>
          </a:xfrm>
          <a:prstGeom prst="rect">
            <a:avLst/>
          </a:prstGeom>
        </p:spPr>
      </p:pic>
      <p:sp>
        <p:nvSpPr>
          <p:cNvPr id="23" name="TextBox 22"/>
          <p:cNvSpPr txBox="1"/>
          <p:nvPr/>
        </p:nvSpPr>
        <p:spPr>
          <a:xfrm>
            <a:off x="8229600" y="416052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Scheduled jobs</a:t>
            </a:r>
          </a:p>
        </p:txBody>
      </p:sp>
      <p:sp>
        <p:nvSpPr>
          <p:cNvPr id="24" name="TextBox 23"/>
          <p:cNvSpPr txBox="1"/>
          <p:nvPr/>
        </p:nvSpPr>
        <p:spPr>
          <a:xfrm>
            <a:off x="8229600" y="452628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starts work on time.</a:t>
            </a:r>
          </a:p>
        </p:txBody>
      </p:sp>
      <p:sp>
        <p:nvSpPr>
          <p:cNvPr id="25" name="Oval 24"/>
          <p:cNvSpPr/>
          <p:nvPr/>
        </p:nvSpPr>
        <p:spPr>
          <a:xfrm>
            <a:off x="7635240" y="502920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kanban-FFFFFF.png"/>
          <p:cNvPicPr>
            <a:picLocks noChangeAspect="1"/>
          </p:cNvPicPr>
          <p:nvPr/>
        </p:nvPicPr>
        <p:blipFill>
          <a:blip r:embed="rId7"/>
          <a:stretch>
            <a:fillRect/>
          </a:stretch>
        </p:blipFill>
        <p:spPr>
          <a:xfrm>
            <a:off x="7744967" y="5138928"/>
            <a:ext cx="237744" cy="237744"/>
          </a:xfrm>
          <a:prstGeom prst="rect">
            <a:avLst/>
          </a:prstGeom>
        </p:spPr>
      </p:pic>
      <p:sp>
        <p:nvSpPr>
          <p:cNvPr id="27" name="TextBox 26"/>
          <p:cNvSpPr txBox="1"/>
          <p:nvPr/>
        </p:nvSpPr>
        <p:spPr>
          <a:xfrm>
            <a:off x="8229600" y="498348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Kanban · Bots</a:t>
            </a:r>
          </a:p>
        </p:txBody>
      </p:sp>
      <p:sp>
        <p:nvSpPr>
          <p:cNvPr id="28" name="TextBox 27"/>
          <p:cNvSpPr txBox="1"/>
          <p:nvPr/>
        </p:nvSpPr>
        <p:spPr>
          <a:xfrm>
            <a:off x="8229600" y="5349240"/>
            <a:ext cx="3429000" cy="41148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Day 2 teams live here.</a:t>
            </a:r>
          </a:p>
        </p:txBody>
      </p:sp>
      <p:sp>
        <p:nvSpPr>
          <p:cNvPr id="29" name="TextBox 2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The left sidebar is your control panel. You will not open a terminal in this course: Mia runs the technical steps for you.</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SET 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Hermes Desktop in Three Moves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Download, open, check the version. If you can install Zoom, you can install your first AI employee.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TextBox 7"/>
          <p:cNvSpPr txBox="1"/>
          <p:nvPr/>
        </p:nvSpPr>
        <p:spPr>
          <a:xfrm>
            <a:off x="548640" y="2011679"/>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1</a:t>
            </a:r>
          </a:p>
        </p:txBody>
      </p:sp>
      <p:sp>
        <p:nvSpPr>
          <p:cNvPr id="9" name="TextBox 8"/>
          <p:cNvSpPr txBox="1"/>
          <p:nvPr/>
        </p:nvSpPr>
        <p:spPr>
          <a:xfrm>
            <a:off x="1325880" y="210312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Download</a:t>
            </a:r>
          </a:p>
        </p:txBody>
      </p:sp>
      <p:sp>
        <p:nvSpPr>
          <p:cNvPr id="10" name="TextBox 9"/>
          <p:cNvSpPr txBox="1"/>
          <p:nvPr/>
        </p:nvSpPr>
        <p:spPr>
          <a:xfrm>
            <a:off x="1325880" y="251460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Hermes-Setup.dmg (Mac, Apple Silicon) or Hermes-Setup.exe (Windows) from the official page.</a:t>
            </a:r>
          </a:p>
        </p:txBody>
      </p:sp>
      <p:sp>
        <p:nvSpPr>
          <p:cNvPr id="11" name="TextBox 10"/>
          <p:cNvSpPr txBox="1"/>
          <p:nvPr/>
        </p:nvSpPr>
        <p:spPr>
          <a:xfrm>
            <a:off x="548640" y="3200399"/>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2</a:t>
            </a:r>
          </a:p>
        </p:txBody>
      </p:sp>
      <p:sp>
        <p:nvSpPr>
          <p:cNvPr id="12" name="TextBox 11"/>
          <p:cNvSpPr txBox="1"/>
          <p:nvPr/>
        </p:nvSpPr>
        <p:spPr>
          <a:xfrm>
            <a:off x="1325880" y="3291839"/>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 run</a:t>
            </a:r>
          </a:p>
        </p:txBody>
      </p:sp>
      <p:sp>
        <p:nvSpPr>
          <p:cNvPr id="13" name="TextBox 12"/>
          <p:cNvSpPr txBox="1"/>
          <p:nvPr/>
        </p:nvSpPr>
        <p:spPr>
          <a:xfrm>
            <a:off x="1325880" y="370332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“Choose provider later” and the Basic layout.</a:t>
            </a:r>
          </a:p>
        </p:txBody>
      </p:sp>
      <p:sp>
        <p:nvSpPr>
          <p:cNvPr id="14" name="TextBox 13"/>
          <p:cNvSpPr txBox="1"/>
          <p:nvPr/>
        </p:nvSpPr>
        <p:spPr>
          <a:xfrm>
            <a:off x="548640" y="4389120"/>
            <a:ext cx="731520" cy="914400"/>
          </a:xfrm>
          <a:prstGeom prst="rect">
            <a:avLst/>
          </a:prstGeom>
          <a:noFill/>
        </p:spPr>
        <p:txBody>
          <a:bodyPr wrap="square" lIns="36576" rIns="36576" tIns="18288" bIns="18288" anchor="t">
            <a:spAutoFit/>
          </a:bodyPr>
          <a:lstStyle/>
          <a:p>
            <a:pPr algn="l">
              <a:lnSpc>
                <a:spcPct val="112000"/>
              </a:lnSpc>
            </a:pPr>
            <a:r>
              <a:rPr sz="5000" b="1" i="0">
                <a:solidFill>
                  <a:srgbClr val="D97757"/>
                </a:solidFill>
                <a:latin typeface="Cambria"/>
              </a:rPr>
              <a:t>3</a:t>
            </a:r>
          </a:p>
        </p:txBody>
      </p:sp>
      <p:sp>
        <p:nvSpPr>
          <p:cNvPr id="15" name="TextBox 14"/>
          <p:cNvSpPr txBox="1"/>
          <p:nvPr/>
        </p:nvSpPr>
        <p:spPr>
          <a:xfrm>
            <a:off x="1325880" y="4480560"/>
            <a:ext cx="356616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a:t>
            </a:r>
          </a:p>
        </p:txBody>
      </p:sp>
      <p:sp>
        <p:nvSpPr>
          <p:cNvPr id="16" name="TextBox 15"/>
          <p:cNvSpPr txBox="1"/>
          <p:nvPr/>
        </p:nvSpPr>
        <p:spPr>
          <a:xfrm>
            <a:off x="1325880" y="4892040"/>
            <a:ext cx="3566160" cy="73152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Settings → About → Version &amp; updates: “You’re running the latest version.”</a:t>
            </a:r>
          </a:p>
        </p:txBody>
      </p:sp>
      <p:sp>
        <p:nvSpPr>
          <p:cNvPr id="17" name="Rounded Rectangle 16"/>
          <p:cNvSpPr/>
          <p:nvPr/>
        </p:nvSpPr>
        <p:spPr>
          <a:xfrm>
            <a:off x="5505657" y="2048255"/>
            <a:ext cx="5859364" cy="39044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version.png"/>
          <p:cNvPicPr>
            <a:picLocks noChangeAspect="1"/>
          </p:cNvPicPr>
          <p:nvPr/>
        </p:nvPicPr>
        <p:blipFill>
          <a:blip r:embed="rId2"/>
          <a:stretch>
            <a:fillRect/>
          </a:stretch>
        </p:blipFill>
        <p:spPr>
          <a:xfrm>
            <a:off x="5560521" y="2103120"/>
            <a:ext cx="5749636" cy="3794760"/>
          </a:xfrm>
          <a:prstGeom prst="rect">
            <a:avLst/>
          </a:prstGeom>
        </p:spPr>
      </p:pic>
      <p:sp>
        <p:nvSpPr>
          <p:cNvPr id="19" name="TextBox 18"/>
          <p:cNvSpPr txBox="1"/>
          <p:nvPr/>
        </p:nvSpPr>
        <p:spPr>
          <a:xfrm>
            <a:off x="548640" y="5989320"/>
            <a:ext cx="10972800" cy="237744"/>
          </a:xfrm>
          <a:prstGeom prst="rect">
            <a:avLst/>
          </a:prstGeom>
          <a:noFill/>
        </p:spPr>
        <p:txBody>
          <a:bodyPr wrap="square" lIns="36576" rIns="36576" tIns="18288" bIns="18288" anchor="t">
            <a:spAutoFit/>
          </a:bodyPr>
          <a:lstStyle/>
          <a:p>
            <a:pPr algn="l">
              <a:lnSpc>
                <a:spcPct val="112000"/>
              </a:lnSpc>
            </a:pPr>
            <a:r>
              <a:rPr sz="1200" b="0" i="0">
                <a:solidFill>
                  <a:srgbClr val="3A7D7B"/>
                </a:solidFill>
                <a:latin typeface="Calibri"/>
                <a:hlinkClick r:id="rId3"/>
              </a:rPr>
              <a:t>Download Hermes Desktop for Mac or Windows  →  hermes-agent.nousresearch.com/desktop · click</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SET 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Hand Mia the Company Rulebook: + </a:t>
            </a:r>
            <a:r>
              <a:rPr sz="3000" b="1" i="0">
                <a:solidFill>
                  <a:srgbClr val="21201C"/>
                </a:solidFill>
                <a:latin typeface="Calibri"/>
              </a:rPr>
              <a:t>→</a:t>
            </a:r>
            <a:r>
              <a:rPr sz="3000" b="1" i="0">
                <a:solidFill>
                  <a:srgbClr val="21201C"/>
                </a:solidFill>
                <a:latin typeface="Cambria"/>
              </a:rPr>
              <a:t> Folder…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AGENTS.md is your company rulebook. Attach the folder that holds it, and tell Mia to follow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TextBox 7"/>
          <p:cNvSpPr txBox="1"/>
          <p:nvPr/>
        </p:nvSpPr>
        <p:spPr>
          <a:xfrm>
            <a:off x="548640" y="2075688"/>
            <a:ext cx="640080" cy="82296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1</a:t>
            </a:r>
          </a:p>
        </p:txBody>
      </p:sp>
      <p:sp>
        <p:nvSpPr>
          <p:cNvPr id="9" name="TextBox 8"/>
          <p:cNvSpPr txBox="1"/>
          <p:nvPr/>
        </p:nvSpPr>
        <p:spPr>
          <a:xfrm>
            <a:off x="1188720" y="2148840"/>
            <a:ext cx="4206240" cy="36576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Fill the folder</a:t>
            </a:r>
          </a:p>
        </p:txBody>
      </p:sp>
      <p:sp>
        <p:nvSpPr>
          <p:cNvPr id="10" name="TextBox 9"/>
          <p:cNvSpPr txBox="1"/>
          <p:nvPr/>
        </p:nvSpPr>
        <p:spPr>
          <a:xfrm>
            <a:off x="1188720" y="2532888"/>
            <a:ext cx="4206240" cy="56692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Drag this lab’s data/ files into kopi-kaki on your Desktop. AGENTS.md comes with them.</a:t>
            </a:r>
          </a:p>
        </p:txBody>
      </p:sp>
      <p:sp>
        <p:nvSpPr>
          <p:cNvPr id="11" name="TextBox 10"/>
          <p:cNvSpPr txBox="1"/>
          <p:nvPr/>
        </p:nvSpPr>
        <p:spPr>
          <a:xfrm>
            <a:off x="548640" y="3099816"/>
            <a:ext cx="640080" cy="82296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2</a:t>
            </a:r>
          </a:p>
        </p:txBody>
      </p:sp>
      <p:sp>
        <p:nvSpPr>
          <p:cNvPr id="12" name="TextBox 11"/>
          <p:cNvSpPr txBox="1"/>
          <p:nvPr/>
        </p:nvSpPr>
        <p:spPr>
          <a:xfrm>
            <a:off x="1188720" y="3172968"/>
            <a:ext cx="4206240" cy="36576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Attach it: + </a:t>
            </a:r>
            <a:r>
              <a:rPr sz="1700" b="1" i="0">
                <a:solidFill>
                  <a:srgbClr val="21201C"/>
                </a:solidFill>
                <a:latin typeface="Calibri"/>
              </a:rPr>
              <a:t>→</a:t>
            </a:r>
            <a:r>
              <a:rPr sz="1700" b="1" i="0">
                <a:solidFill>
                  <a:srgbClr val="21201C"/>
                </a:solidFill>
                <a:latin typeface="Cambria"/>
              </a:rPr>
              <a:t> Folder…</a:t>
            </a:r>
          </a:p>
        </p:txBody>
      </p:sp>
      <p:sp>
        <p:nvSpPr>
          <p:cNvPr id="13" name="TextBox 12"/>
          <p:cNvSpPr txBox="1"/>
          <p:nvPr/>
        </p:nvSpPr>
        <p:spPr>
          <a:xfrm>
            <a:off x="1188720" y="3557016"/>
            <a:ext cx="4206240" cy="56692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 the chat box click + (left of “Ask anything”) → Folder… → choose kopi-kaki.</a:t>
            </a:r>
          </a:p>
        </p:txBody>
      </p:sp>
      <p:sp>
        <p:nvSpPr>
          <p:cNvPr id="14" name="TextBox 13"/>
          <p:cNvSpPr txBox="1"/>
          <p:nvPr/>
        </p:nvSpPr>
        <p:spPr>
          <a:xfrm>
            <a:off x="548640" y="4123944"/>
            <a:ext cx="640080" cy="822960"/>
          </a:xfrm>
          <a:prstGeom prst="rect">
            <a:avLst/>
          </a:prstGeom>
          <a:noFill/>
        </p:spPr>
        <p:txBody>
          <a:bodyPr wrap="square" lIns="36576" rIns="36576" tIns="18288" bIns="18288" anchor="t">
            <a:spAutoFit/>
          </a:bodyPr>
          <a:lstStyle/>
          <a:p>
            <a:pPr algn="l">
              <a:lnSpc>
                <a:spcPct val="112000"/>
              </a:lnSpc>
            </a:pPr>
            <a:r>
              <a:rPr sz="4000" b="1" i="0">
                <a:solidFill>
                  <a:srgbClr val="D97757"/>
                </a:solidFill>
                <a:latin typeface="Cambria"/>
              </a:rPr>
              <a:t>3</a:t>
            </a:r>
          </a:p>
        </p:txBody>
      </p:sp>
      <p:sp>
        <p:nvSpPr>
          <p:cNvPr id="15" name="TextBox 14"/>
          <p:cNvSpPr txBox="1"/>
          <p:nvPr/>
        </p:nvSpPr>
        <p:spPr>
          <a:xfrm>
            <a:off x="1188720" y="4197096"/>
            <a:ext cx="4206240" cy="36576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Ask Mia to follow it</a:t>
            </a:r>
          </a:p>
        </p:txBody>
      </p:sp>
      <p:sp>
        <p:nvSpPr>
          <p:cNvPr id="16" name="TextBox 15"/>
          <p:cNvSpPr txBox="1"/>
          <p:nvPr/>
        </p:nvSpPr>
        <p:spPr>
          <a:xfrm>
            <a:off x="1188720" y="4581144"/>
            <a:ext cx="4206240" cy="56692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Send the prompt on the right. Her three bullets must match AGENTS.md.</a:t>
            </a:r>
          </a:p>
        </p:txBody>
      </p:sp>
      <p:sp>
        <p:nvSpPr>
          <p:cNvPr id="17" name="Rounded Rectangle 16"/>
          <p:cNvSpPr/>
          <p:nvPr/>
        </p:nvSpPr>
        <p:spPr>
          <a:xfrm>
            <a:off x="5760720" y="2148840"/>
            <a:ext cx="5852160" cy="16002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989320" y="2258568"/>
            <a:ext cx="5394960" cy="237744"/>
          </a:xfrm>
          <a:prstGeom prst="rect">
            <a:avLst/>
          </a:prstGeom>
          <a:noFill/>
        </p:spPr>
        <p:txBody>
          <a:bodyPr wrap="square" lIns="36576" rIns="36576" tIns="18288" bIns="18288" anchor="t">
            <a:spAutoFit/>
          </a:bodyPr>
          <a:lstStyle/>
          <a:p>
            <a:pPr algn="l">
              <a:lnSpc>
                <a:spcPct val="112000"/>
              </a:lnSpc>
            </a:pPr>
            <a:r>
              <a:rPr sz="950" b="1" i="0">
                <a:solidFill>
                  <a:srgbClr val="B9B4A9"/>
                </a:solidFill>
                <a:latin typeface="Calibri"/>
              </a:rPr>
              <a:t>ATTACH</a:t>
            </a:r>
          </a:p>
        </p:txBody>
      </p:sp>
      <p:sp>
        <p:nvSpPr>
          <p:cNvPr id="19" name="Rounded Rectangle 18"/>
          <p:cNvSpPr/>
          <p:nvPr/>
        </p:nvSpPr>
        <p:spPr>
          <a:xfrm>
            <a:off x="5989320" y="2606040"/>
            <a:ext cx="1261872" cy="8686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2"/>
          <a:stretch>
            <a:fillRect/>
          </a:stretch>
        </p:blipFill>
        <p:spPr>
          <a:xfrm>
            <a:off x="6446520" y="2679192"/>
            <a:ext cx="347472" cy="347472"/>
          </a:xfrm>
          <a:prstGeom prst="rect">
            <a:avLst/>
          </a:prstGeom>
        </p:spPr>
      </p:pic>
      <p:sp>
        <p:nvSpPr>
          <p:cNvPr id="21" name="TextBox 20"/>
          <p:cNvSpPr txBox="1"/>
          <p:nvPr/>
        </p:nvSpPr>
        <p:spPr>
          <a:xfrm>
            <a:off x="5989320" y="3072384"/>
            <a:ext cx="1261872" cy="292608"/>
          </a:xfrm>
          <a:prstGeom prst="rect">
            <a:avLst/>
          </a:prstGeom>
          <a:noFill/>
        </p:spPr>
        <p:txBody>
          <a:bodyPr wrap="square" lIns="36576" rIns="36576" tIns="18288" bIns="18288" anchor="t">
            <a:spAutoFit/>
          </a:bodyPr>
          <a:lstStyle/>
          <a:p>
            <a:pPr algn="ctr">
              <a:lnSpc>
                <a:spcPct val="112000"/>
              </a:lnSpc>
            </a:pPr>
            <a:r>
              <a:rPr sz="1200" b="0" i="0">
                <a:solidFill>
                  <a:srgbClr val="FFFFFF"/>
                </a:solidFill>
                <a:latin typeface="Calibri"/>
              </a:rPr>
              <a:t>Files…</a:t>
            </a:r>
          </a:p>
        </p:txBody>
      </p:sp>
      <p:sp>
        <p:nvSpPr>
          <p:cNvPr id="22" name="Rounded Rectangle 21"/>
          <p:cNvSpPr/>
          <p:nvPr/>
        </p:nvSpPr>
        <p:spPr>
          <a:xfrm>
            <a:off x="7360920" y="2606040"/>
            <a:ext cx="1261872" cy="86868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older-FFFFFF.png"/>
          <p:cNvPicPr>
            <a:picLocks noChangeAspect="1"/>
          </p:cNvPicPr>
          <p:nvPr/>
        </p:nvPicPr>
        <p:blipFill>
          <a:blip r:embed="rId3"/>
          <a:stretch>
            <a:fillRect/>
          </a:stretch>
        </p:blipFill>
        <p:spPr>
          <a:xfrm>
            <a:off x="7818120" y="2679192"/>
            <a:ext cx="347472" cy="347472"/>
          </a:xfrm>
          <a:prstGeom prst="rect">
            <a:avLst/>
          </a:prstGeom>
        </p:spPr>
      </p:pic>
      <p:sp>
        <p:nvSpPr>
          <p:cNvPr id="24" name="TextBox 23"/>
          <p:cNvSpPr txBox="1"/>
          <p:nvPr/>
        </p:nvSpPr>
        <p:spPr>
          <a:xfrm>
            <a:off x="7360920" y="3072384"/>
            <a:ext cx="1261872" cy="292608"/>
          </a:xfrm>
          <a:prstGeom prst="rect">
            <a:avLst/>
          </a:prstGeom>
          <a:noFill/>
        </p:spPr>
        <p:txBody>
          <a:bodyPr wrap="square" lIns="36576" rIns="36576" tIns="18288" bIns="18288" anchor="t">
            <a:spAutoFit/>
          </a:bodyPr>
          <a:lstStyle/>
          <a:p>
            <a:pPr algn="ctr">
              <a:lnSpc>
                <a:spcPct val="112000"/>
              </a:lnSpc>
            </a:pPr>
            <a:r>
              <a:rPr sz="1200" b="1" i="0">
                <a:solidFill>
                  <a:srgbClr val="FFFFFF"/>
                </a:solidFill>
                <a:latin typeface="Calibri"/>
              </a:rPr>
              <a:t>Folder…</a:t>
            </a:r>
          </a:p>
        </p:txBody>
      </p:sp>
      <p:sp>
        <p:nvSpPr>
          <p:cNvPr id="25" name="Rounded Rectangle 24"/>
          <p:cNvSpPr/>
          <p:nvPr/>
        </p:nvSpPr>
        <p:spPr>
          <a:xfrm>
            <a:off x="8732520" y="2606040"/>
            <a:ext cx="1261872" cy="8686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mage-FFFFFF.png"/>
          <p:cNvPicPr>
            <a:picLocks noChangeAspect="1"/>
          </p:cNvPicPr>
          <p:nvPr/>
        </p:nvPicPr>
        <p:blipFill>
          <a:blip r:embed="rId4"/>
          <a:stretch>
            <a:fillRect/>
          </a:stretch>
        </p:blipFill>
        <p:spPr>
          <a:xfrm>
            <a:off x="9189720" y="2679192"/>
            <a:ext cx="347472" cy="347472"/>
          </a:xfrm>
          <a:prstGeom prst="rect">
            <a:avLst/>
          </a:prstGeom>
        </p:spPr>
      </p:pic>
      <p:sp>
        <p:nvSpPr>
          <p:cNvPr id="27" name="TextBox 26"/>
          <p:cNvSpPr txBox="1"/>
          <p:nvPr/>
        </p:nvSpPr>
        <p:spPr>
          <a:xfrm>
            <a:off x="8732520" y="3072384"/>
            <a:ext cx="1261872" cy="292608"/>
          </a:xfrm>
          <a:prstGeom prst="rect">
            <a:avLst/>
          </a:prstGeom>
          <a:noFill/>
        </p:spPr>
        <p:txBody>
          <a:bodyPr wrap="square" lIns="36576" rIns="36576" tIns="18288" bIns="18288" anchor="t">
            <a:spAutoFit/>
          </a:bodyPr>
          <a:lstStyle/>
          <a:p>
            <a:pPr algn="ctr">
              <a:lnSpc>
                <a:spcPct val="112000"/>
              </a:lnSpc>
            </a:pPr>
            <a:r>
              <a:rPr sz="1200" b="0" i="0">
                <a:solidFill>
                  <a:srgbClr val="FFFFFF"/>
                </a:solidFill>
                <a:latin typeface="Calibri"/>
              </a:rPr>
              <a:t>Images…</a:t>
            </a:r>
          </a:p>
        </p:txBody>
      </p:sp>
      <p:sp>
        <p:nvSpPr>
          <p:cNvPr id="28" name="Rounded Rectangle 27"/>
          <p:cNvSpPr/>
          <p:nvPr/>
        </p:nvSpPr>
        <p:spPr>
          <a:xfrm>
            <a:off x="10104120" y="2606040"/>
            <a:ext cx="1261872" cy="8686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lobe-FFFFFF.png"/>
          <p:cNvPicPr>
            <a:picLocks noChangeAspect="1"/>
          </p:cNvPicPr>
          <p:nvPr/>
        </p:nvPicPr>
        <p:blipFill>
          <a:blip r:embed="rId5"/>
          <a:stretch>
            <a:fillRect/>
          </a:stretch>
        </p:blipFill>
        <p:spPr>
          <a:xfrm>
            <a:off x="10561320" y="2679192"/>
            <a:ext cx="347472" cy="347472"/>
          </a:xfrm>
          <a:prstGeom prst="rect">
            <a:avLst/>
          </a:prstGeom>
        </p:spPr>
      </p:pic>
      <p:sp>
        <p:nvSpPr>
          <p:cNvPr id="30" name="TextBox 29"/>
          <p:cNvSpPr txBox="1"/>
          <p:nvPr/>
        </p:nvSpPr>
        <p:spPr>
          <a:xfrm>
            <a:off x="10104120" y="3072384"/>
            <a:ext cx="1261872" cy="292608"/>
          </a:xfrm>
          <a:prstGeom prst="rect">
            <a:avLst/>
          </a:prstGeom>
          <a:noFill/>
        </p:spPr>
        <p:txBody>
          <a:bodyPr wrap="square" lIns="36576" rIns="36576" tIns="18288" bIns="18288" anchor="t">
            <a:spAutoFit/>
          </a:bodyPr>
          <a:lstStyle/>
          <a:p>
            <a:pPr algn="ctr">
              <a:lnSpc>
                <a:spcPct val="112000"/>
              </a:lnSpc>
            </a:pPr>
            <a:r>
              <a:rPr sz="1200" b="0" i="0">
                <a:solidFill>
                  <a:srgbClr val="FFFFFF"/>
                </a:solidFill>
                <a:latin typeface="Calibri"/>
              </a:rPr>
              <a:t>URL…</a:t>
            </a:r>
          </a:p>
        </p:txBody>
      </p:sp>
      <p:sp>
        <p:nvSpPr>
          <p:cNvPr id="31" name="Rounded Rectangle 30"/>
          <p:cNvSpPr/>
          <p:nvPr/>
        </p:nvSpPr>
        <p:spPr>
          <a:xfrm>
            <a:off x="5760720" y="3931920"/>
            <a:ext cx="5852160" cy="160020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943600" y="4023359"/>
            <a:ext cx="548640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FIRST PROMPT IN EVERY NEW SESSION</a:t>
            </a:r>
          </a:p>
        </p:txBody>
      </p:sp>
      <p:sp>
        <p:nvSpPr>
          <p:cNvPr id="33" name="TextBox 32"/>
          <p:cNvSpPr txBox="1"/>
          <p:nvPr/>
        </p:nvSpPr>
        <p:spPr>
          <a:xfrm>
            <a:off x="5943600" y="4315968"/>
            <a:ext cx="5486400" cy="1097280"/>
          </a:xfrm>
          <a:prstGeom prst="rect">
            <a:avLst/>
          </a:prstGeom>
          <a:noFill/>
        </p:spPr>
        <p:txBody>
          <a:bodyPr wrap="square" lIns="36576" rIns="36576" tIns="18288" bIns="18288" anchor="t">
            <a:spAutoFit/>
          </a:bodyPr>
          <a:lstStyle/>
          <a:p>
            <a:pPr algn="l">
              <a:lnSpc>
                <a:spcPct val="112000"/>
              </a:lnSpc>
            </a:pPr>
            <a:r>
              <a:rPr sz="1250" b="0" i="0">
                <a:solidFill>
                  <a:srgbClr val="F1EDE4"/>
                </a:solidFill>
                <a:latin typeface="Consolas"/>
              </a:rPr>
              <a:t>Read AGENTS.md in the attached folder and follow it for this session. In three bullets: who Kopi Kaki is and the rules you must never break.</a:t>
            </a:r>
          </a:p>
        </p:txBody>
      </p:sp>
      <p:sp>
        <p:nvSpPr>
          <p:cNvPr id="34" name="TextBox 33"/>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this at the start of every lab: + → Folder… → kopi-kaki. Type @ to point Mia at one file, e.g. @AGENTS.md.</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PROVIDER AND MODEL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Provider and Model: Free Solar Mini 4 or Your ChatGPT Plus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provider serves the model; the model is Mia’s brain. Start free on Nous Portal, or use the ChatGPT Plus plan this class runs 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4572000" cy="1143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94560"/>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FREE · NOUS PORTAL</a:t>
            </a:r>
          </a:p>
        </p:txBody>
      </p:sp>
      <p:sp>
        <p:nvSpPr>
          <p:cNvPr id="10" name="TextBox 9"/>
          <p:cNvSpPr txBox="1"/>
          <p:nvPr/>
        </p:nvSpPr>
        <p:spPr>
          <a:xfrm>
            <a:off x="777240" y="2432303"/>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Upstage Solar Mini 4 · $0</a:t>
            </a:r>
          </a:p>
        </p:txBody>
      </p:sp>
      <p:sp>
        <p:nvSpPr>
          <p:cNvPr id="11" name="TextBox 10"/>
          <p:cNvSpPr txBox="1"/>
          <p:nvPr/>
        </p:nvSpPr>
        <p:spPr>
          <a:xfrm>
            <a:off x="777240" y="2798063"/>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Status bar → Sign in (free Nous account) → Settings → Model → Provider: Nous Portal → Solar Mini 4.</a:t>
            </a:r>
          </a:p>
        </p:txBody>
      </p:sp>
      <p:sp>
        <p:nvSpPr>
          <p:cNvPr id="12" name="Rounded Rectangle 11"/>
          <p:cNvSpPr/>
          <p:nvPr/>
        </p:nvSpPr>
        <p:spPr>
          <a:xfrm>
            <a:off x="548640" y="3364991"/>
            <a:ext cx="4572000" cy="11430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3456432"/>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PAID · THIS CLASS</a:t>
            </a:r>
          </a:p>
        </p:txBody>
      </p:sp>
      <p:sp>
        <p:nvSpPr>
          <p:cNvPr id="14" name="TextBox 13"/>
          <p:cNvSpPr txBox="1"/>
          <p:nvPr/>
        </p:nvSpPr>
        <p:spPr>
          <a:xfrm>
            <a:off x="777240" y="3694176"/>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Your ChatGPT Plus plan</a:t>
            </a:r>
          </a:p>
        </p:txBody>
      </p:sp>
      <p:sp>
        <p:nvSpPr>
          <p:cNvPr id="15" name="TextBox 14"/>
          <p:cNvSpPr txBox="1"/>
          <p:nvPr/>
        </p:nvSpPr>
        <p:spPr>
          <a:xfrm>
            <a:off x="777240" y="4059935"/>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Settings → Model → Provider: “ChatGPT or Codex Subscription” → sign in → pick a model → Apply.</a:t>
            </a:r>
          </a:p>
        </p:txBody>
      </p:sp>
      <p:sp>
        <p:nvSpPr>
          <p:cNvPr id="16" name="Rounded Rectangle 15"/>
          <p:cNvSpPr/>
          <p:nvPr/>
        </p:nvSpPr>
        <p:spPr>
          <a:xfrm>
            <a:off x="548640" y="4626864"/>
            <a:ext cx="4572000" cy="11430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7240" y="4718303"/>
            <a:ext cx="411480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WANT MORE?</a:t>
            </a:r>
          </a:p>
        </p:txBody>
      </p:sp>
      <p:sp>
        <p:nvSpPr>
          <p:cNvPr id="18" name="TextBox 17"/>
          <p:cNvSpPr txBox="1"/>
          <p:nvPr/>
        </p:nvSpPr>
        <p:spPr>
          <a:xfrm>
            <a:off x="777240" y="4956048"/>
            <a:ext cx="411480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Nous paid plans</a:t>
            </a:r>
          </a:p>
        </p:txBody>
      </p:sp>
      <p:sp>
        <p:nvSpPr>
          <p:cNvPr id="19" name="TextBox 18"/>
          <p:cNvSpPr txBox="1"/>
          <p:nvPr/>
        </p:nvSpPr>
        <p:spPr>
          <a:xfrm>
            <a:off x="777240" y="5321807"/>
            <a:ext cx="4206240" cy="411480"/>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Nous Portal Plus USD 20/month (Super 100, Ultra 200), or another provider’s key in Settings → Providers.</a:t>
            </a:r>
          </a:p>
        </p:txBody>
      </p:sp>
      <p:sp>
        <p:nvSpPr>
          <p:cNvPr id="20" name="Rounded Rectangle 19"/>
          <p:cNvSpPr/>
          <p:nvPr/>
        </p:nvSpPr>
        <p:spPr>
          <a:xfrm>
            <a:off x="5388586" y="2048255"/>
            <a:ext cx="6276387" cy="3767327"/>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model.png"/>
          <p:cNvPicPr>
            <a:picLocks noChangeAspect="1"/>
          </p:cNvPicPr>
          <p:nvPr/>
        </p:nvPicPr>
        <p:blipFill>
          <a:blip r:embed="rId2"/>
          <a:stretch>
            <a:fillRect/>
          </a:stretch>
        </p:blipFill>
        <p:spPr>
          <a:xfrm>
            <a:off x="5443450" y="2103120"/>
            <a:ext cx="6166659" cy="3657599"/>
          </a:xfrm>
          <a:prstGeom prst="rect">
            <a:avLst/>
          </a:prstGeom>
        </p:spPr>
      </p:pic>
      <p:sp>
        <p:nvSpPr>
          <p:cNvPr id="22" name="TextBox 21"/>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Solar Mini 4 is the most-used free model on Nous Portal (31 Oct 2026). “Applies to” sets the brain per bot: right-sized models are Principle 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TELEGRAM</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Give Mia a Phone Number: Two Ways to Create Her Telegram Bot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Left sidebar → Messaging → Telegram. The quick way takes one scan; the manual way shows you what the scan does.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2743200" cy="37033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286000"/>
            <a:ext cx="237744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QUICK · RECOMMENDED</a:t>
            </a:r>
          </a:p>
        </p:txBody>
      </p:sp>
      <p:sp>
        <p:nvSpPr>
          <p:cNvPr id="10" name="TextBox 9"/>
          <p:cNvSpPr txBox="1"/>
          <p:nvPr/>
        </p:nvSpPr>
        <p:spPr>
          <a:xfrm>
            <a:off x="731520" y="2578608"/>
            <a:ext cx="2377440" cy="41148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Create with QR</a:t>
            </a:r>
          </a:p>
        </p:txBody>
      </p:sp>
      <p:sp>
        <p:nvSpPr>
          <p:cNvPr id="11" name="TextBox 10"/>
          <p:cNvSpPr txBox="1"/>
          <p:nvPr/>
        </p:nvSpPr>
        <p:spPr>
          <a:xfrm>
            <a:off x="731520" y="3108960"/>
            <a:ext cx="2423160" cy="2651760"/>
          </a:xfrm>
          <a:prstGeom prst="rect">
            <a:avLst/>
          </a:prstGeom>
          <a:noFill/>
        </p:spPr>
        <p:txBody>
          <a:bodyPr wrap="square" lIns="36576" rIns="36576" tIns="18288" bIns="18288" anchor="t">
            <a:spAutoFit/>
          </a:bodyPr>
          <a:lstStyle/>
          <a:p>
            <a:pPr algn="l">
              <a:lnSpc>
                <a:spcPct val="115000"/>
              </a:lnSpc>
            </a:pPr>
            <a:r>
              <a:rPr sz="1150" b="0" i="0">
                <a:solidFill>
                  <a:srgbClr val="C9C4B9"/>
                </a:solidFill>
                <a:latin typeface="Calibri"/>
              </a:rPr>
              <a:t>1  Messaging → Telegram → Quick setup → Create with QR.</a:t>
            </a:r>
          </a:p>
          <a:p>
            <a:pPr algn="l">
              <a:lnSpc>
                <a:spcPct val="115000"/>
              </a:lnSpc>
            </a:pPr>
            <a:r>
              <a:rPr sz="1150" b="0" i="0">
                <a:solidFill>
                  <a:srgbClr val="C9C4B9"/>
                </a:solidFill>
                <a:latin typeface="Calibri"/>
              </a:rPr>
              <a:t>2  Scan the code with Telegram on your phone, or open the link on this computer (it expires in 30 minutes).</a:t>
            </a:r>
          </a:p>
          <a:p>
            <a:pPr algn="l">
              <a:lnSpc>
                <a:spcPct val="115000"/>
              </a:lnSpc>
            </a:pPr>
            <a:r>
              <a:rPr sz="1150" b="0" i="0">
                <a:solidFill>
                  <a:srgbClr val="C9C4B9"/>
                </a:solidFill>
                <a:latin typeface="Calibri"/>
              </a:rPr>
              <a:t>3  Confirm in Telegram. Hermes creates the bot and finds your user ID.</a:t>
            </a:r>
          </a:p>
          <a:p>
            <a:pPr algn="l">
              <a:lnSpc>
                <a:spcPct val="115000"/>
              </a:lnSpc>
            </a:pPr>
            <a:r>
              <a:rPr sz="1150" b="0" i="0">
                <a:solidFill>
                  <a:srgbClr val="C9C4B9"/>
                </a:solidFill>
                <a:latin typeface="Calibri"/>
              </a:rPr>
              <a:t>4  Enabled → Save changes.</a:t>
            </a:r>
          </a:p>
        </p:txBody>
      </p:sp>
      <p:sp>
        <p:nvSpPr>
          <p:cNvPr id="12" name="Rounded Rectangle 11"/>
          <p:cNvSpPr/>
          <p:nvPr/>
        </p:nvSpPr>
        <p:spPr>
          <a:xfrm>
            <a:off x="3474720" y="2148840"/>
            <a:ext cx="2743200" cy="37033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57600" y="2286000"/>
            <a:ext cx="237744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MANUAL</a:t>
            </a:r>
          </a:p>
        </p:txBody>
      </p:sp>
      <p:sp>
        <p:nvSpPr>
          <p:cNvPr id="14" name="TextBox 13"/>
          <p:cNvSpPr txBox="1"/>
          <p:nvPr/>
        </p:nvSpPr>
        <p:spPr>
          <a:xfrm>
            <a:off x="3657600" y="2578608"/>
            <a:ext cx="2377440" cy="411480"/>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BotFather + token</a:t>
            </a:r>
          </a:p>
        </p:txBody>
      </p:sp>
      <p:sp>
        <p:nvSpPr>
          <p:cNvPr id="15" name="TextBox 14"/>
          <p:cNvSpPr txBox="1"/>
          <p:nvPr/>
        </p:nvSpPr>
        <p:spPr>
          <a:xfrm>
            <a:off x="3657600" y="3108960"/>
            <a:ext cx="2423160" cy="2651760"/>
          </a:xfrm>
          <a:prstGeom prst="rect">
            <a:avLst/>
          </a:prstGeom>
          <a:noFill/>
        </p:spPr>
        <p:txBody>
          <a:bodyPr wrap="square" lIns="36576" rIns="36576" tIns="18288" bIns="18288" anchor="t">
            <a:spAutoFit/>
          </a:bodyPr>
          <a:lstStyle/>
          <a:p>
            <a:pPr algn="l">
              <a:lnSpc>
                <a:spcPct val="115000"/>
              </a:lnSpc>
            </a:pPr>
            <a:r>
              <a:rPr sz="1150" b="0" i="0">
                <a:solidFill>
                  <a:srgbClr val="6B6862"/>
                </a:solidFill>
                <a:latin typeface="Calibri"/>
              </a:rPr>
              <a:t>1  Talk to @BotFather in Telegram: /newbot.</a:t>
            </a:r>
          </a:p>
          <a:p>
            <a:pPr algn="l">
              <a:lnSpc>
                <a:spcPct val="115000"/>
              </a:lnSpc>
            </a:pPr>
            <a:r>
              <a:rPr sz="1150" b="0" i="0">
                <a:solidFill>
                  <a:srgbClr val="6B6862"/>
                </a:solidFill>
                <a:latin typeface="Calibri"/>
              </a:rPr>
              <a:t>2  Name the bot; pick a username ending in bot.</a:t>
            </a:r>
          </a:p>
          <a:p>
            <a:pPr algn="l">
              <a:lnSpc>
                <a:spcPct val="115000"/>
              </a:lnSpc>
            </a:pPr>
            <a:r>
              <a:rPr sz="1150" b="0" i="0">
                <a:solidFill>
                  <a:srgbClr val="6B6862"/>
                </a:solidFill>
                <a:latin typeface="Calibri"/>
              </a:rPr>
              <a:t>3  Copy the API token BotFather gives you.</a:t>
            </a:r>
          </a:p>
          <a:p>
            <a:pPr algn="l">
              <a:lnSpc>
                <a:spcPct val="115000"/>
              </a:lnSpc>
            </a:pPr>
            <a:r>
              <a:rPr sz="1150" b="0" i="0">
                <a:solidFill>
                  <a:srgbClr val="6B6862"/>
                </a:solidFill>
                <a:latin typeface="Calibri"/>
              </a:rPr>
              <a:t>4  Paste it in Bot token; add your ID from @userinfobot under Allowed Telegram user IDs.</a:t>
            </a:r>
          </a:p>
        </p:txBody>
      </p:sp>
      <p:sp>
        <p:nvSpPr>
          <p:cNvPr id="16" name="Rounded Rectangle 15"/>
          <p:cNvSpPr/>
          <p:nvPr/>
        </p:nvSpPr>
        <p:spPr>
          <a:xfrm>
            <a:off x="6437376" y="2393442"/>
            <a:ext cx="5230368" cy="3214115"/>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elegram-setup.png"/>
          <p:cNvPicPr>
            <a:picLocks noChangeAspect="1"/>
          </p:cNvPicPr>
          <p:nvPr/>
        </p:nvPicPr>
        <p:blipFill>
          <a:blip r:embed="rId2"/>
          <a:stretch>
            <a:fillRect/>
          </a:stretch>
        </p:blipFill>
        <p:spPr>
          <a:xfrm>
            <a:off x="6492240" y="2448306"/>
            <a:ext cx="5120640" cy="3104387"/>
          </a:xfrm>
          <a:prstGeom prst="rect">
            <a:avLst/>
          </a:prstGeom>
        </p:spPr>
      </p:pic>
      <p:sp>
        <p:nvSpPr>
          <p:cNvPr id="18" name="TextBox 17"/>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Either way, the bot answers only approved users: you. Next slide: the manual method, step by step.</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TELEGRAM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The Manual Method: Create the Bot with BotFather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Three chats with Telegram’s official bot-maker, then one paste into Hermes Desktop.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194560"/>
            <a:ext cx="2651760" cy="34290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37744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2"/>
          <a:stretch>
            <a:fillRect/>
          </a:stretch>
        </p:blipFill>
        <p:spPr>
          <a:xfrm>
            <a:off x="904524" y="2504724"/>
            <a:ext cx="275783" cy="275783"/>
          </a:xfrm>
          <a:prstGeom prst="rect">
            <a:avLst/>
          </a:prstGeom>
        </p:spPr>
      </p:pic>
      <p:sp>
        <p:nvSpPr>
          <p:cNvPr id="11" name="TextBox 10"/>
          <p:cNvSpPr txBox="1"/>
          <p:nvPr/>
        </p:nvSpPr>
        <p:spPr>
          <a:xfrm>
            <a:off x="777240" y="3035808"/>
            <a:ext cx="2240279" cy="566928"/>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Step 1 · Talk to BotFather</a:t>
            </a:r>
          </a:p>
        </p:txBody>
      </p:sp>
      <p:sp>
        <p:nvSpPr>
          <p:cNvPr id="12" name="TextBox 11"/>
          <p:cNvSpPr txBox="1"/>
          <p:nvPr/>
        </p:nvSpPr>
        <p:spPr>
          <a:xfrm>
            <a:off x="777240" y="3657600"/>
            <a:ext cx="2240279" cy="1874519"/>
          </a:xfrm>
          <a:prstGeom prst="rect">
            <a:avLst/>
          </a:prstGeom>
          <a:noFill/>
        </p:spPr>
        <p:txBody>
          <a:bodyPr wrap="square" lIns="36576" rIns="36576" tIns="18288" bIns="18288" anchor="t">
            <a:spAutoFit/>
          </a:bodyPr>
          <a:lstStyle/>
          <a:p>
            <a:pPr algn="l">
              <a:lnSpc>
                <a:spcPct val="115000"/>
              </a:lnSpc>
            </a:pPr>
            <a:r>
              <a:rPr sz="1200" b="0" i="0">
                <a:solidFill>
                  <a:srgbClr val="C9C4B9"/>
                </a:solidFill>
                <a:latin typeface="Calibri"/>
              </a:rPr>
              <a:t>•  Open Telegram and search BotFather (blue verification tick).</a:t>
            </a:r>
          </a:p>
          <a:p>
            <a:pPr algn="l">
              <a:lnSpc>
                <a:spcPct val="115000"/>
              </a:lnSpc>
            </a:pPr>
            <a:r>
              <a:rPr sz="1200" b="0" i="0">
                <a:solidFill>
                  <a:srgbClr val="C9C4B9"/>
                </a:solidFill>
                <a:latin typeface="Calibri"/>
              </a:rPr>
              <a:t>•  Tap Start.</a:t>
            </a:r>
          </a:p>
          <a:p>
            <a:pPr algn="l">
              <a:lnSpc>
                <a:spcPct val="115000"/>
              </a:lnSpc>
            </a:pPr>
            <a:r>
              <a:rPr sz="1200" b="0" i="0">
                <a:solidFill>
                  <a:srgbClr val="C9C4B9"/>
                </a:solidFill>
                <a:latin typeface="Calibri"/>
              </a:rPr>
              <a:t>•  Send /newbot.</a:t>
            </a:r>
          </a:p>
        </p:txBody>
      </p:sp>
      <p:cxnSp>
        <p:nvCxnSpPr>
          <p:cNvPr id="13" name="Connector 12"/>
          <p:cNvCxnSpPr/>
          <p:nvPr/>
        </p:nvCxnSpPr>
        <p:spPr>
          <a:xfrm>
            <a:off x="3209544" y="3886200"/>
            <a:ext cx="13716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355848" y="2194560"/>
            <a:ext cx="2651760" cy="34290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84448" y="237744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11732" y="2504724"/>
            <a:ext cx="275783" cy="275783"/>
          </a:xfrm>
          <a:prstGeom prst="rect">
            <a:avLst/>
          </a:prstGeom>
        </p:spPr>
      </p:pic>
      <p:sp>
        <p:nvSpPr>
          <p:cNvPr id="17" name="TextBox 16"/>
          <p:cNvSpPr txBox="1"/>
          <p:nvPr/>
        </p:nvSpPr>
        <p:spPr>
          <a:xfrm>
            <a:off x="3584448" y="3035808"/>
            <a:ext cx="2240279" cy="566928"/>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Step 2 · Name your bot</a:t>
            </a:r>
          </a:p>
        </p:txBody>
      </p:sp>
      <p:sp>
        <p:nvSpPr>
          <p:cNvPr id="18" name="TextBox 17"/>
          <p:cNvSpPr txBox="1"/>
          <p:nvPr/>
        </p:nvSpPr>
        <p:spPr>
          <a:xfrm>
            <a:off x="3584448" y="3657600"/>
            <a:ext cx="2240279" cy="1874519"/>
          </a:xfrm>
          <a:prstGeom prst="rect">
            <a:avLst/>
          </a:prstGeom>
          <a:noFill/>
        </p:spPr>
        <p:txBody>
          <a:bodyPr wrap="square" lIns="36576" rIns="36576" tIns="18288" bIns="18288" anchor="t">
            <a:spAutoFit/>
          </a:bodyPr>
          <a:lstStyle/>
          <a:p>
            <a:pPr algn="l">
              <a:lnSpc>
                <a:spcPct val="115000"/>
              </a:lnSpc>
            </a:pPr>
            <a:r>
              <a:rPr sz="1200" b="0" i="0">
                <a:solidFill>
                  <a:srgbClr val="C9C4B9"/>
                </a:solidFill>
                <a:latin typeface="Calibri"/>
              </a:rPr>
              <a:t>•  Display name, e.g. Mia · Kopi Kaki.</a:t>
            </a:r>
          </a:p>
          <a:p>
            <a:pPr algn="l">
              <a:lnSpc>
                <a:spcPct val="115000"/>
              </a:lnSpc>
            </a:pPr>
            <a:r>
              <a:rPr sz="1200" b="0" i="0">
                <a:solidFill>
                  <a:srgbClr val="C9C4B9"/>
                </a:solidFill>
                <a:latin typeface="Calibri"/>
              </a:rPr>
              <a:t>•  Username ending in bot or _bot, e.g. kopikaki_mia_bot.</a:t>
            </a:r>
          </a:p>
          <a:p>
            <a:pPr algn="l">
              <a:lnSpc>
                <a:spcPct val="115000"/>
              </a:lnSpc>
            </a:pPr>
            <a:r>
              <a:rPr sz="1200" b="0" i="0">
                <a:solidFill>
                  <a:srgbClr val="C9C4B9"/>
                </a:solidFill>
                <a:latin typeface="Calibri"/>
              </a:rPr>
              <a:t>•  Taken? BotFather asks for another.</a:t>
            </a:r>
          </a:p>
        </p:txBody>
      </p:sp>
      <p:cxnSp>
        <p:nvCxnSpPr>
          <p:cNvPr id="19" name="Connector 18"/>
          <p:cNvCxnSpPr/>
          <p:nvPr/>
        </p:nvCxnSpPr>
        <p:spPr>
          <a:xfrm>
            <a:off x="6016752" y="3886200"/>
            <a:ext cx="13716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163055" y="2194560"/>
            <a:ext cx="2651760" cy="34290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391655" y="2377440"/>
            <a:ext cx="530352" cy="53035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6518940" y="2504724"/>
            <a:ext cx="275783" cy="275783"/>
          </a:xfrm>
          <a:prstGeom prst="rect">
            <a:avLst/>
          </a:prstGeom>
        </p:spPr>
      </p:pic>
      <p:sp>
        <p:nvSpPr>
          <p:cNvPr id="23" name="TextBox 22"/>
          <p:cNvSpPr txBox="1"/>
          <p:nvPr/>
        </p:nvSpPr>
        <p:spPr>
          <a:xfrm>
            <a:off x="6391655" y="3035808"/>
            <a:ext cx="2240279" cy="566928"/>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Step 3 · Get your API token</a:t>
            </a:r>
          </a:p>
        </p:txBody>
      </p:sp>
      <p:sp>
        <p:nvSpPr>
          <p:cNvPr id="24" name="TextBox 23"/>
          <p:cNvSpPr txBox="1"/>
          <p:nvPr/>
        </p:nvSpPr>
        <p:spPr>
          <a:xfrm>
            <a:off x="6391655" y="3657600"/>
            <a:ext cx="2240279" cy="1874519"/>
          </a:xfrm>
          <a:prstGeom prst="rect">
            <a:avLst/>
          </a:prstGeom>
          <a:noFill/>
        </p:spPr>
        <p:txBody>
          <a:bodyPr wrap="square" lIns="36576" rIns="36576" tIns="18288" bIns="18288" anchor="t">
            <a:spAutoFit/>
          </a:bodyPr>
          <a:lstStyle/>
          <a:p>
            <a:pPr algn="l">
              <a:lnSpc>
                <a:spcPct val="115000"/>
              </a:lnSpc>
            </a:pPr>
            <a:r>
              <a:rPr sz="1200" b="0" i="0">
                <a:solidFill>
                  <a:srgbClr val="C9C4B9"/>
                </a:solidFill>
                <a:latin typeface="Calibri"/>
              </a:rPr>
              <a:t>•  BotFather replies with an API token.</a:t>
            </a:r>
          </a:p>
          <a:p>
            <a:pPr algn="l">
              <a:lnSpc>
                <a:spcPct val="115000"/>
              </a:lnSpc>
            </a:pPr>
            <a:r>
              <a:rPr sz="1200" b="0" i="0">
                <a:solidFill>
                  <a:srgbClr val="C9C4B9"/>
                </a:solidFill>
                <a:latin typeface="Calibri"/>
              </a:rPr>
              <a:t>•  Copy it and keep it safe: it is the password to your bot.</a:t>
            </a:r>
          </a:p>
        </p:txBody>
      </p:sp>
      <p:cxnSp>
        <p:nvCxnSpPr>
          <p:cNvPr id="25" name="Connector 24"/>
          <p:cNvCxnSpPr/>
          <p:nvPr/>
        </p:nvCxnSpPr>
        <p:spPr>
          <a:xfrm>
            <a:off x="8823959" y="3886200"/>
            <a:ext cx="137160"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970263" y="2194560"/>
            <a:ext cx="2651760" cy="342900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198863" y="2377440"/>
            <a:ext cx="530352" cy="530352"/>
          </a:xfrm>
          <a:prstGeom prst="ellipse">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hone-FFFFFF.png"/>
          <p:cNvPicPr>
            <a:picLocks noChangeAspect="1"/>
          </p:cNvPicPr>
          <p:nvPr/>
        </p:nvPicPr>
        <p:blipFill>
          <a:blip r:embed="rId5"/>
          <a:stretch>
            <a:fillRect/>
          </a:stretch>
        </p:blipFill>
        <p:spPr>
          <a:xfrm>
            <a:off x="9326148" y="2504724"/>
            <a:ext cx="275783" cy="275783"/>
          </a:xfrm>
          <a:prstGeom prst="rect">
            <a:avLst/>
          </a:prstGeom>
        </p:spPr>
      </p:pic>
      <p:sp>
        <p:nvSpPr>
          <p:cNvPr id="29" name="TextBox 28"/>
          <p:cNvSpPr txBox="1"/>
          <p:nvPr/>
        </p:nvSpPr>
        <p:spPr>
          <a:xfrm>
            <a:off x="9198863" y="3035808"/>
            <a:ext cx="2240279" cy="566928"/>
          </a:xfrm>
          <a:prstGeom prst="rect">
            <a:avLst/>
          </a:prstGeom>
          <a:noFill/>
        </p:spPr>
        <p:txBody>
          <a:bodyPr wrap="square" lIns="36576" rIns="36576" tIns="18288" bIns="18288" anchor="t">
            <a:spAutoFit/>
          </a:bodyPr>
          <a:lstStyle/>
          <a:p>
            <a:pPr algn="l">
              <a:lnSpc>
                <a:spcPct val="112000"/>
              </a:lnSpc>
            </a:pPr>
            <a:r>
              <a:rPr sz="1550" b="1" i="0">
                <a:solidFill>
                  <a:srgbClr val="FFFFFF"/>
                </a:solidFill>
                <a:latin typeface="Cambria"/>
              </a:rPr>
              <a:t>Step 4 · Paste it into Hermes</a:t>
            </a:r>
          </a:p>
        </p:txBody>
      </p:sp>
      <p:sp>
        <p:nvSpPr>
          <p:cNvPr id="30" name="TextBox 29"/>
          <p:cNvSpPr txBox="1"/>
          <p:nvPr/>
        </p:nvSpPr>
        <p:spPr>
          <a:xfrm>
            <a:off x="9198863" y="3657600"/>
            <a:ext cx="2240279" cy="1874519"/>
          </a:xfrm>
          <a:prstGeom prst="rect">
            <a:avLst/>
          </a:prstGeom>
          <a:noFill/>
        </p:spPr>
        <p:txBody>
          <a:bodyPr wrap="square" lIns="36576" rIns="36576" tIns="18288" bIns="18288" anchor="t">
            <a:spAutoFit/>
          </a:bodyPr>
          <a:lstStyle/>
          <a:p>
            <a:pPr algn="l">
              <a:lnSpc>
                <a:spcPct val="115000"/>
              </a:lnSpc>
            </a:pPr>
            <a:r>
              <a:rPr sz="1200" b="0" i="0">
                <a:solidFill>
                  <a:srgbClr val="E8E5DE"/>
                </a:solidFill>
                <a:latin typeface="Calibri"/>
              </a:rPr>
              <a:t>•  Messaging → Telegram → Bot token: paste.</a:t>
            </a:r>
          </a:p>
          <a:p>
            <a:pPr algn="l">
              <a:lnSpc>
                <a:spcPct val="115000"/>
              </a:lnSpc>
            </a:pPr>
            <a:r>
              <a:rPr sz="1200" b="0" i="0">
                <a:solidFill>
                  <a:srgbClr val="E8E5DE"/>
                </a:solidFill>
                <a:latin typeface="Calibri"/>
              </a:rPr>
              <a:t>•  Allowed Telegram user IDs: your ID from @userinfobot.</a:t>
            </a:r>
          </a:p>
          <a:p>
            <a:pPr algn="l">
              <a:lnSpc>
                <a:spcPct val="115000"/>
              </a:lnSpc>
            </a:pPr>
            <a:r>
              <a:rPr sz="1200" b="0" i="0">
                <a:solidFill>
                  <a:srgbClr val="E8E5DE"/>
                </a:solidFill>
                <a:latin typeface="Calibri"/>
              </a:rPr>
              <a:t>•  Enabled → Save changes.</a:t>
            </a:r>
          </a:p>
        </p:txBody>
      </p:sp>
      <p:sp>
        <p:nvSpPr>
          <p:cNvPr id="31" name="TextBox 30"/>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SECURITY  </a:t>
            </a:r>
            <a:r>
              <a:rPr sz="1300" b="0" i="0">
                <a:solidFill>
                  <a:srgbClr val="C9C4B9"/>
                </a:solidFill>
                <a:latin typeface="Calibri"/>
              </a:rPr>
              <a:t>Never paste the token into a chat, a prompt or a slide. Without an allowed user ID, anyone can message your bot.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TELEGRAM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Paste the Token, Allow Only Yourself, Save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Manual method, last step: the Bot token and Allowed Telegram user IDs fields in Messaging → Telegram.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493776" y="2099691"/>
            <a:ext cx="5596128" cy="343585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elegram-setup.png"/>
          <p:cNvPicPr>
            <a:picLocks noChangeAspect="1"/>
          </p:cNvPicPr>
          <p:nvPr/>
        </p:nvPicPr>
        <p:blipFill>
          <a:blip r:embed="rId2"/>
          <a:stretch>
            <a:fillRect/>
          </a:stretch>
        </p:blipFill>
        <p:spPr>
          <a:xfrm>
            <a:off x="548640" y="2154555"/>
            <a:ext cx="5486400" cy="3326129"/>
          </a:xfrm>
          <a:prstGeom prst="rect">
            <a:avLst/>
          </a:prstGeom>
        </p:spPr>
      </p:pic>
      <p:sp>
        <p:nvSpPr>
          <p:cNvPr id="10" name="Rounded Rectangle 9"/>
          <p:cNvSpPr/>
          <p:nvPr/>
        </p:nvSpPr>
        <p:spPr>
          <a:xfrm>
            <a:off x="6313238" y="2048255"/>
            <a:ext cx="5295763" cy="35387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elegram-connected.png"/>
          <p:cNvPicPr>
            <a:picLocks noChangeAspect="1"/>
          </p:cNvPicPr>
          <p:nvPr/>
        </p:nvPicPr>
        <p:blipFill>
          <a:blip r:embed="rId3"/>
          <a:stretch>
            <a:fillRect/>
          </a:stretch>
        </p:blipFill>
        <p:spPr>
          <a:xfrm>
            <a:off x="6368102" y="2103120"/>
            <a:ext cx="5186035" cy="3429000"/>
          </a:xfrm>
          <a:prstGeom prst="rect">
            <a:avLst/>
          </a:prstGeom>
        </p:spPr>
      </p:pic>
      <p:sp>
        <p:nvSpPr>
          <p:cNvPr id="12" name="TextBox 11"/>
          <p:cNvSpPr txBox="1"/>
          <p:nvPr/>
        </p:nvSpPr>
        <p:spPr>
          <a:xfrm>
            <a:off x="548640" y="5596128"/>
            <a:ext cx="5394960" cy="45720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libri"/>
              </a:rPr>
              <a:t>1 · Bot token: paste · Allowed user IDs: your numeric ID.</a:t>
            </a:r>
          </a:p>
        </p:txBody>
      </p:sp>
      <p:sp>
        <p:nvSpPr>
          <p:cNvPr id="13" name="TextBox 12"/>
          <p:cNvSpPr txBox="1"/>
          <p:nvPr/>
        </p:nvSpPr>
        <p:spPr>
          <a:xfrm>
            <a:off x="6309360" y="5596128"/>
            <a:ext cx="5394960" cy="457200"/>
          </a:xfrm>
          <a:prstGeom prst="rect">
            <a:avLst/>
          </a:prstGeom>
          <a:noFill/>
        </p:spPr>
        <p:txBody>
          <a:bodyPr wrap="square" lIns="36576" rIns="36576" tIns="18288" bIns="18288" anchor="t">
            <a:spAutoFit/>
          </a:bodyPr>
          <a:lstStyle/>
          <a:p>
            <a:pPr algn="l">
              <a:lnSpc>
                <a:spcPct val="112000"/>
              </a:lnSpc>
            </a:pPr>
            <a:r>
              <a:rPr sz="1250" b="1" i="0">
                <a:solidFill>
                  <a:srgbClr val="21201C"/>
                </a:solidFill>
                <a:latin typeface="Calibri"/>
              </a:rPr>
              <a:t>2 · Enabled + Save changes: Connected; only you are approved.</a:t>
            </a:r>
          </a:p>
        </p:txBody>
      </p:sp>
      <p:sp>
        <p:nvSpPr>
          <p:cNvPr id="14" name="TextBox 13"/>
          <p:cNvSpPr txBox="1"/>
          <p:nvPr/>
        </p:nvSpPr>
        <p:spPr>
          <a:xfrm>
            <a:off x="548640" y="60350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Send hi to your bot: Mia answers. Then send /sethome so scheduled results arrive in this chat. The approved-users list is Security Principle 1.</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VOICE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Talk to Mia. Hear Her Answer.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Settings → Voice. Speak your prompts, read the transcript, and let Mia read her replies aloud with a free voice.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493776" y="2230193"/>
            <a:ext cx="3675887" cy="244333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voice-conversation.png"/>
          <p:cNvPicPr>
            <a:picLocks noChangeAspect="1"/>
          </p:cNvPicPr>
          <p:nvPr/>
        </p:nvPicPr>
        <p:blipFill>
          <a:blip r:embed="rId2"/>
          <a:stretch>
            <a:fillRect/>
          </a:stretch>
        </p:blipFill>
        <p:spPr>
          <a:xfrm>
            <a:off x="548640" y="2285057"/>
            <a:ext cx="3566160" cy="2333605"/>
          </a:xfrm>
          <a:prstGeom prst="rect">
            <a:avLst/>
          </a:prstGeom>
        </p:spPr>
      </p:pic>
      <p:sp>
        <p:nvSpPr>
          <p:cNvPr id="10" name="TextBox 9"/>
          <p:cNvSpPr txBox="1"/>
          <p:nvPr/>
        </p:nvSpPr>
        <p:spPr>
          <a:xfrm>
            <a:off x="548640"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Voice conversation</a:t>
            </a:r>
          </a:p>
        </p:txBody>
      </p:sp>
      <p:sp>
        <p:nvSpPr>
          <p:cNvPr id="11" name="TextBox 10"/>
          <p:cNvSpPr txBox="1"/>
          <p:nvPr/>
        </p:nvSpPr>
        <p:spPr>
          <a:xfrm>
            <a:off x="548640"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Chained: speech-to-text → Hermes → text-to-speech.</a:t>
            </a:r>
          </a:p>
        </p:txBody>
      </p:sp>
      <p:sp>
        <p:nvSpPr>
          <p:cNvPr id="12" name="Rounded Rectangle 11"/>
          <p:cNvSpPr/>
          <p:nvPr/>
        </p:nvSpPr>
        <p:spPr>
          <a:xfrm>
            <a:off x="4242816" y="2283685"/>
            <a:ext cx="3675887" cy="233634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ch-to-text.png"/>
          <p:cNvPicPr>
            <a:picLocks noChangeAspect="1"/>
          </p:cNvPicPr>
          <p:nvPr/>
        </p:nvPicPr>
        <p:blipFill>
          <a:blip r:embed="rId3"/>
          <a:stretch>
            <a:fillRect/>
          </a:stretch>
        </p:blipFill>
        <p:spPr>
          <a:xfrm>
            <a:off x="4297679" y="2338549"/>
            <a:ext cx="3566160" cy="2226621"/>
          </a:xfrm>
          <a:prstGeom prst="rect">
            <a:avLst/>
          </a:prstGeom>
        </p:spPr>
      </p:pic>
      <p:sp>
        <p:nvSpPr>
          <p:cNvPr id="14" name="TextBox 13"/>
          <p:cNvSpPr txBox="1"/>
          <p:nvPr/>
        </p:nvSpPr>
        <p:spPr>
          <a:xfrm>
            <a:off x="4297679"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Speech to text</a:t>
            </a:r>
          </a:p>
        </p:txBody>
      </p:sp>
      <p:sp>
        <p:nvSpPr>
          <p:cNvPr id="15" name="TextBox 14"/>
          <p:cNvSpPr txBox="1"/>
          <p:nvPr/>
        </p:nvSpPr>
        <p:spPr>
          <a:xfrm>
            <a:off x="4297679"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On, with Live Transcription as you speak.</a:t>
            </a:r>
          </a:p>
        </p:txBody>
      </p:sp>
      <p:sp>
        <p:nvSpPr>
          <p:cNvPr id="16" name="Rounded Rectangle 15"/>
          <p:cNvSpPr/>
          <p:nvPr/>
        </p:nvSpPr>
        <p:spPr>
          <a:xfrm>
            <a:off x="7991855" y="2278113"/>
            <a:ext cx="3675887" cy="2347493"/>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ext-to-speech.png"/>
          <p:cNvPicPr>
            <a:picLocks noChangeAspect="1"/>
          </p:cNvPicPr>
          <p:nvPr/>
        </p:nvPicPr>
        <p:blipFill>
          <a:blip r:embed="rId4"/>
          <a:stretch>
            <a:fillRect/>
          </a:stretch>
        </p:blipFill>
        <p:spPr>
          <a:xfrm>
            <a:off x="8046719" y="2332977"/>
            <a:ext cx="3566160" cy="2237765"/>
          </a:xfrm>
          <a:prstGeom prst="rect">
            <a:avLst/>
          </a:prstGeom>
        </p:spPr>
      </p:pic>
      <p:sp>
        <p:nvSpPr>
          <p:cNvPr id="18" name="TextBox 17"/>
          <p:cNvSpPr txBox="1"/>
          <p:nvPr/>
        </p:nvSpPr>
        <p:spPr>
          <a:xfrm>
            <a:off x="8046719" y="4892040"/>
            <a:ext cx="3566160" cy="365760"/>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Text to speech</a:t>
            </a:r>
          </a:p>
        </p:txBody>
      </p:sp>
      <p:sp>
        <p:nvSpPr>
          <p:cNvPr id="19" name="TextBox 18"/>
          <p:cNvSpPr txBox="1"/>
          <p:nvPr/>
        </p:nvSpPr>
        <p:spPr>
          <a:xfrm>
            <a:off x="8046719" y="5285232"/>
            <a:ext cx="3566160" cy="54864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Provider Edge (free) · Read Responses Aloud on.</a:t>
            </a:r>
          </a:p>
        </p:txBody>
      </p:sp>
      <p:sp>
        <p:nvSpPr>
          <p:cNvPr id="20" name="TextBox 19"/>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The same free Edge voice narrates your launch video in Activity 5. Wispr Flow from Activity 1C also works in Hermes.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TOOLS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 · the hands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Gmail: the connector reads and sends through Google’s real API.</a:t>
            </a:r>
          </a:p>
          <a:p>
            <a:pPr algn="l">
              <a:lnSpc>
                <a:spcPct val="120000"/>
              </a:lnSpc>
            </a:pPr>
            <a:r>
              <a:rPr sz="1650" b="0" i="0">
                <a:solidFill>
                  <a:srgbClr val="6B6862"/>
                </a:solidFill>
                <a:latin typeface="Calibri"/>
              </a:rPr>
              <a:t>•  Web design: the file tool writes index.html.</a:t>
            </a:r>
          </a:p>
          <a:p>
            <a:pPr algn="l">
              <a:lnSpc>
                <a:spcPct val="120000"/>
              </a:lnSpc>
            </a:pPr>
            <a:r>
              <a:rPr sz="1650" b="0" i="0">
                <a:solidFill>
                  <a:srgbClr val="6B6862"/>
                </a:solidFill>
                <a:latin typeface="Calibri"/>
              </a:rPr>
              <a:t>•  PPTX: python-pptx writes editable slides.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 · the know-how</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Gmail: kopi-email-brief says what to read and how to brief you.</a:t>
            </a:r>
          </a:p>
          <a:p>
            <a:pPr algn="l">
              <a:lnSpc>
                <a:spcPct val="120000"/>
              </a:lnSpc>
            </a:pPr>
            <a:r>
              <a:rPr sz="1650" b="0" i="0">
                <a:solidFill>
                  <a:srgbClr val="C9C4B9"/>
                </a:solidFill>
                <a:latin typeface="Calibri"/>
              </a:rPr>
              <a:t>•  Web design: web-design-guidelines checks layout and accessibility.</a:t>
            </a:r>
          </a:p>
          <a:p>
            <a:pPr algn="l">
              <a:lnSpc>
                <a:spcPct val="120000"/>
              </a:lnSpc>
            </a:pPr>
            <a:r>
              <a:rPr sz="1650" b="0" i="0">
                <a:solidFill>
                  <a:srgbClr val="C9C4B9"/>
                </a:solidFill>
                <a:latin typeface="Calibri"/>
              </a:rPr>
              <a:t>•  PPTX: kopi-pitch-deck sets the story order and the checks.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TOOLS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Are the Hands: Switch On Only What the Job Needs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Capabilities → Tools shows every toolset, per bot. Mia on Telegram does not need your browser.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31520"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36858" y="2437058"/>
            <a:ext cx="228234" cy="228234"/>
          </a:xfrm>
          <a:prstGeom prst="rect">
            <a:avLst/>
          </a:prstGeom>
        </p:spPr>
      </p:pic>
      <p:sp>
        <p:nvSpPr>
          <p:cNvPr id="11" name="TextBox 10"/>
          <p:cNvSpPr txBox="1"/>
          <p:nvPr/>
        </p:nvSpPr>
        <p:spPr>
          <a:xfrm>
            <a:off x="1280160"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web</a:t>
            </a:r>
          </a:p>
        </p:txBody>
      </p:sp>
      <p:sp>
        <p:nvSpPr>
          <p:cNvPr id="12" name="TextBox 11"/>
          <p:cNvSpPr txBox="1"/>
          <p:nvPr/>
        </p:nvSpPr>
        <p:spPr>
          <a:xfrm>
            <a:off x="731520"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search + extract</a:t>
            </a:r>
          </a:p>
        </p:txBody>
      </p:sp>
      <p:sp>
        <p:nvSpPr>
          <p:cNvPr id="13" name="Rounded Rectangle 12"/>
          <p:cNvSpPr/>
          <p:nvPr/>
        </p:nvSpPr>
        <p:spPr>
          <a:xfrm>
            <a:off x="2798064"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80944"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terminal-FFFFFF.png"/>
          <p:cNvPicPr>
            <a:picLocks noChangeAspect="1"/>
          </p:cNvPicPr>
          <p:nvPr/>
        </p:nvPicPr>
        <p:blipFill>
          <a:blip r:embed="rId3"/>
          <a:stretch>
            <a:fillRect/>
          </a:stretch>
        </p:blipFill>
        <p:spPr>
          <a:xfrm>
            <a:off x="3086282" y="2437058"/>
            <a:ext cx="228234" cy="228234"/>
          </a:xfrm>
          <a:prstGeom prst="rect">
            <a:avLst/>
          </a:prstGeom>
        </p:spPr>
      </p:pic>
      <p:sp>
        <p:nvSpPr>
          <p:cNvPr id="16" name="TextBox 15"/>
          <p:cNvSpPr txBox="1"/>
          <p:nvPr/>
        </p:nvSpPr>
        <p:spPr>
          <a:xfrm>
            <a:off x="3529584"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terminal</a:t>
            </a:r>
          </a:p>
        </p:txBody>
      </p:sp>
      <p:sp>
        <p:nvSpPr>
          <p:cNvPr id="17" name="TextBox 16"/>
          <p:cNvSpPr txBox="1"/>
          <p:nvPr/>
        </p:nvSpPr>
        <p:spPr>
          <a:xfrm>
            <a:off x="2980944"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Mia runs it, not you</a:t>
            </a:r>
          </a:p>
        </p:txBody>
      </p:sp>
      <p:sp>
        <p:nvSpPr>
          <p:cNvPr id="18" name="Rounded Rectangle 17"/>
          <p:cNvSpPr/>
          <p:nvPr/>
        </p:nvSpPr>
        <p:spPr>
          <a:xfrm>
            <a:off x="5047488"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30368"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lder-FFFFFF.png"/>
          <p:cNvPicPr>
            <a:picLocks noChangeAspect="1"/>
          </p:cNvPicPr>
          <p:nvPr/>
        </p:nvPicPr>
        <p:blipFill>
          <a:blip r:embed="rId4"/>
          <a:stretch>
            <a:fillRect/>
          </a:stretch>
        </p:blipFill>
        <p:spPr>
          <a:xfrm>
            <a:off x="5335706" y="2437058"/>
            <a:ext cx="228234" cy="228234"/>
          </a:xfrm>
          <a:prstGeom prst="rect">
            <a:avLst/>
          </a:prstGeom>
        </p:spPr>
      </p:pic>
      <p:sp>
        <p:nvSpPr>
          <p:cNvPr id="21" name="TextBox 20"/>
          <p:cNvSpPr txBox="1"/>
          <p:nvPr/>
        </p:nvSpPr>
        <p:spPr>
          <a:xfrm>
            <a:off x="5779007"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file</a:t>
            </a:r>
          </a:p>
        </p:txBody>
      </p:sp>
      <p:sp>
        <p:nvSpPr>
          <p:cNvPr id="22" name="TextBox 21"/>
          <p:cNvSpPr txBox="1"/>
          <p:nvPr/>
        </p:nvSpPr>
        <p:spPr>
          <a:xfrm>
            <a:off x="5230368"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read + write</a:t>
            </a:r>
          </a:p>
        </p:txBody>
      </p:sp>
      <p:sp>
        <p:nvSpPr>
          <p:cNvPr id="23" name="Rounded Rectangle 22"/>
          <p:cNvSpPr/>
          <p:nvPr/>
        </p:nvSpPr>
        <p:spPr>
          <a:xfrm>
            <a:off x="7296912" y="2148840"/>
            <a:ext cx="2103120" cy="1280160"/>
          </a:xfrm>
          <a:prstGeom prst="roundRect">
            <a:avLst>
              <a:gd name="adj" fmla="val 3500"/>
            </a:avLst>
          </a:prstGeom>
          <a:solidFill>
            <a:srgbClr val="EDEAE3"/>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479792" y="2331720"/>
            <a:ext cx="438912" cy="438912"/>
          </a:xfrm>
          <a:prstGeom prst="ellipse">
            <a:avLst/>
          </a:prstGeom>
          <a:solidFill>
            <a:srgbClr val="6B686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FFFFFF.png"/>
          <p:cNvPicPr>
            <a:picLocks noChangeAspect="1"/>
          </p:cNvPicPr>
          <p:nvPr/>
        </p:nvPicPr>
        <p:blipFill>
          <a:blip r:embed="rId5"/>
          <a:stretch>
            <a:fillRect/>
          </a:stretch>
        </p:blipFill>
        <p:spPr>
          <a:xfrm>
            <a:off x="7585130" y="2437058"/>
            <a:ext cx="228234" cy="228234"/>
          </a:xfrm>
          <a:prstGeom prst="rect">
            <a:avLst/>
          </a:prstGeom>
        </p:spPr>
      </p:pic>
      <p:sp>
        <p:nvSpPr>
          <p:cNvPr id="26" name="TextBox 25"/>
          <p:cNvSpPr txBox="1"/>
          <p:nvPr/>
        </p:nvSpPr>
        <p:spPr>
          <a:xfrm>
            <a:off x="8028431"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6B6862"/>
                </a:solidFill>
                <a:latin typeface="Consolas"/>
              </a:rPr>
              <a:t>browser</a:t>
            </a:r>
          </a:p>
        </p:txBody>
      </p:sp>
      <p:sp>
        <p:nvSpPr>
          <p:cNvPr id="27" name="TextBox 26"/>
          <p:cNvSpPr txBox="1"/>
          <p:nvPr/>
        </p:nvSpPr>
        <p:spPr>
          <a:xfrm>
            <a:off x="7479792" y="2880360"/>
            <a:ext cx="1828800" cy="457200"/>
          </a:xfrm>
          <a:prstGeom prst="rect">
            <a:avLst/>
          </a:prstGeom>
          <a:noFill/>
        </p:spPr>
        <p:txBody>
          <a:bodyPr wrap="square" lIns="36576" rIns="36576" tIns="18288" bIns="18288" anchor="t">
            <a:spAutoFit/>
          </a:bodyPr>
          <a:lstStyle/>
          <a:p>
            <a:pPr algn="l">
              <a:lnSpc>
                <a:spcPct val="112000"/>
              </a:lnSpc>
            </a:pPr>
            <a:r>
              <a:rPr sz="1150" b="1" i="0">
                <a:solidFill>
                  <a:srgbClr val="C2603F"/>
                </a:solidFill>
                <a:latin typeface="Calibri"/>
              </a:rPr>
              <a:t>OFF on Telegram</a:t>
            </a:r>
          </a:p>
        </p:txBody>
      </p:sp>
      <p:sp>
        <p:nvSpPr>
          <p:cNvPr id="28" name="Rounded Rectangle 27"/>
          <p:cNvSpPr/>
          <p:nvPr/>
        </p:nvSpPr>
        <p:spPr>
          <a:xfrm>
            <a:off x="9546336" y="214884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729215" y="233172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mage-FFFFFF.png"/>
          <p:cNvPicPr>
            <a:picLocks noChangeAspect="1"/>
          </p:cNvPicPr>
          <p:nvPr/>
        </p:nvPicPr>
        <p:blipFill>
          <a:blip r:embed="rId6"/>
          <a:stretch>
            <a:fillRect/>
          </a:stretch>
        </p:blipFill>
        <p:spPr>
          <a:xfrm>
            <a:off x="9834554" y="2437058"/>
            <a:ext cx="228234" cy="228234"/>
          </a:xfrm>
          <a:prstGeom prst="rect">
            <a:avLst/>
          </a:prstGeom>
        </p:spPr>
      </p:pic>
      <p:sp>
        <p:nvSpPr>
          <p:cNvPr id="31" name="TextBox 30"/>
          <p:cNvSpPr txBox="1"/>
          <p:nvPr/>
        </p:nvSpPr>
        <p:spPr>
          <a:xfrm>
            <a:off x="10277856" y="233172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image_gen</a:t>
            </a:r>
          </a:p>
        </p:txBody>
      </p:sp>
      <p:sp>
        <p:nvSpPr>
          <p:cNvPr id="32" name="TextBox 31"/>
          <p:cNvSpPr txBox="1"/>
          <p:nvPr/>
        </p:nvSpPr>
        <p:spPr>
          <a:xfrm>
            <a:off x="9729215" y="288036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make images</a:t>
            </a:r>
          </a:p>
        </p:txBody>
      </p:sp>
      <p:sp>
        <p:nvSpPr>
          <p:cNvPr id="33" name="Rounded Rectangle 32"/>
          <p:cNvSpPr/>
          <p:nvPr/>
        </p:nvSpPr>
        <p:spPr>
          <a:xfrm>
            <a:off x="548640"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31520"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at-FFFFFF.png"/>
          <p:cNvPicPr>
            <a:picLocks noChangeAspect="1"/>
          </p:cNvPicPr>
          <p:nvPr/>
        </p:nvPicPr>
        <p:blipFill>
          <a:blip r:embed="rId7"/>
          <a:stretch>
            <a:fillRect/>
          </a:stretch>
        </p:blipFill>
        <p:spPr>
          <a:xfrm>
            <a:off x="836858" y="3854378"/>
            <a:ext cx="228234" cy="228234"/>
          </a:xfrm>
          <a:prstGeom prst="rect">
            <a:avLst/>
          </a:prstGeom>
        </p:spPr>
      </p:pic>
      <p:sp>
        <p:nvSpPr>
          <p:cNvPr id="36" name="TextBox 35"/>
          <p:cNvSpPr txBox="1"/>
          <p:nvPr/>
        </p:nvSpPr>
        <p:spPr>
          <a:xfrm>
            <a:off x="1280160"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tts</a:t>
            </a:r>
          </a:p>
        </p:txBody>
      </p:sp>
      <p:sp>
        <p:nvSpPr>
          <p:cNvPr id="37" name="TextBox 36"/>
          <p:cNvSpPr txBox="1"/>
          <p:nvPr/>
        </p:nvSpPr>
        <p:spPr>
          <a:xfrm>
            <a:off x="731520"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text to speech</a:t>
            </a:r>
          </a:p>
        </p:txBody>
      </p:sp>
      <p:sp>
        <p:nvSpPr>
          <p:cNvPr id="38" name="Rounded Rectangle 37"/>
          <p:cNvSpPr/>
          <p:nvPr/>
        </p:nvSpPr>
        <p:spPr>
          <a:xfrm>
            <a:off x="2798064"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2980944"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clock-FFFFFF.png"/>
          <p:cNvPicPr>
            <a:picLocks noChangeAspect="1"/>
          </p:cNvPicPr>
          <p:nvPr/>
        </p:nvPicPr>
        <p:blipFill>
          <a:blip r:embed="rId8"/>
          <a:stretch>
            <a:fillRect/>
          </a:stretch>
        </p:blipFill>
        <p:spPr>
          <a:xfrm>
            <a:off x="3086282" y="3854378"/>
            <a:ext cx="228234" cy="228234"/>
          </a:xfrm>
          <a:prstGeom prst="rect">
            <a:avLst/>
          </a:prstGeom>
        </p:spPr>
      </p:pic>
      <p:sp>
        <p:nvSpPr>
          <p:cNvPr id="41" name="TextBox 40"/>
          <p:cNvSpPr txBox="1"/>
          <p:nvPr/>
        </p:nvSpPr>
        <p:spPr>
          <a:xfrm>
            <a:off x="3529584"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cronjob</a:t>
            </a:r>
          </a:p>
        </p:txBody>
      </p:sp>
      <p:sp>
        <p:nvSpPr>
          <p:cNvPr id="42" name="TextBox 41"/>
          <p:cNvSpPr txBox="1"/>
          <p:nvPr/>
        </p:nvSpPr>
        <p:spPr>
          <a:xfrm>
            <a:off x="2980944"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schedules</a:t>
            </a:r>
          </a:p>
        </p:txBody>
      </p:sp>
      <p:sp>
        <p:nvSpPr>
          <p:cNvPr id="43" name="Rounded Rectangle 42"/>
          <p:cNvSpPr/>
          <p:nvPr/>
        </p:nvSpPr>
        <p:spPr>
          <a:xfrm>
            <a:off x="5047488"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5230368"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memory-FFFFFF.png"/>
          <p:cNvPicPr>
            <a:picLocks noChangeAspect="1"/>
          </p:cNvPicPr>
          <p:nvPr/>
        </p:nvPicPr>
        <p:blipFill>
          <a:blip r:embed="rId9"/>
          <a:stretch>
            <a:fillRect/>
          </a:stretch>
        </p:blipFill>
        <p:spPr>
          <a:xfrm>
            <a:off x="5335706" y="3854378"/>
            <a:ext cx="228234" cy="228234"/>
          </a:xfrm>
          <a:prstGeom prst="rect">
            <a:avLst/>
          </a:prstGeom>
        </p:spPr>
      </p:pic>
      <p:sp>
        <p:nvSpPr>
          <p:cNvPr id="46" name="TextBox 45"/>
          <p:cNvSpPr txBox="1"/>
          <p:nvPr/>
        </p:nvSpPr>
        <p:spPr>
          <a:xfrm>
            <a:off x="5779007"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memory</a:t>
            </a:r>
          </a:p>
        </p:txBody>
      </p:sp>
      <p:sp>
        <p:nvSpPr>
          <p:cNvPr id="47" name="TextBox 46"/>
          <p:cNvSpPr txBox="1"/>
          <p:nvPr/>
        </p:nvSpPr>
        <p:spPr>
          <a:xfrm>
            <a:off x="5230368"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remember</a:t>
            </a:r>
          </a:p>
        </p:txBody>
      </p:sp>
      <p:sp>
        <p:nvSpPr>
          <p:cNvPr id="48" name="Rounded Rectangle 47"/>
          <p:cNvSpPr/>
          <p:nvPr/>
        </p:nvSpPr>
        <p:spPr>
          <a:xfrm>
            <a:off x="7296912"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7479792"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puzzle-FFFFFF.png"/>
          <p:cNvPicPr>
            <a:picLocks noChangeAspect="1"/>
          </p:cNvPicPr>
          <p:nvPr/>
        </p:nvPicPr>
        <p:blipFill>
          <a:blip r:embed="rId10"/>
          <a:stretch>
            <a:fillRect/>
          </a:stretch>
        </p:blipFill>
        <p:spPr>
          <a:xfrm>
            <a:off x="7585130" y="3854378"/>
            <a:ext cx="228234" cy="228234"/>
          </a:xfrm>
          <a:prstGeom prst="rect">
            <a:avLst/>
          </a:prstGeom>
        </p:spPr>
      </p:pic>
      <p:sp>
        <p:nvSpPr>
          <p:cNvPr id="51" name="TextBox 50"/>
          <p:cNvSpPr txBox="1"/>
          <p:nvPr/>
        </p:nvSpPr>
        <p:spPr>
          <a:xfrm>
            <a:off x="8028431"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skills</a:t>
            </a:r>
          </a:p>
        </p:txBody>
      </p:sp>
      <p:sp>
        <p:nvSpPr>
          <p:cNvPr id="52" name="TextBox 51"/>
          <p:cNvSpPr txBox="1"/>
          <p:nvPr/>
        </p:nvSpPr>
        <p:spPr>
          <a:xfrm>
            <a:off x="7479792"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load know-how</a:t>
            </a:r>
          </a:p>
        </p:txBody>
      </p:sp>
      <p:sp>
        <p:nvSpPr>
          <p:cNvPr id="53" name="Rounded Rectangle 52"/>
          <p:cNvSpPr/>
          <p:nvPr/>
        </p:nvSpPr>
        <p:spPr>
          <a:xfrm>
            <a:off x="9546336" y="3566160"/>
            <a:ext cx="2103120" cy="12801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9729215" y="374904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5" name="Picture 54" descr="users-FFFFFF.png"/>
          <p:cNvPicPr>
            <a:picLocks noChangeAspect="1"/>
          </p:cNvPicPr>
          <p:nvPr/>
        </p:nvPicPr>
        <p:blipFill>
          <a:blip r:embed="rId11"/>
          <a:stretch>
            <a:fillRect/>
          </a:stretch>
        </p:blipFill>
        <p:spPr>
          <a:xfrm>
            <a:off x="9834554" y="3854378"/>
            <a:ext cx="228234" cy="228234"/>
          </a:xfrm>
          <a:prstGeom prst="rect">
            <a:avLst/>
          </a:prstGeom>
        </p:spPr>
      </p:pic>
      <p:sp>
        <p:nvSpPr>
          <p:cNvPr id="56" name="TextBox 55"/>
          <p:cNvSpPr txBox="1"/>
          <p:nvPr/>
        </p:nvSpPr>
        <p:spPr>
          <a:xfrm>
            <a:off x="10277856" y="3749040"/>
            <a:ext cx="132588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onsolas"/>
              </a:rPr>
              <a:t>delegation</a:t>
            </a:r>
          </a:p>
        </p:txBody>
      </p:sp>
      <p:sp>
        <p:nvSpPr>
          <p:cNvPr id="57" name="TextBox 56"/>
          <p:cNvSpPr txBox="1"/>
          <p:nvPr/>
        </p:nvSpPr>
        <p:spPr>
          <a:xfrm>
            <a:off x="9729215" y="4297680"/>
            <a:ext cx="1828800" cy="45720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sub-agents</a:t>
            </a:r>
          </a:p>
        </p:txBody>
      </p:sp>
      <p:sp>
        <p:nvSpPr>
          <p:cNvPr id="58" name="TextBox 57"/>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Principle 2, permission control: every tool you switch off is one less thing that can go wrong. The terminal tool is how Mia installs things for you.</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SKILLS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Install a Skill by Asking: “install the kopi pitch deck skill”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2215030"/>
            <a:ext cx="6784848" cy="306801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nstall-skill-by-asking.png"/>
          <p:cNvPicPr>
            <a:picLocks noChangeAspect="1"/>
          </p:cNvPicPr>
          <p:nvPr/>
        </p:nvPicPr>
        <p:blipFill>
          <a:blip r:embed="rId2"/>
          <a:stretch>
            <a:fillRect/>
          </a:stretch>
        </p:blipFill>
        <p:spPr>
          <a:xfrm>
            <a:off x="640080" y="2269894"/>
            <a:ext cx="6675120" cy="2958291"/>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ask</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plain sentence in the chat.</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uzzle-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Mia installs</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Loads, copies and verifies the skill.</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check</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Readiness: available. It now shows in Capabilities → Skills.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No terminal, no file copying: the agent does the technical step and reports where the skill lives.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2 · YOUR FIRST AI EMPLOYEE · WEB SEARCH</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21201C"/>
                </a:solidFill>
                <a:latin typeface="Cambria"/>
              </a:rPr>
              <a:t>1,000</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21201C"/>
                </a:solidFill>
                <a:latin typeface="Cambria"/>
              </a:rPr>
              <a:t>free Firecrawl credits a month: Mia can now read the web.</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6B6862"/>
                </a:solidFill>
                <a:latin typeface="Calibri"/>
              </a:rPr>
              <a:t>Firecrawl is Hermes’s default web search. Create a free key at firecrawl.dev (no card), paste it in Settings → Tools &amp; Keys, and ask for cold-brew trends with dated, linked sources. Keys go in Settings, never in a chat.</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GMAIL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Gmail in One Click: Sign In with Google, No OAuth Set-up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85215" y="1733359"/>
            <a:ext cx="6784848" cy="40313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nnectors.png"/>
          <p:cNvPicPr>
            <a:picLocks noChangeAspect="1"/>
          </p:cNvPicPr>
          <p:nvPr/>
        </p:nvPicPr>
        <p:blipFill>
          <a:blip r:embed="rId2"/>
          <a:stretch>
            <a:fillRect/>
          </a:stretch>
        </p:blipFill>
        <p:spPr>
          <a:xfrm>
            <a:off x="640080" y="1788223"/>
            <a:ext cx="6675120" cy="3921632"/>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 to Nous</a:t>
            </a:r>
          </a:p>
        </p:txBody>
      </p:sp>
      <p:sp>
        <p:nvSpPr>
          <p:cNvPr id="12" name="TextBox 11"/>
          <p:cNvSpPr txBox="1"/>
          <p:nvPr/>
        </p:nvSpPr>
        <p:spPr>
          <a:xfrm>
            <a:off x="8229600" y="20574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Status bar → Sign in. The free account is enough.</a:t>
            </a:r>
          </a:p>
        </p:txBody>
      </p:sp>
      <p:sp>
        <p:nvSpPr>
          <p:cNvPr id="13" name="Oval 12"/>
          <p:cNvSpPr/>
          <p:nvPr/>
        </p:nvSpPr>
        <p:spPr>
          <a:xfrm>
            <a:off x="7635240" y="27660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lug-FFFFFF.png"/>
          <p:cNvPicPr>
            <a:picLocks noChangeAspect="1"/>
          </p:cNvPicPr>
          <p:nvPr/>
        </p:nvPicPr>
        <p:blipFill>
          <a:blip r:embed="rId4"/>
          <a:stretch>
            <a:fillRect/>
          </a:stretch>
        </p:blipFill>
        <p:spPr>
          <a:xfrm>
            <a:off x="7744967" y="2875788"/>
            <a:ext cx="237744" cy="237744"/>
          </a:xfrm>
          <a:prstGeom prst="rect">
            <a:avLst/>
          </a:prstGeom>
        </p:spPr>
      </p:pic>
      <p:sp>
        <p:nvSpPr>
          <p:cNvPr id="15" name="TextBox 14"/>
          <p:cNvSpPr txBox="1"/>
          <p:nvPr/>
        </p:nvSpPr>
        <p:spPr>
          <a:xfrm>
            <a:off x="8229600" y="27203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Connectors </a:t>
            </a:r>
            <a:r>
              <a:rPr sz="1500" b="1" i="0">
                <a:solidFill>
                  <a:srgbClr val="21201C"/>
                </a:solidFill>
                <a:latin typeface="Calibri"/>
              </a:rPr>
              <a:t>→</a:t>
            </a:r>
            <a:r>
              <a:rPr sz="1500" b="1" i="0">
                <a:solidFill>
                  <a:srgbClr val="21201C"/>
                </a:solidFill>
                <a:latin typeface="Cambria"/>
              </a:rPr>
              <a:t> Gmail</a:t>
            </a:r>
          </a:p>
        </p:txBody>
      </p:sp>
      <p:sp>
        <p:nvSpPr>
          <p:cNvPr id="16" name="TextBox 15"/>
          <p:cNvSpPr txBox="1"/>
          <p:nvPr/>
        </p:nvSpPr>
        <p:spPr>
          <a:xfrm>
            <a:off x="8229600" y="30861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Capabilities → Connectors → search “Gmail” → Connect.</a:t>
            </a:r>
          </a:p>
        </p:txBody>
      </p:sp>
      <p:sp>
        <p:nvSpPr>
          <p:cNvPr id="17" name="Oval 16"/>
          <p:cNvSpPr/>
          <p:nvPr/>
        </p:nvSpPr>
        <p:spPr>
          <a:xfrm>
            <a:off x="7635240" y="37947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5"/>
          <a:stretch>
            <a:fillRect/>
          </a:stretch>
        </p:blipFill>
        <p:spPr>
          <a:xfrm>
            <a:off x="7744967" y="3904487"/>
            <a:ext cx="237744" cy="237744"/>
          </a:xfrm>
          <a:prstGeom prst="rect">
            <a:avLst/>
          </a:prstGeom>
        </p:spPr>
      </p:pic>
      <p:sp>
        <p:nvSpPr>
          <p:cNvPr id="19" name="TextBox 18"/>
          <p:cNvSpPr txBox="1"/>
          <p:nvPr/>
        </p:nvSpPr>
        <p:spPr>
          <a:xfrm>
            <a:off x="8229600" y="3749039"/>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 with Google</a:t>
            </a:r>
          </a:p>
        </p:txBody>
      </p:sp>
      <p:sp>
        <p:nvSpPr>
          <p:cNvPr id="20" name="TextBox 19"/>
          <p:cNvSpPr txBox="1"/>
          <p:nvPr/>
        </p:nvSpPr>
        <p:spPr>
          <a:xfrm>
            <a:off x="8229600" y="41148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Pick the training account → Allow. Done.</a:t>
            </a:r>
          </a:p>
        </p:txBody>
      </p:sp>
      <p:sp>
        <p:nvSpPr>
          <p:cNvPr id="21" name="Oval 20"/>
          <p:cNvSpPr/>
          <p:nvPr/>
        </p:nvSpPr>
        <p:spPr>
          <a:xfrm>
            <a:off x="7635240" y="48234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6"/>
          <a:stretch>
            <a:fillRect/>
          </a:stretch>
        </p:blipFill>
        <p:spPr>
          <a:xfrm>
            <a:off x="7744967" y="4933188"/>
            <a:ext cx="237744" cy="237744"/>
          </a:xfrm>
          <a:prstGeom prst="rect">
            <a:avLst/>
          </a:prstGeom>
        </p:spPr>
      </p:pic>
      <p:sp>
        <p:nvSpPr>
          <p:cNvPr id="23" name="TextBox 22"/>
          <p:cNvSpPr txBox="1"/>
          <p:nvPr/>
        </p:nvSpPr>
        <p:spPr>
          <a:xfrm>
            <a:off x="8229600" y="47777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 ≠ send</a:t>
            </a:r>
          </a:p>
        </p:txBody>
      </p:sp>
      <p:sp>
        <p:nvSpPr>
          <p:cNvPr id="24" name="TextBox 23"/>
          <p:cNvSpPr txBox="1"/>
          <p:nvPr/>
        </p:nvSpPr>
        <p:spPr>
          <a:xfrm>
            <a:off x="8229600" y="51435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reads freely; she sends once, after your SEND on the exact email.</a:t>
            </a:r>
          </a:p>
        </p:txBody>
      </p:sp>
      <p:sp>
        <p:nvSpPr>
          <p:cNvPr id="25" name="TextBox 24"/>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Connectors are managed apps served through your Nous sign-in. Free-tier connector access: awaiting verification — your trainer confirms before class.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SCHEDULED JOBS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Scheduled Jobs Make Mia Proactive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684659" y="1682496"/>
            <a:ext cx="6585961"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cheduled-jobs.png"/>
          <p:cNvPicPr>
            <a:picLocks noChangeAspect="1"/>
          </p:cNvPicPr>
          <p:nvPr/>
        </p:nvPicPr>
        <p:blipFill>
          <a:blip r:embed="rId2"/>
          <a:stretch>
            <a:fillRect/>
          </a:stretch>
        </p:blipFill>
        <p:spPr>
          <a:xfrm>
            <a:off x="739523" y="1737360"/>
            <a:ext cx="6476233"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st-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Blueprints</a:t>
            </a:r>
          </a:p>
        </p:txBody>
      </p:sp>
      <p:sp>
        <p:nvSpPr>
          <p:cNvPr id="12" name="TextBox 11"/>
          <p:cNvSpPr txBox="1"/>
          <p:nvPr/>
        </p:nvSpPr>
        <p:spPr>
          <a:xfrm>
            <a:off x="8229600" y="20574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Morning briefing, Important-mail monitor, Weekly review …</a:t>
            </a:r>
          </a:p>
        </p:txBody>
      </p:sp>
      <p:sp>
        <p:nvSpPr>
          <p:cNvPr id="13" name="Oval 12"/>
          <p:cNvSpPr/>
          <p:nvPr/>
        </p:nvSpPr>
        <p:spPr>
          <a:xfrm>
            <a:off x="7635240" y="27660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2875788"/>
            <a:ext cx="237744" cy="237744"/>
          </a:xfrm>
          <a:prstGeom prst="rect">
            <a:avLst/>
          </a:prstGeom>
        </p:spPr>
      </p:pic>
      <p:sp>
        <p:nvSpPr>
          <p:cNvPr id="15" name="TextBox 14"/>
          <p:cNvSpPr txBox="1"/>
          <p:nvPr/>
        </p:nvSpPr>
        <p:spPr>
          <a:xfrm>
            <a:off x="8229600" y="27203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 just ask</a:t>
            </a:r>
          </a:p>
        </p:txBody>
      </p:sp>
      <p:sp>
        <p:nvSpPr>
          <p:cNvPr id="16" name="TextBox 15"/>
          <p:cNvSpPr txBox="1"/>
          <p:nvPr/>
        </p:nvSpPr>
        <p:spPr>
          <a:xfrm>
            <a:off x="8229600" y="30861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“Every day at 8:00, summarise my unread Gmail and send it to Telegram.”</a:t>
            </a:r>
          </a:p>
        </p:txBody>
      </p:sp>
      <p:sp>
        <p:nvSpPr>
          <p:cNvPr id="17" name="Oval 16"/>
          <p:cNvSpPr/>
          <p:nvPr/>
        </p:nvSpPr>
        <p:spPr>
          <a:xfrm>
            <a:off x="7635240" y="37947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olt-FFFFFF.png"/>
          <p:cNvPicPr>
            <a:picLocks noChangeAspect="1"/>
          </p:cNvPicPr>
          <p:nvPr/>
        </p:nvPicPr>
        <p:blipFill>
          <a:blip r:embed="rId5"/>
          <a:stretch>
            <a:fillRect/>
          </a:stretch>
        </p:blipFill>
        <p:spPr>
          <a:xfrm>
            <a:off x="7744967" y="3904487"/>
            <a:ext cx="237744" cy="237744"/>
          </a:xfrm>
          <a:prstGeom prst="rect">
            <a:avLst/>
          </a:prstGeom>
        </p:spPr>
      </p:pic>
      <p:sp>
        <p:nvSpPr>
          <p:cNvPr id="19" name="TextBox 18"/>
          <p:cNvSpPr txBox="1"/>
          <p:nvPr/>
        </p:nvSpPr>
        <p:spPr>
          <a:xfrm>
            <a:off x="8229600" y="3749039"/>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 now</a:t>
            </a:r>
          </a:p>
        </p:txBody>
      </p:sp>
      <p:sp>
        <p:nvSpPr>
          <p:cNvPr id="20" name="TextBox 19"/>
          <p:cNvSpPr txBox="1"/>
          <p:nvPr/>
        </p:nvSpPr>
        <p:spPr>
          <a:xfrm>
            <a:off x="8229600" y="41148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Test it today, not tomorrow morning.</a:t>
            </a:r>
          </a:p>
        </p:txBody>
      </p:sp>
      <p:sp>
        <p:nvSpPr>
          <p:cNvPr id="21" name="Oval 20"/>
          <p:cNvSpPr/>
          <p:nvPr/>
        </p:nvSpPr>
        <p:spPr>
          <a:xfrm>
            <a:off x="7635240" y="48234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ause-FFFFFF.png"/>
          <p:cNvPicPr>
            <a:picLocks noChangeAspect="1"/>
          </p:cNvPicPr>
          <p:nvPr/>
        </p:nvPicPr>
        <p:blipFill>
          <a:blip r:embed="rId6"/>
          <a:stretch>
            <a:fillRect/>
          </a:stretch>
        </p:blipFill>
        <p:spPr>
          <a:xfrm>
            <a:off x="7744967" y="4933188"/>
            <a:ext cx="237744" cy="237744"/>
          </a:xfrm>
          <a:prstGeom prst="rect">
            <a:avLst/>
          </a:prstGeom>
        </p:spPr>
      </p:pic>
      <p:sp>
        <p:nvSpPr>
          <p:cNvPr id="23" name="TextBox 22"/>
          <p:cNvSpPr txBox="1"/>
          <p:nvPr/>
        </p:nvSpPr>
        <p:spPr>
          <a:xfrm>
            <a:off x="8229600" y="47777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24" name="TextBox 23"/>
          <p:cNvSpPr txBox="1"/>
          <p:nvPr/>
        </p:nvSpPr>
        <p:spPr>
          <a:xfrm>
            <a:off x="8229600" y="5143500"/>
            <a:ext cx="3429000" cy="6172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Stop a job you cannot watch.</a:t>
            </a:r>
          </a:p>
        </p:txBody>
      </p:sp>
      <p:sp>
        <p:nvSpPr>
          <p:cNvPr id="25" name="TextBox 24"/>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 scheduled job (a “cron”) = a schedule + a prompt + where to deliver. It starts work without being asked.</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SCHEDULED JOBS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Your 8:00 Email Brief, Before You Open the Pop-up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One sentence to Mia creates the job. Hermes Desktop must be running at 8:00.</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148840"/>
            <a:ext cx="11064240" cy="137160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240280"/>
            <a:ext cx="1069848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10" name="TextBox 9"/>
          <p:cNvSpPr txBox="1"/>
          <p:nvPr/>
        </p:nvSpPr>
        <p:spPr>
          <a:xfrm>
            <a:off x="731520" y="2532888"/>
            <a:ext cx="10698480" cy="868680"/>
          </a:xfrm>
          <a:prstGeom prst="rect">
            <a:avLst/>
          </a:prstGeom>
          <a:noFill/>
        </p:spPr>
        <p:txBody>
          <a:bodyPr wrap="square" lIns="36576" rIns="36576" tIns="18288" bIns="18288" anchor="t">
            <a:spAutoFit/>
          </a:bodyPr>
          <a:lstStyle/>
          <a:p>
            <a:pPr algn="l">
              <a:lnSpc>
                <a:spcPct val="112000"/>
              </a:lnSpc>
            </a:pPr>
            <a:r>
              <a:rPr sz="1200" b="0" i="0">
                <a:solidFill>
                  <a:srgbClr val="F1EDE4"/>
                </a:solidFill>
                <a:latin typeface="Consolas"/>
              </a:rPr>
              <a:t>Create a scheduled job called “Morning email brief”, every day at 8:00 Asia/Singapore, delivered to my Telegram:</a:t>
            </a:r>
          </a:p>
          <a:p>
            <a:pPr algn="l">
              <a:lnSpc>
                <a:spcPct val="112000"/>
              </a:lnSpc>
            </a:pPr>
            <a:r>
              <a:rPr sz="1200" b="0" i="0">
                <a:solidFill>
                  <a:srgbClr val="F1EDE4"/>
                </a:solidFill>
                <a:latin typeface="Consolas"/>
              </a:rPr>
              <a:t>use the kopi-email-brief skill and the Gmail connector to summarise my unread Kopi Kaki email — urgent first, then replies needed, then FYI.</a:t>
            </a:r>
          </a:p>
          <a:p>
            <a:pPr algn="l">
              <a:lnSpc>
                <a:spcPct val="112000"/>
              </a:lnSpc>
            </a:pPr>
            <a:r>
              <a:rPr sz="1200" b="0" i="0">
                <a:solidFill>
                  <a:srgbClr val="F1EDE4"/>
                </a:solidFill>
                <a:latin typeface="Consolas"/>
              </a:rPr>
              <a:t>Read only: never send or change anything.</a:t>
            </a:r>
          </a:p>
        </p:txBody>
      </p:sp>
      <p:sp>
        <p:nvSpPr>
          <p:cNvPr id="11" name="TextBox 10"/>
          <p:cNvSpPr txBox="1"/>
          <p:nvPr/>
        </p:nvSpPr>
        <p:spPr>
          <a:xfrm>
            <a:off x="548640"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07:59</a:t>
            </a:r>
          </a:p>
        </p:txBody>
      </p:sp>
      <p:sp>
        <p:nvSpPr>
          <p:cNvPr id="12" name="TextBox 11"/>
          <p:cNvSpPr txBox="1"/>
          <p:nvPr/>
        </p:nvSpPr>
        <p:spPr>
          <a:xfrm>
            <a:off x="548640"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You are asleep. Hermes Desktop is running.</a:t>
            </a:r>
          </a:p>
        </p:txBody>
      </p:sp>
      <p:sp>
        <p:nvSpPr>
          <p:cNvPr id="13" name="TextBox 12"/>
          <p:cNvSpPr txBox="1"/>
          <p:nvPr/>
        </p:nvSpPr>
        <p:spPr>
          <a:xfrm>
            <a:off x="3364992"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08:00</a:t>
            </a:r>
          </a:p>
        </p:txBody>
      </p:sp>
      <p:sp>
        <p:nvSpPr>
          <p:cNvPr id="14" name="TextBox 13"/>
          <p:cNvSpPr txBox="1"/>
          <p:nvPr/>
        </p:nvSpPr>
        <p:spPr>
          <a:xfrm>
            <a:off x="3364992"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The job wakes Mia with the kopi-email-brief skill.</a:t>
            </a:r>
          </a:p>
        </p:txBody>
      </p:sp>
      <p:sp>
        <p:nvSpPr>
          <p:cNvPr id="15" name="TextBox 14"/>
          <p:cNvSpPr txBox="1"/>
          <p:nvPr/>
        </p:nvSpPr>
        <p:spPr>
          <a:xfrm>
            <a:off x="6181344"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08:02</a:t>
            </a:r>
          </a:p>
        </p:txBody>
      </p:sp>
      <p:sp>
        <p:nvSpPr>
          <p:cNvPr id="16" name="TextBox 15"/>
          <p:cNvSpPr txBox="1"/>
          <p:nvPr/>
        </p:nvSpPr>
        <p:spPr>
          <a:xfrm>
            <a:off x="6181344"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reads Gmail through the connector — read-only.</a:t>
            </a:r>
          </a:p>
        </p:txBody>
      </p:sp>
      <p:sp>
        <p:nvSpPr>
          <p:cNvPr id="17" name="TextBox 16"/>
          <p:cNvSpPr txBox="1"/>
          <p:nvPr/>
        </p:nvSpPr>
        <p:spPr>
          <a:xfrm>
            <a:off x="8997696" y="3840480"/>
            <a:ext cx="2651760" cy="548640"/>
          </a:xfrm>
          <a:prstGeom prst="rect">
            <a:avLst/>
          </a:prstGeom>
          <a:noFill/>
        </p:spPr>
        <p:txBody>
          <a:bodyPr wrap="square" lIns="36576" rIns="36576" tIns="18288" bIns="18288" anchor="t">
            <a:spAutoFit/>
          </a:bodyPr>
          <a:lstStyle/>
          <a:p>
            <a:pPr algn="l">
              <a:lnSpc>
                <a:spcPct val="112000"/>
              </a:lnSpc>
            </a:pPr>
            <a:r>
              <a:rPr sz="3000" b="1" i="0">
                <a:solidFill>
                  <a:srgbClr val="D97757"/>
                </a:solidFill>
                <a:latin typeface="Cambria"/>
              </a:rPr>
              <a:t>08:03</a:t>
            </a:r>
          </a:p>
        </p:txBody>
      </p:sp>
      <p:sp>
        <p:nvSpPr>
          <p:cNvPr id="18" name="TextBox 17"/>
          <p:cNvSpPr txBox="1"/>
          <p:nvPr/>
        </p:nvSpPr>
        <p:spPr>
          <a:xfrm>
            <a:off x="8997696" y="4434840"/>
            <a:ext cx="2606040" cy="9144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Your Telegram buzzes: urgent, replies needed, FYI.</a:t>
            </a:r>
          </a:p>
        </p:txBody>
      </p:sp>
      <p:sp>
        <p:nvSpPr>
          <p:cNvPr id="19" name="TextBox 18"/>
          <p:cNvSpPr txBox="1"/>
          <p:nvPr/>
        </p:nvSpPr>
        <p:spPr>
          <a:xfrm>
            <a:off x="548640" y="5577840"/>
            <a:ext cx="11064240" cy="36576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Scheduled jobs → your job → Trigger now. Check Telegram before you trust the schedule.</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TOOLS AND SKILLS · WEB DESIGN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Web Design: Install Design Know-How from skills.sh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open directory of agent skills. Read the SKILL.md on skills.sh, then ask Mia to install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frontend-design</a:t>
            </a:r>
          </a:p>
        </p:txBody>
      </p:sp>
      <p:sp>
        <p:nvSpPr>
          <p:cNvPr id="10" name="TextBox 9"/>
          <p:cNvSpPr txBox="1"/>
          <p:nvPr/>
        </p:nvSpPr>
        <p:spPr>
          <a:xfrm>
            <a:off x="822959"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Anthropic · ≈1.1M installs</a:t>
            </a:r>
          </a:p>
        </p:txBody>
      </p:sp>
      <p:sp>
        <p:nvSpPr>
          <p:cNvPr id="11" name="TextBox 10"/>
          <p:cNvSpPr txBox="1"/>
          <p:nvPr/>
        </p:nvSpPr>
        <p:spPr>
          <a:xfrm>
            <a:off x="822959"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Bold, distinctive front-end design; avoids generic “AI look”.</a:t>
            </a:r>
          </a:p>
        </p:txBody>
      </p:sp>
      <p:sp>
        <p:nvSpPr>
          <p:cNvPr id="12" name="Rounded Rectangle 11"/>
          <p:cNvSpPr/>
          <p:nvPr/>
        </p:nvSpPr>
        <p:spPr>
          <a:xfrm>
            <a:off x="731520"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14" name="TextBox 13"/>
          <p:cNvSpPr txBox="1"/>
          <p:nvPr/>
        </p:nvSpPr>
        <p:spPr>
          <a:xfrm>
            <a:off x="914400"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frontend-design from</a:t>
            </a:r>
          </a:p>
          <a:p>
            <a:pPr algn="l">
              <a:lnSpc>
                <a:spcPct val="112000"/>
              </a:lnSpc>
            </a:pPr>
            <a:r>
              <a:rPr sz="1050" b="0" i="0">
                <a:solidFill>
                  <a:srgbClr val="F1EDE4"/>
                </a:solidFill>
                <a:latin typeface="Consolas"/>
              </a:rPr>
              <a:t>github.com/anthropics/skills”</a:t>
            </a:r>
          </a:p>
        </p:txBody>
      </p:sp>
      <p:sp>
        <p:nvSpPr>
          <p:cNvPr id="15" name="Rounded Rectangle 14"/>
          <p:cNvSpPr/>
          <p:nvPr/>
        </p:nvSpPr>
        <p:spPr>
          <a:xfrm>
            <a:off x="4297679"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1999"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web-design-guidelines</a:t>
            </a:r>
          </a:p>
        </p:txBody>
      </p:sp>
      <p:sp>
        <p:nvSpPr>
          <p:cNvPr id="17" name="TextBox 16"/>
          <p:cNvSpPr txBox="1"/>
          <p:nvPr/>
        </p:nvSpPr>
        <p:spPr>
          <a:xfrm>
            <a:off x="4571999"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Vercel · ≈804K installs</a:t>
            </a:r>
          </a:p>
        </p:txBody>
      </p:sp>
      <p:sp>
        <p:nvSpPr>
          <p:cNvPr id="18" name="TextBox 17"/>
          <p:cNvSpPr txBox="1"/>
          <p:nvPr/>
        </p:nvSpPr>
        <p:spPr>
          <a:xfrm>
            <a:off x="4571999"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Checks a UI against web interface guidelines: accessibility, layout, forms.</a:t>
            </a:r>
          </a:p>
        </p:txBody>
      </p:sp>
      <p:sp>
        <p:nvSpPr>
          <p:cNvPr id="19" name="Rounded Rectangle 18"/>
          <p:cNvSpPr/>
          <p:nvPr/>
        </p:nvSpPr>
        <p:spPr>
          <a:xfrm>
            <a:off x="4480559"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63440"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21" name="TextBox 20"/>
          <p:cNvSpPr txBox="1"/>
          <p:nvPr/>
        </p:nvSpPr>
        <p:spPr>
          <a:xfrm>
            <a:off x="4663440"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web-design-guidelines from</a:t>
            </a:r>
          </a:p>
          <a:p>
            <a:pPr algn="l">
              <a:lnSpc>
                <a:spcPct val="112000"/>
              </a:lnSpc>
            </a:pPr>
            <a:r>
              <a:rPr sz="1050" b="0" i="0">
                <a:solidFill>
                  <a:srgbClr val="F1EDE4"/>
                </a:solidFill>
                <a:latin typeface="Consolas"/>
              </a:rPr>
              <a:t>github.com/vercel-labs/agent-skills”</a:t>
            </a:r>
          </a:p>
        </p:txBody>
      </p:sp>
      <p:sp>
        <p:nvSpPr>
          <p:cNvPr id="22" name="Rounded Rectangle 21"/>
          <p:cNvSpPr/>
          <p:nvPr/>
        </p:nvSpPr>
        <p:spPr>
          <a:xfrm>
            <a:off x="8046719" y="2148840"/>
            <a:ext cx="3566160" cy="37490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21040" y="2286000"/>
            <a:ext cx="3017520" cy="41148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onsolas"/>
              </a:rPr>
              <a:t>ui-ux-pro-max</a:t>
            </a:r>
          </a:p>
        </p:txBody>
      </p:sp>
      <p:sp>
        <p:nvSpPr>
          <p:cNvPr id="24" name="TextBox 23"/>
          <p:cNvSpPr txBox="1"/>
          <p:nvPr/>
        </p:nvSpPr>
        <p:spPr>
          <a:xfrm>
            <a:off x="8321040" y="2724912"/>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nextlevelbuilder · ≈424K installs</a:t>
            </a:r>
          </a:p>
        </p:txBody>
      </p:sp>
      <p:sp>
        <p:nvSpPr>
          <p:cNvPr id="25" name="TextBox 24"/>
          <p:cNvSpPr txBox="1"/>
          <p:nvPr/>
        </p:nvSpPr>
        <p:spPr>
          <a:xfrm>
            <a:off x="8321040" y="3090672"/>
            <a:ext cx="3017520" cy="1005840"/>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Design-system intelligence: styles, palettes, font pairings, UX rules.</a:t>
            </a:r>
          </a:p>
        </p:txBody>
      </p:sp>
      <p:sp>
        <p:nvSpPr>
          <p:cNvPr id="26" name="Rounded Rectangle 25"/>
          <p:cNvSpPr/>
          <p:nvPr/>
        </p:nvSpPr>
        <p:spPr>
          <a:xfrm>
            <a:off x="8229599" y="4206240"/>
            <a:ext cx="3200400" cy="146304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12479" y="4297679"/>
            <a:ext cx="2834640" cy="237744"/>
          </a:xfrm>
          <a:prstGeom prst="rect">
            <a:avLst/>
          </a:prstGeom>
          <a:noFill/>
        </p:spPr>
        <p:txBody>
          <a:bodyPr wrap="square" lIns="36576" rIns="36576" tIns="18288" bIns="18288" anchor="t">
            <a:spAutoFit/>
          </a:bodyPr>
          <a:lstStyle/>
          <a:p>
            <a:pPr algn="l">
              <a:lnSpc>
                <a:spcPct val="112000"/>
              </a:lnSpc>
            </a:pPr>
            <a:r>
              <a:rPr sz="950" b="0" i="0">
                <a:solidFill>
                  <a:srgbClr val="B9B4A9"/>
                </a:solidFill>
                <a:latin typeface="Calibri"/>
              </a:rPr>
              <a:t>ASK MIA</a:t>
            </a:r>
          </a:p>
        </p:txBody>
      </p:sp>
      <p:sp>
        <p:nvSpPr>
          <p:cNvPr id="28" name="TextBox 27"/>
          <p:cNvSpPr txBox="1"/>
          <p:nvPr/>
        </p:nvSpPr>
        <p:spPr>
          <a:xfrm>
            <a:off x="8412479" y="4590288"/>
            <a:ext cx="2834640" cy="960120"/>
          </a:xfrm>
          <a:prstGeom prst="rect">
            <a:avLst/>
          </a:prstGeom>
          <a:noFill/>
        </p:spPr>
        <p:txBody>
          <a:bodyPr wrap="square" lIns="36576" rIns="36576" tIns="18288" bIns="18288" anchor="t">
            <a:spAutoFit/>
          </a:bodyPr>
          <a:lstStyle/>
          <a:p>
            <a:pPr algn="l">
              <a:lnSpc>
                <a:spcPct val="112000"/>
              </a:lnSpc>
            </a:pPr>
            <a:r>
              <a:rPr sz="1050" b="0" i="0">
                <a:solidFill>
                  <a:srgbClr val="F1EDE4"/>
                </a:solidFill>
                <a:latin typeface="Consolas"/>
              </a:rPr>
              <a:t>“Install ui-ux-pro-max from</a:t>
            </a:r>
          </a:p>
          <a:p>
            <a:pPr algn="l">
              <a:lnSpc>
                <a:spcPct val="112000"/>
              </a:lnSpc>
            </a:pPr>
            <a:r>
              <a:rPr sz="1050" b="0" i="0">
                <a:solidFill>
                  <a:srgbClr val="F1EDE4"/>
                </a:solidFill>
                <a:latin typeface="Consolas"/>
              </a:rPr>
              <a:t>skills.sh” (stretch challenge)</a:t>
            </a:r>
          </a:p>
        </p:txBody>
      </p:sp>
      <p:sp>
        <p:nvSpPr>
          <p:cNvPr id="29" name="TextBox 28"/>
          <p:cNvSpPr txBox="1"/>
          <p:nvPr/>
        </p:nvSpPr>
        <p:spPr>
          <a:xfrm>
            <a:off x="548640" y="6035040"/>
            <a:ext cx="548640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2"/>
              </a:rPr>
              <a:t>skills.sh · install counts as of 30 Oct 2026 · click</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YOUR FIRST AI EMPLOYEE · TOOLS AND SKILLS · PPTX</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Do the Work. Skills Know How to Do It Well.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skill is a folder with a SKILL.md: steps, rules and checks the agent loads when a task matches.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TOOL ONLY</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“Make a deck” with python-pptx</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Slides appear — but in what order?</a:t>
            </a:r>
          </a:p>
          <a:p>
            <a:pPr algn="l">
              <a:lnSpc>
                <a:spcPct val="130000"/>
              </a:lnSpc>
            </a:pPr>
            <a:r>
              <a:rPr sz="1450" b="0" i="0">
                <a:solidFill>
                  <a:srgbClr val="6B6862"/>
                </a:solidFill>
                <a:latin typeface="Calibri"/>
              </a:rPr>
              <a:t>Which colours, which chart, which checks?</a:t>
            </a:r>
          </a:p>
          <a:p>
            <a:pPr algn="l">
              <a:lnSpc>
                <a:spcPct val="130000"/>
              </a:lnSpc>
            </a:pPr>
            <a:r>
              <a:rPr sz="1450" b="0" i="0">
                <a:solidFill>
                  <a:srgbClr val="6B6862"/>
                </a:solidFill>
                <a:latin typeface="Calibri"/>
              </a:rPr>
              <a:t>Every run is a fresh guess.</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TOOL + SKILL</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“Make a deck” with kopi-pitch-deck</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Problem → product → proof → plan → ask.</a:t>
            </a:r>
          </a:p>
          <a:p>
            <a:pPr algn="l">
              <a:lnSpc>
                <a:spcPct val="130000"/>
              </a:lnSpc>
            </a:pPr>
            <a:r>
              <a:rPr sz="1450" b="0" i="0">
                <a:solidFill>
                  <a:srgbClr val="C9C4B9"/>
                </a:solidFill>
                <a:latin typeface="Calibri"/>
              </a:rPr>
              <a:t>Brand colours, native chart, sources in notes.</a:t>
            </a:r>
          </a:p>
          <a:p>
            <a:pPr algn="l">
              <a:lnSpc>
                <a:spcPct val="130000"/>
              </a:lnSpc>
            </a:pPr>
            <a:r>
              <a:rPr sz="1450" b="0" i="0">
                <a:solidFill>
                  <a:srgbClr val="C9C4B9"/>
                </a:solidFill>
                <a:latin typeface="Calibri"/>
              </a:rPr>
              <a:t>Same quality every time; improve it once, every run benefits.</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Browse Capabilities → Skills (88 built in). Read every third-party SKILL.md before you install it.</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Topic 2 Setup — Hire Your First AI Employee — Hermes Agent Setup</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Install one app, point it at your company folder, pick a model, create a Telegram bot. No command line: by the end Mia reads your Gmail, searches the web and briefs you on Telegram every morning.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Today your first hire is Mia, a Hermes agent that works from your laptop: she reads your Kopi Kaki inbox, searches the web for cold-brew trends, and messages you a summary on Telegram every morning before you open the pop-up.</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100" b="0" i="0">
                <a:solidFill>
                  <a:srgbClr val="6B6862"/>
                </a:solidFill>
                <a:latin typeface="Calibri"/>
              </a:rPr>
              <a:t>✓  Hermes Desktop working in your Desktop/kopi-kaki folder with a model (Nous free tier, your ChatGPT Plus plan or a paid model)</a:t>
            </a:r>
          </a:p>
          <a:p>
            <a:pPr algn="l">
              <a:lnSpc>
                <a:spcPct val="112000"/>
              </a:lnSpc>
            </a:pPr>
            <a:r>
              <a:rPr sz="1100" b="0" i="0">
                <a:solidFill>
                  <a:srgbClr val="6B6862"/>
                </a:solidFill>
                <a:latin typeface="Calibri"/>
              </a:rPr>
              <a:t>✓  Mia answering you on Telegram (Create with QR, or your own bot from BotFather) and reading answers aloud</a:t>
            </a:r>
          </a:p>
          <a:p>
            <a:pPr algn="l">
              <a:lnSpc>
                <a:spcPct val="112000"/>
              </a:lnSpc>
            </a:pPr>
            <a:r>
              <a:rPr sz="1100" b="0" i="0">
                <a:solidFill>
                  <a:srgbClr val="6B6862"/>
                </a:solidFill>
                <a:latin typeface="Calibri"/>
              </a:rPr>
              <a:t>✓  Tools and skills checked in Capabilities; Firecrawl web search returning cited results</a:t>
            </a:r>
          </a:p>
          <a:p>
            <a:pPr algn="l">
              <a:lnSpc>
                <a:spcPct val="112000"/>
              </a:lnSpc>
            </a:pPr>
            <a:r>
              <a:rPr sz="1100" b="0" i="0">
                <a:solidFill>
                  <a:srgbClr val="6B6862"/>
                </a:solidFill>
                <a:latin typeface="Calibri"/>
              </a:rPr>
              <a:t>✓  Gmail connected with a Google sign-in; one approved test email sent</a:t>
            </a:r>
          </a:p>
          <a:p>
            <a:pPr algn="l">
              <a:lnSpc>
                <a:spcPct val="112000"/>
              </a:lnSpc>
            </a:pPr>
            <a:r>
              <a:rPr sz="1100" b="0" i="0">
                <a:solidFill>
                  <a:srgbClr val="6B6862"/>
                </a:solidFill>
                <a:latin typeface="Calibri"/>
              </a:rPr>
              <a:t>✓  A daily 8:00 email-summary scheduled job that delivers to Telegram</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your first AI employee</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the model and accounts, approve every send, own the schedule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120 min  ·  One agent, many tools</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S2</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https://tertiarycourses.github.io/TGS-2024043854-Build-a-Human-AI-Workforce-with-Autonomous-AI-Agents/prompts/#lab-S2</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Topic 2 Setup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Desktop + Kopi Kaki folder.</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rain-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Model</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Nous free tier or ChatGPT Plus.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hone-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Telegram</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Create with QR, or a BotFather token.</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Tools &amp; skills</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Capabilities: review and switch on.</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mail-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Gmail + web</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Sign in with Google; Firecrawl key.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clock-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Schedule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8:00 email summary to Telegram.</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Mia answers on Telegram, lists her tools and skills, returns cited web results, reads your Gmail, and Scheduled jobs shows the 8:00 email summary.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Give Mia a brain: choose your model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prompts/#lab-S2</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Say hello in one line as Mia, Kopi Kaki's first AI employee, and tell me which model you are running 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New session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one-line reply that names the model.</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model and accounts, approve every send, own the schedule</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S2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TOPIC 2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Hand Mia the company rulebook and meet her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prompts/#lab-S2</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You are Mia, the first AI employee of Kopi Kaki Co. Read AGENTS.md and campaign-brief.md in the attached folder and follow AGENTS.md for this session. In five bullets: who we are, what we launch and when, the price, our KPIs, and the three rules you must never break.</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New session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correct bullets: startup, Gula Melaka Cold Brew on 1 Dec 2026, SGD 6.80, the KPIs and the rules.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model and accounts, approve every send, own the schedule</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S2</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2 · SINGLE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One Agent Built: The Kopi Kaki Website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413451" y="1682496"/>
            <a:ext cx="7334616"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opi-website.png"/>
          <p:cNvPicPr>
            <a:picLocks noChangeAspect="1"/>
          </p:cNvPicPr>
          <p:nvPr/>
        </p:nvPicPr>
        <p:blipFill>
          <a:blip r:embed="rId2"/>
          <a:stretch>
            <a:fillRect/>
          </a:stretch>
        </p:blipFill>
        <p:spPr>
          <a:xfrm>
            <a:off x="2468315" y="1737360"/>
            <a:ext cx="7224888"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One agent, two UX skills, one brief: hero, price, launch date and a pre-order button, in Kopi Kaki’s colours. Your version will differ; check every fact.</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One Agent Builds the Kopi Kaki Website with UX Skills</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A startup without a website does not exist. Ask Mia to install two UX skills from skills.sh, then let her design, build and test your one-page site in 45 minutes.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Customers who taste the cold brew at a pop-up search for you that evening — and find nothing. You need a one-page site before the flagship opens: hero, menu, the 1 Dec launch, pop-up locations and an app pre-order button. You have no designer, so you install design skills and brief Mia like an agency.</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outputs/website/index.html — responsive one-page Kopi Kaki site (hero, menu, launch, pop-ups, pre-order CTA)</a:t>
            </a:r>
          </a:p>
          <a:p>
            <a:pPr algn="l">
              <a:lnSpc>
                <a:spcPct val="112000"/>
              </a:lnSpc>
            </a:pPr>
            <a:r>
              <a:rPr sz="1250" b="0" i="0">
                <a:solidFill>
                  <a:srgbClr val="6B6862"/>
                </a:solidFill>
                <a:latin typeface="Calibri"/>
              </a:rPr>
              <a:t>✓  outputs/website/review.md — your design review: what the skill changed, what you corrected</a:t>
            </a:r>
          </a:p>
          <a:p>
            <a:pPr algn="l">
              <a:lnSpc>
                <a:spcPct val="112000"/>
              </a:lnSpc>
            </a:pPr>
            <a:r>
              <a:rPr sz="1250" b="0" i="0">
                <a:solidFill>
                  <a:srgbClr val="6B6862"/>
                </a:solidFill>
                <a:latin typeface="Calibri"/>
              </a:rPr>
              <a:t>✓  Two screenshots: desktop and mobile widths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(Mia) with UX skills from skills.sh</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Brief the site, review the design against the brand guide, request one revision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Single agent + installed UX skills</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02</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https://tertiarycourses.github.io/TGS-2024043854-Build-a-Human-AI-Workforce-with-Autonomous-AI-Agents/prompts/#lab-02</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87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Find</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Pick UX skills on skills.sh.</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977286"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check-C2603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Read each SKILL.md before install.</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uzzle-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Ask Mia to install them.</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ode-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Build</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writes index.html with the skill.</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Check brand, mobile, facts; ask one change.</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index.html opens offline, uses the Kopi Kaki colours and facts, works at phone width, and review.md records your one requested change.</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Copy the website brief into your company folder (2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prompts/#lab-02</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Read website-brief.md and tell me in three lines what you will build, for whom, and how we will know it is done.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lines that match the brief.</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02</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two UX skills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prompts/#lab-02</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these two skills from skills.sh for yourself: frontend-design from github.com/anthropics/skills and web-design-guidelines from github.com/vercel-labs/agent-skills. Read each SKILL.md first and tell me whether it runs any scripts. Then confirm both are installed and available.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Both skills installed and listed in Capabilities → Skills.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02</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 Mia like a design agency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prompts/#lab-02</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frontend-design and web-design-guidelines skills. Build the Kopi Kaki Co. one-page website from website-brief.md.</a:t>
            </a:r>
          </a:p>
          <a:p>
            <a:pPr algn="l">
              <a:lnSpc>
                <a:spcPct val="110000"/>
              </a:lnSpc>
            </a:pPr>
            <a:r>
              <a:rPr sz="1300" b="0" i="0">
                <a:solidFill>
                  <a:srgbClr val="F1EDE4"/>
                </a:solidFill>
                <a:latin typeface="Consolas"/>
              </a:rPr>
              <a:t>- Sections: hero (Gula Melaka Cold Brew, SGD 6.80, from 1 Dec 2026), our story (a startup founded in 2026), menu from product-catalogue.csv, pop-ups and the Tiong Bahru flagship, three short taster quotes from customer-reviews.csv (no names), app pre-order button, footer.</a:t>
            </a:r>
          </a:p>
          <a:p>
            <a:pPr algn="l">
              <a:lnSpc>
                <a:spcPct val="110000"/>
              </a:lnSpc>
            </a:pPr>
            <a:r>
              <a:rPr sz="1300" b="0" i="0">
                <a:solidFill>
                  <a:srgbClr val="F1EDE4"/>
                </a:solidFill>
                <a:latin typeface="Consolas"/>
              </a:rPr>
              <a:t>- Brand: colours and voice from brand-guide.md; use assets/kopi-kaki-logo.png and assets/cold-brew-product-card.png.</a:t>
            </a:r>
          </a:p>
          <a:p>
            <a:pPr algn="l">
              <a:lnSpc>
                <a:spcPct val="110000"/>
              </a:lnSpc>
            </a:pPr>
            <a:r>
              <a:rPr sz="1300" b="0" i="0">
                <a:solidFill>
                  <a:srgbClr val="F1EDE4"/>
                </a:solidFill>
                <a:latin typeface="Consolas"/>
              </a:rPr>
              <a:t>- One self-contained outputs/website/index.html: inline CSS, no external libraries or fonts, responsive down to 375 px, accessible contrast.</a:t>
            </a:r>
          </a:p>
          <a:p>
            <a:pPr algn="l">
              <a:lnSpc>
                <a:spcPct val="110000"/>
              </a:lnSpc>
            </a:pPr>
            <a:r>
              <a:rPr sz="1300" b="0" i="0">
                <a:solidFill>
                  <a:srgbClr val="F1EDE4"/>
                </a:solidFill>
                <a:latin typeface="Consolas"/>
              </a:rPr>
              <a:t>- No health or halal claims. Every price and date must match the source files.</a:t>
            </a:r>
          </a:p>
          <a:p>
            <a:pPr algn="l">
              <a:lnSpc>
                <a:spcPct val="110000"/>
              </a:lnSpc>
            </a:pPr>
            <a:r>
              <a:rPr sz="1300" b="0" i="0">
                <a:solidFill>
                  <a:srgbClr val="F1EDE4"/>
                </a:solidFill>
                <a:latin typeface="Consolas"/>
              </a:rPr>
              <a:t>When done, open the page in my browser, then list which skill rules you applied and every fact with its source file.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outputs/website/index.html opens in your browser, plus a list of applied rules and sourced facts.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Brief the site, review the design against the brand guide,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02</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3 · SINGLE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Pitch Deck Is a Decision Story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kopi-pitch-deck skill gives Mia this order; python-pptx gives her editable slides and a native chart.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ler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Problem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office workers want kopi that tastes like home, cold.</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offe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Product</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Gula Melaka Cold Brew · SGD 6.80 · from 1 Dec.</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star-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Proof</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60 pop-up tasting reviews: average rating, top themes.</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ap-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#ShiokColdBrew · 17 Nov–14 Dec · KPIs and budget.</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target-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Ask</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What you need from the bank, and what it buys.</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2: ONE screenshot of Hermes Desktop showing your request and the finished deck.</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ACTIVITY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3 — Activity 3 — One Agent Builds the Kopi Kaki Pitch Deck with a PPT Tool and Skill</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 Friday you pitch the bank for a SGD 50,000 loan. Mia turns your brief, reviews and competitors into a professional, editable deck — with a real chart.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To open the flagship you need working capital, so you are pitching a bank relationship manager on Friday. You give Mia the campaign brief, the 60 tasting reviews from the pop-ups and the competitor list, plus a PPT tool and a presentation skill. She builds the deck; you check every number and approve it.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outputs/deck/kopi-kaki-pitch.pptx — 8–10 editable slides with one native chart</a:t>
            </a:r>
          </a:p>
          <a:p>
            <a:pPr algn="l">
              <a:lnSpc>
                <a:spcPct val="112000"/>
              </a:lnSpc>
            </a:pPr>
            <a:r>
              <a:rPr sz="1250" b="0" i="0">
                <a:solidFill>
                  <a:srgbClr val="6B6862"/>
                </a:solidFill>
                <a:latin typeface="Calibri"/>
              </a:rPr>
              <a:t>✓  outputs/deck/kopi-kaki-pitch.pdf — PDF copy, if LibreOffice is installed</a:t>
            </a:r>
          </a:p>
          <a:p>
            <a:pPr algn="l">
              <a:lnSpc>
                <a:spcPct val="112000"/>
              </a:lnSpc>
            </a:pPr>
            <a:r>
              <a:rPr sz="1250" b="0" i="0">
                <a:solidFill>
                  <a:srgbClr val="6B6862"/>
                </a:solidFill>
                <a:latin typeface="Calibri"/>
              </a:rPr>
              <a:t>✓  outputs/deck/qa-report.md — facts checked against the source files, fixes made</a:t>
            </a:r>
          </a:p>
          <a:p>
            <a:pPr algn="l">
              <a:lnSpc>
                <a:spcPct val="112000"/>
              </a:lnSpc>
            </a:pPr>
            <a:r>
              <a:rPr sz="1250" b="0" i="0">
                <a:solidFill>
                  <a:srgbClr val="6B6862"/>
                </a:solidFill>
                <a:latin typeface="Calibri"/>
              </a:rPr>
              <a:t>✓  PP Task 2 evidence: ONE screenshot of Hermes Desktop showing the PPT run and the deck</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(Mia) with the PPT tool and presentation skill</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story, check every figure, approve the final deck</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Single agent + PPT tool and skill</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03</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uzz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Equip</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“Install the kopi pitch deck skill.”</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977286"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C2603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Brief</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Audience, story, slide list.</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Build</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Mia computes, charts and writes the .pptx.</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PDF of every slide.</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Check facts and layout; one revision.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.pptx opens and is editable, the chart is a native chart, every number matches the source files, and your PP Task 2 screenshot is saved.</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the deck skill (3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prompts/#lab-03</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 kopi pitch deck skill from skills/kopi-pitch-deck in this folder. Read its SKILL.md first and tell me in two lines what it makes you do. Then confirm it is available, and check that python-pptx works in .office-venv.</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'Installed and verified the kopi-pitch-deck skill … readiness status available' and python-pptx works.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story, check every figure, approve the final deck</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03</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 the deck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prompts/#lab-03</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kopi-pitch-deck skill and python-pptx (from .office-venv in this folder). Build the Kopi Kaki Co. pitch deck for Friday's meeting with a bank relationship manager.</a:t>
            </a:r>
          </a:p>
          <a:p>
            <a:pPr algn="l">
              <a:lnSpc>
                <a:spcPct val="110000"/>
              </a:lnSpc>
            </a:pPr>
            <a:r>
              <a:rPr sz="1300" b="0" i="0">
                <a:solidFill>
                  <a:srgbClr val="F1EDE4"/>
                </a:solidFill>
                <a:latin typeface="Consolas"/>
              </a:rPr>
              <a:t>- 8-10 slides: title · the problem · Gula Melaka Cold Brew (SGD 6.80, from 1 Dec 2026) · proof from the 60 pop-up tasting reviews (average rating and top themes with review IDs) · market and the 6 competitors · launch plan 17 Nov-14 Dec #ShiokColdBrew · KPIs (2,500 pre-orders, 8% engagement, 40,000 views) · budget SGD 15,000 · the ask (I will fill in the amount).</a:t>
            </a:r>
          </a:p>
          <a:p>
            <a:pPr algn="l">
              <a:lnSpc>
                <a:spcPct val="110000"/>
              </a:lnSpc>
            </a:pPr>
            <a:r>
              <a:rPr sz="1300" b="0" i="0">
                <a:solidFill>
                  <a:srgbClr val="F1EDE4"/>
                </a:solidFill>
                <a:latin typeface="Consolas"/>
              </a:rPr>
              <a:t>- One NATIVE editable chart (ratings distribution or KPI targets), brand colours from brand-guide.md, the logo on the title slide.</a:t>
            </a:r>
          </a:p>
          <a:p>
            <a:pPr algn="l">
              <a:lnSpc>
                <a:spcPct val="110000"/>
              </a:lnSpc>
            </a:pPr>
            <a:r>
              <a:rPr sz="1300" b="0" i="0">
                <a:solidFill>
                  <a:srgbClr val="F1EDE4"/>
                </a:solidFill>
                <a:latin typeface="Consolas"/>
              </a:rPr>
              <a:t>- Speaker notes: the source file for every number.</a:t>
            </a:r>
          </a:p>
          <a:p>
            <a:pPr algn="l">
              <a:lnSpc>
                <a:spcPct val="110000"/>
              </a:lnSpc>
            </a:pPr>
            <a:r>
              <a:rPr sz="1300" b="0" i="0">
                <a:solidFill>
                  <a:srgbClr val="F1EDE4"/>
                </a:solidFill>
                <a:latin typeface="Consolas"/>
              </a:rPr>
              <a:t>Save outputs/deck/kopi-kaki-pitch.pptx. If LibreOffice is installed, also save outputs/deck/kopi-kaki-pitch.pdf and check every page for clipping or overlap. Write outputs/deck/qa-report.md, then open the deck for me.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kopi-kaki-pitch.pptx (and the PDF if LibreOffice is installed) and qa-report.md in outputs/deck/.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story, check every figure, approve the final deck</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03</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 · 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 Bots, Group Chats, Kanban &amp; Crons for Marketing and Video</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150" b="0" i="0">
                <a:solidFill>
                  <a:srgbClr val="C9C4B9"/>
                </a:solidFill>
                <a:latin typeface="Calibri"/>
              </a:rPr>
              <a:t>Recap: a CEO assistant, then your first AI employee. Today: AI teams that run on a schedule.</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Multiple agents: own tools, skills, model, instructions and context window; hub-and-spoke, task decomposition and subagents</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4 · Hire five named bots, put them in one group chat, get LinkedIn, Facebook and Instagram posts</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5 · One prompt builds a video team and its Kanban board: research → script → video → review → your approval (PP Task 3)</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000" b="0" i="0">
                <a:solidFill>
                  <a:srgbClr val="E8E5DE"/>
                </a:solidFill>
                <a:latin typeface="Calibri"/>
              </a:rPr>
              <a:t>Activity 6 · Crons auto-generate next week’s posts and video drafts, still behind your approval</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principles of AI security</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TOPIC 3 · TWO WEEKS TO LAUNCH</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5 + 5</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Five bots in a group chat. Five agents on a board.</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Yesterday Mia worked alone. Today you hire a team: five named bots write the launch posts together in one group chat, one prompt builds a video team on a Kanban board, and a cron sets both to work every week. You approve everything.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98</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MULTIPLE AGENTS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One Employee to a Team of Agents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multi-agent system splits one big goal into specialist jobs that hand work to each other — with a human in charge.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ONE AGENT (TOPIC 2)</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Mia does everything</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One context window fills up with every task.</a:t>
            </a:r>
          </a:p>
          <a:p>
            <a:pPr algn="l">
              <a:lnSpc>
                <a:spcPct val="130000"/>
              </a:lnSpc>
            </a:pPr>
            <a:r>
              <a:rPr sz="1450" b="0" i="0">
                <a:solidFill>
                  <a:srgbClr val="6B6862"/>
                </a:solidFill>
                <a:latin typeface="Calibri"/>
              </a:rPr>
              <a:t>One set of instructions for every voice and job.</a:t>
            </a:r>
          </a:p>
          <a:p>
            <a:pPr algn="l">
              <a:lnSpc>
                <a:spcPct val="130000"/>
              </a:lnSpc>
            </a:pPr>
            <a:r>
              <a:rPr sz="1450" b="0" i="0">
                <a:solidFill>
                  <a:srgbClr val="6B6862"/>
                </a:solidFill>
                <a:latin typeface="Calibri"/>
              </a:rPr>
              <a:t>Jobs run one after another.</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MULTIPLE AGENTS (TOPIC 3)</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A team of specialists</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Each agent sees only what its job needs.</a:t>
            </a:r>
          </a:p>
          <a:p>
            <a:pPr algn="l">
              <a:lnSpc>
                <a:spcPct val="130000"/>
              </a:lnSpc>
            </a:pPr>
            <a:r>
              <a:rPr sz="1450" b="0" i="0">
                <a:solidFill>
                  <a:srgbClr val="C9C4B9"/>
                </a:solidFill>
                <a:latin typeface="Calibri"/>
              </a:rPr>
              <a:t>Each has its own instructions, skills and tools.</a:t>
            </a:r>
          </a:p>
          <a:p>
            <a:pPr algn="l">
              <a:lnSpc>
                <a:spcPct val="130000"/>
              </a:lnSpc>
            </a:pPr>
            <a:r>
              <a:rPr sz="1450" b="0" i="0">
                <a:solidFill>
                  <a:srgbClr val="C9C4B9"/>
                </a:solidFill>
                <a:latin typeface="Calibri"/>
              </a:rPr>
              <a:t>Independent jobs run in parallel; a board tracks hand-offs.</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agents also means more hand-offs to check. Use a team when the jobs are truly different, not just because you can.</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MULTIPLE AGENTS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Every Agent Brings Its Own Five Things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 Hermes each agent is a bot (a profile). Change any of the five and you get a different employee.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325880"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ool-FFFFFF.png"/>
          <p:cNvPicPr>
            <a:picLocks noChangeAspect="1"/>
          </p:cNvPicPr>
          <p:nvPr/>
        </p:nvPicPr>
        <p:blipFill>
          <a:blip r:embed="rId2"/>
          <a:stretch>
            <a:fillRect/>
          </a:stretch>
        </p:blipFill>
        <p:spPr>
          <a:xfrm>
            <a:off x="1461942" y="2559222"/>
            <a:ext cx="294802" cy="294802"/>
          </a:xfrm>
          <a:prstGeom prst="rect">
            <a:avLst/>
          </a:prstGeom>
        </p:spPr>
      </p:pic>
      <p:sp>
        <p:nvSpPr>
          <p:cNvPr id="11" name="TextBox 10"/>
          <p:cNvSpPr txBox="1"/>
          <p:nvPr/>
        </p:nvSpPr>
        <p:spPr>
          <a:xfrm>
            <a:off x="685800"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Tools</a:t>
            </a:r>
          </a:p>
        </p:txBody>
      </p:sp>
      <p:sp>
        <p:nvSpPr>
          <p:cNvPr id="12" name="TextBox 11"/>
          <p:cNvSpPr txBox="1"/>
          <p:nvPr/>
        </p:nvSpPr>
        <p:spPr>
          <a:xfrm>
            <a:off x="685800"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What it can do</a:t>
            </a:r>
          </a:p>
        </p:txBody>
      </p:sp>
      <p:sp>
        <p:nvSpPr>
          <p:cNvPr id="13" name="TextBox 12"/>
          <p:cNvSpPr txBox="1"/>
          <p:nvPr/>
        </p:nvSpPr>
        <p:spPr>
          <a:xfrm>
            <a:off x="685800"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web, terminal, image, voice …</a:t>
            </a:r>
          </a:p>
        </p:txBody>
      </p:sp>
      <p:sp>
        <p:nvSpPr>
          <p:cNvPr id="14" name="TextBox 13"/>
          <p:cNvSpPr txBox="1"/>
          <p:nvPr/>
        </p:nvSpPr>
        <p:spPr>
          <a:xfrm>
            <a:off x="685800"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Pixel: image tool on</a:t>
            </a:r>
          </a:p>
        </p:txBody>
      </p:sp>
      <p:sp>
        <p:nvSpPr>
          <p:cNvPr id="15" name="Rounded Rectangle 14"/>
          <p:cNvSpPr/>
          <p:nvPr/>
        </p:nvSpPr>
        <p:spPr>
          <a:xfrm>
            <a:off x="2798064" y="2194560"/>
            <a:ext cx="210312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3575304"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uzzle-FFFFFF.png"/>
          <p:cNvPicPr>
            <a:picLocks noChangeAspect="1"/>
          </p:cNvPicPr>
          <p:nvPr/>
        </p:nvPicPr>
        <p:blipFill>
          <a:blip r:embed="rId3"/>
          <a:stretch>
            <a:fillRect/>
          </a:stretch>
        </p:blipFill>
        <p:spPr>
          <a:xfrm>
            <a:off x="3711366" y="2559222"/>
            <a:ext cx="294802" cy="294802"/>
          </a:xfrm>
          <a:prstGeom prst="rect">
            <a:avLst/>
          </a:prstGeom>
        </p:spPr>
      </p:pic>
      <p:sp>
        <p:nvSpPr>
          <p:cNvPr id="18" name="TextBox 17"/>
          <p:cNvSpPr txBox="1"/>
          <p:nvPr/>
        </p:nvSpPr>
        <p:spPr>
          <a:xfrm>
            <a:off x="2935224"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Unique skills</a:t>
            </a:r>
          </a:p>
        </p:txBody>
      </p:sp>
      <p:sp>
        <p:nvSpPr>
          <p:cNvPr id="19" name="TextBox 18"/>
          <p:cNvSpPr txBox="1"/>
          <p:nvPr/>
        </p:nvSpPr>
        <p:spPr>
          <a:xfrm>
            <a:off x="2935224"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How it does the job well</a:t>
            </a:r>
          </a:p>
        </p:txBody>
      </p:sp>
      <p:sp>
        <p:nvSpPr>
          <p:cNvPr id="20" name="TextBox 19"/>
          <p:cNvSpPr txBox="1"/>
          <p:nvPr/>
        </p:nvSpPr>
        <p:spPr>
          <a:xfrm>
            <a:off x="2935224"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its own SKILL.md set</a:t>
            </a:r>
          </a:p>
        </p:txBody>
      </p:sp>
      <p:sp>
        <p:nvSpPr>
          <p:cNvPr id="21" name="TextBox 20"/>
          <p:cNvSpPr txBox="1"/>
          <p:nvPr/>
        </p:nvSpPr>
        <p:spPr>
          <a:xfrm>
            <a:off x="2935224"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E8E5DE"/>
                </a:solidFill>
                <a:latin typeface="Calibri"/>
              </a:rPr>
              <a:t>video-producer: hyperframes</a:t>
            </a:r>
          </a:p>
        </p:txBody>
      </p:sp>
      <p:sp>
        <p:nvSpPr>
          <p:cNvPr id="22" name="Rounded Rectangle 21"/>
          <p:cNvSpPr/>
          <p:nvPr/>
        </p:nvSpPr>
        <p:spPr>
          <a:xfrm>
            <a:off x="5047488"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824727"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rain-FFFFFF.png"/>
          <p:cNvPicPr>
            <a:picLocks noChangeAspect="1"/>
          </p:cNvPicPr>
          <p:nvPr/>
        </p:nvPicPr>
        <p:blipFill>
          <a:blip r:embed="rId4"/>
          <a:stretch>
            <a:fillRect/>
          </a:stretch>
        </p:blipFill>
        <p:spPr>
          <a:xfrm>
            <a:off x="5960790" y="2559222"/>
            <a:ext cx="294802" cy="294802"/>
          </a:xfrm>
          <a:prstGeom prst="rect">
            <a:avLst/>
          </a:prstGeom>
        </p:spPr>
      </p:pic>
      <p:sp>
        <p:nvSpPr>
          <p:cNvPr id="25" name="TextBox 24"/>
          <p:cNvSpPr txBox="1"/>
          <p:nvPr/>
        </p:nvSpPr>
        <p:spPr>
          <a:xfrm>
            <a:off x="5184648"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Model</a:t>
            </a:r>
          </a:p>
        </p:txBody>
      </p:sp>
      <p:sp>
        <p:nvSpPr>
          <p:cNvPr id="26" name="TextBox 25"/>
          <p:cNvSpPr txBox="1"/>
          <p:nvPr/>
        </p:nvSpPr>
        <p:spPr>
          <a:xfrm>
            <a:off x="5184648"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How it thinks</a:t>
            </a:r>
          </a:p>
        </p:txBody>
      </p:sp>
      <p:sp>
        <p:nvSpPr>
          <p:cNvPr id="27" name="TextBox 26"/>
          <p:cNvSpPr txBox="1"/>
          <p:nvPr/>
        </p:nvSpPr>
        <p:spPr>
          <a:xfrm>
            <a:off x="5184648"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big or small, any provider</a:t>
            </a:r>
          </a:p>
        </p:txBody>
      </p:sp>
      <p:sp>
        <p:nvSpPr>
          <p:cNvPr id="28" name="TextBox 27"/>
          <p:cNvSpPr txBox="1"/>
          <p:nvPr/>
        </p:nvSpPr>
        <p:spPr>
          <a:xfrm>
            <a:off x="5184648"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Rafi: a careful model</a:t>
            </a:r>
          </a:p>
        </p:txBody>
      </p:sp>
      <p:sp>
        <p:nvSpPr>
          <p:cNvPr id="29" name="Rounded Rectangle 28"/>
          <p:cNvSpPr/>
          <p:nvPr/>
        </p:nvSpPr>
        <p:spPr>
          <a:xfrm>
            <a:off x="7296912" y="2194560"/>
            <a:ext cx="2103120" cy="365760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074152"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ile-FFFFFF.png"/>
          <p:cNvPicPr>
            <a:picLocks noChangeAspect="1"/>
          </p:cNvPicPr>
          <p:nvPr/>
        </p:nvPicPr>
        <p:blipFill>
          <a:blip r:embed="rId5"/>
          <a:stretch>
            <a:fillRect/>
          </a:stretch>
        </p:blipFill>
        <p:spPr>
          <a:xfrm>
            <a:off x="8210214" y="2559222"/>
            <a:ext cx="294802" cy="294802"/>
          </a:xfrm>
          <a:prstGeom prst="rect">
            <a:avLst/>
          </a:prstGeom>
        </p:spPr>
      </p:pic>
      <p:sp>
        <p:nvSpPr>
          <p:cNvPr id="32" name="TextBox 31"/>
          <p:cNvSpPr txBox="1"/>
          <p:nvPr/>
        </p:nvSpPr>
        <p:spPr>
          <a:xfrm>
            <a:off x="7434071"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Instructions</a:t>
            </a:r>
          </a:p>
        </p:txBody>
      </p:sp>
      <p:sp>
        <p:nvSpPr>
          <p:cNvPr id="33" name="TextBox 32"/>
          <p:cNvSpPr txBox="1"/>
          <p:nvPr/>
        </p:nvSpPr>
        <p:spPr>
          <a:xfrm>
            <a:off x="7434071"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Who it is and its rules</a:t>
            </a:r>
          </a:p>
        </p:txBody>
      </p:sp>
      <p:sp>
        <p:nvSpPr>
          <p:cNvPr id="34" name="TextBox 33"/>
          <p:cNvSpPr txBox="1"/>
          <p:nvPr/>
        </p:nvSpPr>
        <p:spPr>
          <a:xfrm>
            <a:off x="7434071"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SOUL.md + AGENTS.md</a:t>
            </a:r>
          </a:p>
        </p:txBody>
      </p:sp>
      <p:sp>
        <p:nvSpPr>
          <p:cNvPr id="35" name="TextBox 34"/>
          <p:cNvSpPr txBox="1"/>
          <p:nvPr/>
        </p:nvSpPr>
        <p:spPr>
          <a:xfrm>
            <a:off x="7434071"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E8E5DE"/>
                </a:solidFill>
                <a:latin typeface="Calibri"/>
              </a:rPr>
              <a:t>reviewer: never approves for you</a:t>
            </a:r>
          </a:p>
        </p:txBody>
      </p:sp>
      <p:sp>
        <p:nvSpPr>
          <p:cNvPr id="36" name="Rounded Rectangle 35"/>
          <p:cNvSpPr/>
          <p:nvPr/>
        </p:nvSpPr>
        <p:spPr>
          <a:xfrm>
            <a:off x="9546336" y="2194560"/>
            <a:ext cx="2103120" cy="365760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10323576" y="242316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ayers-FFFFFF.png"/>
          <p:cNvPicPr>
            <a:picLocks noChangeAspect="1"/>
          </p:cNvPicPr>
          <p:nvPr/>
        </p:nvPicPr>
        <p:blipFill>
          <a:blip r:embed="rId6"/>
          <a:stretch>
            <a:fillRect/>
          </a:stretch>
        </p:blipFill>
        <p:spPr>
          <a:xfrm>
            <a:off x="10459638" y="2559222"/>
            <a:ext cx="294802" cy="294802"/>
          </a:xfrm>
          <a:prstGeom prst="rect">
            <a:avLst/>
          </a:prstGeom>
        </p:spPr>
      </p:pic>
      <p:sp>
        <p:nvSpPr>
          <p:cNvPr id="39" name="TextBox 38"/>
          <p:cNvSpPr txBox="1"/>
          <p:nvPr/>
        </p:nvSpPr>
        <p:spPr>
          <a:xfrm>
            <a:off x="9683496" y="3154680"/>
            <a:ext cx="1828800" cy="411480"/>
          </a:xfrm>
          <a:prstGeom prst="rect">
            <a:avLst/>
          </a:prstGeom>
          <a:noFill/>
        </p:spPr>
        <p:txBody>
          <a:bodyPr wrap="square" lIns="36576" rIns="36576" tIns="18288" bIns="18288" anchor="t">
            <a:spAutoFit/>
          </a:bodyPr>
          <a:lstStyle/>
          <a:p>
            <a:pPr algn="ctr">
              <a:lnSpc>
                <a:spcPct val="112000"/>
              </a:lnSpc>
            </a:pPr>
            <a:r>
              <a:rPr sz="1700" b="1" i="0">
                <a:solidFill>
                  <a:srgbClr val="21201C"/>
                </a:solidFill>
                <a:latin typeface="Cambria"/>
              </a:rPr>
              <a:t>Context window</a:t>
            </a:r>
          </a:p>
        </p:txBody>
      </p:sp>
      <p:sp>
        <p:nvSpPr>
          <p:cNvPr id="40" name="TextBox 39"/>
          <p:cNvSpPr txBox="1"/>
          <p:nvPr/>
        </p:nvSpPr>
        <p:spPr>
          <a:xfrm>
            <a:off x="9683496" y="3611880"/>
            <a:ext cx="1828800" cy="502920"/>
          </a:xfrm>
          <a:prstGeom prst="rect">
            <a:avLst/>
          </a:prstGeom>
          <a:noFill/>
        </p:spPr>
        <p:txBody>
          <a:bodyPr wrap="square" lIns="36576" rIns="36576" tIns="18288" bIns="18288" anchor="t">
            <a:spAutoFit/>
          </a:bodyPr>
          <a:lstStyle/>
          <a:p>
            <a:pPr algn="ctr">
              <a:lnSpc>
                <a:spcPct val="112000"/>
              </a:lnSpc>
            </a:pPr>
            <a:r>
              <a:rPr sz="1200" b="1" i="0">
                <a:solidFill>
                  <a:srgbClr val="D97757"/>
                </a:solidFill>
                <a:latin typeface="Calibri"/>
              </a:rPr>
              <a:t>What it is holding in mind</a:t>
            </a:r>
          </a:p>
        </p:txBody>
      </p:sp>
      <p:sp>
        <p:nvSpPr>
          <p:cNvPr id="41" name="TextBox 40"/>
          <p:cNvSpPr txBox="1"/>
          <p:nvPr/>
        </p:nvSpPr>
        <p:spPr>
          <a:xfrm>
            <a:off x="9683496" y="4160520"/>
            <a:ext cx="1828800" cy="685800"/>
          </a:xfrm>
          <a:prstGeom prst="rect">
            <a:avLst/>
          </a:prstGeom>
          <a:noFill/>
        </p:spPr>
        <p:txBody>
          <a:bodyPr wrap="square" lIns="36576" rIns="36576" tIns="18288" bIns="18288" anchor="t">
            <a:spAutoFit/>
          </a:bodyPr>
          <a:lstStyle/>
          <a:p>
            <a:pPr algn="ctr">
              <a:lnSpc>
                <a:spcPct val="112000"/>
              </a:lnSpc>
            </a:pPr>
            <a:r>
              <a:rPr sz="1200" b="0" i="0">
                <a:solidFill>
                  <a:srgbClr val="6B6862"/>
                </a:solidFill>
                <a:latin typeface="Calibri"/>
              </a:rPr>
              <a:t>its own memory and session</a:t>
            </a:r>
          </a:p>
        </p:txBody>
      </p:sp>
      <p:sp>
        <p:nvSpPr>
          <p:cNvPr id="42" name="TextBox 41"/>
          <p:cNvSpPr txBox="1"/>
          <p:nvPr/>
        </p:nvSpPr>
        <p:spPr>
          <a:xfrm>
            <a:off x="9683496" y="4892040"/>
            <a:ext cx="1828800" cy="822960"/>
          </a:xfrm>
          <a:prstGeom prst="rect">
            <a:avLst/>
          </a:prstGeom>
          <a:noFill/>
        </p:spPr>
        <p:txBody>
          <a:bodyPr wrap="square" lIns="36576" rIns="36576" tIns="18288" bIns="18288" anchor="t">
            <a:spAutoFit/>
          </a:bodyPr>
          <a:lstStyle/>
          <a:p>
            <a:pPr algn="ctr">
              <a:lnSpc>
                <a:spcPct val="112000"/>
              </a:lnSpc>
            </a:pPr>
            <a:r>
              <a:rPr sz="1100" b="0" i="0">
                <a:solidFill>
                  <a:srgbClr val="21201C"/>
                </a:solidFill>
                <a:latin typeface="Calibri"/>
              </a:rPr>
              <a:t>each bot keeps its own chat and memory</a:t>
            </a:r>
          </a:p>
        </p:txBody>
      </p:sp>
      <p:sp>
        <p:nvSpPr>
          <p:cNvPr id="43" name="TextBox 42"/>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Hermes Desktop: Bots tab → New Agent → Name, Title, Description; Advanced for its SOUL.md, skills, tools and model.</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WORK TOGETHER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Hub-and-Spoke: One Coordinator, Many Specialists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No single agent carries the whole job. The hub hands out the pieces, the spokes do them, and the hub puts the answer together.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194560"/>
            <a:ext cx="4069080" cy="35661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359152"/>
            <a:ext cx="3657600" cy="256032"/>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THE IDEA</a:t>
            </a:r>
          </a:p>
        </p:txBody>
      </p:sp>
      <p:sp>
        <p:nvSpPr>
          <p:cNvPr id="10" name="TextBox 9"/>
          <p:cNvSpPr txBox="1"/>
          <p:nvPr/>
        </p:nvSpPr>
        <p:spPr>
          <a:xfrm>
            <a:off x="777240" y="2651760"/>
            <a:ext cx="3657600" cy="914400"/>
          </a:xfrm>
          <a:prstGeom prst="rect">
            <a:avLst/>
          </a:prstGeom>
          <a:noFill/>
        </p:spPr>
        <p:txBody>
          <a:bodyPr wrap="square" lIns="36576" rIns="36576" tIns="18288" bIns="18288" anchor="t">
            <a:spAutoFit/>
          </a:bodyPr>
          <a:lstStyle/>
          <a:p>
            <a:pPr algn="l">
              <a:lnSpc>
                <a:spcPct val="115000"/>
              </a:lnSpc>
            </a:pPr>
            <a:r>
              <a:rPr sz="1600" b="0" i="0">
                <a:solidFill>
                  <a:srgbClr val="FFFFFF"/>
                </a:solidFill>
                <a:latin typeface="Cambria"/>
              </a:rPr>
              <a:t>Don’t give every job to one agent. Split the work among specialists who all pull toward one goal.</a:t>
            </a:r>
          </a:p>
        </p:txBody>
      </p:sp>
      <p:sp>
        <p:nvSpPr>
          <p:cNvPr id="11" name="Oval 10"/>
          <p:cNvSpPr/>
          <p:nvPr/>
        </p:nvSpPr>
        <p:spPr>
          <a:xfrm>
            <a:off x="777240" y="3739896"/>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2"/>
          <a:stretch>
            <a:fillRect/>
          </a:stretch>
        </p:blipFill>
        <p:spPr>
          <a:xfrm>
            <a:off x="878189" y="3840845"/>
            <a:ext cx="218724" cy="218724"/>
          </a:xfrm>
          <a:prstGeom prst="rect">
            <a:avLst/>
          </a:prstGeom>
        </p:spPr>
      </p:pic>
      <p:sp>
        <p:nvSpPr>
          <p:cNvPr id="13" name="TextBox 12"/>
          <p:cNvSpPr txBox="1"/>
          <p:nvPr/>
        </p:nvSpPr>
        <p:spPr>
          <a:xfrm>
            <a:off x="1325880" y="3703320"/>
            <a:ext cx="3154680" cy="274320"/>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Hub · the coordinator</a:t>
            </a:r>
          </a:p>
        </p:txBody>
      </p:sp>
      <p:sp>
        <p:nvSpPr>
          <p:cNvPr id="14" name="TextBox 13"/>
          <p:cNvSpPr txBox="1"/>
          <p:nvPr/>
        </p:nvSpPr>
        <p:spPr>
          <a:xfrm>
            <a:off x="1325880" y="3977639"/>
            <a:ext cx="31546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Hands out the pieces, collects the results, answers you.</a:t>
            </a:r>
          </a:p>
        </p:txBody>
      </p:sp>
      <p:sp>
        <p:nvSpPr>
          <p:cNvPr id="15" name="Oval 14"/>
          <p:cNvSpPr/>
          <p:nvPr/>
        </p:nvSpPr>
        <p:spPr>
          <a:xfrm>
            <a:off x="777240" y="4398264"/>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878189" y="4499213"/>
            <a:ext cx="218724" cy="218724"/>
          </a:xfrm>
          <a:prstGeom prst="rect">
            <a:avLst/>
          </a:prstGeom>
        </p:spPr>
      </p:pic>
      <p:sp>
        <p:nvSpPr>
          <p:cNvPr id="17" name="TextBox 16"/>
          <p:cNvSpPr txBox="1"/>
          <p:nvPr/>
        </p:nvSpPr>
        <p:spPr>
          <a:xfrm>
            <a:off x="1325880" y="4361688"/>
            <a:ext cx="3154680" cy="274320"/>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Spokes · the specialists</a:t>
            </a:r>
          </a:p>
        </p:txBody>
      </p:sp>
      <p:sp>
        <p:nvSpPr>
          <p:cNvPr id="18" name="TextBox 17"/>
          <p:cNvSpPr txBox="1"/>
          <p:nvPr/>
        </p:nvSpPr>
        <p:spPr>
          <a:xfrm>
            <a:off x="1325880" y="4636007"/>
            <a:ext cx="3154680" cy="347472"/>
          </a:xfrm>
          <a:prstGeom prst="rect">
            <a:avLst/>
          </a:prstGeom>
          <a:noFill/>
        </p:spPr>
        <p:txBody>
          <a:bodyPr wrap="square" lIns="36576" rIns="36576" tIns="18288" bIns="18288" anchor="t">
            <a:spAutoFit/>
          </a:bodyPr>
          <a:lstStyle/>
          <a:p>
            <a:pPr algn="l">
              <a:lnSpc>
                <a:spcPct val="112000"/>
              </a:lnSpc>
            </a:pPr>
            <a:r>
              <a:rPr sz="950" b="0" i="0">
                <a:solidFill>
                  <a:srgbClr val="C9C4B9"/>
                </a:solidFill>
                <a:latin typeface="Calibri"/>
              </a:rPr>
              <a:t>Each does one piece with its own skills and tools.</a:t>
            </a:r>
          </a:p>
        </p:txBody>
      </p:sp>
      <p:sp>
        <p:nvSpPr>
          <p:cNvPr id="19" name="Oval 18"/>
          <p:cNvSpPr/>
          <p:nvPr/>
        </p:nvSpPr>
        <p:spPr>
          <a:xfrm>
            <a:off x="777240" y="5056632"/>
            <a:ext cx="420624" cy="42062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878189" y="5157581"/>
            <a:ext cx="218724" cy="218724"/>
          </a:xfrm>
          <a:prstGeom prst="rect">
            <a:avLst/>
          </a:prstGeom>
        </p:spPr>
      </p:pic>
      <p:sp>
        <p:nvSpPr>
          <p:cNvPr id="21" name="TextBox 20"/>
          <p:cNvSpPr txBox="1"/>
          <p:nvPr/>
        </p:nvSpPr>
        <p:spPr>
          <a:xfrm>
            <a:off x="1325880" y="5020056"/>
            <a:ext cx="3154680" cy="274320"/>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One shared goal</a:t>
            </a:r>
          </a:p>
        </p:txBody>
      </p:sp>
      <p:sp>
        <p:nvSpPr>
          <p:cNvPr id="22" name="TextBox 21"/>
          <p:cNvSpPr txBox="1"/>
          <p:nvPr/>
        </p:nvSpPr>
        <p:spPr>
          <a:xfrm>
            <a:off x="1325880" y="5294376"/>
            <a:ext cx="3154680" cy="347472"/>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Every piece comes back to a single answer.</a:t>
            </a:r>
          </a:p>
        </p:txBody>
      </p:sp>
      <p:cxnSp>
        <p:nvCxnSpPr>
          <p:cNvPr id="23" name="Connector 22"/>
          <p:cNvCxnSpPr/>
          <p:nvPr/>
        </p:nvCxnSpPr>
        <p:spPr>
          <a:xfrm flipV="1">
            <a:off x="6583680" y="2478024"/>
            <a:ext cx="1874520" cy="1431035"/>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458200" y="2194560"/>
            <a:ext cx="315468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549640" y="226771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search-FFFFFF.png"/>
          <p:cNvPicPr>
            <a:picLocks noChangeAspect="1"/>
          </p:cNvPicPr>
          <p:nvPr/>
        </p:nvPicPr>
        <p:blipFill>
          <a:blip r:embed="rId5"/>
          <a:stretch>
            <a:fillRect/>
          </a:stretch>
        </p:blipFill>
        <p:spPr>
          <a:xfrm>
            <a:off x="8650589" y="2368661"/>
            <a:ext cx="218724" cy="218724"/>
          </a:xfrm>
          <a:prstGeom prst="rect">
            <a:avLst/>
          </a:prstGeom>
        </p:spPr>
      </p:pic>
      <p:sp>
        <p:nvSpPr>
          <p:cNvPr id="27" name="TextBox 26"/>
          <p:cNvSpPr txBox="1"/>
          <p:nvPr/>
        </p:nvSpPr>
        <p:spPr>
          <a:xfrm>
            <a:off x="9070848" y="2249424"/>
            <a:ext cx="914400" cy="457200"/>
          </a:xfrm>
          <a:prstGeom prst="rect">
            <a:avLst/>
          </a:prstGeom>
          <a:noFill/>
        </p:spPr>
        <p:txBody>
          <a:bodyPr wrap="square" lIns="36576" rIns="36576" tIns="18288" bIns="18288" anchor="ctr">
            <a:spAutoFit/>
          </a:bodyPr>
          <a:lstStyle/>
          <a:p>
            <a:pPr algn="l">
              <a:lnSpc>
                <a:spcPct val="112000"/>
              </a:lnSpc>
            </a:pPr>
            <a:r>
              <a:rPr sz="1400" b="1" i="0">
                <a:solidFill>
                  <a:srgbClr val="FFFFFF"/>
                </a:solidFill>
                <a:latin typeface="Cambria"/>
              </a:rPr>
              <a:t>Rafi</a:t>
            </a:r>
          </a:p>
        </p:txBody>
      </p:sp>
      <p:sp>
        <p:nvSpPr>
          <p:cNvPr id="28" name="TextBox 27"/>
          <p:cNvSpPr txBox="1"/>
          <p:nvPr/>
        </p:nvSpPr>
        <p:spPr>
          <a:xfrm>
            <a:off x="9921240" y="2249424"/>
            <a:ext cx="1645920" cy="457200"/>
          </a:xfrm>
          <a:prstGeom prst="rect">
            <a:avLst/>
          </a:prstGeom>
          <a:noFill/>
        </p:spPr>
        <p:txBody>
          <a:bodyPr wrap="square" lIns="36576" rIns="36576" tIns="18288" bIns="18288" anchor="ctr">
            <a:spAutoFit/>
          </a:bodyPr>
          <a:lstStyle/>
          <a:p>
            <a:pPr algn="l">
              <a:lnSpc>
                <a:spcPct val="112000"/>
              </a:lnSpc>
            </a:pPr>
            <a:r>
              <a:rPr sz="1150" b="0" i="0">
                <a:solidFill>
                  <a:srgbClr val="C9C4B9"/>
                </a:solidFill>
                <a:latin typeface="Calibri"/>
              </a:rPr>
              <a:t>market research</a:t>
            </a:r>
          </a:p>
        </p:txBody>
      </p:sp>
      <p:cxnSp>
        <p:nvCxnSpPr>
          <p:cNvPr id="29" name="Connector 28"/>
          <p:cNvCxnSpPr/>
          <p:nvPr/>
        </p:nvCxnSpPr>
        <p:spPr>
          <a:xfrm flipV="1">
            <a:off x="6583680" y="3209544"/>
            <a:ext cx="1874520" cy="699515"/>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458200" y="2926080"/>
            <a:ext cx="315468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8549640" y="299923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inkedin-FFFFFF.png"/>
          <p:cNvPicPr>
            <a:picLocks noChangeAspect="1"/>
          </p:cNvPicPr>
          <p:nvPr/>
        </p:nvPicPr>
        <p:blipFill>
          <a:blip r:embed="rId6"/>
          <a:stretch>
            <a:fillRect/>
          </a:stretch>
        </p:blipFill>
        <p:spPr>
          <a:xfrm>
            <a:off x="8650589" y="3100181"/>
            <a:ext cx="218724" cy="218724"/>
          </a:xfrm>
          <a:prstGeom prst="rect">
            <a:avLst/>
          </a:prstGeom>
        </p:spPr>
      </p:pic>
      <p:sp>
        <p:nvSpPr>
          <p:cNvPr id="33" name="TextBox 32"/>
          <p:cNvSpPr txBox="1"/>
          <p:nvPr/>
        </p:nvSpPr>
        <p:spPr>
          <a:xfrm>
            <a:off x="9070848" y="2980944"/>
            <a:ext cx="914400" cy="457200"/>
          </a:xfrm>
          <a:prstGeom prst="rect">
            <a:avLst/>
          </a:prstGeom>
          <a:noFill/>
        </p:spPr>
        <p:txBody>
          <a:bodyPr wrap="square" lIns="36576" rIns="36576" tIns="18288" bIns="18288" anchor="ctr">
            <a:spAutoFit/>
          </a:bodyPr>
          <a:lstStyle/>
          <a:p>
            <a:pPr algn="l">
              <a:lnSpc>
                <a:spcPct val="112000"/>
              </a:lnSpc>
            </a:pPr>
            <a:r>
              <a:rPr sz="1400" b="1" i="0">
                <a:solidFill>
                  <a:srgbClr val="FFFFFF"/>
                </a:solidFill>
                <a:latin typeface="Cambria"/>
              </a:rPr>
              <a:t>Lin</a:t>
            </a:r>
          </a:p>
        </p:txBody>
      </p:sp>
      <p:sp>
        <p:nvSpPr>
          <p:cNvPr id="34" name="TextBox 33"/>
          <p:cNvSpPr txBox="1"/>
          <p:nvPr/>
        </p:nvSpPr>
        <p:spPr>
          <a:xfrm>
            <a:off x="9921240" y="2980944"/>
            <a:ext cx="1645920" cy="457200"/>
          </a:xfrm>
          <a:prstGeom prst="rect">
            <a:avLst/>
          </a:prstGeom>
          <a:noFill/>
        </p:spPr>
        <p:txBody>
          <a:bodyPr wrap="square" lIns="36576" rIns="36576" tIns="18288" bIns="18288" anchor="ctr">
            <a:spAutoFit/>
          </a:bodyPr>
          <a:lstStyle/>
          <a:p>
            <a:pPr algn="l">
              <a:lnSpc>
                <a:spcPct val="112000"/>
              </a:lnSpc>
            </a:pPr>
            <a:r>
              <a:rPr sz="1150" b="0" i="0">
                <a:solidFill>
                  <a:srgbClr val="C9C4B9"/>
                </a:solidFill>
                <a:latin typeface="Calibri"/>
              </a:rPr>
              <a:t>LinkedIn post</a:t>
            </a:r>
          </a:p>
        </p:txBody>
      </p:sp>
      <p:cxnSp>
        <p:nvCxnSpPr>
          <p:cNvPr id="35" name="Connector 34"/>
          <p:cNvCxnSpPr/>
          <p:nvPr/>
        </p:nvCxnSpPr>
        <p:spPr>
          <a:xfrm>
            <a:off x="6583680" y="3909059"/>
            <a:ext cx="1874520" cy="32004"/>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458200" y="3657600"/>
            <a:ext cx="315468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549640" y="373075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users-FFFFFF.png"/>
          <p:cNvPicPr>
            <a:picLocks noChangeAspect="1"/>
          </p:cNvPicPr>
          <p:nvPr/>
        </p:nvPicPr>
        <p:blipFill>
          <a:blip r:embed="rId3"/>
          <a:stretch>
            <a:fillRect/>
          </a:stretch>
        </p:blipFill>
        <p:spPr>
          <a:xfrm>
            <a:off x="8650589" y="3831701"/>
            <a:ext cx="218724" cy="218724"/>
          </a:xfrm>
          <a:prstGeom prst="rect">
            <a:avLst/>
          </a:prstGeom>
        </p:spPr>
      </p:pic>
      <p:sp>
        <p:nvSpPr>
          <p:cNvPr id="39" name="TextBox 38"/>
          <p:cNvSpPr txBox="1"/>
          <p:nvPr/>
        </p:nvSpPr>
        <p:spPr>
          <a:xfrm>
            <a:off x="9070848" y="3712463"/>
            <a:ext cx="914400" cy="457200"/>
          </a:xfrm>
          <a:prstGeom prst="rect">
            <a:avLst/>
          </a:prstGeom>
          <a:noFill/>
        </p:spPr>
        <p:txBody>
          <a:bodyPr wrap="square" lIns="36576" rIns="36576" tIns="18288" bIns="18288" anchor="ctr">
            <a:spAutoFit/>
          </a:bodyPr>
          <a:lstStyle/>
          <a:p>
            <a:pPr algn="l">
              <a:lnSpc>
                <a:spcPct val="112000"/>
              </a:lnSpc>
            </a:pPr>
            <a:r>
              <a:rPr sz="1400" b="1" i="0">
                <a:solidFill>
                  <a:srgbClr val="FFFFFF"/>
                </a:solidFill>
                <a:latin typeface="Cambria"/>
              </a:rPr>
              <a:t>Farah</a:t>
            </a:r>
          </a:p>
        </p:txBody>
      </p:sp>
      <p:sp>
        <p:nvSpPr>
          <p:cNvPr id="40" name="TextBox 39"/>
          <p:cNvSpPr txBox="1"/>
          <p:nvPr/>
        </p:nvSpPr>
        <p:spPr>
          <a:xfrm>
            <a:off x="9921240" y="3712463"/>
            <a:ext cx="1645920" cy="457200"/>
          </a:xfrm>
          <a:prstGeom prst="rect">
            <a:avLst/>
          </a:prstGeom>
          <a:noFill/>
        </p:spPr>
        <p:txBody>
          <a:bodyPr wrap="square" lIns="36576" rIns="36576" tIns="18288" bIns="18288" anchor="ctr">
            <a:spAutoFit/>
          </a:bodyPr>
          <a:lstStyle/>
          <a:p>
            <a:pPr algn="l">
              <a:lnSpc>
                <a:spcPct val="112000"/>
              </a:lnSpc>
            </a:pPr>
            <a:r>
              <a:rPr sz="1150" b="0" i="0">
                <a:solidFill>
                  <a:srgbClr val="C9C4B9"/>
                </a:solidFill>
                <a:latin typeface="Calibri"/>
              </a:rPr>
              <a:t>Facebook post</a:t>
            </a:r>
          </a:p>
        </p:txBody>
      </p:sp>
      <p:cxnSp>
        <p:nvCxnSpPr>
          <p:cNvPr id="41" name="Connector 40"/>
          <p:cNvCxnSpPr/>
          <p:nvPr/>
        </p:nvCxnSpPr>
        <p:spPr>
          <a:xfrm>
            <a:off x="6583680" y="3909059"/>
            <a:ext cx="1874520" cy="763525"/>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458200" y="4389120"/>
            <a:ext cx="315468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8549640" y="446227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image-FFFFFF.png"/>
          <p:cNvPicPr>
            <a:picLocks noChangeAspect="1"/>
          </p:cNvPicPr>
          <p:nvPr/>
        </p:nvPicPr>
        <p:blipFill>
          <a:blip r:embed="rId7"/>
          <a:stretch>
            <a:fillRect/>
          </a:stretch>
        </p:blipFill>
        <p:spPr>
          <a:xfrm>
            <a:off x="8650589" y="4563221"/>
            <a:ext cx="218724" cy="218724"/>
          </a:xfrm>
          <a:prstGeom prst="rect">
            <a:avLst/>
          </a:prstGeom>
        </p:spPr>
      </p:pic>
      <p:sp>
        <p:nvSpPr>
          <p:cNvPr id="45" name="TextBox 44"/>
          <p:cNvSpPr txBox="1"/>
          <p:nvPr/>
        </p:nvSpPr>
        <p:spPr>
          <a:xfrm>
            <a:off x="9070848" y="4443984"/>
            <a:ext cx="914400" cy="457200"/>
          </a:xfrm>
          <a:prstGeom prst="rect">
            <a:avLst/>
          </a:prstGeom>
          <a:noFill/>
        </p:spPr>
        <p:txBody>
          <a:bodyPr wrap="square" lIns="36576" rIns="36576" tIns="18288" bIns="18288" anchor="ctr">
            <a:spAutoFit/>
          </a:bodyPr>
          <a:lstStyle/>
          <a:p>
            <a:pPr algn="l">
              <a:lnSpc>
                <a:spcPct val="112000"/>
              </a:lnSpc>
            </a:pPr>
            <a:r>
              <a:rPr sz="1400" b="1" i="0">
                <a:solidFill>
                  <a:srgbClr val="FFFFFF"/>
                </a:solidFill>
                <a:latin typeface="Cambria"/>
              </a:rPr>
              <a:t>Ivy</a:t>
            </a:r>
          </a:p>
        </p:txBody>
      </p:sp>
      <p:sp>
        <p:nvSpPr>
          <p:cNvPr id="46" name="TextBox 45"/>
          <p:cNvSpPr txBox="1"/>
          <p:nvPr/>
        </p:nvSpPr>
        <p:spPr>
          <a:xfrm>
            <a:off x="9921240" y="4443984"/>
            <a:ext cx="1645920" cy="457200"/>
          </a:xfrm>
          <a:prstGeom prst="rect">
            <a:avLst/>
          </a:prstGeom>
          <a:noFill/>
        </p:spPr>
        <p:txBody>
          <a:bodyPr wrap="square" lIns="36576" rIns="36576" tIns="18288" bIns="18288" anchor="ctr">
            <a:spAutoFit/>
          </a:bodyPr>
          <a:lstStyle/>
          <a:p>
            <a:pPr algn="l">
              <a:lnSpc>
                <a:spcPct val="112000"/>
              </a:lnSpc>
            </a:pPr>
            <a:r>
              <a:rPr sz="1150" b="0" i="0">
                <a:solidFill>
                  <a:srgbClr val="C9C4B9"/>
                </a:solidFill>
                <a:latin typeface="Calibri"/>
              </a:rPr>
              <a:t>Instagram post</a:t>
            </a:r>
          </a:p>
        </p:txBody>
      </p:sp>
      <p:cxnSp>
        <p:nvCxnSpPr>
          <p:cNvPr id="47" name="Connector 46"/>
          <p:cNvCxnSpPr/>
          <p:nvPr/>
        </p:nvCxnSpPr>
        <p:spPr>
          <a:xfrm>
            <a:off x="6583680" y="3909059"/>
            <a:ext cx="1874520" cy="1495044"/>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458200" y="5120640"/>
            <a:ext cx="315468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8549640" y="519379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camera-FFFFFF.png"/>
          <p:cNvPicPr>
            <a:picLocks noChangeAspect="1"/>
          </p:cNvPicPr>
          <p:nvPr/>
        </p:nvPicPr>
        <p:blipFill>
          <a:blip r:embed="rId8"/>
          <a:stretch>
            <a:fillRect/>
          </a:stretch>
        </p:blipFill>
        <p:spPr>
          <a:xfrm>
            <a:off x="8650589" y="5294741"/>
            <a:ext cx="218724" cy="218724"/>
          </a:xfrm>
          <a:prstGeom prst="rect">
            <a:avLst/>
          </a:prstGeom>
        </p:spPr>
      </p:pic>
      <p:sp>
        <p:nvSpPr>
          <p:cNvPr id="51" name="TextBox 50"/>
          <p:cNvSpPr txBox="1"/>
          <p:nvPr/>
        </p:nvSpPr>
        <p:spPr>
          <a:xfrm>
            <a:off x="9070848" y="5175503"/>
            <a:ext cx="914400" cy="457200"/>
          </a:xfrm>
          <a:prstGeom prst="rect">
            <a:avLst/>
          </a:prstGeom>
          <a:noFill/>
        </p:spPr>
        <p:txBody>
          <a:bodyPr wrap="square" lIns="36576" rIns="36576" tIns="18288" bIns="18288" anchor="ctr">
            <a:spAutoFit/>
          </a:bodyPr>
          <a:lstStyle/>
          <a:p>
            <a:pPr algn="l">
              <a:lnSpc>
                <a:spcPct val="112000"/>
              </a:lnSpc>
            </a:pPr>
            <a:r>
              <a:rPr sz="1400" b="1" i="0">
                <a:solidFill>
                  <a:srgbClr val="FFFFFF"/>
                </a:solidFill>
                <a:latin typeface="Cambria"/>
              </a:rPr>
              <a:t>Pixel</a:t>
            </a:r>
          </a:p>
        </p:txBody>
      </p:sp>
      <p:sp>
        <p:nvSpPr>
          <p:cNvPr id="52" name="TextBox 51"/>
          <p:cNvSpPr txBox="1"/>
          <p:nvPr/>
        </p:nvSpPr>
        <p:spPr>
          <a:xfrm>
            <a:off x="9921240" y="5175503"/>
            <a:ext cx="1645920" cy="457200"/>
          </a:xfrm>
          <a:prstGeom prst="rect">
            <a:avLst/>
          </a:prstGeom>
          <a:noFill/>
        </p:spPr>
        <p:txBody>
          <a:bodyPr wrap="square" lIns="36576" rIns="36576" tIns="18288" bIns="18288" anchor="ctr">
            <a:spAutoFit/>
          </a:bodyPr>
          <a:lstStyle/>
          <a:p>
            <a:pPr algn="l">
              <a:lnSpc>
                <a:spcPct val="112000"/>
              </a:lnSpc>
            </a:pPr>
            <a:r>
              <a:rPr sz="1150" b="0" i="0">
                <a:solidFill>
                  <a:srgbClr val="C9C4B9"/>
                </a:solidFill>
                <a:latin typeface="Calibri"/>
              </a:rPr>
              <a:t>post images</a:t>
            </a:r>
          </a:p>
        </p:txBody>
      </p:sp>
      <p:sp>
        <p:nvSpPr>
          <p:cNvPr id="53" name="Oval 52"/>
          <p:cNvSpPr/>
          <p:nvPr/>
        </p:nvSpPr>
        <p:spPr>
          <a:xfrm>
            <a:off x="5257800" y="3246120"/>
            <a:ext cx="1325880" cy="13258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user-FFFFFF.png"/>
          <p:cNvPicPr>
            <a:picLocks noChangeAspect="1"/>
          </p:cNvPicPr>
          <p:nvPr/>
        </p:nvPicPr>
        <p:blipFill>
          <a:blip r:embed="rId9"/>
          <a:stretch>
            <a:fillRect/>
          </a:stretch>
        </p:blipFill>
        <p:spPr>
          <a:xfrm>
            <a:off x="5576011" y="3564331"/>
            <a:ext cx="689457" cy="689457"/>
          </a:xfrm>
          <a:prstGeom prst="rect">
            <a:avLst/>
          </a:prstGeom>
        </p:spPr>
      </p:pic>
      <p:sp>
        <p:nvSpPr>
          <p:cNvPr id="55" name="TextBox 54"/>
          <p:cNvSpPr txBox="1"/>
          <p:nvPr/>
        </p:nvSpPr>
        <p:spPr>
          <a:xfrm>
            <a:off x="4846320" y="4663440"/>
            <a:ext cx="2148840" cy="274320"/>
          </a:xfrm>
          <a:prstGeom prst="rect">
            <a:avLst/>
          </a:prstGeom>
          <a:noFill/>
        </p:spPr>
        <p:txBody>
          <a:bodyPr wrap="square" lIns="36576" rIns="36576" tIns="18288" bIns="18288" anchor="t">
            <a:spAutoFit/>
          </a:bodyPr>
          <a:lstStyle/>
          <a:p>
            <a:pPr algn="ctr">
              <a:lnSpc>
                <a:spcPct val="112000"/>
              </a:lnSpc>
            </a:pPr>
            <a:r>
              <a:rPr sz="1300" b="1" i="0">
                <a:solidFill>
                  <a:srgbClr val="FFFFFF"/>
                </a:solidFill>
                <a:latin typeface="Cambria"/>
              </a:rPr>
              <a:t>Coordinator (hub)</a:t>
            </a:r>
          </a:p>
        </p:txBody>
      </p:sp>
      <p:sp>
        <p:nvSpPr>
          <p:cNvPr id="56" name="TextBox 55"/>
          <p:cNvSpPr txBox="1"/>
          <p:nvPr/>
        </p:nvSpPr>
        <p:spPr>
          <a:xfrm>
            <a:off x="4846320" y="4956048"/>
            <a:ext cx="2148840" cy="274320"/>
          </a:xfrm>
          <a:prstGeom prst="rect">
            <a:avLst/>
          </a:prstGeom>
          <a:noFill/>
        </p:spPr>
        <p:txBody>
          <a:bodyPr wrap="square" lIns="36576" rIns="36576" tIns="18288" bIns="18288" anchor="t">
            <a:spAutoFit/>
          </a:bodyPr>
          <a:lstStyle/>
          <a:p>
            <a:pPr algn="ctr">
              <a:lnSpc>
                <a:spcPct val="112000"/>
              </a:lnSpc>
            </a:pPr>
            <a:r>
              <a:rPr sz="1100" b="1" i="0">
                <a:solidFill>
                  <a:srgbClr val="D97757"/>
                </a:solidFill>
                <a:latin typeface="Calibri"/>
              </a:rPr>
              <a:t>Activity 4: you</a:t>
            </a:r>
          </a:p>
        </p:txBody>
      </p:sp>
      <p:sp>
        <p:nvSpPr>
          <p:cNvPr id="57" name="TextBox 56"/>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SAME SHAPE  </a:t>
            </a:r>
            <a:r>
              <a:rPr sz="1300" b="0" i="0">
                <a:solidFill>
                  <a:srgbClr val="C9C4B9"/>
                </a:solidFill>
                <a:latin typeface="Calibri"/>
              </a:rPr>
              <a:t>Activity 5 has the same shape: Mia is the hub; the researcher, scriptwriter, voice-over, producer and reviewer are the spokes.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WORK TOGETHER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Out to the Spokes, Back to the Hub</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Every request makes the same five-step round trip. Here it is with your Activity 5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ectangle 7"/>
          <p:cNvSpPr/>
          <p:nvPr/>
        </p:nvSpPr>
        <p:spPr>
          <a:xfrm>
            <a:off x="548640" y="2176272"/>
            <a:ext cx="6583679"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267712"/>
            <a:ext cx="6583679" cy="274320"/>
          </a:xfrm>
          <a:prstGeom prst="rect">
            <a:avLst/>
          </a:prstGeom>
          <a:noFill/>
        </p:spPr>
        <p:txBody>
          <a:bodyPr wrap="square" lIns="36576" rIns="36576" tIns="18288" bIns="18288" anchor="t">
            <a:spAutoFit/>
          </a:bodyPr>
          <a:lstStyle/>
          <a:p>
            <a:pPr algn="ctr">
              <a:lnSpc>
                <a:spcPct val="112000"/>
              </a:lnSpc>
            </a:pPr>
            <a:r>
              <a:rPr sz="1100" b="1" i="0">
                <a:solidFill>
                  <a:srgbClr val="D97757"/>
                </a:solidFill>
                <a:latin typeface="Calibri"/>
              </a:rPr>
              <a:t>OUT TO THE SPOKES  →</a:t>
            </a:r>
          </a:p>
        </p:txBody>
      </p:sp>
      <p:sp>
        <p:nvSpPr>
          <p:cNvPr id="10" name="Rectangle 9"/>
          <p:cNvSpPr/>
          <p:nvPr/>
        </p:nvSpPr>
        <p:spPr>
          <a:xfrm>
            <a:off x="7269479" y="2176272"/>
            <a:ext cx="4343400" cy="54864"/>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269479" y="2267712"/>
            <a:ext cx="4343400" cy="274320"/>
          </a:xfrm>
          <a:prstGeom prst="rect">
            <a:avLst/>
          </a:prstGeom>
          <a:noFill/>
        </p:spPr>
        <p:txBody>
          <a:bodyPr wrap="square" lIns="36576" rIns="36576" tIns="18288" bIns="18288" anchor="t">
            <a:spAutoFit/>
          </a:bodyPr>
          <a:lstStyle/>
          <a:p>
            <a:pPr algn="ctr">
              <a:lnSpc>
                <a:spcPct val="112000"/>
              </a:lnSpc>
            </a:pPr>
            <a:r>
              <a:rPr sz="1100" b="1" i="0">
                <a:solidFill>
                  <a:srgbClr val="3A7D7B"/>
                </a:solidFill>
                <a:latin typeface="Calibri"/>
              </a:rPr>
              <a:t>←  BACK TO THE HUB</a:t>
            </a:r>
          </a:p>
        </p:txBody>
      </p:sp>
      <p:sp>
        <p:nvSpPr>
          <p:cNvPr id="12" name="Oval 11"/>
          <p:cNvSpPr/>
          <p:nvPr/>
        </p:nvSpPr>
        <p:spPr>
          <a:xfrm>
            <a:off x="1216152" y="269748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at-FFFFFF.png"/>
          <p:cNvPicPr>
            <a:picLocks noChangeAspect="1"/>
          </p:cNvPicPr>
          <p:nvPr/>
        </p:nvPicPr>
        <p:blipFill>
          <a:blip r:embed="rId2"/>
          <a:stretch>
            <a:fillRect/>
          </a:stretch>
        </p:blipFill>
        <p:spPr>
          <a:xfrm>
            <a:off x="1400495" y="2881823"/>
            <a:ext cx="399409" cy="399409"/>
          </a:xfrm>
          <a:prstGeom prst="rect">
            <a:avLst/>
          </a:prstGeom>
        </p:spPr>
      </p:pic>
      <p:cxnSp>
        <p:nvCxnSpPr>
          <p:cNvPr id="14" name="Connector 13"/>
          <p:cNvCxnSpPr/>
          <p:nvPr/>
        </p:nvCxnSpPr>
        <p:spPr>
          <a:xfrm>
            <a:off x="2057400" y="3081528"/>
            <a:ext cx="1325880" cy="0"/>
          </a:xfrm>
          <a:prstGeom prst="line">
            <a:avLst/>
          </a:prstGeom>
          <a:ln w="22225">
            <a:solidFill>
              <a:srgbClr val="C9C4B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3566160"/>
            <a:ext cx="2103120" cy="347472"/>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01 · Request in</a:t>
            </a:r>
          </a:p>
        </p:txBody>
      </p:sp>
      <p:sp>
        <p:nvSpPr>
          <p:cNvPr id="16" name="TextBox 15"/>
          <p:cNvSpPr txBox="1"/>
          <p:nvPr/>
        </p:nvSpPr>
        <p:spPr>
          <a:xfrm>
            <a:off x="594360" y="3931920"/>
            <a:ext cx="2011679" cy="5486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Your request reaches the coordinator.</a:t>
            </a:r>
          </a:p>
        </p:txBody>
      </p:sp>
      <p:sp>
        <p:nvSpPr>
          <p:cNvPr id="17" name="Rounded Rectangle 16"/>
          <p:cNvSpPr/>
          <p:nvPr/>
        </p:nvSpPr>
        <p:spPr>
          <a:xfrm>
            <a:off x="548640" y="4572000"/>
            <a:ext cx="2103120" cy="13258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4663440"/>
            <a:ext cx="1828799"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ACTIVITY 5</a:t>
            </a:r>
          </a:p>
        </p:txBody>
      </p:sp>
      <p:sp>
        <p:nvSpPr>
          <p:cNvPr id="19" name="TextBox 18"/>
          <p:cNvSpPr txBox="1"/>
          <p:nvPr/>
        </p:nvSpPr>
        <p:spPr>
          <a:xfrm>
            <a:off x="685800" y="4901184"/>
            <a:ext cx="1828799" cy="91440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“Make a 20-second launch video for the Gula Melaka Cold Brew.”</a:t>
            </a:r>
          </a:p>
        </p:txBody>
      </p:sp>
      <p:sp>
        <p:nvSpPr>
          <p:cNvPr id="20" name="Oval 19"/>
          <p:cNvSpPr/>
          <p:nvPr/>
        </p:nvSpPr>
        <p:spPr>
          <a:xfrm>
            <a:off x="3456431" y="269748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yers-FFFFFF.png"/>
          <p:cNvPicPr>
            <a:picLocks noChangeAspect="1"/>
          </p:cNvPicPr>
          <p:nvPr/>
        </p:nvPicPr>
        <p:blipFill>
          <a:blip r:embed="rId3"/>
          <a:stretch>
            <a:fillRect/>
          </a:stretch>
        </p:blipFill>
        <p:spPr>
          <a:xfrm>
            <a:off x="3640775" y="2881823"/>
            <a:ext cx="399409" cy="399409"/>
          </a:xfrm>
          <a:prstGeom prst="rect">
            <a:avLst/>
          </a:prstGeom>
        </p:spPr>
      </p:pic>
      <p:cxnSp>
        <p:nvCxnSpPr>
          <p:cNvPr id="22" name="Connector 21"/>
          <p:cNvCxnSpPr/>
          <p:nvPr/>
        </p:nvCxnSpPr>
        <p:spPr>
          <a:xfrm>
            <a:off x="4297679" y="3081528"/>
            <a:ext cx="1325880" cy="0"/>
          </a:xfrm>
          <a:prstGeom prst="line">
            <a:avLst/>
          </a:prstGeom>
          <a:ln w="22225">
            <a:solidFill>
              <a:srgbClr val="C9C4B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788920" y="3566160"/>
            <a:ext cx="2103120" cy="347472"/>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02 · Split</a:t>
            </a:r>
          </a:p>
        </p:txBody>
      </p:sp>
      <p:sp>
        <p:nvSpPr>
          <p:cNvPr id="24" name="TextBox 23"/>
          <p:cNvSpPr txBox="1"/>
          <p:nvPr/>
        </p:nvSpPr>
        <p:spPr>
          <a:xfrm>
            <a:off x="2834639" y="3931920"/>
            <a:ext cx="2011679" cy="5486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The coordinator breaks it into tasks.</a:t>
            </a:r>
          </a:p>
        </p:txBody>
      </p:sp>
      <p:sp>
        <p:nvSpPr>
          <p:cNvPr id="25" name="Rounded Rectangle 24"/>
          <p:cNvSpPr/>
          <p:nvPr/>
        </p:nvSpPr>
        <p:spPr>
          <a:xfrm>
            <a:off x="2788920" y="4572000"/>
            <a:ext cx="2103120" cy="13258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926079" y="4663440"/>
            <a:ext cx="1828799"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ACTIVITY 5</a:t>
            </a:r>
          </a:p>
        </p:txBody>
      </p:sp>
      <p:sp>
        <p:nvSpPr>
          <p:cNvPr id="27" name="TextBox 26"/>
          <p:cNvSpPr txBox="1"/>
          <p:nvPr/>
        </p:nvSpPr>
        <p:spPr>
          <a:xfrm>
            <a:off x="2926079" y="4901184"/>
            <a:ext cx="1828799" cy="91440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Mia creates seven cards on the kopi-video board.</a:t>
            </a:r>
          </a:p>
        </p:txBody>
      </p:sp>
      <p:sp>
        <p:nvSpPr>
          <p:cNvPr id="28" name="Oval 27"/>
          <p:cNvSpPr/>
          <p:nvPr/>
        </p:nvSpPr>
        <p:spPr>
          <a:xfrm>
            <a:off x="5696711" y="2697480"/>
            <a:ext cx="768096" cy="768096"/>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4"/>
          <a:stretch>
            <a:fillRect/>
          </a:stretch>
        </p:blipFill>
        <p:spPr>
          <a:xfrm>
            <a:off x="5881055" y="2881823"/>
            <a:ext cx="399409" cy="399409"/>
          </a:xfrm>
          <a:prstGeom prst="rect">
            <a:avLst/>
          </a:prstGeom>
        </p:spPr>
      </p:pic>
      <p:cxnSp>
        <p:nvCxnSpPr>
          <p:cNvPr id="30" name="Connector 29"/>
          <p:cNvCxnSpPr/>
          <p:nvPr/>
        </p:nvCxnSpPr>
        <p:spPr>
          <a:xfrm>
            <a:off x="6537959" y="3081528"/>
            <a:ext cx="1325881" cy="0"/>
          </a:xfrm>
          <a:prstGeom prst="line">
            <a:avLst/>
          </a:prstGeom>
          <a:ln w="22225">
            <a:solidFill>
              <a:srgbClr val="C9C4B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199" y="3566160"/>
            <a:ext cx="2103120" cy="347472"/>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03 · Fan out</a:t>
            </a:r>
          </a:p>
        </p:txBody>
      </p:sp>
      <p:sp>
        <p:nvSpPr>
          <p:cNvPr id="32" name="TextBox 31"/>
          <p:cNvSpPr txBox="1"/>
          <p:nvPr/>
        </p:nvSpPr>
        <p:spPr>
          <a:xfrm>
            <a:off x="5074919" y="3931920"/>
            <a:ext cx="2011679" cy="5486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Each task goes to a specialist.</a:t>
            </a:r>
          </a:p>
        </p:txBody>
      </p:sp>
      <p:sp>
        <p:nvSpPr>
          <p:cNvPr id="33" name="Rounded Rectangle 32"/>
          <p:cNvSpPr/>
          <p:nvPr/>
        </p:nvSpPr>
        <p:spPr>
          <a:xfrm>
            <a:off x="5029199" y="4572000"/>
            <a:ext cx="2103120" cy="13258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166359" y="4663440"/>
            <a:ext cx="1828799"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ACTIVITY 5</a:t>
            </a:r>
          </a:p>
        </p:txBody>
      </p:sp>
      <p:sp>
        <p:nvSpPr>
          <p:cNvPr id="35" name="TextBox 34"/>
          <p:cNvSpPr txBox="1"/>
          <p:nvPr/>
        </p:nvSpPr>
        <p:spPr>
          <a:xfrm>
            <a:off x="5166359" y="4901184"/>
            <a:ext cx="1828799" cy="91440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Researcher, scriptwriter, voice-over, producer, reviewer.</a:t>
            </a:r>
          </a:p>
        </p:txBody>
      </p:sp>
      <p:sp>
        <p:nvSpPr>
          <p:cNvPr id="36" name="Oval 35"/>
          <p:cNvSpPr/>
          <p:nvPr/>
        </p:nvSpPr>
        <p:spPr>
          <a:xfrm>
            <a:off x="7936992" y="2697480"/>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5"/>
          <a:stretch>
            <a:fillRect/>
          </a:stretch>
        </p:blipFill>
        <p:spPr>
          <a:xfrm>
            <a:off x="8121335" y="2881823"/>
            <a:ext cx="399409" cy="399409"/>
          </a:xfrm>
          <a:prstGeom prst="rect">
            <a:avLst/>
          </a:prstGeom>
        </p:spPr>
      </p:pic>
      <p:cxnSp>
        <p:nvCxnSpPr>
          <p:cNvPr id="38" name="Connector 37"/>
          <p:cNvCxnSpPr/>
          <p:nvPr/>
        </p:nvCxnSpPr>
        <p:spPr>
          <a:xfrm>
            <a:off x="8778240" y="3081528"/>
            <a:ext cx="1325879" cy="0"/>
          </a:xfrm>
          <a:prstGeom prst="line">
            <a:avLst/>
          </a:prstGeom>
          <a:ln w="22225">
            <a:solidFill>
              <a:srgbClr val="C9C4B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269479" y="3566160"/>
            <a:ext cx="2103120" cy="347472"/>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04 · Results back</a:t>
            </a:r>
          </a:p>
        </p:txBody>
      </p:sp>
      <p:sp>
        <p:nvSpPr>
          <p:cNvPr id="40" name="TextBox 39"/>
          <p:cNvSpPr txBox="1"/>
          <p:nvPr/>
        </p:nvSpPr>
        <p:spPr>
          <a:xfrm>
            <a:off x="7315199" y="3931920"/>
            <a:ext cx="2011679" cy="5486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Each specialist returns its output.</a:t>
            </a:r>
          </a:p>
        </p:txBody>
      </p:sp>
      <p:sp>
        <p:nvSpPr>
          <p:cNvPr id="41" name="Rounded Rectangle 40"/>
          <p:cNvSpPr/>
          <p:nvPr/>
        </p:nvSpPr>
        <p:spPr>
          <a:xfrm>
            <a:off x="7269479" y="4572000"/>
            <a:ext cx="2103120" cy="13258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406640" y="4663440"/>
            <a:ext cx="1828799" cy="228600"/>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ACTIVITY 5</a:t>
            </a:r>
          </a:p>
        </p:txBody>
      </p:sp>
      <p:sp>
        <p:nvSpPr>
          <p:cNvPr id="43" name="TextBox 42"/>
          <p:cNvSpPr txBox="1"/>
          <p:nvPr/>
        </p:nvSpPr>
        <p:spPr>
          <a:xfrm>
            <a:off x="7406640" y="4901184"/>
            <a:ext cx="1828799" cy="91440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research.md, script.md, narration, MP4, review notes.</a:t>
            </a:r>
          </a:p>
        </p:txBody>
      </p:sp>
      <p:sp>
        <p:nvSpPr>
          <p:cNvPr id="44" name="Oval 43"/>
          <p:cNvSpPr/>
          <p:nvPr/>
        </p:nvSpPr>
        <p:spPr>
          <a:xfrm>
            <a:off x="10177272" y="2697480"/>
            <a:ext cx="768096" cy="768096"/>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check-FFFFFF.png"/>
          <p:cNvPicPr>
            <a:picLocks noChangeAspect="1"/>
          </p:cNvPicPr>
          <p:nvPr/>
        </p:nvPicPr>
        <p:blipFill>
          <a:blip r:embed="rId6"/>
          <a:stretch>
            <a:fillRect/>
          </a:stretch>
        </p:blipFill>
        <p:spPr>
          <a:xfrm>
            <a:off x="10361615" y="2881823"/>
            <a:ext cx="399409" cy="399409"/>
          </a:xfrm>
          <a:prstGeom prst="rect">
            <a:avLst/>
          </a:prstGeom>
        </p:spPr>
      </p:pic>
      <p:sp>
        <p:nvSpPr>
          <p:cNvPr id="46" name="TextBox 45"/>
          <p:cNvSpPr txBox="1"/>
          <p:nvPr/>
        </p:nvSpPr>
        <p:spPr>
          <a:xfrm>
            <a:off x="9509759" y="3566160"/>
            <a:ext cx="2103120" cy="347472"/>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05 · One answer</a:t>
            </a:r>
          </a:p>
        </p:txBody>
      </p:sp>
      <p:sp>
        <p:nvSpPr>
          <p:cNvPr id="47" name="TextBox 46"/>
          <p:cNvSpPr txBox="1"/>
          <p:nvPr/>
        </p:nvSpPr>
        <p:spPr>
          <a:xfrm>
            <a:off x="9555480" y="3931920"/>
            <a:ext cx="2011679" cy="5486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The coordinator answers you once.</a:t>
            </a:r>
          </a:p>
        </p:txBody>
      </p:sp>
      <p:sp>
        <p:nvSpPr>
          <p:cNvPr id="48" name="Rounded Rectangle 47"/>
          <p:cNvSpPr/>
          <p:nvPr/>
        </p:nvSpPr>
        <p:spPr>
          <a:xfrm>
            <a:off x="9509759" y="4572000"/>
            <a:ext cx="2103120" cy="13258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646919" y="4663440"/>
            <a:ext cx="1828799" cy="228600"/>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ACTIVITY 5</a:t>
            </a:r>
          </a:p>
        </p:txBody>
      </p:sp>
      <p:sp>
        <p:nvSpPr>
          <p:cNvPr id="50" name="TextBox 49"/>
          <p:cNvSpPr txBox="1"/>
          <p:nvPr/>
        </p:nvSpPr>
        <p:spPr>
          <a:xfrm>
            <a:off x="9646919" y="4901184"/>
            <a:ext cx="1828799" cy="91440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Mia reports; nothing ships until you approve the exact video.</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TALK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Each Agent Can…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That is why a team beats one big agent: every member is set up differently. In Hermes, each bot is one member.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417319"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ool-FFFFFF.png"/>
          <p:cNvPicPr>
            <a:picLocks noChangeAspect="1"/>
          </p:cNvPicPr>
          <p:nvPr/>
        </p:nvPicPr>
        <p:blipFill>
          <a:blip r:embed="rId2"/>
          <a:stretch>
            <a:fillRect/>
          </a:stretch>
        </p:blipFill>
        <p:spPr>
          <a:xfrm>
            <a:off x="1636775" y="2779776"/>
            <a:ext cx="475488" cy="475488"/>
          </a:xfrm>
          <a:prstGeom prst="rect">
            <a:avLst/>
          </a:prstGeom>
        </p:spPr>
      </p:pic>
      <p:sp>
        <p:nvSpPr>
          <p:cNvPr id="11" name="TextBox 10"/>
          <p:cNvSpPr txBox="1"/>
          <p:nvPr/>
        </p:nvSpPr>
        <p:spPr>
          <a:xfrm>
            <a:off x="731520"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have different tools</a:t>
            </a:r>
          </a:p>
        </p:txBody>
      </p:sp>
      <p:sp>
        <p:nvSpPr>
          <p:cNvPr id="12" name="TextBox 11"/>
          <p:cNvSpPr txBox="1"/>
          <p:nvPr/>
        </p:nvSpPr>
        <p:spPr>
          <a:xfrm>
            <a:off x="777240"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Pixel has the image tool; Rafi has web search.</a:t>
            </a:r>
          </a:p>
        </p:txBody>
      </p:sp>
      <p:sp>
        <p:nvSpPr>
          <p:cNvPr id="13" name="Rounded Rectangle 12"/>
          <p:cNvSpPr/>
          <p:nvPr/>
        </p:nvSpPr>
        <p:spPr>
          <a:xfrm>
            <a:off x="3364992"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233672"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ain-FFFFFF.png"/>
          <p:cNvPicPr>
            <a:picLocks noChangeAspect="1"/>
          </p:cNvPicPr>
          <p:nvPr/>
        </p:nvPicPr>
        <p:blipFill>
          <a:blip r:embed="rId3"/>
          <a:stretch>
            <a:fillRect/>
          </a:stretch>
        </p:blipFill>
        <p:spPr>
          <a:xfrm>
            <a:off x="4453128" y="2779776"/>
            <a:ext cx="475488" cy="475488"/>
          </a:xfrm>
          <a:prstGeom prst="rect">
            <a:avLst/>
          </a:prstGeom>
        </p:spPr>
      </p:pic>
      <p:sp>
        <p:nvSpPr>
          <p:cNvPr id="16" name="TextBox 15"/>
          <p:cNvSpPr txBox="1"/>
          <p:nvPr/>
        </p:nvSpPr>
        <p:spPr>
          <a:xfrm>
            <a:off x="3547872"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access different knowledge</a:t>
            </a:r>
          </a:p>
        </p:txBody>
      </p:sp>
      <p:sp>
        <p:nvSpPr>
          <p:cNvPr id="17" name="TextBox 16"/>
          <p:cNvSpPr txBox="1"/>
          <p:nvPr/>
        </p:nvSpPr>
        <p:spPr>
          <a:xfrm>
            <a:off x="3593592"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Farah knows the pop-up dates; Lin knows the founder story.</a:t>
            </a:r>
          </a:p>
        </p:txBody>
      </p:sp>
      <p:sp>
        <p:nvSpPr>
          <p:cNvPr id="18" name="Rounded Rectangle 17"/>
          <p:cNvSpPr/>
          <p:nvPr/>
        </p:nvSpPr>
        <p:spPr>
          <a:xfrm>
            <a:off x="6181344"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050024"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ock-FFFFFF.png"/>
          <p:cNvPicPr>
            <a:picLocks noChangeAspect="1"/>
          </p:cNvPicPr>
          <p:nvPr/>
        </p:nvPicPr>
        <p:blipFill>
          <a:blip r:embed="rId4"/>
          <a:stretch>
            <a:fillRect/>
          </a:stretch>
        </p:blipFill>
        <p:spPr>
          <a:xfrm>
            <a:off x="7269480" y="2779776"/>
            <a:ext cx="475488" cy="475488"/>
          </a:xfrm>
          <a:prstGeom prst="rect">
            <a:avLst/>
          </a:prstGeom>
        </p:spPr>
      </p:pic>
      <p:sp>
        <p:nvSpPr>
          <p:cNvPr id="21" name="TextBox 20"/>
          <p:cNvSpPr txBox="1"/>
          <p:nvPr/>
        </p:nvSpPr>
        <p:spPr>
          <a:xfrm>
            <a:off x="6364224"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operate under different permissions</a:t>
            </a:r>
          </a:p>
        </p:txBody>
      </p:sp>
      <p:sp>
        <p:nvSpPr>
          <p:cNvPr id="22" name="TextBox 21"/>
          <p:cNvSpPr txBox="1"/>
          <p:nvPr/>
        </p:nvSpPr>
        <p:spPr>
          <a:xfrm>
            <a:off x="6409944"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reviewer can read but not render; nobody can post — only you approve.</a:t>
            </a:r>
          </a:p>
        </p:txBody>
      </p:sp>
      <p:sp>
        <p:nvSpPr>
          <p:cNvPr id="23" name="Rounded Rectangle 22"/>
          <p:cNvSpPr/>
          <p:nvPr/>
        </p:nvSpPr>
        <p:spPr>
          <a:xfrm>
            <a:off x="8997696" y="2286000"/>
            <a:ext cx="2651760" cy="3520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866376" y="2560320"/>
            <a:ext cx="914400" cy="914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s-FFFFFF.png"/>
          <p:cNvPicPr>
            <a:picLocks noChangeAspect="1"/>
          </p:cNvPicPr>
          <p:nvPr/>
        </p:nvPicPr>
        <p:blipFill>
          <a:blip r:embed="rId5"/>
          <a:stretch>
            <a:fillRect/>
          </a:stretch>
        </p:blipFill>
        <p:spPr>
          <a:xfrm>
            <a:off x="10085832" y="2779776"/>
            <a:ext cx="475488" cy="475488"/>
          </a:xfrm>
          <a:prstGeom prst="rect">
            <a:avLst/>
          </a:prstGeom>
        </p:spPr>
      </p:pic>
      <p:sp>
        <p:nvSpPr>
          <p:cNvPr id="26" name="TextBox 25"/>
          <p:cNvSpPr txBox="1"/>
          <p:nvPr/>
        </p:nvSpPr>
        <p:spPr>
          <a:xfrm>
            <a:off x="9180576" y="3657600"/>
            <a:ext cx="2286000" cy="73152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perform distinct roles</a:t>
            </a:r>
          </a:p>
        </p:txBody>
      </p:sp>
      <p:sp>
        <p:nvSpPr>
          <p:cNvPr id="27" name="TextBox 26"/>
          <p:cNvSpPr txBox="1"/>
          <p:nvPr/>
        </p:nvSpPr>
        <p:spPr>
          <a:xfrm>
            <a:off x="9226296" y="4480560"/>
            <a:ext cx="2194560" cy="123444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At Kopi Kaki: each SOUL.md says what the role owns and must never do.</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HOW AGENTS TALK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“My order arrived damaged. I need a replacement.”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One customer message, four agents, one outcome. Each hands a structured message to the next.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325880"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556308" y="2790748"/>
            <a:ext cx="499262" cy="499262"/>
          </a:xfrm>
          <a:prstGeom prst="rect">
            <a:avLst/>
          </a:prstGeom>
        </p:spPr>
      </p:pic>
      <p:sp>
        <p:nvSpPr>
          <p:cNvPr id="11" name="TextBox 10"/>
          <p:cNvSpPr txBox="1"/>
          <p:nvPr/>
        </p:nvSpPr>
        <p:spPr>
          <a:xfrm>
            <a:off x="685800"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Support Agent</a:t>
            </a:r>
          </a:p>
        </p:txBody>
      </p:sp>
      <p:sp>
        <p:nvSpPr>
          <p:cNvPr id="12" name="TextBox 11"/>
          <p:cNvSpPr txBox="1"/>
          <p:nvPr/>
        </p:nvSpPr>
        <p:spPr>
          <a:xfrm>
            <a:off x="731520"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Understands the complaint, checks the order, opens a case.</a:t>
            </a:r>
          </a:p>
        </p:txBody>
      </p:sp>
      <p:cxnSp>
        <p:nvCxnSpPr>
          <p:cNvPr id="13" name="Connector 12"/>
          <p:cNvCxnSpPr/>
          <p:nvPr/>
        </p:nvCxnSpPr>
        <p:spPr>
          <a:xfrm>
            <a:off x="3090672"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01568"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178808"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x-FFFFFF.png"/>
          <p:cNvPicPr>
            <a:picLocks noChangeAspect="1"/>
          </p:cNvPicPr>
          <p:nvPr/>
        </p:nvPicPr>
        <p:blipFill>
          <a:blip r:embed="rId3"/>
          <a:stretch>
            <a:fillRect/>
          </a:stretch>
        </p:blipFill>
        <p:spPr>
          <a:xfrm>
            <a:off x="4409236" y="2790748"/>
            <a:ext cx="499262" cy="499262"/>
          </a:xfrm>
          <a:prstGeom prst="rect">
            <a:avLst/>
          </a:prstGeom>
        </p:spPr>
      </p:pic>
      <p:sp>
        <p:nvSpPr>
          <p:cNvPr id="17" name="TextBox 16"/>
          <p:cNvSpPr txBox="1"/>
          <p:nvPr/>
        </p:nvSpPr>
        <p:spPr>
          <a:xfrm>
            <a:off x="3538728"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Logistic Agent</a:t>
            </a:r>
          </a:p>
        </p:txBody>
      </p:sp>
      <p:sp>
        <p:nvSpPr>
          <p:cNvPr id="18" name="TextBox 17"/>
          <p:cNvSpPr txBox="1"/>
          <p:nvPr/>
        </p:nvSpPr>
        <p:spPr>
          <a:xfrm>
            <a:off x="3584448"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Checks stock and reserves a replacement item.</a:t>
            </a:r>
          </a:p>
        </p:txBody>
      </p:sp>
      <p:cxnSp>
        <p:nvCxnSpPr>
          <p:cNvPr id="19" name="Connector 18"/>
          <p:cNvCxnSpPr/>
          <p:nvPr/>
        </p:nvCxnSpPr>
        <p:spPr>
          <a:xfrm>
            <a:off x="5943600"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54496"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031736"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nd-FFFFFF.png"/>
          <p:cNvPicPr>
            <a:picLocks noChangeAspect="1"/>
          </p:cNvPicPr>
          <p:nvPr/>
        </p:nvPicPr>
        <p:blipFill>
          <a:blip r:embed="rId4"/>
          <a:stretch>
            <a:fillRect/>
          </a:stretch>
        </p:blipFill>
        <p:spPr>
          <a:xfrm>
            <a:off x="7262164" y="2790748"/>
            <a:ext cx="499262" cy="499262"/>
          </a:xfrm>
          <a:prstGeom prst="rect">
            <a:avLst/>
          </a:prstGeom>
        </p:spPr>
      </p:pic>
      <p:sp>
        <p:nvSpPr>
          <p:cNvPr id="23" name="TextBox 22"/>
          <p:cNvSpPr txBox="1"/>
          <p:nvPr/>
        </p:nvSpPr>
        <p:spPr>
          <a:xfrm>
            <a:off x="6391656"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Shipping Agent</a:t>
            </a:r>
          </a:p>
        </p:txBody>
      </p:sp>
      <p:sp>
        <p:nvSpPr>
          <p:cNvPr id="24" name="TextBox 23"/>
          <p:cNvSpPr txBox="1"/>
          <p:nvPr/>
        </p:nvSpPr>
        <p:spPr>
          <a:xfrm>
            <a:off x="6437376"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Books the courier and returns a tracking number.</a:t>
            </a:r>
          </a:p>
        </p:txBody>
      </p:sp>
      <p:cxnSp>
        <p:nvCxnSpPr>
          <p:cNvPr id="25" name="Connector 24"/>
          <p:cNvCxnSpPr/>
          <p:nvPr/>
        </p:nvCxnSpPr>
        <p:spPr>
          <a:xfrm>
            <a:off x="8796528" y="3794760"/>
            <a:ext cx="283464" cy="0"/>
          </a:xfrm>
          <a:prstGeom prst="line">
            <a:avLst/>
          </a:prstGeom>
          <a:ln w="2857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07424" y="2331720"/>
            <a:ext cx="2514600" cy="29260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884663" y="2560320"/>
            <a:ext cx="960120" cy="9601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10115092" y="2790748"/>
            <a:ext cx="499262" cy="499262"/>
          </a:xfrm>
          <a:prstGeom prst="rect">
            <a:avLst/>
          </a:prstGeom>
        </p:spPr>
      </p:pic>
      <p:sp>
        <p:nvSpPr>
          <p:cNvPr id="29" name="TextBox 28"/>
          <p:cNvSpPr txBox="1"/>
          <p:nvPr/>
        </p:nvSpPr>
        <p:spPr>
          <a:xfrm>
            <a:off x="9244584" y="3657600"/>
            <a:ext cx="2240280" cy="411480"/>
          </a:xfrm>
          <a:prstGeom prst="rect">
            <a:avLst/>
          </a:prstGeom>
          <a:noFill/>
        </p:spPr>
        <p:txBody>
          <a:bodyPr wrap="square" lIns="36576" rIns="36576" tIns="18288" bIns="18288" anchor="t">
            <a:spAutoFit/>
          </a:bodyPr>
          <a:lstStyle/>
          <a:p>
            <a:pPr algn="ctr">
              <a:lnSpc>
                <a:spcPct val="112000"/>
              </a:lnSpc>
            </a:pPr>
            <a:r>
              <a:rPr sz="1700" b="1" i="0">
                <a:solidFill>
                  <a:srgbClr val="FFFFFF"/>
                </a:solidFill>
                <a:latin typeface="Cambria"/>
              </a:rPr>
              <a:t>Customer Agent</a:t>
            </a:r>
          </a:p>
        </p:txBody>
      </p:sp>
      <p:sp>
        <p:nvSpPr>
          <p:cNvPr id="30" name="TextBox 29"/>
          <p:cNvSpPr txBox="1"/>
          <p:nvPr/>
        </p:nvSpPr>
        <p:spPr>
          <a:xfrm>
            <a:off x="9290303" y="4114800"/>
            <a:ext cx="2148840" cy="1051560"/>
          </a:xfrm>
          <a:prstGeom prst="rect">
            <a:avLst/>
          </a:prstGeom>
          <a:noFill/>
        </p:spPr>
        <p:txBody>
          <a:bodyPr wrap="square" lIns="36576" rIns="36576" tIns="18288" bIns="18288" anchor="t">
            <a:spAutoFit/>
          </a:bodyPr>
          <a:lstStyle/>
          <a:p>
            <a:pPr algn="ctr">
              <a:lnSpc>
                <a:spcPct val="112000"/>
              </a:lnSpc>
            </a:pPr>
            <a:r>
              <a:rPr sz="1250" b="0" i="0">
                <a:solidFill>
                  <a:srgbClr val="C9C4B9"/>
                </a:solidFill>
                <a:latin typeface="Calibri"/>
              </a:rPr>
              <a:t>Confirms the fix to the customer and asks for a rating.</a:t>
            </a:r>
          </a:p>
        </p:txBody>
      </p:sp>
      <p:sp>
        <p:nvSpPr>
          <p:cNvPr id="31" name="TextBox 30"/>
          <p:cNvSpPr txBox="1"/>
          <p:nvPr/>
        </p:nvSpPr>
        <p:spPr>
          <a:xfrm>
            <a:off x="548640" y="55778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At Kopi Kaki: “My cold brew pre-order arrived spilled.” Same four hand-offs. A refund above SGD 20 waits for you: human in the loop.</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TASK DECOMPOSITION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Break the Goal Before You Hand It Out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Task decomposition turns one big objective into smaller, specialised jobs that a subagent can finish on its own.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606040"/>
            <a:ext cx="3200400" cy="251460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788920"/>
            <a:ext cx="2743200" cy="256032"/>
          </a:xfrm>
          <a:prstGeom prst="rect">
            <a:avLst/>
          </a:prstGeom>
          <a:noFill/>
        </p:spPr>
        <p:txBody>
          <a:bodyPr wrap="square" lIns="36576" rIns="36576" tIns="18288" bIns="18288" anchor="t">
            <a:spAutoFit/>
          </a:bodyPr>
          <a:lstStyle/>
          <a:p>
            <a:pPr algn="l">
              <a:lnSpc>
                <a:spcPct val="112000"/>
              </a:lnSpc>
            </a:pPr>
            <a:r>
              <a:rPr sz="1100" b="1" i="0">
                <a:solidFill>
                  <a:srgbClr val="E8E5DE"/>
                </a:solidFill>
                <a:latin typeface="Calibri"/>
              </a:rPr>
              <a:t>ONE LARGE OBJECTIVE</a:t>
            </a:r>
          </a:p>
        </p:txBody>
      </p:sp>
      <p:sp>
        <p:nvSpPr>
          <p:cNvPr id="10" name="TextBox 9"/>
          <p:cNvSpPr txBox="1"/>
          <p:nvPr/>
        </p:nvSpPr>
        <p:spPr>
          <a:xfrm>
            <a:off x="777240" y="3108960"/>
            <a:ext cx="2743200" cy="182880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A 20-second launch video for the Gula Melaka Cold Brew</a:t>
            </a:r>
          </a:p>
        </p:txBody>
      </p:sp>
      <p:cxnSp>
        <p:nvCxnSpPr>
          <p:cNvPr id="11" name="Connector 10"/>
          <p:cNvCxnSpPr/>
          <p:nvPr/>
        </p:nvCxnSpPr>
        <p:spPr>
          <a:xfrm flipV="1">
            <a:off x="3749039" y="2478024"/>
            <a:ext cx="685801" cy="1380744"/>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34840" y="2194560"/>
            <a:ext cx="393192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80" y="226771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2"/>
          <a:stretch>
            <a:fillRect/>
          </a:stretch>
        </p:blipFill>
        <p:spPr>
          <a:xfrm>
            <a:off x="4627229" y="2368661"/>
            <a:ext cx="218724" cy="218724"/>
          </a:xfrm>
          <a:prstGeom prst="rect">
            <a:avLst/>
          </a:prstGeom>
        </p:spPr>
      </p:pic>
      <p:sp>
        <p:nvSpPr>
          <p:cNvPr id="15" name="TextBox 14"/>
          <p:cNvSpPr txBox="1"/>
          <p:nvPr/>
        </p:nvSpPr>
        <p:spPr>
          <a:xfrm>
            <a:off x="5047488" y="2249424"/>
            <a:ext cx="2011680" cy="457200"/>
          </a:xfrm>
          <a:prstGeom prst="rect">
            <a:avLst/>
          </a:prstGeom>
          <a:noFill/>
        </p:spPr>
        <p:txBody>
          <a:bodyPr wrap="square" lIns="36576" rIns="36576" tIns="18288" bIns="18288" anchor="ctr">
            <a:spAutoFit/>
          </a:bodyPr>
          <a:lstStyle/>
          <a:p>
            <a:pPr algn="l">
              <a:lnSpc>
                <a:spcPct val="112000"/>
              </a:lnSpc>
            </a:pPr>
            <a:r>
              <a:rPr sz="1250" b="1" i="0">
                <a:solidFill>
                  <a:srgbClr val="FFFFFF"/>
                </a:solidFill>
                <a:latin typeface="Calibri"/>
              </a:rPr>
              <a:t>Gather the launch facts</a:t>
            </a:r>
          </a:p>
        </p:txBody>
      </p:sp>
      <p:sp>
        <p:nvSpPr>
          <p:cNvPr id="16" name="TextBox 15"/>
          <p:cNvSpPr txBox="1"/>
          <p:nvPr/>
        </p:nvSpPr>
        <p:spPr>
          <a:xfrm>
            <a:off x="7040880" y="2249424"/>
            <a:ext cx="1280160" cy="457200"/>
          </a:xfrm>
          <a:prstGeom prst="rect">
            <a:avLst/>
          </a:prstGeom>
          <a:noFill/>
        </p:spPr>
        <p:txBody>
          <a:bodyPr wrap="square" lIns="36576" rIns="36576" tIns="18288" bIns="18288" anchor="ctr">
            <a:spAutoFit/>
          </a:bodyPr>
          <a:lstStyle/>
          <a:p>
            <a:pPr algn="l">
              <a:lnSpc>
                <a:spcPct val="112000"/>
              </a:lnSpc>
            </a:pPr>
            <a:r>
              <a:rPr sz="1050" b="0" i="0">
                <a:solidFill>
                  <a:srgbClr val="D97757"/>
                </a:solidFill>
                <a:latin typeface="Calibri"/>
              </a:rPr>
              <a:t>video-researcher</a:t>
            </a:r>
          </a:p>
        </p:txBody>
      </p:sp>
      <p:cxnSp>
        <p:nvCxnSpPr>
          <p:cNvPr id="17" name="Connector 16"/>
          <p:cNvCxnSpPr/>
          <p:nvPr/>
        </p:nvCxnSpPr>
        <p:spPr>
          <a:xfrm flipV="1">
            <a:off x="3749039" y="3209544"/>
            <a:ext cx="685801" cy="649224"/>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34840" y="2926080"/>
            <a:ext cx="393192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526280" y="299923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en-FFFFFF.png"/>
          <p:cNvPicPr>
            <a:picLocks noChangeAspect="1"/>
          </p:cNvPicPr>
          <p:nvPr/>
        </p:nvPicPr>
        <p:blipFill>
          <a:blip r:embed="rId3"/>
          <a:stretch>
            <a:fillRect/>
          </a:stretch>
        </p:blipFill>
        <p:spPr>
          <a:xfrm>
            <a:off x="4627229" y="3100181"/>
            <a:ext cx="218724" cy="218724"/>
          </a:xfrm>
          <a:prstGeom prst="rect">
            <a:avLst/>
          </a:prstGeom>
        </p:spPr>
      </p:pic>
      <p:sp>
        <p:nvSpPr>
          <p:cNvPr id="21" name="TextBox 20"/>
          <p:cNvSpPr txBox="1"/>
          <p:nvPr/>
        </p:nvSpPr>
        <p:spPr>
          <a:xfrm>
            <a:off x="5047488" y="2980944"/>
            <a:ext cx="2011680" cy="457200"/>
          </a:xfrm>
          <a:prstGeom prst="rect">
            <a:avLst/>
          </a:prstGeom>
          <a:noFill/>
        </p:spPr>
        <p:txBody>
          <a:bodyPr wrap="square" lIns="36576" rIns="36576" tIns="18288" bIns="18288" anchor="ctr">
            <a:spAutoFit/>
          </a:bodyPr>
          <a:lstStyle/>
          <a:p>
            <a:pPr algn="l">
              <a:lnSpc>
                <a:spcPct val="112000"/>
              </a:lnSpc>
            </a:pPr>
            <a:r>
              <a:rPr sz="1250" b="1" i="0">
                <a:solidFill>
                  <a:srgbClr val="FFFFFF"/>
                </a:solidFill>
                <a:latin typeface="Calibri"/>
              </a:rPr>
              <a:t>Write a 4-scene script</a:t>
            </a:r>
          </a:p>
        </p:txBody>
      </p:sp>
      <p:sp>
        <p:nvSpPr>
          <p:cNvPr id="22" name="TextBox 21"/>
          <p:cNvSpPr txBox="1"/>
          <p:nvPr/>
        </p:nvSpPr>
        <p:spPr>
          <a:xfrm>
            <a:off x="7040880" y="2980944"/>
            <a:ext cx="1280160" cy="457200"/>
          </a:xfrm>
          <a:prstGeom prst="rect">
            <a:avLst/>
          </a:prstGeom>
          <a:noFill/>
        </p:spPr>
        <p:txBody>
          <a:bodyPr wrap="square" lIns="36576" rIns="36576" tIns="18288" bIns="18288" anchor="ctr">
            <a:spAutoFit/>
          </a:bodyPr>
          <a:lstStyle/>
          <a:p>
            <a:pPr algn="l">
              <a:lnSpc>
                <a:spcPct val="112000"/>
              </a:lnSpc>
            </a:pPr>
            <a:r>
              <a:rPr sz="1050" b="0" i="0">
                <a:solidFill>
                  <a:srgbClr val="D97757"/>
                </a:solidFill>
                <a:latin typeface="Calibri"/>
              </a:rPr>
              <a:t>scriptwriter</a:t>
            </a:r>
          </a:p>
        </p:txBody>
      </p:sp>
      <p:cxnSp>
        <p:nvCxnSpPr>
          <p:cNvPr id="23" name="Connector 22"/>
          <p:cNvCxnSpPr/>
          <p:nvPr/>
        </p:nvCxnSpPr>
        <p:spPr>
          <a:xfrm>
            <a:off x="3749039" y="3858768"/>
            <a:ext cx="685801" cy="82295"/>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34840" y="3657600"/>
            <a:ext cx="393192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26280" y="373075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megaphone-FFFFFF.png"/>
          <p:cNvPicPr>
            <a:picLocks noChangeAspect="1"/>
          </p:cNvPicPr>
          <p:nvPr/>
        </p:nvPicPr>
        <p:blipFill>
          <a:blip r:embed="rId4"/>
          <a:stretch>
            <a:fillRect/>
          </a:stretch>
        </p:blipFill>
        <p:spPr>
          <a:xfrm>
            <a:off x="4627229" y="3831701"/>
            <a:ext cx="218724" cy="218724"/>
          </a:xfrm>
          <a:prstGeom prst="rect">
            <a:avLst/>
          </a:prstGeom>
        </p:spPr>
      </p:pic>
      <p:sp>
        <p:nvSpPr>
          <p:cNvPr id="27" name="TextBox 26"/>
          <p:cNvSpPr txBox="1"/>
          <p:nvPr/>
        </p:nvSpPr>
        <p:spPr>
          <a:xfrm>
            <a:off x="5047488" y="3712463"/>
            <a:ext cx="2011680" cy="457200"/>
          </a:xfrm>
          <a:prstGeom prst="rect">
            <a:avLst/>
          </a:prstGeom>
          <a:noFill/>
        </p:spPr>
        <p:txBody>
          <a:bodyPr wrap="square" lIns="36576" rIns="36576" tIns="18288" bIns="18288" anchor="ctr">
            <a:spAutoFit/>
          </a:bodyPr>
          <a:lstStyle/>
          <a:p>
            <a:pPr algn="l">
              <a:lnSpc>
                <a:spcPct val="112000"/>
              </a:lnSpc>
            </a:pPr>
            <a:r>
              <a:rPr sz="1250" b="1" i="0">
                <a:solidFill>
                  <a:srgbClr val="FFFFFF"/>
                </a:solidFill>
                <a:latin typeface="Calibri"/>
              </a:rPr>
              <a:t>Record the narration</a:t>
            </a:r>
          </a:p>
        </p:txBody>
      </p:sp>
      <p:sp>
        <p:nvSpPr>
          <p:cNvPr id="28" name="TextBox 27"/>
          <p:cNvSpPr txBox="1"/>
          <p:nvPr/>
        </p:nvSpPr>
        <p:spPr>
          <a:xfrm>
            <a:off x="7040880" y="3712463"/>
            <a:ext cx="1280160" cy="457200"/>
          </a:xfrm>
          <a:prstGeom prst="rect">
            <a:avLst/>
          </a:prstGeom>
          <a:noFill/>
        </p:spPr>
        <p:txBody>
          <a:bodyPr wrap="square" lIns="36576" rIns="36576" tIns="18288" bIns="18288" anchor="ctr">
            <a:spAutoFit/>
          </a:bodyPr>
          <a:lstStyle/>
          <a:p>
            <a:pPr algn="l">
              <a:lnSpc>
                <a:spcPct val="112000"/>
              </a:lnSpc>
            </a:pPr>
            <a:r>
              <a:rPr sz="1050" b="0" i="0">
                <a:solidFill>
                  <a:srgbClr val="D97757"/>
                </a:solidFill>
                <a:latin typeface="Calibri"/>
              </a:rPr>
              <a:t>voice-over</a:t>
            </a:r>
          </a:p>
        </p:txBody>
      </p:sp>
      <p:cxnSp>
        <p:nvCxnSpPr>
          <p:cNvPr id="29" name="Connector 28"/>
          <p:cNvCxnSpPr/>
          <p:nvPr/>
        </p:nvCxnSpPr>
        <p:spPr>
          <a:xfrm>
            <a:off x="3749039" y="3858768"/>
            <a:ext cx="685801" cy="813816"/>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434840" y="4389120"/>
            <a:ext cx="393192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26280" y="446227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4627229" y="4563221"/>
            <a:ext cx="218724" cy="218724"/>
          </a:xfrm>
          <a:prstGeom prst="rect">
            <a:avLst/>
          </a:prstGeom>
        </p:spPr>
      </p:pic>
      <p:sp>
        <p:nvSpPr>
          <p:cNvPr id="33" name="TextBox 32"/>
          <p:cNvSpPr txBox="1"/>
          <p:nvPr/>
        </p:nvSpPr>
        <p:spPr>
          <a:xfrm>
            <a:off x="5047488" y="4443984"/>
            <a:ext cx="2011680" cy="457200"/>
          </a:xfrm>
          <a:prstGeom prst="rect">
            <a:avLst/>
          </a:prstGeom>
          <a:noFill/>
        </p:spPr>
        <p:txBody>
          <a:bodyPr wrap="square" lIns="36576" rIns="36576" tIns="18288" bIns="18288" anchor="ctr">
            <a:spAutoFit/>
          </a:bodyPr>
          <a:lstStyle/>
          <a:p>
            <a:pPr algn="l">
              <a:lnSpc>
                <a:spcPct val="112000"/>
              </a:lnSpc>
            </a:pPr>
            <a:r>
              <a:rPr sz="1250" b="1" i="0">
                <a:solidFill>
                  <a:srgbClr val="FFFFFF"/>
                </a:solidFill>
                <a:latin typeface="Calibri"/>
              </a:rPr>
              <a:t>Render the 1080×1920 MP4</a:t>
            </a:r>
          </a:p>
        </p:txBody>
      </p:sp>
      <p:sp>
        <p:nvSpPr>
          <p:cNvPr id="34" name="TextBox 33"/>
          <p:cNvSpPr txBox="1"/>
          <p:nvPr/>
        </p:nvSpPr>
        <p:spPr>
          <a:xfrm>
            <a:off x="7040880" y="4443984"/>
            <a:ext cx="1280160" cy="457200"/>
          </a:xfrm>
          <a:prstGeom prst="rect">
            <a:avLst/>
          </a:prstGeom>
          <a:noFill/>
        </p:spPr>
        <p:txBody>
          <a:bodyPr wrap="square" lIns="36576" rIns="36576" tIns="18288" bIns="18288" anchor="ctr">
            <a:spAutoFit/>
          </a:bodyPr>
          <a:lstStyle/>
          <a:p>
            <a:pPr algn="l">
              <a:lnSpc>
                <a:spcPct val="112000"/>
              </a:lnSpc>
            </a:pPr>
            <a:r>
              <a:rPr sz="1050" b="0" i="0">
                <a:solidFill>
                  <a:srgbClr val="D97757"/>
                </a:solidFill>
                <a:latin typeface="Calibri"/>
              </a:rPr>
              <a:t>video-producer</a:t>
            </a:r>
          </a:p>
        </p:txBody>
      </p:sp>
      <p:cxnSp>
        <p:nvCxnSpPr>
          <p:cNvPr id="35" name="Connector 34"/>
          <p:cNvCxnSpPr/>
          <p:nvPr/>
        </p:nvCxnSpPr>
        <p:spPr>
          <a:xfrm>
            <a:off x="3749039" y="3858768"/>
            <a:ext cx="685801" cy="1545335"/>
          </a:xfrm>
          <a:prstGeom prst="line">
            <a:avLst/>
          </a:prstGeom>
          <a:ln w="19050">
            <a:solidFill>
              <a:srgbClr val="C9C4B9"/>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434840" y="5120640"/>
            <a:ext cx="3931920" cy="566928"/>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4526280" y="5193792"/>
            <a:ext cx="420624" cy="420624"/>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eyecheck-FFFFFF.png"/>
          <p:cNvPicPr>
            <a:picLocks noChangeAspect="1"/>
          </p:cNvPicPr>
          <p:nvPr/>
        </p:nvPicPr>
        <p:blipFill>
          <a:blip r:embed="rId6"/>
          <a:stretch>
            <a:fillRect/>
          </a:stretch>
        </p:blipFill>
        <p:spPr>
          <a:xfrm>
            <a:off x="4627229" y="5294741"/>
            <a:ext cx="218724" cy="218724"/>
          </a:xfrm>
          <a:prstGeom prst="rect">
            <a:avLst/>
          </a:prstGeom>
        </p:spPr>
      </p:pic>
      <p:sp>
        <p:nvSpPr>
          <p:cNvPr id="39" name="TextBox 38"/>
          <p:cNvSpPr txBox="1"/>
          <p:nvPr/>
        </p:nvSpPr>
        <p:spPr>
          <a:xfrm>
            <a:off x="5047488" y="5175503"/>
            <a:ext cx="2011680" cy="457200"/>
          </a:xfrm>
          <a:prstGeom prst="rect">
            <a:avLst/>
          </a:prstGeom>
          <a:noFill/>
        </p:spPr>
        <p:txBody>
          <a:bodyPr wrap="square" lIns="36576" rIns="36576" tIns="18288" bIns="18288" anchor="ctr">
            <a:spAutoFit/>
          </a:bodyPr>
          <a:lstStyle/>
          <a:p>
            <a:pPr algn="l">
              <a:lnSpc>
                <a:spcPct val="112000"/>
              </a:lnSpc>
            </a:pPr>
            <a:r>
              <a:rPr sz="1250" b="1" i="0">
                <a:solidFill>
                  <a:srgbClr val="FFFFFF"/>
                </a:solidFill>
                <a:latin typeface="Calibri"/>
              </a:rPr>
              <a:t>Check it against the QA list</a:t>
            </a:r>
          </a:p>
        </p:txBody>
      </p:sp>
      <p:sp>
        <p:nvSpPr>
          <p:cNvPr id="40" name="TextBox 39"/>
          <p:cNvSpPr txBox="1"/>
          <p:nvPr/>
        </p:nvSpPr>
        <p:spPr>
          <a:xfrm>
            <a:off x="7040880" y="5175503"/>
            <a:ext cx="1280160" cy="457200"/>
          </a:xfrm>
          <a:prstGeom prst="rect">
            <a:avLst/>
          </a:prstGeom>
          <a:noFill/>
        </p:spPr>
        <p:txBody>
          <a:bodyPr wrap="square" lIns="36576" rIns="36576" tIns="18288" bIns="18288" anchor="ctr">
            <a:spAutoFit/>
          </a:bodyPr>
          <a:lstStyle/>
          <a:p>
            <a:pPr algn="l">
              <a:lnSpc>
                <a:spcPct val="112000"/>
              </a:lnSpc>
            </a:pPr>
            <a:r>
              <a:rPr sz="1050" b="0" i="0">
                <a:solidFill>
                  <a:srgbClr val="D97757"/>
                </a:solidFill>
                <a:latin typeface="Calibri"/>
              </a:rPr>
              <a:t>video-reviewer</a:t>
            </a:r>
          </a:p>
        </p:txBody>
      </p:sp>
      <p:sp>
        <p:nvSpPr>
          <p:cNvPr id="41" name="TextBox 40"/>
          <p:cNvSpPr txBox="1"/>
          <p:nvPr/>
        </p:nvSpPr>
        <p:spPr>
          <a:xfrm>
            <a:off x="8778240" y="2212848"/>
            <a:ext cx="2834640" cy="256032"/>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A GOOD SPLIT</a:t>
            </a:r>
          </a:p>
        </p:txBody>
      </p:sp>
      <p:sp>
        <p:nvSpPr>
          <p:cNvPr id="42" name="TextBox 41"/>
          <p:cNvSpPr txBox="1"/>
          <p:nvPr/>
        </p:nvSpPr>
        <p:spPr>
          <a:xfrm>
            <a:off x="8778240" y="2560320"/>
            <a:ext cx="457200" cy="365760"/>
          </a:xfrm>
          <a:prstGeom prst="rect">
            <a:avLst/>
          </a:prstGeom>
          <a:noFill/>
        </p:spPr>
        <p:txBody>
          <a:bodyPr wrap="square" lIns="36576" rIns="36576" tIns="18288" bIns="18288" anchor="t">
            <a:spAutoFit/>
          </a:bodyPr>
          <a:lstStyle/>
          <a:p>
            <a:pPr algn="l">
              <a:lnSpc>
                <a:spcPct val="112000"/>
              </a:lnSpc>
            </a:pPr>
            <a:r>
              <a:rPr sz="2000" b="1" i="0">
                <a:solidFill>
                  <a:srgbClr val="D97757"/>
                </a:solidFill>
                <a:latin typeface="Cambria"/>
              </a:rPr>
              <a:t>1</a:t>
            </a:r>
          </a:p>
        </p:txBody>
      </p:sp>
      <p:sp>
        <p:nvSpPr>
          <p:cNvPr id="43" name="TextBox 42"/>
          <p:cNvSpPr txBox="1"/>
          <p:nvPr/>
        </p:nvSpPr>
        <p:spPr>
          <a:xfrm>
            <a:off x="9189720" y="2560320"/>
            <a:ext cx="2423160" cy="310896"/>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Understands the request</a:t>
            </a:r>
          </a:p>
        </p:txBody>
      </p:sp>
      <p:sp>
        <p:nvSpPr>
          <p:cNvPr id="44" name="TextBox 43"/>
          <p:cNvSpPr txBox="1"/>
          <p:nvPr/>
        </p:nvSpPr>
        <p:spPr>
          <a:xfrm>
            <a:off x="9189720" y="2871215"/>
            <a:ext cx="2423160" cy="4572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Restate the goal before splitting it.</a:t>
            </a:r>
          </a:p>
        </p:txBody>
      </p:sp>
      <p:sp>
        <p:nvSpPr>
          <p:cNvPr id="45" name="TextBox 44"/>
          <p:cNvSpPr txBox="1"/>
          <p:nvPr/>
        </p:nvSpPr>
        <p:spPr>
          <a:xfrm>
            <a:off x="8778240" y="3383279"/>
            <a:ext cx="457200" cy="365760"/>
          </a:xfrm>
          <a:prstGeom prst="rect">
            <a:avLst/>
          </a:prstGeom>
          <a:noFill/>
        </p:spPr>
        <p:txBody>
          <a:bodyPr wrap="square" lIns="36576" rIns="36576" tIns="18288" bIns="18288" anchor="t">
            <a:spAutoFit/>
          </a:bodyPr>
          <a:lstStyle/>
          <a:p>
            <a:pPr algn="l">
              <a:lnSpc>
                <a:spcPct val="112000"/>
              </a:lnSpc>
            </a:pPr>
            <a:r>
              <a:rPr sz="2000" b="1" i="0">
                <a:solidFill>
                  <a:srgbClr val="D97757"/>
                </a:solidFill>
                <a:latin typeface="Cambria"/>
              </a:rPr>
              <a:t>2</a:t>
            </a:r>
          </a:p>
        </p:txBody>
      </p:sp>
      <p:sp>
        <p:nvSpPr>
          <p:cNvPr id="46" name="TextBox 45"/>
          <p:cNvSpPr txBox="1"/>
          <p:nvPr/>
        </p:nvSpPr>
        <p:spPr>
          <a:xfrm>
            <a:off x="9189720" y="3383279"/>
            <a:ext cx="2423160" cy="310896"/>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Finds logical subtasks</a:t>
            </a:r>
          </a:p>
        </p:txBody>
      </p:sp>
      <p:sp>
        <p:nvSpPr>
          <p:cNvPr id="47" name="TextBox 46"/>
          <p:cNvSpPr txBox="1"/>
          <p:nvPr/>
        </p:nvSpPr>
        <p:spPr>
          <a:xfrm>
            <a:off x="9189720" y="3694176"/>
            <a:ext cx="2423160" cy="4572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Pieces that can be done separately.</a:t>
            </a:r>
          </a:p>
        </p:txBody>
      </p:sp>
      <p:sp>
        <p:nvSpPr>
          <p:cNvPr id="48" name="TextBox 47"/>
          <p:cNvSpPr txBox="1"/>
          <p:nvPr/>
        </p:nvSpPr>
        <p:spPr>
          <a:xfrm>
            <a:off x="8778240" y="4206240"/>
            <a:ext cx="457200" cy="365760"/>
          </a:xfrm>
          <a:prstGeom prst="rect">
            <a:avLst/>
          </a:prstGeom>
          <a:noFill/>
        </p:spPr>
        <p:txBody>
          <a:bodyPr wrap="square" lIns="36576" rIns="36576" tIns="18288" bIns="18288" anchor="t">
            <a:spAutoFit/>
          </a:bodyPr>
          <a:lstStyle/>
          <a:p>
            <a:pPr algn="l">
              <a:lnSpc>
                <a:spcPct val="112000"/>
              </a:lnSpc>
            </a:pPr>
            <a:r>
              <a:rPr sz="2000" b="1" i="0">
                <a:solidFill>
                  <a:srgbClr val="D97757"/>
                </a:solidFill>
                <a:latin typeface="Cambria"/>
              </a:rPr>
              <a:t>3</a:t>
            </a:r>
          </a:p>
        </p:txBody>
      </p:sp>
      <p:sp>
        <p:nvSpPr>
          <p:cNvPr id="49" name="TextBox 48"/>
          <p:cNvSpPr txBox="1"/>
          <p:nvPr/>
        </p:nvSpPr>
        <p:spPr>
          <a:xfrm>
            <a:off x="9189720" y="4206240"/>
            <a:ext cx="2423160" cy="310896"/>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Assigns each an owner</a:t>
            </a:r>
          </a:p>
        </p:txBody>
      </p:sp>
      <p:sp>
        <p:nvSpPr>
          <p:cNvPr id="50" name="TextBox 49"/>
          <p:cNvSpPr txBox="1"/>
          <p:nvPr/>
        </p:nvSpPr>
        <p:spPr>
          <a:xfrm>
            <a:off x="9189720" y="4517136"/>
            <a:ext cx="2423160" cy="4572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One specialist per piece.</a:t>
            </a:r>
          </a:p>
        </p:txBody>
      </p:sp>
      <p:sp>
        <p:nvSpPr>
          <p:cNvPr id="51" name="TextBox 50"/>
          <p:cNvSpPr txBox="1"/>
          <p:nvPr/>
        </p:nvSpPr>
        <p:spPr>
          <a:xfrm>
            <a:off x="8778240" y="5029200"/>
            <a:ext cx="457200" cy="365760"/>
          </a:xfrm>
          <a:prstGeom prst="rect">
            <a:avLst/>
          </a:prstGeom>
          <a:noFill/>
        </p:spPr>
        <p:txBody>
          <a:bodyPr wrap="square" lIns="36576" rIns="36576" tIns="18288" bIns="18288" anchor="t">
            <a:spAutoFit/>
          </a:bodyPr>
          <a:lstStyle/>
          <a:p>
            <a:pPr algn="l">
              <a:lnSpc>
                <a:spcPct val="112000"/>
              </a:lnSpc>
            </a:pPr>
            <a:r>
              <a:rPr sz="2000" b="1" i="0">
                <a:solidFill>
                  <a:srgbClr val="D97757"/>
                </a:solidFill>
                <a:latin typeface="Cambria"/>
              </a:rPr>
              <a:t>4</a:t>
            </a:r>
          </a:p>
        </p:txBody>
      </p:sp>
      <p:sp>
        <p:nvSpPr>
          <p:cNvPr id="52" name="TextBox 51"/>
          <p:cNvSpPr txBox="1"/>
          <p:nvPr/>
        </p:nvSpPr>
        <p:spPr>
          <a:xfrm>
            <a:off x="9189720" y="5029200"/>
            <a:ext cx="2423160" cy="310896"/>
          </a:xfrm>
          <a:prstGeom prst="rect">
            <a:avLst/>
          </a:prstGeom>
          <a:noFill/>
        </p:spPr>
        <p:txBody>
          <a:bodyPr wrap="square" lIns="36576" rIns="36576" tIns="18288" bIns="18288" anchor="t">
            <a:spAutoFit/>
          </a:bodyPr>
          <a:lstStyle/>
          <a:p>
            <a:pPr algn="l">
              <a:lnSpc>
                <a:spcPct val="112000"/>
              </a:lnSpc>
            </a:pPr>
            <a:r>
              <a:rPr sz="1300" b="1" i="0">
                <a:solidFill>
                  <a:srgbClr val="FFFFFF"/>
                </a:solidFill>
                <a:latin typeface="Cambria"/>
              </a:rPr>
              <a:t>Fits back together</a:t>
            </a:r>
          </a:p>
        </p:txBody>
      </p:sp>
      <p:sp>
        <p:nvSpPr>
          <p:cNvPr id="53" name="TextBox 52"/>
          <p:cNvSpPr txBox="1"/>
          <p:nvPr/>
        </p:nvSpPr>
        <p:spPr>
          <a:xfrm>
            <a:off x="9189720" y="5340096"/>
            <a:ext cx="2423160" cy="457200"/>
          </a:xfrm>
          <a:prstGeom prst="rect">
            <a:avLst/>
          </a:prstGeom>
          <a:noFill/>
        </p:spPr>
        <p:txBody>
          <a:bodyPr wrap="square" lIns="36576" rIns="36576" tIns="18288" bIns="18288" anchor="t">
            <a:spAutoFit/>
          </a:bodyPr>
          <a:lstStyle/>
          <a:p>
            <a:pPr algn="l">
              <a:lnSpc>
                <a:spcPct val="112000"/>
              </a:lnSpc>
            </a:pPr>
            <a:r>
              <a:rPr sz="1100" b="0" i="0">
                <a:solidFill>
                  <a:srgbClr val="C9C4B9"/>
                </a:solidFill>
                <a:latin typeface="Calibri"/>
              </a:rPr>
              <a:t>Each output feeds the next step.</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TASK DECOMPOSITION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Five Questions Before Any Agent Starts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The 5-step decomposition framework. Ask the questions in order: your answers become the prompt that builds the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Chevron 7"/>
          <p:cNvSpPr/>
          <p:nvPr/>
        </p:nvSpPr>
        <p:spPr>
          <a:xfrm>
            <a:off x="548640" y="2194560"/>
            <a:ext cx="2157984" cy="868680"/>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2331720"/>
            <a:ext cx="640080" cy="594360"/>
          </a:xfrm>
          <a:prstGeom prst="rect">
            <a:avLst/>
          </a:prstGeom>
          <a:noFill/>
        </p:spPr>
        <p:txBody>
          <a:bodyPr wrap="square" lIns="36576" rIns="36576" tIns="18288" bIns="18288" anchor="ctr">
            <a:spAutoFit/>
          </a:bodyPr>
          <a:lstStyle/>
          <a:p>
            <a:pPr algn="l">
              <a:lnSpc>
                <a:spcPct val="112000"/>
              </a:lnSpc>
            </a:pPr>
            <a:r>
              <a:rPr sz="2400" b="1" i="0">
                <a:solidFill>
                  <a:srgbClr val="FFFFFF"/>
                </a:solidFill>
                <a:latin typeface="Cambria"/>
              </a:rPr>
              <a:t>01</a:t>
            </a:r>
          </a:p>
        </p:txBody>
      </p:sp>
      <p:pic>
        <p:nvPicPr>
          <p:cNvPr id="10" name="Picture 9" descr="user-FFFFFF.png"/>
          <p:cNvPicPr>
            <a:picLocks noChangeAspect="1"/>
          </p:cNvPicPr>
          <p:nvPr/>
        </p:nvPicPr>
        <p:blipFill>
          <a:blip r:embed="rId2"/>
          <a:stretch>
            <a:fillRect/>
          </a:stretch>
        </p:blipFill>
        <p:spPr>
          <a:xfrm>
            <a:off x="1600200" y="2395728"/>
            <a:ext cx="457200" cy="457200"/>
          </a:xfrm>
          <a:prstGeom prst="rect">
            <a:avLst/>
          </a:prstGeom>
        </p:spPr>
      </p:pic>
      <p:sp>
        <p:nvSpPr>
          <p:cNvPr id="11" name="TextBox 10"/>
          <p:cNvSpPr txBox="1"/>
          <p:nvPr/>
        </p:nvSpPr>
        <p:spPr>
          <a:xfrm>
            <a:off x="594360" y="3200400"/>
            <a:ext cx="2020824" cy="56692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Understand the primary objective</a:t>
            </a:r>
          </a:p>
        </p:txBody>
      </p:sp>
      <p:sp>
        <p:nvSpPr>
          <p:cNvPr id="12" name="TextBox 11"/>
          <p:cNvSpPr txBox="1"/>
          <p:nvPr/>
        </p:nvSpPr>
        <p:spPr>
          <a:xfrm>
            <a:off x="594360" y="3794760"/>
            <a:ext cx="2020824" cy="566928"/>
          </a:xfrm>
          <a:prstGeom prst="rect">
            <a:avLst/>
          </a:prstGeom>
          <a:noFill/>
        </p:spPr>
        <p:txBody>
          <a:bodyPr wrap="square" lIns="36576" rIns="36576" tIns="18288" bIns="18288" anchor="t">
            <a:spAutoFit/>
          </a:bodyPr>
          <a:lstStyle/>
          <a:p>
            <a:pPr algn="l">
              <a:lnSpc>
                <a:spcPct val="112000"/>
              </a:lnSpc>
            </a:pPr>
            <a:r>
              <a:rPr sz="1200" b="0" i="1">
                <a:solidFill>
                  <a:srgbClr val="C9C4B9"/>
                </a:solidFill>
                <a:latin typeface="Calibri"/>
              </a:rPr>
              <a:t>What is the user actually asking for?</a:t>
            </a:r>
          </a:p>
        </p:txBody>
      </p:sp>
      <p:sp>
        <p:nvSpPr>
          <p:cNvPr id="13" name="Rounded Rectangle 12"/>
          <p:cNvSpPr/>
          <p:nvPr/>
        </p:nvSpPr>
        <p:spPr>
          <a:xfrm>
            <a:off x="548640" y="4526280"/>
            <a:ext cx="2066543" cy="13716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4617720"/>
            <a:ext cx="1792224"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KOPI KAKI</a:t>
            </a:r>
          </a:p>
        </p:txBody>
      </p:sp>
      <p:sp>
        <p:nvSpPr>
          <p:cNvPr id="15" name="TextBox 14"/>
          <p:cNvSpPr txBox="1"/>
          <p:nvPr/>
        </p:nvSpPr>
        <p:spPr>
          <a:xfrm>
            <a:off x="685800" y="4864608"/>
            <a:ext cx="1792224" cy="96012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A 20-second cold brew launch video you can post on 1 Dec.</a:t>
            </a:r>
          </a:p>
        </p:txBody>
      </p:sp>
      <p:sp>
        <p:nvSpPr>
          <p:cNvPr id="16" name="Chevron 15"/>
          <p:cNvSpPr/>
          <p:nvPr/>
        </p:nvSpPr>
        <p:spPr>
          <a:xfrm>
            <a:off x="2770632" y="2194560"/>
            <a:ext cx="2157984" cy="868680"/>
          </a:xfrm>
          <a:prstGeom prst="chevron">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18103" y="2331720"/>
            <a:ext cx="640080" cy="594360"/>
          </a:xfrm>
          <a:prstGeom prst="rect">
            <a:avLst/>
          </a:prstGeom>
          <a:noFill/>
        </p:spPr>
        <p:txBody>
          <a:bodyPr wrap="square" lIns="36576" rIns="36576" tIns="18288" bIns="18288" anchor="ctr">
            <a:spAutoFit/>
          </a:bodyPr>
          <a:lstStyle/>
          <a:p>
            <a:pPr algn="l">
              <a:lnSpc>
                <a:spcPct val="112000"/>
              </a:lnSpc>
            </a:pPr>
            <a:r>
              <a:rPr sz="2400" b="1" i="0">
                <a:solidFill>
                  <a:srgbClr val="FFFFFF"/>
                </a:solidFill>
                <a:latin typeface="Cambria"/>
              </a:rPr>
              <a:t>02</a:t>
            </a:r>
          </a:p>
        </p:txBody>
      </p:sp>
      <p:pic>
        <p:nvPicPr>
          <p:cNvPr id="18" name="Picture 17" descr="search-FFFFFF.png"/>
          <p:cNvPicPr>
            <a:picLocks noChangeAspect="1"/>
          </p:cNvPicPr>
          <p:nvPr/>
        </p:nvPicPr>
        <p:blipFill>
          <a:blip r:embed="rId3"/>
          <a:stretch>
            <a:fillRect/>
          </a:stretch>
        </p:blipFill>
        <p:spPr>
          <a:xfrm>
            <a:off x="3822191" y="2395728"/>
            <a:ext cx="457200" cy="457200"/>
          </a:xfrm>
          <a:prstGeom prst="rect">
            <a:avLst/>
          </a:prstGeom>
        </p:spPr>
      </p:pic>
      <p:sp>
        <p:nvSpPr>
          <p:cNvPr id="19" name="TextBox 18"/>
          <p:cNvSpPr txBox="1"/>
          <p:nvPr/>
        </p:nvSpPr>
        <p:spPr>
          <a:xfrm>
            <a:off x="2816351" y="3200400"/>
            <a:ext cx="2020824" cy="56692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Identify independent subtasks</a:t>
            </a:r>
          </a:p>
        </p:txBody>
      </p:sp>
      <p:sp>
        <p:nvSpPr>
          <p:cNvPr id="20" name="TextBox 19"/>
          <p:cNvSpPr txBox="1"/>
          <p:nvPr/>
        </p:nvSpPr>
        <p:spPr>
          <a:xfrm>
            <a:off x="2816351" y="3794760"/>
            <a:ext cx="2020824" cy="566928"/>
          </a:xfrm>
          <a:prstGeom prst="rect">
            <a:avLst/>
          </a:prstGeom>
          <a:noFill/>
        </p:spPr>
        <p:txBody>
          <a:bodyPr wrap="square" lIns="36576" rIns="36576" tIns="18288" bIns="18288" anchor="t">
            <a:spAutoFit/>
          </a:bodyPr>
          <a:lstStyle/>
          <a:p>
            <a:pPr algn="l">
              <a:lnSpc>
                <a:spcPct val="112000"/>
              </a:lnSpc>
            </a:pPr>
            <a:r>
              <a:rPr sz="1200" b="0" i="1">
                <a:solidFill>
                  <a:srgbClr val="C9C4B9"/>
                </a:solidFill>
                <a:latin typeface="Calibri"/>
              </a:rPr>
              <a:t>Which parts can be separated cleanly?</a:t>
            </a:r>
          </a:p>
        </p:txBody>
      </p:sp>
      <p:sp>
        <p:nvSpPr>
          <p:cNvPr id="21" name="Rounded Rectangle 20"/>
          <p:cNvSpPr/>
          <p:nvPr/>
        </p:nvSpPr>
        <p:spPr>
          <a:xfrm>
            <a:off x="2770632" y="4526280"/>
            <a:ext cx="2066543" cy="13716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907791" y="4617720"/>
            <a:ext cx="1792224"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KOPI KAKI</a:t>
            </a:r>
          </a:p>
        </p:txBody>
      </p:sp>
      <p:sp>
        <p:nvSpPr>
          <p:cNvPr id="23" name="TextBox 22"/>
          <p:cNvSpPr txBox="1"/>
          <p:nvPr/>
        </p:nvSpPr>
        <p:spPr>
          <a:xfrm>
            <a:off x="2907791" y="4864608"/>
            <a:ext cx="1792224" cy="96012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Research, script, voice-over, render and review.</a:t>
            </a:r>
          </a:p>
        </p:txBody>
      </p:sp>
      <p:sp>
        <p:nvSpPr>
          <p:cNvPr id="24" name="Chevron 23"/>
          <p:cNvSpPr/>
          <p:nvPr/>
        </p:nvSpPr>
        <p:spPr>
          <a:xfrm>
            <a:off x="4992623" y="2194560"/>
            <a:ext cx="2157984" cy="868680"/>
          </a:xfrm>
          <a:prstGeom prst="chevron">
            <a:avLst/>
          </a:prstGeom>
          <a:solidFill>
            <a:srgbClr val="6D2E4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340095" y="2331720"/>
            <a:ext cx="640080" cy="594360"/>
          </a:xfrm>
          <a:prstGeom prst="rect">
            <a:avLst/>
          </a:prstGeom>
          <a:noFill/>
        </p:spPr>
        <p:txBody>
          <a:bodyPr wrap="square" lIns="36576" rIns="36576" tIns="18288" bIns="18288" anchor="ctr">
            <a:spAutoFit/>
          </a:bodyPr>
          <a:lstStyle/>
          <a:p>
            <a:pPr algn="l">
              <a:lnSpc>
                <a:spcPct val="112000"/>
              </a:lnSpc>
            </a:pPr>
            <a:r>
              <a:rPr sz="2400" b="1" i="0">
                <a:solidFill>
                  <a:srgbClr val="FFFFFF"/>
                </a:solidFill>
                <a:latin typeface="Cambria"/>
              </a:rPr>
              <a:t>03</a:t>
            </a:r>
          </a:p>
        </p:txBody>
      </p:sp>
      <p:pic>
        <p:nvPicPr>
          <p:cNvPr id="26" name="Picture 25" descr="users-FFFFFF.png"/>
          <p:cNvPicPr>
            <a:picLocks noChangeAspect="1"/>
          </p:cNvPicPr>
          <p:nvPr/>
        </p:nvPicPr>
        <p:blipFill>
          <a:blip r:embed="rId4"/>
          <a:stretch>
            <a:fillRect/>
          </a:stretch>
        </p:blipFill>
        <p:spPr>
          <a:xfrm>
            <a:off x="6044183" y="2395728"/>
            <a:ext cx="457200" cy="457200"/>
          </a:xfrm>
          <a:prstGeom prst="rect">
            <a:avLst/>
          </a:prstGeom>
        </p:spPr>
      </p:pic>
      <p:sp>
        <p:nvSpPr>
          <p:cNvPr id="27" name="TextBox 26"/>
          <p:cNvSpPr txBox="1"/>
          <p:nvPr/>
        </p:nvSpPr>
        <p:spPr>
          <a:xfrm>
            <a:off x="5038343" y="3200400"/>
            <a:ext cx="2020824" cy="56692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Assign specialisation</a:t>
            </a:r>
          </a:p>
        </p:txBody>
      </p:sp>
      <p:sp>
        <p:nvSpPr>
          <p:cNvPr id="28" name="TextBox 27"/>
          <p:cNvSpPr txBox="1"/>
          <p:nvPr/>
        </p:nvSpPr>
        <p:spPr>
          <a:xfrm>
            <a:off x="5038343" y="3794760"/>
            <a:ext cx="2020824" cy="566928"/>
          </a:xfrm>
          <a:prstGeom prst="rect">
            <a:avLst/>
          </a:prstGeom>
          <a:noFill/>
        </p:spPr>
        <p:txBody>
          <a:bodyPr wrap="square" lIns="36576" rIns="36576" tIns="18288" bIns="18288" anchor="t">
            <a:spAutoFit/>
          </a:bodyPr>
          <a:lstStyle/>
          <a:p>
            <a:pPr algn="l">
              <a:lnSpc>
                <a:spcPct val="112000"/>
              </a:lnSpc>
            </a:pPr>
            <a:r>
              <a:rPr sz="1200" b="0" i="1">
                <a:solidFill>
                  <a:srgbClr val="C9C4B9"/>
                </a:solidFill>
                <a:latin typeface="Calibri"/>
              </a:rPr>
              <a:t>Which subagent suits each task best?</a:t>
            </a:r>
          </a:p>
        </p:txBody>
      </p:sp>
      <p:sp>
        <p:nvSpPr>
          <p:cNvPr id="29" name="Rounded Rectangle 28"/>
          <p:cNvSpPr/>
          <p:nvPr/>
        </p:nvSpPr>
        <p:spPr>
          <a:xfrm>
            <a:off x="4992623" y="4526280"/>
            <a:ext cx="2066543" cy="13716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9783" y="4617720"/>
            <a:ext cx="1792224"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KOPI KAKI</a:t>
            </a:r>
          </a:p>
        </p:txBody>
      </p:sp>
      <p:sp>
        <p:nvSpPr>
          <p:cNvPr id="31" name="TextBox 30"/>
          <p:cNvSpPr txBox="1"/>
          <p:nvPr/>
        </p:nvSpPr>
        <p:spPr>
          <a:xfrm>
            <a:off x="5129783" y="4864608"/>
            <a:ext cx="1792224" cy="96012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Researcher, scriptwriter, voice-over, producer, reviewer.</a:t>
            </a:r>
          </a:p>
        </p:txBody>
      </p:sp>
      <p:sp>
        <p:nvSpPr>
          <p:cNvPr id="32" name="Chevron 31"/>
          <p:cNvSpPr/>
          <p:nvPr/>
        </p:nvSpPr>
        <p:spPr>
          <a:xfrm>
            <a:off x="7214615" y="2194560"/>
            <a:ext cx="2157984" cy="868680"/>
          </a:xfrm>
          <a:prstGeom prst="chevron">
            <a:avLst/>
          </a:prstGeom>
          <a:solidFill>
            <a:srgbClr val="7A8B4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62088" y="2331720"/>
            <a:ext cx="640080" cy="594360"/>
          </a:xfrm>
          <a:prstGeom prst="rect">
            <a:avLst/>
          </a:prstGeom>
          <a:noFill/>
        </p:spPr>
        <p:txBody>
          <a:bodyPr wrap="square" lIns="36576" rIns="36576" tIns="18288" bIns="18288" anchor="ctr">
            <a:spAutoFit/>
          </a:bodyPr>
          <a:lstStyle/>
          <a:p>
            <a:pPr algn="l">
              <a:lnSpc>
                <a:spcPct val="112000"/>
              </a:lnSpc>
            </a:pPr>
            <a:r>
              <a:rPr sz="2400" b="1" i="0">
                <a:solidFill>
                  <a:srgbClr val="FFFFFF"/>
                </a:solidFill>
                <a:latin typeface="Cambria"/>
              </a:rPr>
              <a:t>04</a:t>
            </a:r>
          </a:p>
        </p:txBody>
      </p:sp>
      <p:pic>
        <p:nvPicPr>
          <p:cNvPr id="34" name="Picture 33" descr="file-FFFFFF.png"/>
          <p:cNvPicPr>
            <a:picLocks noChangeAspect="1"/>
          </p:cNvPicPr>
          <p:nvPr/>
        </p:nvPicPr>
        <p:blipFill>
          <a:blip r:embed="rId5"/>
          <a:stretch>
            <a:fillRect/>
          </a:stretch>
        </p:blipFill>
        <p:spPr>
          <a:xfrm>
            <a:off x="8266175" y="2395728"/>
            <a:ext cx="457200" cy="457200"/>
          </a:xfrm>
          <a:prstGeom prst="rect">
            <a:avLst/>
          </a:prstGeom>
        </p:spPr>
      </p:pic>
      <p:sp>
        <p:nvSpPr>
          <p:cNvPr id="35" name="TextBox 34"/>
          <p:cNvSpPr txBox="1"/>
          <p:nvPr/>
        </p:nvSpPr>
        <p:spPr>
          <a:xfrm>
            <a:off x="7260335" y="3200400"/>
            <a:ext cx="2020824" cy="56692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Define expected outputs</a:t>
            </a:r>
          </a:p>
        </p:txBody>
      </p:sp>
      <p:sp>
        <p:nvSpPr>
          <p:cNvPr id="36" name="TextBox 35"/>
          <p:cNvSpPr txBox="1"/>
          <p:nvPr/>
        </p:nvSpPr>
        <p:spPr>
          <a:xfrm>
            <a:off x="7260335" y="3794760"/>
            <a:ext cx="2020824" cy="566928"/>
          </a:xfrm>
          <a:prstGeom prst="rect">
            <a:avLst/>
          </a:prstGeom>
          <a:noFill/>
        </p:spPr>
        <p:txBody>
          <a:bodyPr wrap="square" lIns="36576" rIns="36576" tIns="18288" bIns="18288" anchor="t">
            <a:spAutoFit/>
          </a:bodyPr>
          <a:lstStyle/>
          <a:p>
            <a:pPr algn="l">
              <a:lnSpc>
                <a:spcPct val="112000"/>
              </a:lnSpc>
            </a:pPr>
            <a:r>
              <a:rPr sz="1200" b="0" i="1">
                <a:solidFill>
                  <a:srgbClr val="C9C4B9"/>
                </a:solidFill>
                <a:latin typeface="Calibri"/>
              </a:rPr>
              <a:t>What should each subagent return?</a:t>
            </a:r>
          </a:p>
        </p:txBody>
      </p:sp>
      <p:sp>
        <p:nvSpPr>
          <p:cNvPr id="37" name="Rounded Rectangle 36"/>
          <p:cNvSpPr/>
          <p:nvPr/>
        </p:nvSpPr>
        <p:spPr>
          <a:xfrm>
            <a:off x="7214615" y="4526280"/>
            <a:ext cx="2066543" cy="13716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351775" y="4617720"/>
            <a:ext cx="1792224"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KOPI KAKI</a:t>
            </a:r>
          </a:p>
        </p:txBody>
      </p:sp>
      <p:sp>
        <p:nvSpPr>
          <p:cNvPr id="39" name="TextBox 38"/>
          <p:cNvSpPr txBox="1"/>
          <p:nvPr/>
        </p:nvSpPr>
        <p:spPr>
          <a:xfrm>
            <a:off x="7351775" y="4864608"/>
            <a:ext cx="1792224" cy="96012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research.md · script.md · narration · MP4 · review notes.</a:t>
            </a:r>
          </a:p>
        </p:txBody>
      </p:sp>
      <p:sp>
        <p:nvSpPr>
          <p:cNvPr id="40" name="Chevron 39"/>
          <p:cNvSpPr/>
          <p:nvPr/>
        </p:nvSpPr>
        <p:spPr>
          <a:xfrm>
            <a:off x="9436607" y="2194560"/>
            <a:ext cx="2157984" cy="868680"/>
          </a:xfrm>
          <a:prstGeom prst="chevron">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784080" y="2331720"/>
            <a:ext cx="640080" cy="594360"/>
          </a:xfrm>
          <a:prstGeom prst="rect">
            <a:avLst/>
          </a:prstGeom>
          <a:noFill/>
        </p:spPr>
        <p:txBody>
          <a:bodyPr wrap="square" lIns="36576" rIns="36576" tIns="18288" bIns="18288" anchor="ctr">
            <a:spAutoFit/>
          </a:bodyPr>
          <a:lstStyle/>
          <a:p>
            <a:pPr algn="l">
              <a:lnSpc>
                <a:spcPct val="112000"/>
              </a:lnSpc>
            </a:pPr>
            <a:r>
              <a:rPr sz="2400" b="1" i="0">
                <a:solidFill>
                  <a:srgbClr val="FFFFFF"/>
                </a:solidFill>
                <a:latin typeface="Cambria"/>
              </a:rPr>
              <a:t>05</a:t>
            </a:r>
          </a:p>
        </p:txBody>
      </p:sp>
      <p:pic>
        <p:nvPicPr>
          <p:cNvPr id="42" name="Picture 41" descr="clipboard-FFFFFF.png"/>
          <p:cNvPicPr>
            <a:picLocks noChangeAspect="1"/>
          </p:cNvPicPr>
          <p:nvPr/>
        </p:nvPicPr>
        <p:blipFill>
          <a:blip r:embed="rId6"/>
          <a:stretch>
            <a:fillRect/>
          </a:stretch>
        </p:blipFill>
        <p:spPr>
          <a:xfrm>
            <a:off x="10488167" y="2395728"/>
            <a:ext cx="457200" cy="457200"/>
          </a:xfrm>
          <a:prstGeom prst="rect">
            <a:avLst/>
          </a:prstGeom>
        </p:spPr>
      </p:pic>
      <p:sp>
        <p:nvSpPr>
          <p:cNvPr id="43" name="TextBox 42"/>
          <p:cNvSpPr txBox="1"/>
          <p:nvPr/>
        </p:nvSpPr>
        <p:spPr>
          <a:xfrm>
            <a:off x="9482328" y="3200400"/>
            <a:ext cx="2020824" cy="566928"/>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Plan aggregation</a:t>
            </a:r>
          </a:p>
        </p:txBody>
      </p:sp>
      <p:sp>
        <p:nvSpPr>
          <p:cNvPr id="44" name="TextBox 43"/>
          <p:cNvSpPr txBox="1"/>
          <p:nvPr/>
        </p:nvSpPr>
        <p:spPr>
          <a:xfrm>
            <a:off x="9482328" y="3794760"/>
            <a:ext cx="2020824" cy="566928"/>
          </a:xfrm>
          <a:prstGeom prst="rect">
            <a:avLst/>
          </a:prstGeom>
          <a:noFill/>
        </p:spPr>
        <p:txBody>
          <a:bodyPr wrap="square" lIns="36576" rIns="36576" tIns="18288" bIns="18288" anchor="t">
            <a:spAutoFit/>
          </a:bodyPr>
          <a:lstStyle/>
          <a:p>
            <a:pPr algn="l">
              <a:lnSpc>
                <a:spcPct val="112000"/>
              </a:lnSpc>
            </a:pPr>
            <a:r>
              <a:rPr sz="1200" b="0" i="1">
                <a:solidFill>
                  <a:srgbClr val="C9C4B9"/>
                </a:solidFill>
                <a:latin typeface="Calibri"/>
              </a:rPr>
              <a:t>How will the coordinator combine the results?</a:t>
            </a:r>
          </a:p>
        </p:txBody>
      </p:sp>
      <p:sp>
        <p:nvSpPr>
          <p:cNvPr id="45" name="Rounded Rectangle 44"/>
          <p:cNvSpPr/>
          <p:nvPr/>
        </p:nvSpPr>
        <p:spPr>
          <a:xfrm>
            <a:off x="9436607" y="4526280"/>
            <a:ext cx="2066543" cy="13716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573767" y="4617720"/>
            <a:ext cx="1792224" cy="22860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KOPI KAKI</a:t>
            </a:r>
          </a:p>
        </p:txBody>
      </p:sp>
      <p:sp>
        <p:nvSpPr>
          <p:cNvPr id="47" name="TextBox 46"/>
          <p:cNvSpPr txBox="1"/>
          <p:nvPr/>
        </p:nvSpPr>
        <p:spPr>
          <a:xfrm>
            <a:off x="9573767" y="4864608"/>
            <a:ext cx="1792224" cy="960120"/>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Mia follows the board; your two HUMAN cards close each stage.</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SUBAGENTS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Subagents Are Hired for One Job, Then Released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coordinator spawns a subagent through a task tool. In Hermes that tool is delegate_task.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107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Oval 7"/>
          <p:cNvSpPr/>
          <p:nvPr/>
        </p:nvSpPr>
        <p:spPr>
          <a:xfrm>
            <a:off x="1645919" y="2148840"/>
            <a:ext cx="1097280" cy="10972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1909267" y="2412187"/>
            <a:ext cx="570585" cy="570585"/>
          </a:xfrm>
          <a:prstGeom prst="rect">
            <a:avLst/>
          </a:prstGeom>
        </p:spPr>
      </p:pic>
      <p:cxnSp>
        <p:nvCxnSpPr>
          <p:cNvPr id="10" name="Connector 9"/>
          <p:cNvCxnSpPr/>
          <p:nvPr/>
        </p:nvCxnSpPr>
        <p:spPr>
          <a:xfrm>
            <a:off x="2926080" y="2697480"/>
            <a:ext cx="2441448" cy="0"/>
          </a:xfrm>
          <a:prstGeom prst="line">
            <a:avLst/>
          </a:prstGeom>
          <a:ln w="31750">
            <a:solidFill>
              <a:srgbClr val="E8E5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3337560"/>
            <a:ext cx="3474720" cy="347472"/>
          </a:xfrm>
          <a:prstGeom prst="rect">
            <a:avLst/>
          </a:prstGeom>
          <a:noFill/>
        </p:spPr>
        <p:txBody>
          <a:bodyPr wrap="square" lIns="36576" rIns="36576" tIns="18288" bIns="18288" anchor="t">
            <a:spAutoFit/>
          </a:bodyPr>
          <a:lstStyle/>
          <a:p>
            <a:pPr algn="ctr">
              <a:lnSpc>
                <a:spcPct val="112000"/>
              </a:lnSpc>
            </a:pPr>
            <a:r>
              <a:rPr sz="1600" b="1" i="0">
                <a:solidFill>
                  <a:srgbClr val="FFFFFF"/>
                </a:solidFill>
                <a:latin typeface="Cambria"/>
              </a:rPr>
              <a:t>Coordinator</a:t>
            </a:r>
          </a:p>
        </p:txBody>
      </p:sp>
      <p:sp>
        <p:nvSpPr>
          <p:cNvPr id="12" name="TextBox 11"/>
          <p:cNvSpPr txBox="1"/>
          <p:nvPr/>
        </p:nvSpPr>
        <p:spPr>
          <a:xfrm>
            <a:off x="548639" y="3703320"/>
            <a:ext cx="3291840" cy="566928"/>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Mia writes the goal and every fact the helper needs.</a:t>
            </a:r>
          </a:p>
        </p:txBody>
      </p:sp>
      <p:sp>
        <p:nvSpPr>
          <p:cNvPr id="13" name="Oval 12"/>
          <p:cNvSpPr/>
          <p:nvPr/>
        </p:nvSpPr>
        <p:spPr>
          <a:xfrm>
            <a:off x="5550408" y="2148840"/>
            <a:ext cx="1097280" cy="10972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5813755" y="2412187"/>
            <a:ext cx="570585" cy="570585"/>
          </a:xfrm>
          <a:prstGeom prst="rect">
            <a:avLst/>
          </a:prstGeom>
        </p:spPr>
      </p:pic>
      <p:cxnSp>
        <p:nvCxnSpPr>
          <p:cNvPr id="15" name="Connector 14"/>
          <p:cNvCxnSpPr/>
          <p:nvPr/>
        </p:nvCxnSpPr>
        <p:spPr>
          <a:xfrm>
            <a:off x="6830568" y="2697480"/>
            <a:ext cx="2441447" cy="0"/>
          </a:xfrm>
          <a:prstGeom prst="line">
            <a:avLst/>
          </a:prstGeom>
          <a:ln w="31750">
            <a:solidFill>
              <a:srgbClr val="E8E5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61688" y="3337560"/>
            <a:ext cx="3474720" cy="347472"/>
          </a:xfrm>
          <a:prstGeom prst="rect">
            <a:avLst/>
          </a:prstGeom>
          <a:noFill/>
        </p:spPr>
        <p:txBody>
          <a:bodyPr wrap="square" lIns="36576" rIns="36576" tIns="18288" bIns="18288" anchor="t">
            <a:spAutoFit/>
          </a:bodyPr>
          <a:lstStyle/>
          <a:p>
            <a:pPr algn="ctr">
              <a:lnSpc>
                <a:spcPct val="112000"/>
              </a:lnSpc>
            </a:pPr>
            <a:r>
              <a:rPr sz="1600" b="1" i="0">
                <a:solidFill>
                  <a:srgbClr val="FFFFFF"/>
                </a:solidFill>
                <a:latin typeface="Cambria"/>
              </a:rPr>
              <a:t>Task tool · delegate_task</a:t>
            </a:r>
          </a:p>
        </p:txBody>
      </p:sp>
      <p:sp>
        <p:nvSpPr>
          <p:cNvPr id="17" name="TextBox 16"/>
          <p:cNvSpPr txBox="1"/>
          <p:nvPr/>
        </p:nvSpPr>
        <p:spPr>
          <a:xfrm>
            <a:off x="4453128" y="3703320"/>
            <a:ext cx="3291840" cy="566928"/>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Starts the helper with that goal and context: up to 10 at once by default.</a:t>
            </a:r>
          </a:p>
        </p:txBody>
      </p:sp>
      <p:sp>
        <p:nvSpPr>
          <p:cNvPr id="18" name="Oval 17"/>
          <p:cNvSpPr/>
          <p:nvPr/>
        </p:nvSpPr>
        <p:spPr>
          <a:xfrm>
            <a:off x="9454896" y="2148840"/>
            <a:ext cx="1097280" cy="10972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FFFFFF.png"/>
          <p:cNvPicPr>
            <a:picLocks noChangeAspect="1"/>
          </p:cNvPicPr>
          <p:nvPr/>
        </p:nvPicPr>
        <p:blipFill>
          <a:blip r:embed="rId4"/>
          <a:stretch>
            <a:fillRect/>
          </a:stretch>
        </p:blipFill>
        <p:spPr>
          <a:xfrm>
            <a:off x="9718243" y="2412187"/>
            <a:ext cx="570585" cy="570585"/>
          </a:xfrm>
          <a:prstGeom prst="rect">
            <a:avLst/>
          </a:prstGeom>
        </p:spPr>
      </p:pic>
      <p:sp>
        <p:nvSpPr>
          <p:cNvPr id="20" name="TextBox 19"/>
          <p:cNvSpPr txBox="1"/>
          <p:nvPr/>
        </p:nvSpPr>
        <p:spPr>
          <a:xfrm>
            <a:off x="8266175" y="3337560"/>
            <a:ext cx="3474720" cy="347472"/>
          </a:xfrm>
          <a:prstGeom prst="rect">
            <a:avLst/>
          </a:prstGeom>
          <a:noFill/>
        </p:spPr>
        <p:txBody>
          <a:bodyPr wrap="square" lIns="36576" rIns="36576" tIns="18288" bIns="18288" anchor="t">
            <a:spAutoFit/>
          </a:bodyPr>
          <a:lstStyle/>
          <a:p>
            <a:pPr algn="ctr">
              <a:lnSpc>
                <a:spcPct val="112000"/>
              </a:lnSpc>
            </a:pPr>
            <a:r>
              <a:rPr sz="1600" b="1" i="0">
                <a:solidFill>
                  <a:srgbClr val="FFFFFF"/>
                </a:solidFill>
                <a:latin typeface="Cambria"/>
              </a:rPr>
              <a:t>Subagent</a:t>
            </a:r>
          </a:p>
        </p:txBody>
      </p:sp>
      <p:sp>
        <p:nvSpPr>
          <p:cNvPr id="21" name="TextBox 20"/>
          <p:cNvSpPr txBox="1"/>
          <p:nvPr/>
        </p:nvSpPr>
        <p:spPr>
          <a:xfrm>
            <a:off x="8357615" y="3703320"/>
            <a:ext cx="3291840" cy="566928"/>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Starts with a blank conversation and Mia’s tools; returns only a summary.</a:t>
            </a:r>
          </a:p>
        </p:txBody>
      </p:sp>
      <p:sp>
        <p:nvSpPr>
          <p:cNvPr id="22" name="TextBox 21"/>
          <p:cNvSpPr txBox="1"/>
          <p:nvPr/>
        </p:nvSpPr>
        <p:spPr>
          <a:xfrm>
            <a:off x="548640" y="4315968"/>
            <a:ext cx="11064240" cy="292608"/>
          </a:xfrm>
          <a:prstGeom prst="rect">
            <a:avLst/>
          </a:prstGeom>
          <a:noFill/>
        </p:spPr>
        <p:txBody>
          <a:bodyPr wrap="square" lIns="36576" rIns="36576" tIns="18288" bIns="18288" anchor="t">
            <a:spAutoFit/>
          </a:bodyPr>
          <a:lstStyle/>
          <a:p>
            <a:pPr algn="ctr">
              <a:lnSpc>
                <a:spcPct val="112000"/>
              </a:lnSpc>
            </a:pPr>
            <a:r>
              <a:rPr sz="1300" b="0" i="1">
                <a:solidFill>
                  <a:srgbClr val="E8E5DE"/>
                </a:solidFill>
                <a:latin typeface="Calibri"/>
              </a:rPr>
              <a:t>Subagents are spawned on demand. Your named bots are hired once.</a:t>
            </a:r>
          </a:p>
        </p:txBody>
      </p:sp>
      <p:sp>
        <p:nvSpPr>
          <p:cNvPr id="23" name="Rounded Rectangle 22"/>
          <p:cNvSpPr/>
          <p:nvPr/>
        </p:nvSpPr>
        <p:spPr>
          <a:xfrm>
            <a:off x="548640" y="4754880"/>
            <a:ext cx="5440680" cy="11430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48640" y="4754880"/>
            <a:ext cx="82296" cy="1143000"/>
          </a:xfrm>
          <a:prstGeom prst="rect">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59" y="4846320"/>
            <a:ext cx="1463040" cy="256032"/>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SUBAGENT</a:t>
            </a:r>
          </a:p>
        </p:txBody>
      </p:sp>
      <p:sp>
        <p:nvSpPr>
          <p:cNvPr id="26" name="TextBox 25"/>
          <p:cNvSpPr txBox="1"/>
          <p:nvPr/>
        </p:nvSpPr>
        <p:spPr>
          <a:xfrm>
            <a:off x="2286000" y="4818888"/>
            <a:ext cx="3566160"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Spawned for one job</a:t>
            </a:r>
          </a:p>
        </p:txBody>
      </p:sp>
      <p:sp>
        <p:nvSpPr>
          <p:cNvPr id="27" name="TextBox 26"/>
          <p:cNvSpPr txBox="1"/>
          <p:nvPr/>
        </p:nvSpPr>
        <p:spPr>
          <a:xfrm>
            <a:off x="822959" y="5212080"/>
            <a:ext cx="5029200" cy="59436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Blank memory · Mia’s tools · reports a summary · gone when the job ends.</a:t>
            </a:r>
          </a:p>
        </p:txBody>
      </p:sp>
      <p:sp>
        <p:nvSpPr>
          <p:cNvPr id="28" name="Rounded Rectangle 27"/>
          <p:cNvSpPr/>
          <p:nvPr/>
        </p:nvSpPr>
        <p:spPr>
          <a:xfrm>
            <a:off x="6172200" y="4754880"/>
            <a:ext cx="5440680" cy="11430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172200" y="4754880"/>
            <a:ext cx="82296" cy="11430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46520" y="4846320"/>
            <a:ext cx="1463040" cy="256032"/>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NAMED BOT</a:t>
            </a:r>
          </a:p>
        </p:txBody>
      </p:sp>
      <p:sp>
        <p:nvSpPr>
          <p:cNvPr id="31" name="TextBox 30"/>
          <p:cNvSpPr txBox="1"/>
          <p:nvPr/>
        </p:nvSpPr>
        <p:spPr>
          <a:xfrm>
            <a:off x="7909560" y="4818888"/>
            <a:ext cx="3566160" cy="310896"/>
          </a:xfrm>
          <a:prstGeom prst="rect">
            <a:avLst/>
          </a:prstGeom>
          <a:noFill/>
        </p:spPr>
        <p:txBody>
          <a:bodyPr wrap="square" lIns="36576" rIns="36576" tIns="18288" bIns="18288" anchor="t">
            <a:spAutoFit/>
          </a:bodyPr>
          <a:lstStyle/>
          <a:p>
            <a:pPr algn="l">
              <a:lnSpc>
                <a:spcPct val="112000"/>
              </a:lnSpc>
            </a:pPr>
            <a:r>
              <a:rPr sz="1400" b="1" i="0">
                <a:solidFill>
                  <a:srgbClr val="FFFFFF"/>
                </a:solidFill>
                <a:latin typeface="Cambria"/>
              </a:rPr>
              <a:t>Rafi, Lin, the video team</a:t>
            </a:r>
          </a:p>
        </p:txBody>
      </p:sp>
      <p:sp>
        <p:nvSpPr>
          <p:cNvPr id="32" name="TextBox 31"/>
          <p:cNvSpPr txBox="1"/>
          <p:nvPr/>
        </p:nvSpPr>
        <p:spPr>
          <a:xfrm>
            <a:off x="6446520" y="5212080"/>
            <a:ext cx="5029200" cy="59436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Hired once · keeps its role, memory and chat · you @mention it again tomorrow.</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BOTS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Hire a Bot in 30 Seconds: Name, Title, Role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620098" y="1682496"/>
            <a:ext cx="47150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t-edit-profile.png"/>
          <p:cNvPicPr>
            <a:picLocks noChangeAspect="1"/>
          </p:cNvPicPr>
          <p:nvPr/>
        </p:nvPicPr>
        <p:blipFill>
          <a:blip r:embed="rId2"/>
          <a:stretch>
            <a:fillRect/>
          </a:stretch>
        </p:blipFill>
        <p:spPr>
          <a:xfrm>
            <a:off x="1674962" y="1737360"/>
            <a:ext cx="4605355"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Bots tab </a:t>
            </a:r>
            <a:r>
              <a:rPr sz="1500" b="1" i="0">
                <a:solidFill>
                  <a:srgbClr val="21201C"/>
                </a:solidFill>
                <a:latin typeface="Calibri"/>
              </a:rPr>
              <a:t>→</a:t>
            </a:r>
            <a:r>
              <a:rPr sz="1500" b="1" i="0">
                <a:solidFill>
                  <a:srgbClr val="21201C"/>
                </a:solidFill>
                <a:latin typeface="Cambria"/>
              </a:rPr>
              <a:t> New Agent</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fields: Name, Title, Description. The bot introduces itself.</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le-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Advanced</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Paste its role file as Custom SOUL.md; pick its model, skills and tools.</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parkles-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Give it a face</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Right-click → Edit Profile: Bot, Generate, Upload or a Pet.</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 bot is a Hermes profile with a name you can @mention: its own role, model, memory and skills, and one permanent Bot Chat.</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GROUP CHATS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Put Your Bots in One Room and Let Them Hand Off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651751" y="1682496"/>
            <a:ext cx="6651776"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t-group-chat.png"/>
          <p:cNvPicPr>
            <a:picLocks noChangeAspect="1"/>
          </p:cNvPicPr>
          <p:nvPr/>
        </p:nvPicPr>
        <p:blipFill>
          <a:blip r:embed="rId2"/>
          <a:stretch>
            <a:fillRect/>
          </a:stretch>
        </p:blipFill>
        <p:spPr>
          <a:xfrm>
            <a:off x="706615" y="1737360"/>
            <a:ext cx="6542048"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Manage groups</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Right-click a bot → Manage groups → create one. 2–6 bots per room.</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@name hands off</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Bots pull teammates in with @name; @user asks you to decide.</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hiel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Built-in brakes</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 to 3 rounds and 10 messages per send. Stop, Rename, Disband.</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Trainer’s test room: Eve and Dalong answer the same message and tag each other. Your room has five marketers.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Meet the Kopi Social Team: Five Names, Five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each bot a name you will remember and a role it cannot misread. They share one group chat; you have the final word.</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1691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8913" y="2536545"/>
            <a:ext cx="285292" cy="285292"/>
          </a:xfrm>
          <a:prstGeom prst="rect">
            <a:avLst/>
          </a:prstGeom>
        </p:spPr>
      </p:pic>
      <p:sp>
        <p:nvSpPr>
          <p:cNvPr id="11" name="TextBox 10"/>
          <p:cNvSpPr txBox="1"/>
          <p:nvPr/>
        </p:nvSpPr>
        <p:spPr>
          <a:xfrm>
            <a:off x="1508760"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Rafi</a:t>
            </a:r>
          </a:p>
        </p:txBody>
      </p:sp>
      <p:sp>
        <p:nvSpPr>
          <p:cNvPr id="12" name="TextBox 11"/>
          <p:cNvSpPr txBox="1"/>
          <p:nvPr/>
        </p:nvSpPr>
        <p:spPr>
          <a:xfrm>
            <a:off x="1508760"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MARKET RESEARCHER</a:t>
            </a:r>
          </a:p>
        </p:txBody>
      </p:sp>
      <p:sp>
        <p:nvSpPr>
          <p:cNvPr id="13" name="TextBox 12"/>
          <p:cNvSpPr txBox="1"/>
          <p:nvPr/>
        </p:nvSpPr>
        <p:spPr>
          <a:xfrm>
            <a:off x="777240"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Angles and facts, each with its source file. Goes first.</a:t>
            </a:r>
          </a:p>
        </p:txBody>
      </p:sp>
      <p:sp>
        <p:nvSpPr>
          <p:cNvPr id="14" name="Rounded Rectangle 13"/>
          <p:cNvSpPr/>
          <p:nvPr/>
        </p:nvSpPr>
        <p:spPr>
          <a:xfrm>
            <a:off x="4297679" y="214884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26279"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nkedin-FFFFFF.png"/>
          <p:cNvPicPr>
            <a:picLocks noChangeAspect="1"/>
          </p:cNvPicPr>
          <p:nvPr/>
        </p:nvPicPr>
        <p:blipFill>
          <a:blip r:embed="rId3"/>
          <a:stretch>
            <a:fillRect/>
          </a:stretch>
        </p:blipFill>
        <p:spPr>
          <a:xfrm>
            <a:off x="4657953" y="2536545"/>
            <a:ext cx="285292" cy="285292"/>
          </a:xfrm>
          <a:prstGeom prst="rect">
            <a:avLst/>
          </a:prstGeom>
        </p:spPr>
      </p:pic>
      <p:sp>
        <p:nvSpPr>
          <p:cNvPr id="17" name="TextBox 16"/>
          <p:cNvSpPr txBox="1"/>
          <p:nvPr/>
        </p:nvSpPr>
        <p:spPr>
          <a:xfrm>
            <a:off x="5257799"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Lin</a:t>
            </a:r>
          </a:p>
        </p:txBody>
      </p:sp>
      <p:sp>
        <p:nvSpPr>
          <p:cNvPr id="18" name="TextBox 17"/>
          <p:cNvSpPr txBox="1"/>
          <p:nvPr/>
        </p:nvSpPr>
        <p:spPr>
          <a:xfrm>
            <a:off x="5257799"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LINKEDIN WRITER</a:t>
            </a:r>
          </a:p>
        </p:txBody>
      </p:sp>
      <p:sp>
        <p:nvSpPr>
          <p:cNvPr id="19" name="TextBox 18"/>
          <p:cNvSpPr txBox="1"/>
          <p:nvPr/>
        </p:nvSpPr>
        <p:spPr>
          <a:xfrm>
            <a:off x="4526279"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founder story for investors and catering buyers.</a:t>
            </a:r>
          </a:p>
        </p:txBody>
      </p:sp>
      <p:sp>
        <p:nvSpPr>
          <p:cNvPr id="20" name="Rounded Rectangle 19"/>
          <p:cNvSpPr/>
          <p:nvPr/>
        </p:nvSpPr>
        <p:spPr>
          <a:xfrm>
            <a:off x="8046719" y="214884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75319" y="24048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s-FFFFFF.png"/>
          <p:cNvPicPr>
            <a:picLocks noChangeAspect="1"/>
          </p:cNvPicPr>
          <p:nvPr/>
        </p:nvPicPr>
        <p:blipFill>
          <a:blip r:embed="rId4"/>
          <a:stretch>
            <a:fillRect/>
          </a:stretch>
        </p:blipFill>
        <p:spPr>
          <a:xfrm>
            <a:off x="8406993" y="2536545"/>
            <a:ext cx="285292" cy="285292"/>
          </a:xfrm>
          <a:prstGeom prst="rect">
            <a:avLst/>
          </a:prstGeom>
        </p:spPr>
      </p:pic>
      <p:sp>
        <p:nvSpPr>
          <p:cNvPr id="23" name="TextBox 22"/>
          <p:cNvSpPr txBox="1"/>
          <p:nvPr/>
        </p:nvSpPr>
        <p:spPr>
          <a:xfrm>
            <a:off x="9006840" y="233172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Farah</a:t>
            </a:r>
          </a:p>
        </p:txBody>
      </p:sp>
      <p:sp>
        <p:nvSpPr>
          <p:cNvPr id="24" name="TextBox 23"/>
          <p:cNvSpPr txBox="1"/>
          <p:nvPr/>
        </p:nvSpPr>
        <p:spPr>
          <a:xfrm>
            <a:off x="9006840" y="275234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FACEBOOK WRITER</a:t>
            </a:r>
          </a:p>
        </p:txBody>
      </p:sp>
      <p:sp>
        <p:nvSpPr>
          <p:cNvPr id="25" name="TextBox 24"/>
          <p:cNvSpPr txBox="1"/>
          <p:nvPr/>
        </p:nvSpPr>
        <p:spPr>
          <a:xfrm>
            <a:off x="8275319" y="310896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Neighbours, pop-up dates and the 1 Dec opening.</a:t>
            </a:r>
          </a:p>
        </p:txBody>
      </p:sp>
      <p:sp>
        <p:nvSpPr>
          <p:cNvPr id="26" name="Rounded Rectangle 25"/>
          <p:cNvSpPr/>
          <p:nvPr/>
        </p:nvSpPr>
        <p:spPr>
          <a:xfrm>
            <a:off x="548640" y="402336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77240" y="42793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image-FFFFFF.png"/>
          <p:cNvPicPr>
            <a:picLocks noChangeAspect="1"/>
          </p:cNvPicPr>
          <p:nvPr/>
        </p:nvPicPr>
        <p:blipFill>
          <a:blip r:embed="rId5"/>
          <a:stretch>
            <a:fillRect/>
          </a:stretch>
        </p:blipFill>
        <p:spPr>
          <a:xfrm>
            <a:off x="908913" y="4411065"/>
            <a:ext cx="285292" cy="285292"/>
          </a:xfrm>
          <a:prstGeom prst="rect">
            <a:avLst/>
          </a:prstGeom>
        </p:spPr>
      </p:pic>
      <p:sp>
        <p:nvSpPr>
          <p:cNvPr id="29" name="TextBox 28"/>
          <p:cNvSpPr txBox="1"/>
          <p:nvPr/>
        </p:nvSpPr>
        <p:spPr>
          <a:xfrm>
            <a:off x="1508760"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Ivy</a:t>
            </a:r>
          </a:p>
        </p:txBody>
      </p:sp>
      <p:sp>
        <p:nvSpPr>
          <p:cNvPr id="30" name="TextBox 29"/>
          <p:cNvSpPr txBox="1"/>
          <p:nvPr/>
        </p:nvSpPr>
        <p:spPr>
          <a:xfrm>
            <a:off x="1508760"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INSTAGRAM WRITER</a:t>
            </a:r>
          </a:p>
        </p:txBody>
      </p:sp>
      <p:sp>
        <p:nvSpPr>
          <p:cNvPr id="31" name="TextBox 30"/>
          <p:cNvSpPr txBox="1"/>
          <p:nvPr/>
        </p:nvSpPr>
        <p:spPr>
          <a:xfrm>
            <a:off x="777240"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scroll-stopping hook, caption and hashtags.</a:t>
            </a:r>
          </a:p>
        </p:txBody>
      </p:sp>
      <p:sp>
        <p:nvSpPr>
          <p:cNvPr id="32" name="Rounded Rectangle 31"/>
          <p:cNvSpPr/>
          <p:nvPr/>
        </p:nvSpPr>
        <p:spPr>
          <a:xfrm>
            <a:off x="4297679" y="4023360"/>
            <a:ext cx="3566160" cy="1691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26279" y="42793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parkles-FFFFFF.png"/>
          <p:cNvPicPr>
            <a:picLocks noChangeAspect="1"/>
          </p:cNvPicPr>
          <p:nvPr/>
        </p:nvPicPr>
        <p:blipFill>
          <a:blip r:embed="rId6"/>
          <a:stretch>
            <a:fillRect/>
          </a:stretch>
        </p:blipFill>
        <p:spPr>
          <a:xfrm>
            <a:off x="4657953" y="4411065"/>
            <a:ext cx="285292" cy="285292"/>
          </a:xfrm>
          <a:prstGeom prst="rect">
            <a:avLst/>
          </a:prstGeom>
        </p:spPr>
      </p:pic>
      <p:sp>
        <p:nvSpPr>
          <p:cNvPr id="35" name="TextBox 34"/>
          <p:cNvSpPr txBox="1"/>
          <p:nvPr/>
        </p:nvSpPr>
        <p:spPr>
          <a:xfrm>
            <a:off x="5257799"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Pixel</a:t>
            </a:r>
          </a:p>
        </p:txBody>
      </p:sp>
      <p:sp>
        <p:nvSpPr>
          <p:cNvPr id="36" name="TextBox 35"/>
          <p:cNvSpPr txBox="1"/>
          <p:nvPr/>
        </p:nvSpPr>
        <p:spPr>
          <a:xfrm>
            <a:off x="5257799"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IMAGE CREATOR</a:t>
            </a:r>
          </a:p>
        </p:txBody>
      </p:sp>
      <p:sp>
        <p:nvSpPr>
          <p:cNvPr id="37" name="TextBox 36"/>
          <p:cNvSpPr txBox="1"/>
          <p:nvPr/>
        </p:nvSpPr>
        <p:spPr>
          <a:xfrm>
            <a:off x="4526279"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on-brand image per post and the review gallery.</a:t>
            </a:r>
          </a:p>
        </p:txBody>
      </p:sp>
      <p:sp>
        <p:nvSpPr>
          <p:cNvPr id="38" name="Rounded Rectangle 37"/>
          <p:cNvSpPr/>
          <p:nvPr/>
        </p:nvSpPr>
        <p:spPr>
          <a:xfrm>
            <a:off x="8046719" y="4023360"/>
            <a:ext cx="3566160" cy="16916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275319" y="4279392"/>
            <a:ext cx="548640" cy="548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user-C2603F.png"/>
          <p:cNvPicPr>
            <a:picLocks noChangeAspect="1"/>
          </p:cNvPicPr>
          <p:nvPr/>
        </p:nvPicPr>
        <p:blipFill>
          <a:blip r:embed="rId7"/>
          <a:stretch>
            <a:fillRect/>
          </a:stretch>
        </p:blipFill>
        <p:spPr>
          <a:xfrm>
            <a:off x="8406993" y="4411065"/>
            <a:ext cx="285292" cy="285292"/>
          </a:xfrm>
          <a:prstGeom prst="rect">
            <a:avLst/>
          </a:prstGeom>
        </p:spPr>
      </p:pic>
      <p:sp>
        <p:nvSpPr>
          <p:cNvPr id="41" name="TextBox 40"/>
          <p:cNvSpPr txBox="1"/>
          <p:nvPr/>
        </p:nvSpPr>
        <p:spPr>
          <a:xfrm>
            <a:off x="9006840" y="4206240"/>
            <a:ext cx="2468880" cy="41148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You</a:t>
            </a:r>
          </a:p>
        </p:txBody>
      </p:sp>
      <p:sp>
        <p:nvSpPr>
          <p:cNvPr id="42" name="TextBox 41"/>
          <p:cNvSpPr txBox="1"/>
          <p:nvPr/>
        </p:nvSpPr>
        <p:spPr>
          <a:xfrm>
            <a:off x="9006840" y="4626864"/>
            <a:ext cx="2468880" cy="274320"/>
          </a:xfrm>
          <a:prstGeom prst="rect">
            <a:avLst/>
          </a:prstGeom>
          <a:noFill/>
        </p:spPr>
        <p:txBody>
          <a:bodyPr wrap="square" lIns="36576" rIns="36576" tIns="18288" bIns="18288" anchor="t">
            <a:spAutoFit/>
          </a:bodyPr>
          <a:lstStyle/>
          <a:p>
            <a:pPr algn="l">
              <a:lnSpc>
                <a:spcPct val="112000"/>
              </a:lnSpc>
            </a:pPr>
            <a:r>
              <a:rPr sz="1050" b="1" i="0">
                <a:solidFill>
                  <a:srgbClr val="E8E5DE"/>
                </a:solidFill>
                <a:latin typeface="Calibri"/>
              </a:rPr>
              <a:t>FOUNDER · @USER</a:t>
            </a:r>
          </a:p>
        </p:txBody>
      </p:sp>
      <p:sp>
        <p:nvSpPr>
          <p:cNvPr id="43" name="TextBox 42"/>
          <p:cNvSpPr txBox="1"/>
          <p:nvPr/>
        </p:nvSpPr>
        <p:spPr>
          <a:xfrm>
            <a:off x="8275319" y="4983480"/>
            <a:ext cx="3154680" cy="685800"/>
          </a:xfrm>
          <a:prstGeom prst="rect">
            <a:avLst/>
          </a:prstGeom>
          <a:noFill/>
        </p:spPr>
        <p:txBody>
          <a:bodyPr wrap="square" lIns="36576" rIns="36576" tIns="18288" bIns="18288" anchor="t">
            <a:spAutoFit/>
          </a:bodyPr>
          <a:lstStyle/>
          <a:p>
            <a:pPr algn="l">
              <a:lnSpc>
                <a:spcPct val="112000"/>
              </a:lnSpc>
            </a:pPr>
            <a:r>
              <a:rPr sz="1200" b="0" i="0">
                <a:solidFill>
                  <a:srgbClr val="C9C4B9"/>
                </a:solidFill>
                <a:latin typeface="Calibri"/>
              </a:rPr>
              <a:t>APPROVE, EDIT or REJECT every post. Nothing goes out without you.</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One Brief, Three Platforms, Three Voices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The same launch fact, written by the specialist for each audience.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nkedin-FFFFFF.png"/>
          <p:cNvPicPr>
            <a:picLocks noChangeAspect="1"/>
          </p:cNvPicPr>
          <p:nvPr/>
        </p:nvPicPr>
        <p:blipFill>
          <a:blip r:embed="rId2"/>
          <a:stretch>
            <a:fillRect/>
          </a:stretch>
        </p:blipFill>
        <p:spPr>
          <a:xfrm>
            <a:off x="945855" y="2591775"/>
            <a:ext cx="266273" cy="266273"/>
          </a:xfrm>
          <a:prstGeom prst="rect">
            <a:avLst/>
          </a:prstGeom>
        </p:spPr>
      </p:pic>
      <p:sp>
        <p:nvSpPr>
          <p:cNvPr id="11" name="TextBox 10"/>
          <p:cNvSpPr txBox="1"/>
          <p:nvPr/>
        </p:nvSpPr>
        <p:spPr>
          <a:xfrm>
            <a:off x="1508760"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LinkedIn</a:t>
            </a:r>
          </a:p>
        </p:txBody>
      </p:sp>
      <p:sp>
        <p:nvSpPr>
          <p:cNvPr id="12" name="TextBox 11"/>
          <p:cNvSpPr txBox="1"/>
          <p:nvPr/>
        </p:nvSpPr>
        <p:spPr>
          <a:xfrm>
            <a:off x="1508760"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Founder story</a:t>
            </a:r>
          </a:p>
        </p:txBody>
      </p:sp>
      <p:sp>
        <p:nvSpPr>
          <p:cNvPr id="13" name="TextBox 12"/>
          <p:cNvSpPr txBox="1"/>
          <p:nvPr/>
        </p:nvSpPr>
        <p:spPr>
          <a:xfrm>
            <a:off x="822959"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“I quit my bank job to bring back the kopitiam I grew up with. On 1 Dec our Tiong Bahru flagship opens…”</a:t>
            </a:r>
          </a:p>
        </p:txBody>
      </p:sp>
      <p:sp>
        <p:nvSpPr>
          <p:cNvPr id="14" name="Rounded Rectangle 13"/>
          <p:cNvSpPr/>
          <p:nvPr/>
        </p:nvSpPr>
        <p:spPr>
          <a:xfrm>
            <a:off x="4297679"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71999"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4694895" y="2591775"/>
            <a:ext cx="266273" cy="266273"/>
          </a:xfrm>
          <a:prstGeom prst="rect">
            <a:avLst/>
          </a:prstGeom>
        </p:spPr>
      </p:pic>
      <p:sp>
        <p:nvSpPr>
          <p:cNvPr id="17" name="TextBox 16"/>
          <p:cNvSpPr txBox="1"/>
          <p:nvPr/>
        </p:nvSpPr>
        <p:spPr>
          <a:xfrm>
            <a:off x="5257799"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Facebook</a:t>
            </a:r>
          </a:p>
        </p:txBody>
      </p:sp>
      <p:sp>
        <p:nvSpPr>
          <p:cNvPr id="18" name="TextBox 17"/>
          <p:cNvSpPr txBox="1"/>
          <p:nvPr/>
        </p:nvSpPr>
        <p:spPr>
          <a:xfrm>
            <a:off x="5257799"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The neighbourhood</a:t>
            </a:r>
          </a:p>
        </p:txBody>
      </p:sp>
      <p:sp>
        <p:nvSpPr>
          <p:cNvPr id="19" name="TextBox 18"/>
          <p:cNvSpPr txBox="1"/>
          <p:nvPr/>
        </p:nvSpPr>
        <p:spPr>
          <a:xfrm>
            <a:off x="4571999"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“Tiong Bahru kakis! Catch our last pop-up this Saturday, then come say hi on 1 Dec. Gula Melaka Cold Brew, SGD 6.80.”</a:t>
            </a:r>
          </a:p>
        </p:txBody>
      </p:sp>
      <p:sp>
        <p:nvSpPr>
          <p:cNvPr id="20" name="Rounded Rectangle 19"/>
          <p:cNvSpPr/>
          <p:nvPr/>
        </p:nvSpPr>
        <p:spPr>
          <a:xfrm>
            <a:off x="8046719" y="2240280"/>
            <a:ext cx="3566160" cy="338328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321040" y="246888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FFFFFF.png"/>
          <p:cNvPicPr>
            <a:picLocks noChangeAspect="1"/>
          </p:cNvPicPr>
          <p:nvPr/>
        </p:nvPicPr>
        <p:blipFill>
          <a:blip r:embed="rId4"/>
          <a:stretch>
            <a:fillRect/>
          </a:stretch>
        </p:blipFill>
        <p:spPr>
          <a:xfrm>
            <a:off x="8443935" y="2591775"/>
            <a:ext cx="266273" cy="266273"/>
          </a:xfrm>
          <a:prstGeom prst="rect">
            <a:avLst/>
          </a:prstGeom>
        </p:spPr>
      </p:pic>
      <p:sp>
        <p:nvSpPr>
          <p:cNvPr id="23" name="TextBox 22"/>
          <p:cNvSpPr txBox="1"/>
          <p:nvPr/>
        </p:nvSpPr>
        <p:spPr>
          <a:xfrm>
            <a:off x="9006840" y="2450592"/>
            <a:ext cx="2377440" cy="36576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Instagram</a:t>
            </a:r>
          </a:p>
        </p:txBody>
      </p:sp>
      <p:sp>
        <p:nvSpPr>
          <p:cNvPr id="24" name="TextBox 23"/>
          <p:cNvSpPr txBox="1"/>
          <p:nvPr/>
        </p:nvSpPr>
        <p:spPr>
          <a:xfrm>
            <a:off x="9006840" y="2816352"/>
            <a:ext cx="237744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The scroll-stopper</a:t>
            </a:r>
          </a:p>
        </p:txBody>
      </p:sp>
      <p:sp>
        <p:nvSpPr>
          <p:cNvPr id="25" name="TextBox 24"/>
          <p:cNvSpPr txBox="1"/>
          <p:nvPr/>
        </p:nvSpPr>
        <p:spPr>
          <a:xfrm>
            <a:off x="8321040" y="3337560"/>
            <a:ext cx="3017520" cy="21031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mbria"/>
              </a:rPr>
              <a:t>“Slow-brewed. Shiok cold. 12 hours, real gula melaka, coconut cream. #ShiokColdBrew”</a:t>
            </a:r>
          </a:p>
        </p:txBody>
      </p:sp>
      <p:sp>
        <p:nvSpPr>
          <p:cNvPr id="26" name="TextBox 25"/>
          <p:cNvSpPr txBox="1"/>
          <p:nvPr/>
        </p:nvSpPr>
        <p:spPr>
          <a:xfrm>
            <a:off x="548640" y="580644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C9C4B9"/>
                </a:solidFill>
                <a:latin typeface="Calibri"/>
              </a:rPr>
              <a:t>Sample copy for illustration. Your team writes its own from the brief, and you approve every post.</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Your Social Media Team: Five Bots in One Group Chat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Hire five bots with names and job titles, put them in one group chat, and post one brief. They hand off by @mention; you approve every post.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Two weeks to launch. LinkedIn needs a founder story for investors and corporate catering buyers, Facebook needs the neighbourhood and the pop-up dates, Instagram needs a scroll-stopping image. One agent writing all three sounds the same everywhere, so you hire a team of bots: each specialist owns one platform, they talk in one group chat, and you approve every post before anything goes public.</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  Five bots created with New Agent: Rafi (researcher), Lin (LinkedIn), Farah (Facebook), Ivy (Instagram), Pixel (images)</a:t>
            </a:r>
          </a:p>
          <a:p>
            <a:pPr algn="l">
              <a:lnSpc>
                <a:spcPct val="112000"/>
              </a:lnSpc>
            </a:pPr>
            <a:r>
              <a:rPr sz="1150" b="0" i="0">
                <a:solidFill>
                  <a:srgbClr val="6B6862"/>
                </a:solidFill>
                <a:latin typeface="Calibri"/>
              </a:rPr>
              <a:t>✓  A group chat 'Kopi Social Team' where the bots hand off by @mention and ask you (@user) for decisions</a:t>
            </a:r>
          </a:p>
          <a:p>
            <a:pPr algn="l">
              <a:lnSpc>
                <a:spcPct val="112000"/>
              </a:lnSpc>
            </a:pPr>
            <a:r>
              <a:rPr sz="1150" b="0" i="0">
                <a:solidFill>
                  <a:srgbClr val="6B6862"/>
                </a:solidFill>
                <a:latin typeface="Calibri"/>
              </a:rPr>
              <a:t>✓  outputs/social/research.md, linkedin.md, facebook.md, instagram.md and images/*.png</a:t>
            </a:r>
          </a:p>
          <a:p>
            <a:pPr algn="l">
              <a:lnSpc>
                <a:spcPct val="112000"/>
              </a:lnSpc>
            </a:pPr>
            <a:r>
              <a:rPr sz="1150" b="0" i="0">
                <a:solidFill>
                  <a:srgbClr val="6B6862"/>
                </a:solidFill>
                <a:latin typeface="Calibri"/>
              </a:rPr>
              <a:t>✓  outputs/social/gallery.html — every post shown as it would appear on its platform</a:t>
            </a:r>
          </a:p>
          <a:p>
            <a:pPr algn="l">
              <a:lnSpc>
                <a:spcPct val="112000"/>
              </a:lnSpc>
            </a:pPr>
            <a:r>
              <a:rPr sz="1150" b="0" i="0">
                <a:solidFill>
                  <a:srgbClr val="6B6862"/>
                </a:solidFill>
                <a:latin typeface="Calibri"/>
              </a:rPr>
              <a:t>✓  outputs/social/approval-log.md — APPROVE / EDIT / REJECT per post</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5 named bots in one group chat: Rafi → Lin, Farah, Ivy → Pixel</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Post the brief, approve or edit each post; nothing is posted publicly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60 min  ·  Multiple named bots in one group chat</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04</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https://tertiarycourses.github.io/TGS-2024043854-Build-a-Human-AI-Workforce-with-Autonomous-AI-Agents/prompts/#lab-04</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Hire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Five bots: name, title, role.</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Rafi: angles and facts with sources.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Write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LinkedIn, Facebook, Instagram in parallel.</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imag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Images</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on-brand image per post.</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Gallery</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All posts on one review page.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 EDIT / REJECT each post.</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group chat shows Rafi's research first, three platform drafts, Pixel's gallery, and every post in approval-log.md has your decision.</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Meet your team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prompts/#lab-04</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Hi, I'm the founder of Kopi Kaki Co. In two sentences: what is your job on my marketing team, and which files in my Desktop/kopi-kaki folder will you read first?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Bots tab → Rafi (then Lin)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Each bot describes its own role and names AGENTS.md, campaign-brief.md and brand-guide.md.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Post the brief and watch them hand off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prompts/#lab-04</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Team, we launch the Gula Melaka Cold Brew on 1 Dec 2026. Work in Desktop/kopi-kaki and follow AGENTS.md, brand-guide.md and compliance-rules.md.</a:t>
            </a:r>
          </a:p>
          <a:p>
            <a:pPr algn="l">
              <a:lnSpc>
                <a:spcPct val="110000"/>
              </a:lnSpc>
            </a:pPr>
            <a:r>
              <a:rPr sz="1300" b="0" i="0">
                <a:solidFill>
                  <a:srgbClr val="F1EDE4"/>
                </a:solidFill>
                <a:latin typeface="Consolas"/>
              </a:rPr>
              <a:t>@rafi research first: write outputs/social/research.md with 3 launch angles, the top 3 things tasters loved (with review IDs) and 5 approved facts with their source file. Then hand off to @lin @farah @ivy.</a:t>
            </a:r>
          </a:p>
          <a:p>
            <a:pPr algn="l">
              <a:lnSpc>
                <a:spcPct val="110000"/>
              </a:lnSpc>
            </a:pPr>
            <a:r>
              <a:rPr sz="1300" b="0" i="0">
                <a:solidFill>
                  <a:srgbClr val="F1EDE4"/>
                </a:solidFill>
                <a:latin typeface="Consolas"/>
              </a:rPr>
              <a:t>@lin write outputs/social/linkedin.md, @farah write outputs/social/facebook.md, @ivy write outputs/social/instagram.md — each from research.md and your own role file.</a:t>
            </a:r>
          </a:p>
          <a:p>
            <a:pPr algn="l">
              <a:lnSpc>
                <a:spcPct val="110000"/>
              </a:lnSpc>
            </a:pPr>
            <a:r>
              <a:rPr sz="1300" b="0" i="0">
                <a:solidFill>
                  <a:srgbClr val="F1EDE4"/>
                </a:solidFill>
                <a:latin typeface="Consolas"/>
              </a:rPr>
              <a:t>Never post anything. If you are unsure about a fact, ask me with @user.</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Kopi Social Team (group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first, then three platform drafts; anything uncertain comes to you as an @user question.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04</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Pixel for the images and the gallery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prompts/#lab-04</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@pixel make one 1080x1350 image for each of linkedin.md, facebook.md and instagram.md with tools/make_post_image.py (Python from .office-venv), save them in outputs/social/images/, then build outputs/social/gallery.html with one card per platform and open it for me.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Kopi Social Team</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gallery.html opens: three platform cards, each with its image, copy and hashtags.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Post the brief, approve or edit each post; nothing is posted publicly</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04</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SKILLS AND TOOLS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Ways Your Agents Make Video with Code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No camera, no editor: the agent writes code, the tool renders an MP4. Pick the one that suits the job.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HyperFrames</a:t>
            </a:r>
          </a:p>
        </p:txBody>
      </p:sp>
      <p:sp>
        <p:nvSpPr>
          <p:cNvPr id="10" name="TextBox 9"/>
          <p:cNvSpPr txBox="1"/>
          <p:nvPr/>
        </p:nvSpPr>
        <p:spPr>
          <a:xfrm>
            <a:off x="822959"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by HeyGen · HTML → MP4</a:t>
            </a:r>
          </a:p>
        </p:txBody>
      </p:sp>
      <p:sp>
        <p:nvSpPr>
          <p:cNvPr id="11" name="TextBox 10"/>
          <p:cNvSpPr txBox="1"/>
          <p:nvPr/>
        </p:nvSpPr>
        <p:spPr>
          <a:xfrm>
            <a:off x="822959"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Write each scene as HTML/CSS with GSAP timing; lint, snapshot, preview, render. Narrated with Hermes’s free Edge voice.</a:t>
            </a:r>
          </a:p>
        </p:txBody>
      </p:sp>
      <p:sp>
        <p:nvSpPr>
          <p:cNvPr id="12" name="TextBox 11"/>
          <p:cNvSpPr txBox="1"/>
          <p:nvPr/>
        </p:nvSpPr>
        <p:spPr>
          <a:xfrm>
            <a:off x="822959" y="4224528"/>
            <a:ext cx="3017520" cy="411480"/>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libri"/>
              </a:rPr>
              <a:t>Kopi Kaki uses it for the launch video.</a:t>
            </a:r>
          </a:p>
        </p:txBody>
      </p:sp>
      <p:sp>
        <p:nvSpPr>
          <p:cNvPr id="13" name="Rounded Rectangle 12"/>
          <p:cNvSpPr/>
          <p:nvPr/>
        </p:nvSpPr>
        <p:spPr>
          <a:xfrm>
            <a:off x="777240"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Ask Mia: “Install the official</a:t>
            </a:r>
          </a:p>
          <a:p>
            <a:pPr algn="l">
              <a:lnSpc>
                <a:spcPct val="112000"/>
              </a:lnSpc>
            </a:pPr>
            <a:r>
              <a:rPr sz="1000" b="0" i="0">
                <a:solidFill>
                  <a:srgbClr val="F1EDE4"/>
                </a:solidFill>
                <a:latin typeface="Consolas"/>
              </a:rPr>
              <a:t>hyperframes skill and check</a:t>
            </a:r>
          </a:p>
          <a:p>
            <a:pPr algn="l">
              <a:lnSpc>
                <a:spcPct val="112000"/>
              </a:lnSpc>
            </a:pPr>
            <a:r>
              <a:rPr sz="1000" b="0" i="0">
                <a:solidFill>
                  <a:srgbClr val="F1EDE4"/>
                </a:solidFill>
                <a:latin typeface="Consolas"/>
              </a:rPr>
              <a:t>what it needs.”</a:t>
            </a:r>
          </a:p>
        </p:txBody>
      </p:sp>
      <p:sp>
        <p:nvSpPr>
          <p:cNvPr id="15" name="TextBox 14"/>
          <p:cNvSpPr txBox="1"/>
          <p:nvPr/>
        </p:nvSpPr>
        <p:spPr>
          <a:xfrm>
            <a:off x="822959"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2"/>
              </a:rPr>
              <a:t>hyperframes.heygen.com/ · click</a:t>
            </a:r>
          </a:p>
        </p:txBody>
      </p:sp>
      <p:sp>
        <p:nvSpPr>
          <p:cNvPr id="16" name="Rounded Rectangle 15"/>
          <p:cNvSpPr/>
          <p:nvPr/>
        </p:nvSpPr>
        <p:spPr>
          <a:xfrm>
            <a:off x="4297679"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1999"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Remotion</a:t>
            </a:r>
          </a:p>
        </p:txBody>
      </p:sp>
      <p:sp>
        <p:nvSpPr>
          <p:cNvPr id="18" name="TextBox 17"/>
          <p:cNvSpPr txBox="1"/>
          <p:nvPr/>
        </p:nvSpPr>
        <p:spPr>
          <a:xfrm>
            <a:off x="4571999"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React → MP4</a:t>
            </a:r>
          </a:p>
        </p:txBody>
      </p:sp>
      <p:sp>
        <p:nvSpPr>
          <p:cNvPr id="19" name="TextBox 18"/>
          <p:cNvSpPr txBox="1"/>
          <p:nvPr/>
        </p:nvSpPr>
        <p:spPr>
          <a:xfrm>
            <a:off x="4571999"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Each frame is a React component; strong for data-driven and templated videos at scale.</a:t>
            </a:r>
          </a:p>
        </p:txBody>
      </p:sp>
      <p:sp>
        <p:nvSpPr>
          <p:cNvPr id="20" name="TextBox 19"/>
          <p:cNvSpPr txBox="1"/>
          <p:nvPr/>
        </p:nvSpPr>
        <p:spPr>
          <a:xfrm>
            <a:off x="4571999" y="4224528"/>
            <a:ext cx="3017520" cy="411480"/>
          </a:xfrm>
          <a:prstGeom prst="rect">
            <a:avLst/>
          </a:prstGeom>
          <a:noFill/>
        </p:spPr>
        <p:txBody>
          <a:bodyPr wrap="square" lIns="36576" rIns="36576" tIns="18288" bIns="18288" anchor="t">
            <a:spAutoFit/>
          </a:bodyPr>
          <a:lstStyle/>
          <a:p>
            <a:pPr algn="l">
              <a:lnSpc>
                <a:spcPct val="112000"/>
              </a:lnSpc>
            </a:pPr>
            <a:r>
              <a:rPr sz="1200" b="1" i="0">
                <a:solidFill>
                  <a:srgbClr val="21201C"/>
                </a:solidFill>
                <a:latin typeface="Calibri"/>
              </a:rPr>
              <a:t>Good for 50 personalised promo cuts.</a:t>
            </a:r>
          </a:p>
        </p:txBody>
      </p:sp>
      <p:sp>
        <p:nvSpPr>
          <p:cNvPr id="21" name="Rounded Rectangle 20"/>
          <p:cNvSpPr/>
          <p:nvPr/>
        </p:nvSpPr>
        <p:spPr>
          <a:xfrm>
            <a:off x="4526279"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645151"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Capabilities → Skills →</a:t>
            </a:r>
          </a:p>
          <a:p>
            <a:pPr algn="l">
              <a:lnSpc>
                <a:spcPct val="112000"/>
              </a:lnSpc>
            </a:pPr>
            <a:r>
              <a:rPr sz="1000" b="0" i="0">
                <a:solidFill>
                  <a:srgbClr val="F1EDE4"/>
                </a:solidFill>
                <a:latin typeface="Consolas"/>
              </a:rPr>
              <a:t>search “remotion”</a:t>
            </a:r>
          </a:p>
        </p:txBody>
      </p:sp>
      <p:sp>
        <p:nvSpPr>
          <p:cNvPr id="23" name="TextBox 22"/>
          <p:cNvSpPr txBox="1"/>
          <p:nvPr/>
        </p:nvSpPr>
        <p:spPr>
          <a:xfrm>
            <a:off x="4571999"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www.remotion.dev/ · click</a:t>
            </a:r>
          </a:p>
        </p:txBody>
      </p:sp>
      <p:sp>
        <p:nvSpPr>
          <p:cNvPr id="24" name="Rounded Rectangle 23"/>
          <p:cNvSpPr/>
          <p:nvPr/>
        </p:nvSpPr>
        <p:spPr>
          <a:xfrm>
            <a:off x="8046719" y="214884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2286000"/>
            <a:ext cx="3017520" cy="457200"/>
          </a:xfrm>
          <a:prstGeom prst="rect">
            <a:avLst/>
          </a:prstGeom>
          <a:noFill/>
        </p:spPr>
        <p:txBody>
          <a:bodyPr wrap="square" lIns="36576" rIns="36576" tIns="18288" bIns="18288" anchor="t">
            <a:spAutoFit/>
          </a:bodyPr>
          <a:lstStyle/>
          <a:p>
            <a:pPr algn="l">
              <a:lnSpc>
                <a:spcPct val="112000"/>
              </a:lnSpc>
            </a:pPr>
            <a:r>
              <a:rPr sz="2200" b="1" i="0">
                <a:solidFill>
                  <a:srgbClr val="21201C"/>
                </a:solidFill>
                <a:latin typeface="Cambria"/>
              </a:rPr>
              <a:t>Manim</a:t>
            </a:r>
          </a:p>
        </p:txBody>
      </p:sp>
      <p:sp>
        <p:nvSpPr>
          <p:cNvPr id="26" name="TextBox 25"/>
          <p:cNvSpPr txBox="1"/>
          <p:nvPr/>
        </p:nvSpPr>
        <p:spPr>
          <a:xfrm>
            <a:off x="8321040" y="2761488"/>
            <a:ext cx="3017520" cy="274320"/>
          </a:xfrm>
          <a:prstGeom prst="rect">
            <a:avLst/>
          </a:prstGeom>
          <a:noFill/>
        </p:spPr>
        <p:txBody>
          <a:bodyPr wrap="square" lIns="36576" rIns="36576" tIns="18288" bIns="18288" anchor="t">
            <a:spAutoFit/>
          </a:bodyPr>
          <a:lstStyle/>
          <a:p>
            <a:pPr algn="l">
              <a:lnSpc>
                <a:spcPct val="112000"/>
              </a:lnSpc>
            </a:pPr>
            <a:r>
              <a:rPr sz="1150" b="1" i="0">
                <a:solidFill>
                  <a:srgbClr val="D97757"/>
                </a:solidFill>
                <a:latin typeface="Calibri"/>
              </a:rPr>
              <a:t>Python → MP4</a:t>
            </a:r>
          </a:p>
        </p:txBody>
      </p:sp>
      <p:sp>
        <p:nvSpPr>
          <p:cNvPr id="27" name="TextBox 26"/>
          <p:cNvSpPr txBox="1"/>
          <p:nvPr/>
        </p:nvSpPr>
        <p:spPr>
          <a:xfrm>
            <a:off x="8321040" y="3108960"/>
            <a:ext cx="3017520" cy="114300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maths-animation engine behind 3Blue1Brown: precise diagrams, graphs and equations that move.</a:t>
            </a:r>
          </a:p>
        </p:txBody>
      </p:sp>
      <p:sp>
        <p:nvSpPr>
          <p:cNvPr id="28" name="TextBox 27"/>
          <p:cNvSpPr txBox="1"/>
          <p:nvPr/>
        </p:nvSpPr>
        <p:spPr>
          <a:xfrm>
            <a:off x="8321040" y="4224528"/>
            <a:ext cx="3017520" cy="411480"/>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libri"/>
              </a:rPr>
              <a:t>Good for explaining how cold brew is made.</a:t>
            </a:r>
          </a:p>
        </p:txBody>
      </p:sp>
      <p:sp>
        <p:nvSpPr>
          <p:cNvPr id="29" name="Rounded Rectangle 28"/>
          <p:cNvSpPr/>
          <p:nvPr/>
        </p:nvSpPr>
        <p:spPr>
          <a:xfrm>
            <a:off x="8275319" y="4681728"/>
            <a:ext cx="3108960" cy="868680"/>
          </a:xfrm>
          <a:prstGeom prst="roundRect">
            <a:avLst>
              <a:gd name="adj" fmla="val 3500"/>
            </a:avLst>
          </a:prstGeom>
          <a:solidFill>
            <a:srgbClr val="2B292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94192" y="4736592"/>
            <a:ext cx="2926080" cy="777240"/>
          </a:xfrm>
          <a:prstGeom prst="rect">
            <a:avLst/>
          </a:prstGeom>
          <a:noFill/>
        </p:spPr>
        <p:txBody>
          <a:bodyPr wrap="square" lIns="36576" rIns="36576" tIns="18288" bIns="18288" anchor="t">
            <a:spAutoFit/>
          </a:bodyPr>
          <a:lstStyle/>
          <a:p>
            <a:pPr algn="l">
              <a:lnSpc>
                <a:spcPct val="112000"/>
              </a:lnSpc>
            </a:pPr>
            <a:r>
              <a:rPr sz="1000" b="0" i="0">
                <a:solidFill>
                  <a:srgbClr val="F1EDE4"/>
                </a:solidFill>
                <a:latin typeface="Consolas"/>
              </a:rPr>
              <a:t>Built in: the manim-video</a:t>
            </a:r>
          </a:p>
          <a:p>
            <a:pPr algn="l">
              <a:lnSpc>
                <a:spcPct val="112000"/>
              </a:lnSpc>
            </a:pPr>
            <a:r>
              <a:rPr sz="1000" b="0" i="0">
                <a:solidFill>
                  <a:srgbClr val="F1EDE4"/>
                </a:solidFill>
                <a:latin typeface="Consolas"/>
              </a:rPr>
              <a:t>skill (Mia installs Manim</a:t>
            </a:r>
          </a:p>
          <a:p>
            <a:pPr algn="l">
              <a:lnSpc>
                <a:spcPct val="112000"/>
              </a:lnSpc>
            </a:pPr>
            <a:r>
              <a:rPr sz="1000" b="0" i="0">
                <a:solidFill>
                  <a:srgbClr val="F1EDE4"/>
                </a:solidFill>
                <a:latin typeface="Consolas"/>
              </a:rPr>
              <a:t>if you ask)</a:t>
            </a:r>
          </a:p>
        </p:txBody>
      </p:sp>
      <p:sp>
        <p:nvSpPr>
          <p:cNvPr id="31" name="TextBox 30"/>
          <p:cNvSpPr txBox="1"/>
          <p:nvPr/>
        </p:nvSpPr>
        <p:spPr>
          <a:xfrm>
            <a:off x="8321040" y="5779008"/>
            <a:ext cx="3108960" cy="237744"/>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4"/>
              </a:rPr>
              <a:t>www.manim.community/ · click</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KANBAN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Parents First: A Card Runs Only When Its Inputs Exist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The board is the video team’s shared to-do list. One prompt to Mia creates the team and these seven cards; your two HUMAN cards hold everything after them.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Research</a:t>
            </a:r>
          </a:p>
        </p:txBody>
      </p:sp>
      <p:sp>
        <p:nvSpPr>
          <p:cNvPr id="10" name="TextBox 9"/>
          <p:cNvSpPr txBox="1"/>
          <p:nvPr/>
        </p:nvSpPr>
        <p:spPr>
          <a:xfrm>
            <a:off x="6400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video-researcher</a:t>
            </a:r>
          </a:p>
        </p:txBody>
      </p:sp>
      <p:cxnSp>
        <p:nvCxnSpPr>
          <p:cNvPr id="11" name="Connector 10"/>
          <p:cNvCxnSpPr/>
          <p:nvPr/>
        </p:nvCxnSpPr>
        <p:spPr>
          <a:xfrm>
            <a:off x="19751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1488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402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Script</a:t>
            </a:r>
          </a:p>
        </p:txBody>
      </p:sp>
      <p:sp>
        <p:nvSpPr>
          <p:cNvPr id="14" name="TextBox 13"/>
          <p:cNvSpPr txBox="1"/>
          <p:nvPr/>
        </p:nvSpPr>
        <p:spPr>
          <a:xfrm>
            <a:off x="22402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scriptwriter</a:t>
            </a:r>
          </a:p>
        </p:txBody>
      </p:sp>
      <p:cxnSp>
        <p:nvCxnSpPr>
          <p:cNvPr id="15" name="Connector 14"/>
          <p:cNvCxnSpPr/>
          <p:nvPr/>
        </p:nvCxnSpPr>
        <p:spPr>
          <a:xfrm>
            <a:off x="35753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749039" y="3017520"/>
            <a:ext cx="1417320" cy="12344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404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HUMAN</a:t>
            </a:r>
          </a:p>
        </p:txBody>
      </p:sp>
      <p:sp>
        <p:nvSpPr>
          <p:cNvPr id="18" name="TextBox 17"/>
          <p:cNvSpPr txBox="1"/>
          <p:nvPr/>
        </p:nvSpPr>
        <p:spPr>
          <a:xfrm>
            <a:off x="38404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E8E5DE"/>
                </a:solidFill>
                <a:latin typeface="Calibri"/>
              </a:rPr>
              <a:t>approve script</a:t>
            </a:r>
          </a:p>
        </p:txBody>
      </p:sp>
      <p:cxnSp>
        <p:nvCxnSpPr>
          <p:cNvPr id="19" name="Connector 18"/>
          <p:cNvCxnSpPr/>
          <p:nvPr/>
        </p:nvCxnSpPr>
        <p:spPr>
          <a:xfrm>
            <a:off x="51755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3492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406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Voice-over</a:t>
            </a:r>
          </a:p>
        </p:txBody>
      </p:sp>
      <p:sp>
        <p:nvSpPr>
          <p:cNvPr id="22" name="TextBox 21"/>
          <p:cNvSpPr txBox="1"/>
          <p:nvPr/>
        </p:nvSpPr>
        <p:spPr>
          <a:xfrm>
            <a:off x="54406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voice-over</a:t>
            </a:r>
          </a:p>
        </p:txBody>
      </p:sp>
      <p:cxnSp>
        <p:nvCxnSpPr>
          <p:cNvPr id="23" name="Connector 22"/>
          <p:cNvCxnSpPr/>
          <p:nvPr/>
        </p:nvCxnSpPr>
        <p:spPr>
          <a:xfrm>
            <a:off x="6775703" y="3639312"/>
            <a:ext cx="164593"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40879"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Render</a:t>
            </a:r>
          </a:p>
        </p:txBody>
      </p:sp>
      <p:sp>
        <p:nvSpPr>
          <p:cNvPr id="26" name="TextBox 25"/>
          <p:cNvSpPr txBox="1"/>
          <p:nvPr/>
        </p:nvSpPr>
        <p:spPr>
          <a:xfrm>
            <a:off x="7040879"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video-producer</a:t>
            </a:r>
          </a:p>
        </p:txBody>
      </p:sp>
      <p:cxnSp>
        <p:nvCxnSpPr>
          <p:cNvPr id="27" name="Connector 26"/>
          <p:cNvCxnSpPr/>
          <p:nvPr/>
        </p:nvCxnSpPr>
        <p:spPr>
          <a:xfrm>
            <a:off x="83759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549640" y="3017520"/>
            <a:ext cx="1417320" cy="12344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6410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21201C"/>
                </a:solidFill>
                <a:latin typeface="Cambria"/>
              </a:rPr>
              <a:t>Review</a:t>
            </a:r>
          </a:p>
        </p:txBody>
      </p:sp>
      <p:sp>
        <p:nvSpPr>
          <p:cNvPr id="30" name="TextBox 29"/>
          <p:cNvSpPr txBox="1"/>
          <p:nvPr/>
        </p:nvSpPr>
        <p:spPr>
          <a:xfrm>
            <a:off x="86410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6B6862"/>
                </a:solidFill>
                <a:latin typeface="Calibri"/>
              </a:rPr>
              <a:t>video-reviewer</a:t>
            </a:r>
          </a:p>
        </p:txBody>
      </p:sp>
      <p:cxnSp>
        <p:nvCxnSpPr>
          <p:cNvPr id="31" name="Connector 30"/>
          <p:cNvCxnSpPr/>
          <p:nvPr/>
        </p:nvCxnSpPr>
        <p:spPr>
          <a:xfrm>
            <a:off x="9976104" y="3639312"/>
            <a:ext cx="164592"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0149840" y="3017520"/>
            <a:ext cx="1417320" cy="123444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241280" y="3154679"/>
            <a:ext cx="1234440" cy="4114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HUMAN</a:t>
            </a:r>
          </a:p>
        </p:txBody>
      </p:sp>
      <p:sp>
        <p:nvSpPr>
          <p:cNvPr id="34" name="TextBox 33"/>
          <p:cNvSpPr txBox="1"/>
          <p:nvPr/>
        </p:nvSpPr>
        <p:spPr>
          <a:xfrm>
            <a:off x="10241280" y="3611879"/>
            <a:ext cx="1234440" cy="548640"/>
          </a:xfrm>
          <a:prstGeom prst="rect">
            <a:avLst/>
          </a:prstGeom>
          <a:noFill/>
        </p:spPr>
        <p:txBody>
          <a:bodyPr wrap="square" lIns="36576" rIns="36576" tIns="18288" bIns="18288" anchor="t">
            <a:spAutoFit/>
          </a:bodyPr>
          <a:lstStyle/>
          <a:p>
            <a:pPr algn="ctr">
              <a:lnSpc>
                <a:spcPct val="112000"/>
              </a:lnSpc>
            </a:pPr>
            <a:r>
              <a:rPr sz="1050" b="0" i="0">
                <a:solidFill>
                  <a:srgbClr val="E8E5DE"/>
                </a:solidFill>
                <a:latin typeface="Calibri"/>
              </a:rPr>
              <a:t>approve exact video</a:t>
            </a:r>
          </a:p>
        </p:txBody>
      </p:sp>
      <p:sp>
        <p:nvSpPr>
          <p:cNvPr id="35" name="TextBox 34"/>
          <p:cNvSpPr txBox="1"/>
          <p:nvPr/>
        </p:nvSpPr>
        <p:spPr>
          <a:xfrm>
            <a:off x="548640" y="4617720"/>
            <a:ext cx="11064240" cy="822960"/>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Bots in a group chat (Activity 4) talk their way to a result. A board (Activity 5) makes the order explicit: who goes next, what each card needs, and where the work stops for you. Use a board when the steps are known and the stakes are high.</a:t>
            </a:r>
          </a:p>
        </p:txBody>
      </p:sp>
      <p:sp>
        <p:nvSpPr>
          <p:cNvPr id="36" name="TextBox 35"/>
          <p:cNvSpPr txBox="1"/>
          <p:nvPr/>
        </p:nvSpPr>
        <p:spPr>
          <a:xfrm>
            <a:off x="548640" y="56692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Kanban in the left sidebar shows the board live. Open a card for its run history and output; PP Task 3 screenshot A comes from here.</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KANBAN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the Board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Kanban view: cards move from waiting to running to done as their parents finish. Your board shows the kopi-video cards and your HUMAN gates.</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Your Production Line: Five Agents, Two Human Gates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Research → script → YOU approve → voice-over and render → independent review → YOU approve the exact file.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05840"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1128735" y="2728935"/>
            <a:ext cx="266273" cy="266273"/>
          </a:xfrm>
          <a:prstGeom prst="rect">
            <a:avLst/>
          </a:prstGeom>
        </p:spPr>
      </p:pic>
      <p:sp>
        <p:nvSpPr>
          <p:cNvPr id="11" name="TextBox 10"/>
          <p:cNvSpPr txBox="1"/>
          <p:nvPr/>
        </p:nvSpPr>
        <p:spPr>
          <a:xfrm>
            <a:off x="640080"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Researcher</a:t>
            </a:r>
          </a:p>
        </p:txBody>
      </p:sp>
      <p:sp>
        <p:nvSpPr>
          <p:cNvPr id="12" name="TextBox 11"/>
          <p:cNvSpPr txBox="1"/>
          <p:nvPr/>
        </p:nvSpPr>
        <p:spPr>
          <a:xfrm>
            <a:off x="640080"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Claim | source | quote</a:t>
            </a:r>
          </a:p>
        </p:txBody>
      </p:sp>
      <p:cxnSp>
        <p:nvCxnSpPr>
          <p:cNvPr id="13" name="Connector 12"/>
          <p:cNvCxnSpPr/>
          <p:nvPr/>
        </p:nvCxnSpPr>
        <p:spPr>
          <a:xfrm>
            <a:off x="2002536"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21408"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578608"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2701503" y="2728935"/>
            <a:ext cx="266273" cy="266273"/>
          </a:xfrm>
          <a:prstGeom prst="rect">
            <a:avLst/>
          </a:prstGeom>
        </p:spPr>
      </p:pic>
      <p:sp>
        <p:nvSpPr>
          <p:cNvPr id="17" name="TextBox 16"/>
          <p:cNvSpPr txBox="1"/>
          <p:nvPr/>
        </p:nvSpPr>
        <p:spPr>
          <a:xfrm>
            <a:off x="2212848"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Scriptwriter</a:t>
            </a:r>
          </a:p>
        </p:txBody>
      </p:sp>
      <p:sp>
        <p:nvSpPr>
          <p:cNvPr id="18" name="TextBox 17"/>
          <p:cNvSpPr txBox="1"/>
          <p:nvPr/>
        </p:nvSpPr>
        <p:spPr>
          <a:xfrm>
            <a:off x="2212848"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4 scenes · 20 s</a:t>
            </a:r>
          </a:p>
        </p:txBody>
      </p:sp>
      <p:cxnSp>
        <p:nvCxnSpPr>
          <p:cNvPr id="19" name="Connector 18"/>
          <p:cNvCxnSpPr/>
          <p:nvPr/>
        </p:nvCxnSpPr>
        <p:spPr>
          <a:xfrm>
            <a:off x="3575304"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94176" y="2377440"/>
            <a:ext cx="1444752" cy="246888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151376" y="26060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C2603F.png"/>
          <p:cNvPicPr>
            <a:picLocks noChangeAspect="1"/>
          </p:cNvPicPr>
          <p:nvPr/>
        </p:nvPicPr>
        <p:blipFill>
          <a:blip r:embed="rId4"/>
          <a:stretch>
            <a:fillRect/>
          </a:stretch>
        </p:blipFill>
        <p:spPr>
          <a:xfrm>
            <a:off x="4274271" y="2728935"/>
            <a:ext cx="266273" cy="266273"/>
          </a:xfrm>
          <a:prstGeom prst="rect">
            <a:avLst/>
          </a:prstGeom>
        </p:spPr>
      </p:pic>
      <p:sp>
        <p:nvSpPr>
          <p:cNvPr id="23" name="TextBox 22"/>
          <p:cNvSpPr txBox="1"/>
          <p:nvPr/>
        </p:nvSpPr>
        <p:spPr>
          <a:xfrm>
            <a:off x="3785615"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FFFFFF"/>
                </a:solidFill>
                <a:latin typeface="Cambria"/>
              </a:rPr>
              <a:t>You</a:t>
            </a:r>
          </a:p>
        </p:txBody>
      </p:sp>
      <p:sp>
        <p:nvSpPr>
          <p:cNvPr id="24" name="TextBox 23"/>
          <p:cNvSpPr txBox="1"/>
          <p:nvPr/>
        </p:nvSpPr>
        <p:spPr>
          <a:xfrm>
            <a:off x="3785615"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E8E5DE"/>
                </a:solidFill>
                <a:latin typeface="Calibri"/>
              </a:rPr>
              <a:t>Approve the script</a:t>
            </a:r>
          </a:p>
        </p:txBody>
      </p:sp>
      <p:cxnSp>
        <p:nvCxnSpPr>
          <p:cNvPr id="25" name="Connector 24"/>
          <p:cNvCxnSpPr/>
          <p:nvPr/>
        </p:nvCxnSpPr>
        <p:spPr>
          <a:xfrm>
            <a:off x="5148072"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66944"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724144"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5847039" y="2728935"/>
            <a:ext cx="266273" cy="266273"/>
          </a:xfrm>
          <a:prstGeom prst="rect">
            <a:avLst/>
          </a:prstGeom>
        </p:spPr>
      </p:pic>
      <p:sp>
        <p:nvSpPr>
          <p:cNvPr id="29" name="TextBox 28"/>
          <p:cNvSpPr txBox="1"/>
          <p:nvPr/>
        </p:nvSpPr>
        <p:spPr>
          <a:xfrm>
            <a:off x="5358383"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Voice-over</a:t>
            </a:r>
          </a:p>
        </p:txBody>
      </p:sp>
      <p:sp>
        <p:nvSpPr>
          <p:cNvPr id="30" name="TextBox 29"/>
          <p:cNvSpPr txBox="1"/>
          <p:nvPr/>
        </p:nvSpPr>
        <p:spPr>
          <a:xfrm>
            <a:off x="5358383"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Free Edge voice</a:t>
            </a:r>
          </a:p>
        </p:txBody>
      </p:sp>
      <p:cxnSp>
        <p:nvCxnSpPr>
          <p:cNvPr id="31" name="Connector 30"/>
          <p:cNvCxnSpPr/>
          <p:nvPr/>
        </p:nvCxnSpPr>
        <p:spPr>
          <a:xfrm>
            <a:off x="6720840"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839712"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7296912"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ilm-FFFFFF.png"/>
          <p:cNvPicPr>
            <a:picLocks noChangeAspect="1"/>
          </p:cNvPicPr>
          <p:nvPr/>
        </p:nvPicPr>
        <p:blipFill>
          <a:blip r:embed="rId6"/>
          <a:stretch>
            <a:fillRect/>
          </a:stretch>
        </p:blipFill>
        <p:spPr>
          <a:xfrm>
            <a:off x="7419807" y="2728935"/>
            <a:ext cx="266273" cy="266273"/>
          </a:xfrm>
          <a:prstGeom prst="rect">
            <a:avLst/>
          </a:prstGeom>
        </p:spPr>
      </p:pic>
      <p:sp>
        <p:nvSpPr>
          <p:cNvPr id="35" name="TextBox 34"/>
          <p:cNvSpPr txBox="1"/>
          <p:nvPr/>
        </p:nvSpPr>
        <p:spPr>
          <a:xfrm>
            <a:off x="6931152"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Producer</a:t>
            </a:r>
          </a:p>
        </p:txBody>
      </p:sp>
      <p:sp>
        <p:nvSpPr>
          <p:cNvPr id="36" name="TextBox 35"/>
          <p:cNvSpPr txBox="1"/>
          <p:nvPr/>
        </p:nvSpPr>
        <p:spPr>
          <a:xfrm>
            <a:off x="6931152"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HyperFrames → MP4</a:t>
            </a:r>
          </a:p>
        </p:txBody>
      </p:sp>
      <p:cxnSp>
        <p:nvCxnSpPr>
          <p:cNvPr id="37" name="Connector 36"/>
          <p:cNvCxnSpPr/>
          <p:nvPr/>
        </p:nvCxnSpPr>
        <p:spPr>
          <a:xfrm>
            <a:off x="8293608"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412480" y="2377440"/>
            <a:ext cx="1444752"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869680" y="260604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eyecheck-FFFFFF.png"/>
          <p:cNvPicPr>
            <a:picLocks noChangeAspect="1"/>
          </p:cNvPicPr>
          <p:nvPr/>
        </p:nvPicPr>
        <p:blipFill>
          <a:blip r:embed="rId7"/>
          <a:stretch>
            <a:fillRect/>
          </a:stretch>
        </p:blipFill>
        <p:spPr>
          <a:xfrm>
            <a:off x="8992575" y="2728935"/>
            <a:ext cx="266273" cy="266273"/>
          </a:xfrm>
          <a:prstGeom prst="rect">
            <a:avLst/>
          </a:prstGeom>
        </p:spPr>
      </p:pic>
      <p:sp>
        <p:nvSpPr>
          <p:cNvPr id="41" name="TextBox 40"/>
          <p:cNvSpPr txBox="1"/>
          <p:nvPr/>
        </p:nvSpPr>
        <p:spPr>
          <a:xfrm>
            <a:off x="8503920"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21201C"/>
                </a:solidFill>
                <a:latin typeface="Cambria"/>
              </a:rPr>
              <a:t>Reviewer</a:t>
            </a:r>
          </a:p>
        </p:txBody>
      </p:sp>
      <p:sp>
        <p:nvSpPr>
          <p:cNvPr id="42" name="TextBox 41"/>
          <p:cNvSpPr txBox="1"/>
          <p:nvPr/>
        </p:nvSpPr>
        <p:spPr>
          <a:xfrm>
            <a:off x="8503920"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6B6862"/>
                </a:solidFill>
                <a:latin typeface="Calibri"/>
              </a:rPr>
              <a:t>V1–V9 + link</a:t>
            </a:r>
          </a:p>
        </p:txBody>
      </p:sp>
      <p:cxnSp>
        <p:nvCxnSpPr>
          <p:cNvPr id="43" name="Connector 42"/>
          <p:cNvCxnSpPr/>
          <p:nvPr/>
        </p:nvCxnSpPr>
        <p:spPr>
          <a:xfrm>
            <a:off x="9866376" y="3611880"/>
            <a:ext cx="109728" cy="0"/>
          </a:xfrm>
          <a:prstGeom prst="line">
            <a:avLst/>
          </a:prstGeom>
          <a:ln w="1905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985248" y="2377440"/>
            <a:ext cx="1444752" cy="2468880"/>
          </a:xfrm>
          <a:prstGeom prst="roundRect">
            <a:avLst>
              <a:gd name="adj" fmla="val 3500"/>
            </a:avLst>
          </a:prstGeom>
          <a:solidFill>
            <a:srgbClr val="C2603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10442448" y="2606040"/>
            <a:ext cx="512064" cy="51206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4"/>
          <a:stretch>
            <a:fillRect/>
          </a:stretch>
        </p:blipFill>
        <p:spPr>
          <a:xfrm>
            <a:off x="10565343" y="2728935"/>
            <a:ext cx="266273" cy="266273"/>
          </a:xfrm>
          <a:prstGeom prst="rect">
            <a:avLst/>
          </a:prstGeom>
        </p:spPr>
      </p:pic>
      <p:sp>
        <p:nvSpPr>
          <p:cNvPr id="47" name="TextBox 46"/>
          <p:cNvSpPr txBox="1"/>
          <p:nvPr/>
        </p:nvSpPr>
        <p:spPr>
          <a:xfrm>
            <a:off x="10076688" y="3291840"/>
            <a:ext cx="1261872" cy="411480"/>
          </a:xfrm>
          <a:prstGeom prst="rect">
            <a:avLst/>
          </a:prstGeom>
          <a:noFill/>
        </p:spPr>
        <p:txBody>
          <a:bodyPr wrap="square" lIns="36576" rIns="36576" tIns="18288" bIns="18288" anchor="t">
            <a:spAutoFit/>
          </a:bodyPr>
          <a:lstStyle/>
          <a:p>
            <a:pPr algn="ctr">
              <a:lnSpc>
                <a:spcPct val="112000"/>
              </a:lnSpc>
            </a:pPr>
            <a:r>
              <a:rPr sz="1450" b="1" i="0">
                <a:solidFill>
                  <a:srgbClr val="FFFFFF"/>
                </a:solidFill>
                <a:latin typeface="Cambria"/>
              </a:rPr>
              <a:t>You</a:t>
            </a:r>
          </a:p>
        </p:txBody>
      </p:sp>
      <p:sp>
        <p:nvSpPr>
          <p:cNvPr id="48" name="TextBox 47"/>
          <p:cNvSpPr txBox="1"/>
          <p:nvPr/>
        </p:nvSpPr>
        <p:spPr>
          <a:xfrm>
            <a:off x="10076688" y="3749039"/>
            <a:ext cx="1261872" cy="914400"/>
          </a:xfrm>
          <a:prstGeom prst="rect">
            <a:avLst/>
          </a:prstGeom>
          <a:noFill/>
        </p:spPr>
        <p:txBody>
          <a:bodyPr wrap="square" lIns="36576" rIns="36576" tIns="18288" bIns="18288" anchor="t">
            <a:spAutoFit/>
          </a:bodyPr>
          <a:lstStyle/>
          <a:p>
            <a:pPr algn="ctr">
              <a:lnSpc>
                <a:spcPct val="112000"/>
              </a:lnSpc>
            </a:pPr>
            <a:r>
              <a:rPr sz="1150" b="0" i="0">
                <a:solidFill>
                  <a:srgbClr val="E8E5DE"/>
                </a:solidFill>
                <a:latin typeface="Calibri"/>
              </a:rPr>
              <a:t>APPROVE &lt;sha256&gt;</a:t>
            </a:r>
          </a:p>
        </p:txBody>
      </p:sp>
      <p:sp>
        <p:nvSpPr>
          <p:cNvPr id="49" name="TextBox 48"/>
          <p:cNvSpPr txBox="1"/>
          <p:nvPr/>
        </p:nvSpPr>
        <p:spPr>
          <a:xfrm>
            <a:off x="548640" y="5120640"/>
            <a:ext cx="11064240" cy="640080"/>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reviewer sends you a link (http://localhost:8765/final.mp4) and the file’s SHA-256. Your approval belongs to that exact file: change one frame and it needs a new review.</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Your Video Team on a Kanban Board</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prompt hires a video team and builds its Kanban board. Research, script, voice-over, render, review: the board runs it; nothing ships until you approve.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The launch video is your biggest bet: 40,000 views is the campaign target. Agencies quoted SGD 3,000 and two weeks. You build a production line instead: a researcher grounds every claim in your source files, a scriptwriter writes the scenes, a producer renders with HyperFrames, a voice-over artist narrates, and a reviewer checks the cut and sends you a link to watch.</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  Video skill installed from Capabilities → Skills: HyperFrames (Remotion, Manim for reference)</a:t>
            </a:r>
          </a:p>
          <a:p>
            <a:pPr algn="l">
              <a:lnSpc>
                <a:spcPct val="112000"/>
              </a:lnSpc>
            </a:pPr>
            <a:r>
              <a:rPr sz="1200" b="0" i="0">
                <a:solidFill>
                  <a:srgbClr val="6B6862"/>
                </a:solidFill>
                <a:latin typeface="Calibri"/>
              </a:rPr>
              <a:t>✓  A video team created by prompt: video-researcher, scriptwriter, voice-over, video-producer, video-reviewer</a:t>
            </a:r>
          </a:p>
          <a:p>
            <a:pPr algn="l">
              <a:lnSpc>
                <a:spcPct val="112000"/>
              </a:lnSpc>
            </a:pPr>
            <a:r>
              <a:rPr sz="1200" b="0" i="0">
                <a:solidFill>
                  <a:srgbClr val="6B6862"/>
                </a:solidFill>
                <a:latin typeface="Calibri"/>
              </a:rPr>
              <a:t>✓  outputs/video/: research.md, script.md, narration audio, final.mp4, review.md</a:t>
            </a:r>
          </a:p>
          <a:p>
            <a:pPr algn="l">
              <a:lnSpc>
                <a:spcPct val="112000"/>
              </a:lnSpc>
            </a:pPr>
            <a:r>
              <a:rPr sz="1200" b="0" i="0">
                <a:solidFill>
                  <a:srgbClr val="6B6862"/>
                </a:solidFill>
                <a:latin typeface="Calibri"/>
              </a:rPr>
              <a:t>✓  Review link on Telegram; your APPROVE with the video's SHA-256</a:t>
            </a:r>
          </a:p>
          <a:p>
            <a:pPr algn="l">
              <a:lnSpc>
                <a:spcPct val="112000"/>
              </a:lnSpc>
            </a:pPr>
            <a:r>
              <a:rPr sz="1200" b="0" i="0">
                <a:solidFill>
                  <a:srgbClr val="6B6862"/>
                </a:solidFill>
                <a:latin typeface="Calibri"/>
              </a:rPr>
              <a:t>✓  PP Task 3: TWO screenshots — Kanban board + video playing</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5 agents created by Mia from one prompt, working on a Kanban board</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the script, watch the exact cut, approve or request one revision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Agent team on a Kanban board + human gates</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05</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https://tertiarycourses.github.io/TGS-2024043854-Build-a-Human-AI-Workforce-with-Autonomous-AI-Agents/prompts/#lab-05</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kanba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Board</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One prompt: team + cards + gates.</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Claims with source file references.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pen-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4 scenes, 20 s; you approve the text.</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Voice-over + HyperFrames 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Checks V1–V9; sends you a link.</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user-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Watch it; APPROVE the exact file.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final.mp4 plays at 1080×1920, review.md passes V1–V9 with evidence, and your APPROVE names the same SHA-256 as the file you watched.</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the video skill — by asking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prompts/#lab-05</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the official hyperframes skill from the Hermes skills hub. Read its SKILL.md first and tell me what it needs. Then check that this laptop has what it needs (Node.js 22 or newer, FFmpeg, a browser) and run its health check. If anything is missing, tell me exactly what to ask the trainer to install. Do not change system settings.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'hyperframes' appears in Capabilities → Skills and the health check passes (or Mia names what is missing).</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05</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One prompt: hire the video team and build its Kanban 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prompts/#lab-05</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950" b="0" i="0">
                <a:solidFill>
                  <a:srgbClr val="F1EDE4"/>
                </a:solidFill>
                <a:latin typeface="Consolas"/>
              </a:rPr>
              <a:t>Build my video production team and its Kanban board. Workspace: Desktop/kopi-kaki.</a:t>
            </a:r>
          </a:p>
          <a:p>
            <a:pPr algn="l">
              <a:lnSpc>
                <a:spcPct val="110000"/>
              </a:lnSpc>
            </a:pPr>
            <a:r>
              <a:rPr sz="950" b="0" i="0">
                <a:solidFill>
                  <a:srgbClr val="F1EDE4"/>
                </a:solidFill>
                <a:latin typeface="Consolas"/>
              </a:rPr>
              <a:t>1. Create these five agents (Hermes profiles) by cloning your settings, each with its role file as SOUL.md and the description shown:</a:t>
            </a:r>
          </a:p>
          <a:p>
            <a:pPr algn="l">
              <a:lnSpc>
                <a:spcPct val="110000"/>
              </a:lnSpc>
            </a:pPr>
            <a:r>
              <a:rPr sz="950" b="0" i="0">
                <a:solidFill>
                  <a:srgbClr val="F1EDE4"/>
                </a:solidFill>
                <a:latin typeface="Consolas"/>
              </a:rPr>
              <a:t>- video-researcher: Extracts the facts the video may use: claim | source file | exact quote (role file souls/video-researcher.SOUL.md)</a:t>
            </a:r>
          </a:p>
          <a:p>
            <a:pPr algn="l">
              <a:lnSpc>
                <a:spcPct val="110000"/>
              </a:lnSpc>
            </a:pPr>
            <a:r>
              <a:rPr sz="950" b="0" i="0">
                <a:solidFill>
                  <a:srgbClr val="F1EDE4"/>
                </a:solidFill>
                <a:latin typeface="Consolas"/>
              </a:rPr>
              <a:t>- scriptwriter: Turns research.md into a 20-second, 4-scene script, then waits for the founder (role file souls/scriptwriter.SOUL.md)</a:t>
            </a:r>
          </a:p>
          <a:p>
            <a:pPr algn="l">
              <a:lnSpc>
                <a:spcPct val="110000"/>
              </a:lnSpc>
            </a:pPr>
            <a:r>
              <a:rPr sz="950" b="0" i="0">
                <a:solidFill>
                  <a:srgbClr val="F1EDE4"/>
                </a:solidFill>
                <a:latin typeface="Consolas"/>
              </a:rPr>
              <a:t>- voice-over: Records the narration from the APPROVED script with Hermes text-to-speech (role file souls/voice-over.SOUL.md)</a:t>
            </a:r>
          </a:p>
          <a:p>
            <a:pPr algn="l">
              <a:lnSpc>
                <a:spcPct val="110000"/>
              </a:lnSpc>
            </a:pPr>
            <a:r>
              <a:rPr sz="950" b="0" i="0">
                <a:solidFill>
                  <a:srgbClr val="F1EDE4"/>
                </a:solidFill>
                <a:latin typeface="Consolas"/>
              </a:rPr>
              <a:t>- video-producer: Renders the APPROVED script into a 1080x1920 MP4 with HyperFrames (role file souls/video-producer.SOUL.md)</a:t>
            </a:r>
          </a:p>
          <a:p>
            <a:pPr algn="l">
              <a:lnSpc>
                <a:spcPct val="110000"/>
              </a:lnSpc>
            </a:pPr>
            <a:r>
              <a:rPr sz="950" b="0" i="0">
                <a:solidFill>
                  <a:srgbClr val="F1EDE4"/>
                </a:solidFill>
                <a:latin typeface="Consolas"/>
              </a:rPr>
              <a:t>- video-reviewer: Independently checks the video against the QA checklist and sends the founder a review link (role file souls/video-reviewer.SOUL.md)</a:t>
            </a:r>
          </a:p>
          <a:p>
            <a:pPr algn="l">
              <a:lnSpc>
                <a:spcPct val="110000"/>
              </a:lnSpc>
            </a:pPr>
            <a:r>
              <a:rPr sz="950" b="0" i="0">
                <a:solidFill>
                  <a:srgbClr val="F1EDE4"/>
                </a:solidFill>
                <a:latin typeface="Consolas"/>
              </a:rPr>
              <a:t>2. Create a Kanban board for tenant kopi-video with these cards:</a:t>
            </a:r>
          </a:p>
          <a:p>
            <a:pPr algn="l">
              <a:lnSpc>
                <a:spcPct val="110000"/>
              </a:lnSpc>
            </a:pPr>
            <a:r>
              <a:rPr sz="950" b="0" i="0">
                <a:solidFill>
                  <a:srgbClr val="F1EDE4"/>
                </a:solidFill>
                <a:latin typeface="Consolas"/>
              </a:rPr>
              <a:t>   1 Research the launch video · video-researcher · body tasks/v1-research.md</a:t>
            </a:r>
          </a:p>
          <a:p>
            <a:pPr algn="l">
              <a:lnSpc>
                <a:spcPct val="110000"/>
              </a:lnSpc>
            </a:pPr>
            <a:r>
              <a:rPr sz="950" b="0" i="0">
                <a:solidFill>
                  <a:srgbClr val="F1EDE4"/>
                </a:solidFill>
                <a:latin typeface="Consolas"/>
              </a:rPr>
              <a:t>   2 Write the 20-second script · scriptwriter · parent 1 · body tasks/v2-script.md</a:t>
            </a:r>
          </a:p>
          <a:p>
            <a:pPr algn="l">
              <a:lnSpc>
                <a:spcPct val="110000"/>
              </a:lnSpc>
            </a:pPr>
            <a:r>
              <a:rPr sz="950" b="0" i="0">
                <a:solidFill>
                  <a:srgbClr val="F1EDE4"/>
                </a:solidFill>
                <a:latin typeface="Consolas"/>
              </a:rPr>
              <a:t>   3 HUMAN: approve the script · unassigned · parent 2 · only I complete it</a:t>
            </a:r>
          </a:p>
          <a:p>
            <a:pPr algn="l">
              <a:lnSpc>
                <a:spcPct val="110000"/>
              </a:lnSpc>
            </a:pPr>
            <a:r>
              <a:rPr sz="950" b="0" i="0">
                <a:solidFill>
                  <a:srgbClr val="F1EDE4"/>
                </a:solidFill>
                <a:latin typeface="Consolas"/>
              </a:rPr>
              <a:t>   4 Record the voice-over · voice-over · parent 3 · body tasks/v3-voice.md</a:t>
            </a:r>
          </a:p>
          <a:p>
            <a:pPr algn="l">
              <a:lnSpc>
                <a:spcPct val="110000"/>
              </a:lnSpc>
            </a:pPr>
            <a:r>
              <a:rPr sz="950" b="0" i="0">
                <a:solidFill>
                  <a:srgbClr val="F1EDE4"/>
                </a:solidFill>
                <a:latin typeface="Consolas"/>
              </a:rPr>
              <a:t>   5 Render the video · video-producer · parents 3 and 4 · skill hyperframes · body tasks/v4-produce.md</a:t>
            </a:r>
          </a:p>
          <a:p>
            <a:pPr algn="l">
              <a:lnSpc>
                <a:spcPct val="110000"/>
              </a:lnSpc>
            </a:pPr>
            <a:r>
              <a:rPr sz="950" b="0" i="0">
                <a:solidFill>
                  <a:srgbClr val="F1EDE4"/>
                </a:solidFill>
                <a:latin typeface="Consolas"/>
              </a:rPr>
              <a:t>   6 Review and send me the link · video-reviewer · parent 5 · body tasks/v5-review.md</a:t>
            </a:r>
          </a:p>
          <a:p>
            <a:pPr algn="l">
              <a:lnSpc>
                <a:spcPct val="110000"/>
              </a:lnSpc>
            </a:pPr>
            <a:r>
              <a:rPr sz="950" b="0" i="0">
                <a:solidFill>
                  <a:srgbClr val="F1EDE4"/>
                </a:solidFill>
                <a:latin typeface="Consolas"/>
              </a:rPr>
              <a:t>   7 HUMAN: approve the exact video · unassigned · parent 6 · only I complete it</a:t>
            </a:r>
          </a:p>
          <a:p>
            <a:pPr algn="l">
              <a:lnSpc>
                <a:spcPct val="110000"/>
              </a:lnSpc>
            </a:pPr>
            <a:r>
              <a:rPr sz="950" b="0" i="0">
                <a:solidFill>
                  <a:srgbClr val="F1EDE4"/>
                </a:solidFill>
                <a:latin typeface="Consolas"/>
              </a:rPr>
              <a:t>3. Show me the agents and the cards (ID, assignee, parents) as two tables. Never publish or post the video anywhere.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Two tables: five agents, seven cards with two unassigned HUMAN cards. The agents appear in the Bots tab.</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05</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Check the research — grounding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prompts/#lab-05</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Open outputs/video/research.md for me and pick two claims. For each, show me the exact line in the source file that supports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Every claim names its source file and quote; unsupported ideas are marked UNVERIFIED.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script, watch the exact cut, approve or request one revision</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ACTIVITY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A Week on Autopilot, With You Holding the Keys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Two scheduled jobs start the team’s work. Neither one approves anything.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MON 9:00</a:t>
            </a:r>
          </a:p>
        </p:txBody>
      </p:sp>
      <p:sp>
        <p:nvSpPr>
          <p:cNvPr id="10" name="TextBox 9"/>
          <p:cNvSpPr txBox="1"/>
          <p:nvPr/>
        </p:nvSpPr>
        <p:spPr>
          <a:xfrm>
            <a:off x="731520"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Weekly social drafts</a:t>
            </a:r>
          </a:p>
        </p:txBody>
      </p:sp>
      <p:sp>
        <p:nvSpPr>
          <p:cNvPr id="11" name="TextBox 10"/>
          <p:cNvSpPr txBox="1"/>
          <p:nvPr/>
        </p:nvSpPr>
        <p:spPr>
          <a:xfrm>
            <a:off x="731520"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Three posts, three images and a gallery in a dated folder.</a:t>
            </a:r>
          </a:p>
        </p:txBody>
      </p:sp>
      <p:sp>
        <p:nvSpPr>
          <p:cNvPr id="12" name="Rounded Rectangle 11"/>
          <p:cNvSpPr/>
          <p:nvPr/>
        </p:nvSpPr>
        <p:spPr>
          <a:xfrm>
            <a:off x="2788920"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71800"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MON 9:05</a:t>
            </a:r>
          </a:p>
        </p:txBody>
      </p:sp>
      <p:sp>
        <p:nvSpPr>
          <p:cNvPr id="14" name="TextBox 13"/>
          <p:cNvSpPr txBox="1"/>
          <p:nvPr/>
        </p:nvSpPr>
        <p:spPr>
          <a:xfrm>
            <a:off x="2971800"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Telegram ping</a:t>
            </a:r>
          </a:p>
        </p:txBody>
      </p:sp>
      <p:sp>
        <p:nvSpPr>
          <p:cNvPr id="15" name="TextBox 14"/>
          <p:cNvSpPr txBox="1"/>
          <p:nvPr/>
        </p:nvSpPr>
        <p:spPr>
          <a:xfrm>
            <a:off x="2971800"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“Drafts ready — APPROVE, EDIT or REJECT.”</a:t>
            </a:r>
          </a:p>
        </p:txBody>
      </p:sp>
      <p:sp>
        <p:nvSpPr>
          <p:cNvPr id="16" name="Rounded Rectangle 15"/>
          <p:cNvSpPr/>
          <p:nvPr/>
        </p:nvSpPr>
        <p:spPr>
          <a:xfrm>
            <a:off x="5029199" y="2240280"/>
            <a:ext cx="2103120" cy="283464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1207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YOU</a:t>
            </a:r>
          </a:p>
        </p:txBody>
      </p:sp>
      <p:sp>
        <p:nvSpPr>
          <p:cNvPr id="18" name="TextBox 17"/>
          <p:cNvSpPr txBox="1"/>
          <p:nvPr/>
        </p:nvSpPr>
        <p:spPr>
          <a:xfrm>
            <a:off x="521207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Approve on your phone</a:t>
            </a:r>
          </a:p>
        </p:txBody>
      </p:sp>
      <p:sp>
        <p:nvSpPr>
          <p:cNvPr id="19" name="TextBox 18"/>
          <p:cNvSpPr txBox="1"/>
          <p:nvPr/>
        </p:nvSpPr>
        <p:spPr>
          <a:xfrm>
            <a:off x="521207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Only approved posts are used.</a:t>
            </a:r>
          </a:p>
        </p:txBody>
      </p:sp>
      <p:sp>
        <p:nvSpPr>
          <p:cNvPr id="20" name="Rounded Rectangle 19"/>
          <p:cNvSpPr/>
          <p:nvPr/>
        </p:nvSpPr>
        <p:spPr>
          <a:xfrm>
            <a:off x="7269479" y="2240280"/>
            <a:ext cx="2103120" cy="2834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235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D97757"/>
                </a:solidFill>
                <a:latin typeface="Calibri"/>
              </a:rPr>
              <a:t>FRI 10:00</a:t>
            </a:r>
          </a:p>
        </p:txBody>
      </p:sp>
      <p:sp>
        <p:nvSpPr>
          <p:cNvPr id="22" name="TextBox 21"/>
          <p:cNvSpPr txBox="1"/>
          <p:nvPr/>
        </p:nvSpPr>
        <p:spPr>
          <a:xfrm>
            <a:off x="745235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Weekly video draft</a:t>
            </a:r>
          </a:p>
        </p:txBody>
      </p:sp>
      <p:sp>
        <p:nvSpPr>
          <p:cNvPr id="23" name="TextBox 22"/>
          <p:cNvSpPr txBox="1"/>
          <p:nvPr/>
        </p:nvSpPr>
        <p:spPr>
          <a:xfrm>
            <a:off x="745235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A new run on the kopi-video board.</a:t>
            </a:r>
          </a:p>
        </p:txBody>
      </p:sp>
      <p:sp>
        <p:nvSpPr>
          <p:cNvPr id="24" name="Rounded Rectangle 23"/>
          <p:cNvSpPr/>
          <p:nvPr/>
        </p:nvSpPr>
        <p:spPr>
          <a:xfrm>
            <a:off x="9509759" y="2240280"/>
            <a:ext cx="2103120" cy="283464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39" y="2423160"/>
            <a:ext cx="1737360" cy="36576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YOU</a:t>
            </a:r>
          </a:p>
        </p:txBody>
      </p:sp>
      <p:sp>
        <p:nvSpPr>
          <p:cNvPr id="26" name="TextBox 25"/>
          <p:cNvSpPr txBox="1"/>
          <p:nvPr/>
        </p:nvSpPr>
        <p:spPr>
          <a:xfrm>
            <a:off x="9692639" y="2880360"/>
            <a:ext cx="1737360" cy="82296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Two gates</a:t>
            </a:r>
          </a:p>
        </p:txBody>
      </p:sp>
      <p:sp>
        <p:nvSpPr>
          <p:cNvPr id="27" name="TextBox 26"/>
          <p:cNvSpPr txBox="1"/>
          <p:nvPr/>
        </p:nvSpPr>
        <p:spPr>
          <a:xfrm>
            <a:off x="9692639" y="3794760"/>
            <a:ext cx="1737360" cy="1188720"/>
          </a:xfrm>
          <a:prstGeom prst="rect">
            <a:avLst/>
          </a:prstGeom>
          <a:noFill/>
        </p:spPr>
        <p:txBody>
          <a:bodyPr wrap="square" lIns="36576" rIns="36576" tIns="18288" bIns="18288" anchor="t">
            <a:spAutoFit/>
          </a:bodyPr>
          <a:lstStyle/>
          <a:p>
            <a:pPr algn="l">
              <a:lnSpc>
                <a:spcPct val="112000"/>
              </a:lnSpc>
            </a:pPr>
            <a:r>
              <a:rPr sz="1250" b="0" i="0">
                <a:solidFill>
                  <a:srgbClr val="E8E5DE"/>
                </a:solidFill>
                <a:latin typeface="Calibri"/>
              </a:rPr>
              <a:t>Approve the script, then the exact video.</a:t>
            </a:r>
          </a:p>
        </p:txBody>
      </p:sp>
      <p:sp>
        <p:nvSpPr>
          <p:cNvPr id="28" name="TextBox 27"/>
          <p:cNvSpPr txBox="1"/>
          <p:nvPr/>
        </p:nvSpPr>
        <p:spPr>
          <a:xfrm>
            <a:off x="548640" y="5303520"/>
            <a:ext cx="11064240" cy="457200"/>
          </a:xfrm>
          <a:prstGeom prst="rect">
            <a:avLst/>
          </a:prstGeom>
          <a:noFill/>
        </p:spPr>
        <p:txBody>
          <a:bodyPr wrap="square" lIns="36576" rIns="36576" tIns="18288" bIns="18288" anchor="t">
            <a:spAutoFit/>
          </a:bodyPr>
          <a:lstStyle/>
          <a:p>
            <a:pPr algn="l">
              <a:lnSpc>
                <a:spcPct val="112000"/>
              </a:lnSpc>
            </a:pPr>
            <a:r>
              <a:rPr sz="1400" b="0" i="0">
                <a:solidFill>
                  <a:srgbClr val="E8E5DE"/>
                </a:solidFill>
                <a:latin typeface="Calibri"/>
              </a:rPr>
              <a:t>Automate the start of the work, never the approval. Test with Trigger now; pause what you cannot watch.</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Crons Make Next Week's Posts and Video While You Sleep</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Your team works when you tell it to. A cron makes it work on Monday at 9:00 without you: fresh posts, a new video draft, waiting for your approval.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The launch campaign runs for four weeks. You do not want to brief the team from scratch every Monday, so you schedule the work: every Monday the social bots draft the week's three posts, and every Friday the video team starts a new 15-second clip. The schedule starts the work; you still approve everything before it is used.</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A Monday 9:00 job: the social bots draft three posts into outputs/social/weekly/ and tell you on Telegram</a:t>
            </a:r>
          </a:p>
          <a:p>
            <a:pPr algn="l">
              <a:lnSpc>
                <a:spcPct val="112000"/>
              </a:lnSpc>
            </a:pPr>
            <a:r>
              <a:rPr sz="1250" b="0" i="0">
                <a:solidFill>
                  <a:srgbClr val="6B6862"/>
                </a:solidFill>
                <a:latin typeface="Calibri"/>
              </a:rPr>
              <a:t>✓  A Friday 10:00 job: Mia starts a Kanban video run with your two HUMAN gates</a:t>
            </a:r>
          </a:p>
          <a:p>
            <a:pPr algn="l">
              <a:lnSpc>
                <a:spcPct val="112000"/>
              </a:lnSpc>
            </a:pPr>
            <a:r>
              <a:rPr sz="1250" b="0" i="0">
                <a:solidFill>
                  <a:srgbClr val="6B6862"/>
                </a:solidFill>
                <a:latin typeface="Calibri"/>
              </a:rPr>
              <a:t>✓  Both jobs tested once with Trigger now, then left scheduled (or paused after class)</a:t>
            </a:r>
          </a:p>
          <a:p>
            <a:pPr algn="l">
              <a:lnSpc>
                <a:spcPct val="112000"/>
              </a:lnSpc>
            </a:pPr>
            <a:r>
              <a:rPr sz="1250" b="0" i="0">
                <a:solidFill>
                  <a:srgbClr val="6B6862"/>
                </a:solidFill>
                <a:latin typeface="Calibri"/>
              </a:rPr>
              <a:t>✓  outputs/automation/cron-log.md: job, schedule, what it produced, what you approved</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Mia and the Activity 4 and 5 teams, started by scheduled jobs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the schedule, approve every post and video, pause a job that misbehaves</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30 min  ·  Scheduled jobs that start the team's work</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06</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https://tertiarycourses.github.io/TGS-2024043854-Build-a-Human-AI-Workforce-with-Autonomous-AI-Agents/prompts/#lab-06</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Schedule</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Monday 9:00 and Friday 10:00.</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Prompt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Ask Mia to create both jobs.</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4474463"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bolt-FFFFF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Test</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Trigger now; check the outputs.</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phone-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Notify</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Telegram: drafts are waiting.</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user-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 EDIT before use.</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pause-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Control</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Pause, edit or delete the job.</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Scheduled jobs lists both jobs with the right times, each test run produced drafts and a Telegram message, and nothing was published without your approval.</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Monday 9:00: the week's social drafts (7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prompts/#lab-06</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a scheduled job called 'Weekly social drafts' that runs every Monday at 9:00 Asia/Singapore time and delivers to my Telegram.</a:t>
            </a:r>
          </a:p>
          <a:p>
            <a:pPr algn="l">
              <a:lnSpc>
                <a:spcPct val="110000"/>
              </a:lnSpc>
            </a:pPr>
            <a:r>
              <a:rPr sz="1300" b="0" i="0">
                <a:solidFill>
                  <a:srgbClr val="F1EDE4"/>
                </a:solidFill>
                <a:latin typeface="Consolas"/>
              </a:rPr>
              <a:t>Job: in Desktop/kopi-kaki, read campaign-brief.md, research.md and last week's approval-log.md. Following the rules in souls/lin.SOUL.md, souls/farah.SOUL.md and souls/ivy.SOUL.md, draft this week's LinkedIn, Facebook and Instagram posts into outputs/social/weekly/&lt;date&gt;/, make one image per post with tools/make_post_image.py and a gallery.html. Then message me: 'Drafts ready — reply APPROVE, EDIT or REJECT per post'. Never post or publish anything.</a:t>
            </a:r>
          </a:p>
          <a:p>
            <a:pPr algn="l">
              <a:lnSpc>
                <a:spcPct val="110000"/>
              </a:lnSpc>
            </a:pPr>
            <a:r>
              <a:rPr sz="1300" b="0" i="0">
                <a:solidFill>
                  <a:srgbClr val="F1EDE4"/>
                </a:solidFill>
                <a:latin typeface="Consolas"/>
              </a:rPr>
              <a:t>Show me the job when it is saved.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social drafts' appears in Scheduled jobs: every Monday 9:00, delivered to Telegram.</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schedule, approve every post and video, pause a job that misbehaves</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06</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Friday 10:00: a new video draft on the board (7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prompts/#lab-06</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Create a scheduled job called 'Weekly video draft' that runs every Friday at 10:00 Asia/Singapore time and delivers to my Telegram.</a:t>
            </a:r>
          </a:p>
          <a:p>
            <a:pPr algn="l">
              <a:lnSpc>
                <a:spcPct val="110000"/>
              </a:lnSpc>
            </a:pPr>
            <a:r>
              <a:rPr sz="1300" b="0" i="0">
                <a:solidFill>
                  <a:srgbClr val="F1EDE4"/>
                </a:solidFill>
                <a:latin typeface="Consolas"/>
              </a:rPr>
              <a:t>Job: on the kopi-video Kanban board, create a new run for a 15-second clip about this week's best-performing angle from outputs/social/approval-log.md: the same seven cards as Activity 5 with both HUMAN gates (approve the script, approve the exact video). Message me when the script is waiting for my approval. Nothing is rendered before I approve the script; nothing is published.</a:t>
            </a:r>
          </a:p>
          <a:p>
            <a:pPr algn="l">
              <a:lnSpc>
                <a:spcPct val="110000"/>
              </a:lnSpc>
            </a:pPr>
            <a:r>
              <a:rPr sz="1300" b="0" i="0">
                <a:solidFill>
                  <a:srgbClr val="F1EDE4"/>
                </a:solidFill>
                <a:latin typeface="Consolas"/>
              </a:rPr>
              <a:t>Show me the job when it is saved.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'Weekly video draft' appears in Scheduled jobs: every Friday 10:00.</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schedule, approve every post and video, pause a job that misbehaves</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06</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AI SECURITY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5 Principles of AI Security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agents read your inbox, spend your money and speak for your brand. These five controls keep what they see and do safe, reviewable and accountable.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03120"/>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49808" y="228600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103120"/>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Data Control</a:t>
            </a:r>
          </a:p>
        </p:txBody>
      </p:sp>
      <p:sp>
        <p:nvSpPr>
          <p:cNvPr id="11" name="Rounded Rectangle 10"/>
          <p:cNvSpPr/>
          <p:nvPr/>
        </p:nvSpPr>
        <p:spPr>
          <a:xfrm>
            <a:off x="3657600" y="228600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228600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AI CAN SEE</a:t>
            </a:r>
          </a:p>
        </p:txBody>
      </p:sp>
      <p:sp>
        <p:nvSpPr>
          <p:cNvPr id="13" name="TextBox 12"/>
          <p:cNvSpPr txBox="1"/>
          <p:nvPr/>
        </p:nvSpPr>
        <p:spPr>
          <a:xfrm>
            <a:off x="6263640" y="2139696"/>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Classify your data (public, internal, confidential) and decide exactly which data the AI may access.</a:t>
            </a:r>
          </a:p>
        </p:txBody>
      </p:sp>
      <p:sp>
        <p:nvSpPr>
          <p:cNvPr id="14" name="Rounded Rectangle 13"/>
          <p:cNvSpPr/>
          <p:nvPr/>
        </p:nvSpPr>
        <p:spPr>
          <a:xfrm>
            <a:off x="548640" y="283463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49808" y="301752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5840" y="283463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Permission Control</a:t>
            </a:r>
          </a:p>
        </p:txBody>
      </p:sp>
      <p:sp>
        <p:nvSpPr>
          <p:cNvPr id="17" name="Rounded Rectangle 16"/>
          <p:cNvSpPr/>
          <p:nvPr/>
        </p:nvSpPr>
        <p:spPr>
          <a:xfrm>
            <a:off x="3657600" y="301752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57600" y="301752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AI CAN DO</a:t>
            </a:r>
          </a:p>
        </p:txBody>
      </p:sp>
      <p:sp>
        <p:nvSpPr>
          <p:cNvPr id="19" name="TextBox 18"/>
          <p:cNvSpPr txBox="1"/>
          <p:nvPr/>
        </p:nvSpPr>
        <p:spPr>
          <a:xfrm>
            <a:off x="6263640" y="287121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Grant only the rights needed — read, write, edit, delete. Ask before anything destructive.</a:t>
            </a:r>
          </a:p>
        </p:txBody>
      </p:sp>
      <p:sp>
        <p:nvSpPr>
          <p:cNvPr id="20" name="Rounded Rectangle 19"/>
          <p:cNvSpPr/>
          <p:nvPr/>
        </p:nvSpPr>
        <p:spPr>
          <a:xfrm>
            <a:off x="548640" y="356615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49808" y="3749039"/>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05840" y="356615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Human in the Loop</a:t>
            </a:r>
          </a:p>
        </p:txBody>
      </p:sp>
      <p:sp>
        <p:nvSpPr>
          <p:cNvPr id="23" name="Rounded Rectangle 22"/>
          <p:cNvSpPr/>
          <p:nvPr/>
        </p:nvSpPr>
        <p:spPr>
          <a:xfrm>
            <a:off x="3657600" y="3749039"/>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57600" y="3749039"/>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WHO APPROVES</a:t>
            </a:r>
          </a:p>
        </p:txBody>
      </p:sp>
      <p:sp>
        <p:nvSpPr>
          <p:cNvPr id="25" name="TextBox 24"/>
          <p:cNvSpPr txBox="1"/>
          <p:nvPr/>
        </p:nvSpPr>
        <p:spPr>
          <a:xfrm>
            <a:off x="6263640" y="360273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A person reviews and approves high-impact actions — sends, posts, payments, deletions.</a:t>
            </a:r>
          </a:p>
        </p:txBody>
      </p:sp>
      <p:sp>
        <p:nvSpPr>
          <p:cNvPr id="26" name="Rounded Rectangle 25"/>
          <p:cNvSpPr/>
          <p:nvPr/>
        </p:nvSpPr>
        <p:spPr>
          <a:xfrm>
            <a:off x="548640" y="4297679"/>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49808" y="4480559"/>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05840" y="4297679"/>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Traceability</a:t>
            </a:r>
          </a:p>
        </p:txBody>
      </p:sp>
      <p:sp>
        <p:nvSpPr>
          <p:cNvPr id="29" name="Rounded Rectangle 28"/>
          <p:cNvSpPr/>
          <p:nvPr/>
        </p:nvSpPr>
        <p:spPr>
          <a:xfrm>
            <a:off x="3657600" y="4480559"/>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657600" y="4480559"/>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WHAT HAPPENED</a:t>
            </a:r>
          </a:p>
        </p:txBody>
      </p:sp>
      <p:sp>
        <p:nvSpPr>
          <p:cNvPr id="31" name="TextBox 30"/>
          <p:cNvSpPr txBox="1"/>
          <p:nvPr/>
        </p:nvSpPr>
        <p:spPr>
          <a:xfrm>
            <a:off x="6263640" y="4334255"/>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Log every prompt, tool call and change so actions can be audited, explained and rolled back.</a:t>
            </a:r>
          </a:p>
        </p:txBody>
      </p:sp>
      <p:sp>
        <p:nvSpPr>
          <p:cNvPr id="32" name="Rounded Rectangle 31"/>
          <p:cNvSpPr/>
          <p:nvPr/>
        </p:nvSpPr>
        <p:spPr>
          <a:xfrm>
            <a:off x="548640" y="5029200"/>
            <a:ext cx="11064240" cy="6400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49808" y="5212080"/>
            <a:ext cx="64008" cy="274319"/>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05840" y="5029200"/>
            <a:ext cx="2651760" cy="640080"/>
          </a:xfrm>
          <a:prstGeom prst="rect">
            <a:avLst/>
          </a:prstGeom>
          <a:noFill/>
        </p:spPr>
        <p:txBody>
          <a:bodyPr wrap="square" lIns="36576" rIns="36576" tIns="18288" bIns="18288" anchor="ctr">
            <a:spAutoFit/>
          </a:bodyPr>
          <a:lstStyle/>
          <a:p>
            <a:pPr algn="l">
              <a:lnSpc>
                <a:spcPct val="112000"/>
              </a:lnSpc>
            </a:pPr>
            <a:r>
              <a:rPr sz="1550" b="1" i="0">
                <a:solidFill>
                  <a:srgbClr val="C2603F"/>
                </a:solidFill>
                <a:latin typeface="Cambria"/>
              </a:rPr>
              <a:t>Right-Sized Models</a:t>
            </a:r>
          </a:p>
        </p:txBody>
      </p:sp>
      <p:sp>
        <p:nvSpPr>
          <p:cNvPr id="35" name="Rounded Rectangle 34"/>
          <p:cNvSpPr/>
          <p:nvPr/>
        </p:nvSpPr>
        <p:spPr>
          <a:xfrm>
            <a:off x="3657600" y="5212080"/>
            <a:ext cx="2331720" cy="274319"/>
          </a:xfrm>
          <a:prstGeom prst="roundRect">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657600" y="5212080"/>
            <a:ext cx="2331720" cy="274319"/>
          </a:xfrm>
          <a:prstGeom prst="rect">
            <a:avLst/>
          </a:prstGeom>
          <a:noFill/>
        </p:spPr>
        <p:txBody>
          <a:bodyPr wrap="square" lIns="36576" rIns="36576" tIns="18288" bIns="18288" anchor="ctr">
            <a:spAutoFit/>
          </a:bodyPr>
          <a:lstStyle/>
          <a:p>
            <a:pPr algn="ctr">
              <a:lnSpc>
                <a:spcPct val="112000"/>
              </a:lnSpc>
            </a:pPr>
            <a:r>
              <a:rPr sz="950" b="1" i="0">
                <a:solidFill>
                  <a:srgbClr val="FFFFFF"/>
                </a:solidFill>
                <a:latin typeface="Calibri"/>
              </a:rPr>
              <a:t>NOT THE MOST POWERFUL</a:t>
            </a:r>
          </a:p>
        </p:txBody>
      </p:sp>
      <p:sp>
        <p:nvSpPr>
          <p:cNvPr id="37" name="TextBox 36"/>
          <p:cNvSpPr txBox="1"/>
          <p:nvPr/>
        </p:nvSpPr>
        <p:spPr>
          <a:xfrm>
            <a:off x="6263640" y="5065776"/>
            <a:ext cx="5212080" cy="566928"/>
          </a:xfrm>
          <a:prstGeom prst="rect">
            <a:avLst/>
          </a:prstGeom>
          <a:noFill/>
        </p:spPr>
        <p:txBody>
          <a:bodyPr wrap="square" lIns="36576" rIns="36576" tIns="18288" bIns="18288" anchor="ctr">
            <a:spAutoFit/>
          </a:bodyPr>
          <a:lstStyle/>
          <a:p>
            <a:pPr algn="l">
              <a:lnSpc>
                <a:spcPct val="112000"/>
              </a:lnSpc>
            </a:pPr>
            <a:r>
              <a:rPr sz="1250" b="0" i="0">
                <a:solidFill>
                  <a:srgbClr val="6B6862"/>
                </a:solidFill>
                <a:latin typeface="Calibri"/>
              </a:rPr>
              <a:t>Do not use the most powerful model by default — the smallest model that does the job has less autonomy and risk.</a:t>
            </a:r>
          </a:p>
        </p:txBody>
      </p:sp>
      <p:sp>
        <p:nvSpPr>
          <p:cNvPr id="38" name="TextBox 37"/>
          <p:cNvSpPr txBox="1"/>
          <p:nvPr/>
        </p:nvSpPr>
        <p:spPr>
          <a:xfrm>
            <a:off x="548640" y="5779007"/>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 Hermes: a read-only Gmail connector, a Telegram approved-users list, @user questions in group chats, HUMAN Kanban cards, file fingerprints, a smaller model per bot.</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Grounded or Guessing? RAG versus a Standard LLM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Your researcher bot is a small RAG system: it may only say what a source file supports.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STANDARD LLM</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Answers from what it learned</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Fluent, fast, cheap to set up.</a:t>
            </a:r>
          </a:p>
          <a:p>
            <a:pPr algn="l">
              <a:lnSpc>
                <a:spcPct val="130000"/>
              </a:lnSpc>
            </a:pPr>
            <a:r>
              <a:rPr sz="1450" b="0" i="0">
                <a:solidFill>
                  <a:srgbClr val="6B6862"/>
                </a:solidFill>
                <a:latin typeface="Calibri"/>
              </a:rPr>
              <a:t>Does not know your price, dates or latest policy.</a:t>
            </a:r>
          </a:p>
          <a:p>
            <a:pPr algn="l">
              <a:lnSpc>
                <a:spcPct val="130000"/>
              </a:lnSpc>
            </a:pPr>
            <a:r>
              <a:rPr sz="1450" b="0" i="0">
                <a:solidFill>
                  <a:srgbClr val="6B6862"/>
                </a:solidFill>
                <a:latin typeface="Calibri"/>
              </a:rPr>
              <a:t>Can state a wrong fact confidently.</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RETRIEVAL-AUGMENTED (RAG)</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Answers from passages it retrieved</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Quotes the approved source and its version.</a:t>
            </a:r>
          </a:p>
          <a:p>
            <a:pPr algn="l">
              <a:lnSpc>
                <a:spcPct val="130000"/>
              </a:lnSpc>
            </a:pPr>
            <a:r>
              <a:rPr sz="1450" b="0" i="0">
                <a:solidFill>
                  <a:srgbClr val="C9C4B9"/>
                </a:solidFill>
                <a:latin typeface="Calibri"/>
              </a:rPr>
              <a:t>Says INSUFFICIENT EVIDENCE when nothing supports a claim.</a:t>
            </a:r>
          </a:p>
          <a:p>
            <a:pPr algn="l">
              <a:lnSpc>
                <a:spcPct val="130000"/>
              </a:lnSpc>
            </a:pPr>
            <a:r>
              <a:rPr sz="1450" b="0" i="0">
                <a:solidFill>
                  <a:srgbClr val="C9C4B9"/>
                </a:solidFill>
                <a:latin typeface="Calibri"/>
              </a:rPr>
              <a:t>Needs owners, indexing, access control and refresh.</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 Activity 5 the researcher writes claim | source file | exact quote. That table is your RAG audit trail.</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Small Tests Reveal Different Failure Modes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Run all four against your researcher before you trust it with a public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ec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Supported</a:t>
            </a:r>
          </a:p>
        </p:txBody>
      </p:sp>
      <p:sp>
        <p:nvSpPr>
          <p:cNvPr id="12" name="TextBox 11"/>
          <p:cNvSpPr txBox="1"/>
          <p:nvPr/>
        </p:nvSpPr>
        <p:spPr>
          <a:xfrm>
            <a:off x="77724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does the cold brew cost?” → the catalogue line: SGD 6.80.</a:t>
            </a:r>
          </a:p>
        </p:txBody>
      </p:sp>
      <p:sp>
        <p:nvSpPr>
          <p:cNvPr id="13" name="Rounded Rectangle 12"/>
          <p:cNvSpPr/>
          <p:nvPr/>
        </p:nvSpPr>
        <p:spPr>
          <a:xfrm>
            <a:off x="336042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8902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3"/>
          <a:stretch>
            <a:fillRect/>
          </a:stretch>
        </p:blipFill>
        <p:spPr>
          <a:xfrm>
            <a:off x="3711915" y="2546055"/>
            <a:ext cx="266273" cy="266273"/>
          </a:xfrm>
          <a:prstGeom prst="rect">
            <a:avLst/>
          </a:prstGeom>
        </p:spPr>
      </p:pic>
      <p:sp>
        <p:nvSpPr>
          <p:cNvPr id="16" name="TextBox 15"/>
          <p:cNvSpPr txBox="1"/>
          <p:nvPr/>
        </p:nvSpPr>
        <p:spPr>
          <a:xfrm>
            <a:off x="358902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Partial</a:t>
            </a:r>
          </a:p>
        </p:txBody>
      </p:sp>
      <p:sp>
        <p:nvSpPr>
          <p:cNvPr id="17" name="TextBox 16"/>
          <p:cNvSpPr txBox="1"/>
          <p:nvPr/>
        </p:nvSpPr>
        <p:spPr>
          <a:xfrm>
            <a:off x="358902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is the SHIOK20 offer?” → the discount AND its terms, or it is incomplete.</a:t>
            </a:r>
          </a:p>
        </p:txBody>
      </p:sp>
      <p:sp>
        <p:nvSpPr>
          <p:cNvPr id="18" name="Rounded Rectangle 17"/>
          <p:cNvSpPr/>
          <p:nvPr/>
        </p:nvSpPr>
        <p:spPr>
          <a:xfrm>
            <a:off x="617220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4"/>
          <a:stretch>
            <a:fillRect/>
          </a:stretch>
        </p:blipFill>
        <p:spPr>
          <a:xfrm>
            <a:off x="6523695" y="2546055"/>
            <a:ext cx="266273" cy="266273"/>
          </a:xfrm>
          <a:prstGeom prst="rect">
            <a:avLst/>
          </a:prstGeom>
        </p:spPr>
      </p:pic>
      <p:sp>
        <p:nvSpPr>
          <p:cNvPr id="21" name="TextBox 20"/>
          <p:cNvSpPr txBox="1"/>
          <p:nvPr/>
        </p:nvSpPr>
        <p:spPr>
          <a:xfrm>
            <a:off x="640080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Unsupported</a:t>
            </a:r>
          </a:p>
        </p:txBody>
      </p:sp>
      <p:sp>
        <p:nvSpPr>
          <p:cNvPr id="22" name="TextBox 21"/>
          <p:cNvSpPr txBox="1"/>
          <p:nvPr/>
        </p:nvSpPr>
        <p:spPr>
          <a:xfrm>
            <a:off x="640080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it healthier than soft drinks?” → INSUFFICIENT EVIDENCE. No source, no claim.</a:t>
            </a:r>
          </a:p>
        </p:txBody>
      </p:sp>
      <p:sp>
        <p:nvSpPr>
          <p:cNvPr id="23" name="Rounded Rectangle 22"/>
          <p:cNvSpPr/>
          <p:nvPr/>
        </p:nvSpPr>
        <p:spPr>
          <a:xfrm>
            <a:off x="898398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1258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5"/>
          <a:stretch>
            <a:fillRect/>
          </a:stretch>
        </p:blipFill>
        <p:spPr>
          <a:xfrm>
            <a:off x="9335475" y="2546055"/>
            <a:ext cx="266273" cy="266273"/>
          </a:xfrm>
          <a:prstGeom prst="rect">
            <a:avLst/>
          </a:prstGeom>
        </p:spPr>
      </p:pic>
      <p:sp>
        <p:nvSpPr>
          <p:cNvPr id="26" name="TextBox 25"/>
          <p:cNvSpPr txBox="1"/>
          <p:nvPr/>
        </p:nvSpPr>
        <p:spPr>
          <a:xfrm>
            <a:off x="921258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Conflicting</a:t>
            </a:r>
          </a:p>
        </p:txBody>
      </p:sp>
      <p:sp>
        <p:nvSpPr>
          <p:cNvPr id="27" name="TextBox 26"/>
          <p:cNvSpPr txBox="1"/>
          <p:nvPr/>
        </p:nvSpPr>
        <p:spPr>
          <a:xfrm>
            <a:off x="921258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Two files disagree on the launch date → stop and ask the source owner.</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RAG system is only as current as its last refresh. Maintenance is part of feasibility, not an afterthought.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TextBox 7"/>
          <p:cNvSpPr txBox="1"/>
          <p:nvPr/>
        </p:nvSpPr>
        <p:spPr>
          <a:xfrm>
            <a:off x="548640"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1</a:t>
            </a:r>
          </a:p>
        </p:txBody>
      </p:sp>
      <p:sp>
        <p:nvSpPr>
          <p:cNvPr id="9" name="TextBox 8"/>
          <p:cNvSpPr txBox="1"/>
          <p:nvPr/>
        </p:nvSpPr>
        <p:spPr>
          <a:xfrm>
            <a:off x="548640"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Change</a:t>
            </a:r>
          </a:p>
        </p:txBody>
      </p:sp>
      <p:sp>
        <p:nvSpPr>
          <p:cNvPr id="10" name="TextBox 9"/>
          <p:cNvSpPr txBox="1"/>
          <p:nvPr/>
        </p:nvSpPr>
        <p:spPr>
          <a:xfrm>
            <a:off x="548640"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The owner approves price list v2 (SGD 6.80 → 7.20).</a:t>
            </a:r>
          </a:p>
        </p:txBody>
      </p:sp>
      <p:sp>
        <p:nvSpPr>
          <p:cNvPr id="11" name="TextBox 10"/>
          <p:cNvSpPr txBox="1"/>
          <p:nvPr/>
        </p:nvSpPr>
        <p:spPr>
          <a:xfrm>
            <a:off x="3364992"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2</a:t>
            </a:r>
          </a:p>
        </p:txBody>
      </p:sp>
      <p:sp>
        <p:nvSpPr>
          <p:cNvPr id="12" name="TextBox 11"/>
          <p:cNvSpPr txBox="1"/>
          <p:nvPr/>
        </p:nvSpPr>
        <p:spPr>
          <a:xfrm>
            <a:off x="3364992"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Refresh</a:t>
            </a:r>
          </a:p>
        </p:txBody>
      </p:sp>
      <p:sp>
        <p:nvSpPr>
          <p:cNvPr id="13" name="TextBox 12"/>
          <p:cNvSpPr txBox="1"/>
          <p:nvPr/>
        </p:nvSpPr>
        <p:spPr>
          <a:xfrm>
            <a:off x="3364992"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Re-index the changed passages; retire v1 so it cannot be retrieved.</a:t>
            </a:r>
          </a:p>
        </p:txBody>
      </p:sp>
      <p:sp>
        <p:nvSpPr>
          <p:cNvPr id="14" name="TextBox 13"/>
          <p:cNvSpPr txBox="1"/>
          <p:nvPr/>
        </p:nvSpPr>
        <p:spPr>
          <a:xfrm>
            <a:off x="6181344"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3</a:t>
            </a:r>
          </a:p>
        </p:txBody>
      </p:sp>
      <p:sp>
        <p:nvSpPr>
          <p:cNvPr id="15" name="TextBox 14"/>
          <p:cNvSpPr txBox="1"/>
          <p:nvPr/>
        </p:nvSpPr>
        <p:spPr>
          <a:xfrm>
            <a:off x="6181344"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Retest</a:t>
            </a:r>
          </a:p>
        </p:txBody>
      </p:sp>
      <p:sp>
        <p:nvSpPr>
          <p:cNvPr id="16" name="TextBox 15"/>
          <p:cNvSpPr txBox="1"/>
          <p:nvPr/>
        </p:nvSpPr>
        <p:spPr>
          <a:xfrm>
            <a:off x="6181344"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Re-run the four tests: supported, partial, unsupported, conflicting.</a:t>
            </a:r>
          </a:p>
        </p:txBody>
      </p:sp>
      <p:sp>
        <p:nvSpPr>
          <p:cNvPr id="17" name="TextBox 16"/>
          <p:cNvSpPr txBox="1"/>
          <p:nvPr/>
        </p:nvSpPr>
        <p:spPr>
          <a:xfrm>
            <a:off x="8997696" y="2286000"/>
            <a:ext cx="2651760" cy="1097280"/>
          </a:xfrm>
          <a:prstGeom prst="rect">
            <a:avLst/>
          </a:prstGeom>
          <a:noFill/>
        </p:spPr>
        <p:txBody>
          <a:bodyPr wrap="square" lIns="36576" rIns="36576" tIns="18288" bIns="18288" anchor="t">
            <a:spAutoFit/>
          </a:bodyPr>
          <a:lstStyle/>
          <a:p>
            <a:pPr algn="l">
              <a:lnSpc>
                <a:spcPct val="112000"/>
              </a:lnSpc>
            </a:pPr>
            <a:r>
              <a:rPr sz="7200" b="1" i="0">
                <a:solidFill>
                  <a:srgbClr val="D97757"/>
                </a:solidFill>
                <a:latin typeface="Cambria"/>
              </a:rPr>
              <a:t>4</a:t>
            </a:r>
          </a:p>
        </p:txBody>
      </p:sp>
      <p:sp>
        <p:nvSpPr>
          <p:cNvPr id="18" name="TextBox 17"/>
          <p:cNvSpPr txBox="1"/>
          <p:nvPr/>
        </p:nvSpPr>
        <p:spPr>
          <a:xfrm>
            <a:off x="8997696" y="3474720"/>
            <a:ext cx="265176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Re-review</a:t>
            </a:r>
          </a:p>
        </p:txBody>
      </p:sp>
      <p:sp>
        <p:nvSpPr>
          <p:cNvPr id="19" name="TextBox 18"/>
          <p:cNvSpPr txBox="1"/>
          <p:nvPr/>
        </p:nvSpPr>
        <p:spPr>
          <a:xfrm>
            <a:off x="8997696" y="3977639"/>
            <a:ext cx="2606040" cy="1463040"/>
          </a:xfrm>
          <a:prstGeom prst="rect">
            <a:avLst/>
          </a:prstGeom>
          <a:noFill/>
        </p:spPr>
        <p:txBody>
          <a:bodyPr wrap="square" lIns="36576" rIns="36576" tIns="18288" bIns="18288" anchor="t">
            <a:spAutoFit/>
          </a:bodyPr>
          <a:lstStyle/>
          <a:p>
            <a:pPr algn="l">
              <a:lnSpc>
                <a:spcPct val="112000"/>
              </a:lnSpc>
            </a:pPr>
            <a:r>
              <a:rPr sz="1350" b="0" i="0">
                <a:solidFill>
                  <a:srgbClr val="6B6862"/>
                </a:solidFill>
                <a:latin typeface="Calibri"/>
              </a:rPr>
              <a:t>Every post and video that quoted v1 goes back to review.</a:t>
            </a:r>
          </a:p>
        </p:txBody>
      </p:sp>
      <p:sp>
        <p:nvSpPr>
          <p:cNvPr id="20" name="TextBox 19"/>
          <p:cNvSpPr txBox="1"/>
          <p:nvPr/>
        </p:nvSpPr>
        <p:spPr>
          <a:xfrm>
            <a:off x="548640" y="56692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For a regulated business (bank, insurer, clinic) add a named source owner, access control per document and an audit log of every refresh.</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GROUNDING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041648"/>
        </p:xfrm>
        <a:graphic>
          <a:graphicData uri="http://schemas.openxmlformats.org/drawingml/2006/table">
            <a:tbl>
              <a:tblPr firstRow="0" bandRow="0">
                <a:tableStyleId>{5C22544A-7EE6-4342-B048-85BDC9FD1C3A}</a:tableStyleId>
              </a:tblPr>
              <a:tblGrid>
                <a:gridCol w="2011680"/>
                <a:gridCol w="4206240"/>
                <a:gridCol w="48463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Question it answers</a:t>
                      </a:r>
                    </a:p>
                  </a:txBody>
                  <a:tcPr marL="64008" marR="64008" marT="27432" marB="27432" anchor="ctr">
                    <a:solidFill>
                      <a:srgbClr val="21201C"/>
                    </a:solidFill>
                  </a:tcPr>
                </a:tc>
                <a:tc>
                  <a:txBody>
                    <a:bodyPr wrap="square"/>
                    <a:lstStyle/>
                    <a:p>
                      <a:r>
                        <a:rPr b="1" sz="1550">
                          <a:solidFill>
                            <a:srgbClr val="FFFFFF"/>
                          </a:solidFill>
                          <a:latin typeface="Cambria"/>
                        </a:rPr>
                        <a:t>How to check it in Activity 5</a:t>
                      </a:r>
                    </a:p>
                  </a:txBody>
                  <a:tcPr marL="64008" marR="64008" marT="27432" marB="27432" anchor="ctr">
                    <a:solidFill>
                      <a:srgbClr val="21201C"/>
                    </a:solidFill>
                  </a:tcPr>
                </a:tc>
              </a:tr>
              <a:tr h="896112">
                <a:tc>
                  <a:txBody>
                    <a:bodyPr wrap="square"/>
                    <a:lstStyle/>
                    <a:p>
                      <a:r>
                        <a:rPr b="1" sz="1500">
                          <a:solidFill>
                            <a:srgbClr val="21201C"/>
                          </a:solidFill>
                          <a:latin typeface="Cambria"/>
                        </a:rPr>
                        <a:t>Relevance</a:t>
                      </a:r>
                    </a:p>
                  </a:txBody>
                  <a:tcPr marL="64008" marR="64008" marT="27432" marB="27432" anchor="ctr">
                    <a:solidFill>
                      <a:srgbClr val="FFFFFF"/>
                    </a:solidFill>
                  </a:tcPr>
                </a:tc>
                <a:tc>
                  <a:txBody>
                    <a:bodyPr wrap="square"/>
                    <a:lstStyle/>
                    <a:p>
                      <a:r>
                        <a:rPr b="0" sz="1500">
                          <a:solidFill>
                            <a:srgbClr val="6B6862"/>
                          </a:solidFill>
                          <a:latin typeface="Calibri"/>
                        </a:rPr>
                        <a:t>Did search return the passage needed?</a:t>
                      </a:r>
                    </a:p>
                  </a:txBody>
                  <a:tcPr marL="64008" marR="64008" marT="27432" marB="27432" anchor="ctr">
                    <a:solidFill>
                      <a:srgbClr val="FFFFFF"/>
                    </a:solidFill>
                  </a:tcPr>
                </a:tc>
                <a:tc>
                  <a:txBody>
                    <a:bodyPr wrap="square"/>
                    <a:lstStyle/>
                    <a:p>
                      <a:r>
                        <a:rPr b="0" sz="1500">
                          <a:solidFill>
                            <a:srgbClr val="6B6862"/>
                          </a:solidFill>
                          <a:latin typeface="Calibri"/>
                        </a:rPr>
                        <a:t>Each claim in research.md points to the right file</a:t>
                      </a:r>
                    </a:p>
                  </a:txBody>
                  <a:tcPr marL="64008" marR="64008" marT="27432" marB="27432" anchor="ctr">
                    <a:solidFill>
                      <a:srgbClr val="FFFFFF"/>
                    </a:solidFill>
                  </a:tcPr>
                </a:tc>
              </a:tr>
              <a:tr h="896112">
                <a:tc>
                  <a:txBody>
                    <a:bodyPr wrap="square"/>
                    <a:lstStyle/>
                    <a:p>
                      <a:r>
                        <a:rPr b="1" sz="1500">
                          <a:solidFill>
                            <a:srgbClr val="21201C"/>
                          </a:solidFill>
                          <a:latin typeface="Cambria"/>
                        </a:rPr>
                        <a:t>Support</a:t>
                      </a:r>
                    </a:p>
                  </a:txBody>
                  <a:tcPr marL="64008" marR="64008" marT="27432" marB="27432" anchor="ctr">
                    <a:solidFill>
                      <a:srgbClr val="F3F1EB"/>
                    </a:solidFill>
                  </a:tcPr>
                </a:tc>
                <a:tc>
                  <a:txBody>
                    <a:bodyPr wrap="square"/>
                    <a:lstStyle/>
                    <a:p>
                      <a:r>
                        <a:rPr b="0" sz="1500">
                          <a:solidFill>
                            <a:srgbClr val="6B6862"/>
                          </a:solidFill>
                          <a:latin typeface="Calibri"/>
                        </a:rPr>
                        <a:t>Does the passage actually justify the answer?</a:t>
                      </a:r>
                    </a:p>
                  </a:txBody>
                  <a:tcPr marL="64008" marR="64008" marT="27432" marB="27432" anchor="ctr">
                    <a:solidFill>
                      <a:srgbClr val="F3F1EB"/>
                    </a:solidFill>
                  </a:tcPr>
                </a:tc>
                <a:tc>
                  <a:txBody>
                    <a:bodyPr wrap="square"/>
                    <a:lstStyle/>
                    <a:p>
                      <a:r>
                        <a:rPr b="0" sz="1500">
                          <a:solidFill>
                            <a:srgbClr val="6B6862"/>
                          </a:solidFill>
                          <a:latin typeface="Calibri"/>
                        </a:rPr>
                        <a:t>Read the quoted line yourself for two claims</a:t>
                      </a:r>
                    </a:p>
                  </a:txBody>
                  <a:tcPr marL="64008" marR="64008" marT="27432" marB="27432" anchor="ctr">
                    <a:solidFill>
                      <a:srgbClr val="F3F1EB"/>
                    </a:solidFill>
                  </a:tcPr>
                </a:tc>
              </a:tr>
              <a:tr h="896112">
                <a:tc>
                  <a:txBody>
                    <a:bodyPr wrap="square"/>
                    <a:lstStyle/>
                    <a:p>
                      <a:r>
                        <a:rPr b="1" sz="1500">
                          <a:solidFill>
                            <a:srgbClr val="21201C"/>
                          </a:solidFill>
                          <a:latin typeface="Cambria"/>
                        </a:rPr>
                        <a:t>Latency</a:t>
                      </a:r>
                    </a:p>
                  </a:txBody>
                  <a:tcPr marL="64008" marR="64008" marT="27432" marB="27432" anchor="ctr">
                    <a:solidFill>
                      <a:srgbClr val="FFFFFF"/>
                    </a:solidFill>
                  </a:tcPr>
                </a:tc>
                <a:tc>
                  <a:txBody>
                    <a:bodyPr wrap="square"/>
                    <a:lstStyle/>
                    <a:p>
                      <a:r>
                        <a:rPr b="0" sz="1500">
                          <a:solidFill>
                            <a:srgbClr val="6B6862"/>
                          </a:solidFill>
                          <a:latin typeface="Calibri"/>
                        </a:rPr>
                        <a:t>How long from question to reviewed answer?</a:t>
                      </a:r>
                    </a:p>
                  </a:txBody>
                  <a:tcPr marL="64008" marR="64008" marT="27432" marB="27432" anchor="ctr">
                    <a:solidFill>
                      <a:srgbClr val="FFFFFF"/>
                    </a:solidFill>
                  </a:tcPr>
                </a:tc>
                <a:tc>
                  <a:txBody>
                    <a:bodyPr wrap="square"/>
                    <a:lstStyle/>
                    <a:p>
                      <a:r>
                        <a:rPr b="0" sz="1500">
                          <a:solidFill>
                            <a:srgbClr val="6B6862"/>
                          </a:solidFill>
                          <a:latin typeface="Calibri"/>
                        </a:rPr>
                        <a:t>Card start → reviewer PASS, from run history</a:t>
                      </a:r>
                    </a:p>
                  </a:txBody>
                  <a:tcPr marL="64008" marR="64008" marT="27432" marB="27432" anchor="ctr">
                    <a:solidFill>
                      <a:srgbClr val="FFFFFF"/>
                    </a:solidFill>
                  </a:tcPr>
                </a:tc>
              </a:tr>
              <a:tr h="896112">
                <a:tc>
                  <a:txBody>
                    <a:bodyPr wrap="square"/>
                    <a:lstStyle/>
                    <a:p>
                      <a:r>
                        <a:rPr b="1" sz="1500">
                          <a:solidFill>
                            <a:srgbClr val="21201C"/>
                          </a:solidFill>
                          <a:latin typeface="Cambria"/>
                        </a:rPr>
                        <a:t>Cost</a:t>
                      </a:r>
                    </a:p>
                  </a:txBody>
                  <a:tcPr marL="64008" marR="64008" marT="27432" marB="27432" anchor="ctr">
                    <a:solidFill>
                      <a:srgbClr val="F3F1EB"/>
                    </a:solidFill>
                  </a:tcPr>
                </a:tc>
                <a:tc>
                  <a:txBody>
                    <a:bodyPr wrap="square"/>
                    <a:lstStyle/>
                    <a:p>
                      <a:r>
                        <a:rPr b="0" sz="1500">
                          <a:solidFill>
                            <a:srgbClr val="6B6862"/>
                          </a:solidFill>
                          <a:latin typeface="Calibri"/>
                        </a:rPr>
                        <a:t>Ingestion + queries + human review</a:t>
                      </a:r>
                    </a:p>
                  </a:txBody>
                  <a:tcPr marL="64008" marR="64008" marT="27432" marB="27432" anchor="ctr">
                    <a:solidFill>
                      <a:srgbClr val="F3F1EB"/>
                    </a:solidFill>
                  </a:tcPr>
                </a:tc>
                <a:tc>
                  <a:txBody>
                    <a:bodyPr wrap="square"/>
                    <a:lstStyle/>
                    <a:p>
                      <a:r>
                        <a:rPr b="0" sz="1500">
                          <a:solidFill>
                            <a:srgbClr val="6B6862"/>
                          </a:solidFill>
                          <a:latin typeface="Calibri"/>
                        </a:rPr>
                        <a:t>Model spend plus your review minutes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EVALUATE AND IMPROVE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Measure the same four numbers before and after any change to a skill, a SOUL.md or the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Cycle time</a:t>
            </a:r>
          </a:p>
        </p:txBody>
      </p:sp>
      <p:sp>
        <p:nvSpPr>
          <p:cNvPr id="12" name="TextBox 11"/>
          <p:cNvSpPr txBox="1"/>
          <p:nvPr/>
        </p:nvSpPr>
        <p:spPr>
          <a:xfrm>
            <a:off x="777240" y="300837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to accepted video, including your reviews and every retry.</a:t>
            </a:r>
          </a:p>
        </p:txBody>
      </p:sp>
      <p:sp>
        <p:nvSpPr>
          <p:cNvPr id="13" name="Rounded Rectangle 12"/>
          <p:cNvSpPr/>
          <p:nvPr/>
        </p:nvSpPr>
        <p:spPr>
          <a:xfrm>
            <a:off x="6172200" y="2240280"/>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heck-FFFFFF.png"/>
          <p:cNvPicPr>
            <a:picLocks noChangeAspect="1"/>
          </p:cNvPicPr>
          <p:nvPr/>
        </p:nvPicPr>
        <p:blipFill>
          <a:blip r:embed="rId3"/>
          <a:stretch>
            <a:fillRect/>
          </a:stretch>
        </p:blipFill>
        <p:spPr>
          <a:xfrm>
            <a:off x="6523695" y="2546055"/>
            <a:ext cx="266273" cy="266273"/>
          </a:xfrm>
          <a:prstGeom prst="rect">
            <a:avLst/>
          </a:prstGeom>
        </p:spPr>
      </p:pic>
      <p:sp>
        <p:nvSpPr>
          <p:cNvPr id="16" name="TextBox 15"/>
          <p:cNvSpPr txBox="1"/>
          <p:nvPr/>
        </p:nvSpPr>
        <p:spPr>
          <a:xfrm>
            <a:off x="7050024" y="240487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First-pass acceptance</a:t>
            </a:r>
          </a:p>
        </p:txBody>
      </p:sp>
      <p:sp>
        <p:nvSpPr>
          <p:cNvPr id="17" name="TextBox 16"/>
          <p:cNvSpPr txBox="1"/>
          <p:nvPr/>
        </p:nvSpPr>
        <p:spPr>
          <a:xfrm>
            <a:off x="6400800" y="300837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Share of outputs you approved without a revision.</a:t>
            </a:r>
          </a:p>
        </p:txBody>
      </p:sp>
      <p:sp>
        <p:nvSpPr>
          <p:cNvPr id="18" name="Rounded Rectangle 17"/>
          <p:cNvSpPr/>
          <p:nvPr/>
        </p:nvSpPr>
        <p:spPr>
          <a:xfrm>
            <a:off x="548640" y="4091939"/>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4"/>
          <a:stretch>
            <a:fillRect/>
          </a:stretch>
        </p:blipFill>
        <p:spPr>
          <a:xfrm>
            <a:off x="900135" y="4397715"/>
            <a:ext cx="266273" cy="266273"/>
          </a:xfrm>
          <a:prstGeom prst="rect">
            <a:avLst/>
          </a:prstGeom>
        </p:spPr>
      </p:pic>
      <p:sp>
        <p:nvSpPr>
          <p:cNvPr id="21" name="TextBox 20"/>
          <p:cNvSpPr txBox="1"/>
          <p:nvPr/>
        </p:nvSpPr>
        <p:spPr>
          <a:xfrm>
            <a:off x="1426464" y="42565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Cost per accepted item</a:t>
            </a:r>
          </a:p>
        </p:txBody>
      </p:sp>
      <p:sp>
        <p:nvSpPr>
          <p:cNvPr id="22" name="TextBox 21"/>
          <p:cNvSpPr txBox="1"/>
          <p:nvPr/>
        </p:nvSpPr>
        <p:spPr>
          <a:xfrm>
            <a:off x="777240" y="486003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Model and tool spend plus review minutes, per approved post or video.</a:t>
            </a:r>
          </a:p>
        </p:txBody>
      </p:sp>
      <p:sp>
        <p:nvSpPr>
          <p:cNvPr id="23" name="Rounded Rectangle 22"/>
          <p:cNvSpPr/>
          <p:nvPr/>
        </p:nvSpPr>
        <p:spPr>
          <a:xfrm>
            <a:off x="6172200" y="4091939"/>
            <a:ext cx="544068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0080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5"/>
          <a:stretch>
            <a:fillRect/>
          </a:stretch>
        </p:blipFill>
        <p:spPr>
          <a:xfrm>
            <a:off x="6523695" y="4397715"/>
            <a:ext cx="266273" cy="266273"/>
          </a:xfrm>
          <a:prstGeom prst="rect">
            <a:avLst/>
          </a:prstGeom>
        </p:spPr>
      </p:pic>
      <p:sp>
        <p:nvSpPr>
          <p:cNvPr id="26" name="TextBox 25"/>
          <p:cNvSpPr txBox="1"/>
          <p:nvPr/>
        </p:nvSpPr>
        <p:spPr>
          <a:xfrm>
            <a:off x="7050024" y="4256532"/>
            <a:ext cx="433425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Defect rate</a:t>
            </a:r>
          </a:p>
        </p:txBody>
      </p:sp>
      <p:sp>
        <p:nvSpPr>
          <p:cNvPr id="27" name="TextBox 26"/>
          <p:cNvSpPr txBox="1"/>
          <p:nvPr/>
        </p:nvSpPr>
        <p:spPr>
          <a:xfrm>
            <a:off x="6400800" y="4860036"/>
            <a:ext cx="498348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Fact, brand and video-quality failures, counted separately.</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BONUS TOPIC · OPTIONAL</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Paperclip: Kopi Kaki as a One-Person Company</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One founder. An AI company. You sit on the Board.</a:t>
            </a:r>
          </a:p>
        </p:txBody>
      </p:sp>
      <p:sp>
        <p:nvSpPr>
          <p:cNvPr id="6" name="Rounded Rectangle 5"/>
          <p:cNvSpPr/>
          <p:nvPr/>
        </p:nvSpPr>
        <p:spPr>
          <a:xfrm>
            <a:off x="8183879" y="1760220"/>
            <a:ext cx="3520440" cy="297180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198881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198881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What Paperclip is; install it</a:t>
            </a:r>
          </a:p>
        </p:txBody>
      </p:sp>
      <p:sp>
        <p:nvSpPr>
          <p:cNvPr id="9" name="TextBox 8"/>
          <p:cNvSpPr txBox="1"/>
          <p:nvPr/>
        </p:nvSpPr>
        <p:spPr>
          <a:xfrm>
            <a:off x="8366760" y="250088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50088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Set up the company and the CEO (with instructions)</a:t>
            </a:r>
          </a:p>
        </p:txBody>
      </p:sp>
      <p:sp>
        <p:nvSpPr>
          <p:cNvPr id="11" name="TextBox 10"/>
          <p:cNvSpPr txBox="1"/>
          <p:nvPr/>
        </p:nvSpPr>
        <p:spPr>
          <a:xfrm>
            <a:off x="8366760" y="3012948"/>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012948"/>
            <a:ext cx="2743200" cy="512064"/>
          </a:xfrm>
          <a:prstGeom prst="rect">
            <a:avLst/>
          </a:prstGeom>
          <a:noFill/>
        </p:spPr>
        <p:txBody>
          <a:bodyPr wrap="square" lIns="36576" rIns="36576" tIns="18288" bIns="18288" anchor="t">
            <a:spAutoFit/>
          </a:bodyPr>
          <a:lstStyle/>
          <a:p>
            <a:pPr algn="l">
              <a:lnSpc>
                <a:spcPct val="112000"/>
              </a:lnSpc>
            </a:pPr>
            <a:r>
              <a:rPr sz="1150" b="0" i="0">
                <a:solidFill>
                  <a:srgbClr val="E8E5DE"/>
                </a:solidFill>
                <a:latin typeface="Calibri"/>
              </a:rPr>
              <a:t>CEO hires a Chief of Staff; the Chief of Staff hires the marketing team</a:t>
            </a:r>
          </a:p>
        </p:txBody>
      </p:sp>
      <p:sp>
        <p:nvSpPr>
          <p:cNvPr id="13" name="TextBox 12"/>
          <p:cNvSpPr txBox="1"/>
          <p:nvPr/>
        </p:nvSpPr>
        <p:spPr>
          <a:xfrm>
            <a:off x="8366760" y="3525012"/>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525012"/>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Org chart, then the team produces the video</a:t>
            </a:r>
          </a:p>
        </p:txBody>
      </p:sp>
      <p:sp>
        <p:nvSpPr>
          <p:cNvPr id="15" name="TextBox 14"/>
          <p:cNvSpPr txBox="1"/>
          <p:nvPr/>
        </p:nvSpPr>
        <p:spPr>
          <a:xfrm>
            <a:off x="8366760" y="4037076"/>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5</a:t>
            </a:r>
          </a:p>
        </p:txBody>
      </p:sp>
      <p:sp>
        <p:nvSpPr>
          <p:cNvPr id="16" name="TextBox 15"/>
          <p:cNvSpPr txBox="1"/>
          <p:nvPr/>
        </p:nvSpPr>
        <p:spPr>
          <a:xfrm>
            <a:off x="8823960" y="4037076"/>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Compare Paperclip with the Hermes Kanban team</a:t>
            </a:r>
          </a:p>
        </p:txBody>
      </p:sp>
      <p:sp>
        <p:nvSpPr>
          <p:cNvPr id="17" name="TextBox 16"/>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052560" y="-1280160"/>
            <a:ext cx="3840480" cy="384048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554480"/>
            <a:ext cx="82296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BONUS · THE ONE-PERSON COMPANY</a:t>
            </a:r>
          </a:p>
        </p:txBody>
      </p:sp>
      <p:sp>
        <p:nvSpPr>
          <p:cNvPr id="4" name="TextBox 3"/>
          <p:cNvSpPr txBox="1"/>
          <p:nvPr/>
        </p:nvSpPr>
        <p:spPr>
          <a:xfrm>
            <a:off x="777240" y="1965960"/>
            <a:ext cx="8229600" cy="1737360"/>
          </a:xfrm>
          <a:prstGeom prst="rect">
            <a:avLst/>
          </a:prstGeom>
          <a:noFill/>
        </p:spPr>
        <p:txBody>
          <a:bodyPr wrap="square" lIns="36576" rIns="36576" tIns="18288" bIns="18288" anchor="t">
            <a:spAutoFit/>
          </a:bodyPr>
          <a:lstStyle/>
          <a:p>
            <a:pPr algn="l">
              <a:lnSpc>
                <a:spcPct val="112000"/>
              </a:lnSpc>
            </a:pPr>
            <a:r>
              <a:rPr sz="9600" b="1" i="0">
                <a:solidFill>
                  <a:srgbClr val="FFFFFF"/>
                </a:solidFill>
                <a:latin typeface="Cambria"/>
              </a:rPr>
              <a:t>1 human</a:t>
            </a:r>
          </a:p>
        </p:txBody>
      </p:sp>
      <p:sp>
        <p:nvSpPr>
          <p:cNvPr id="5" name="TextBox 4"/>
          <p:cNvSpPr txBox="1"/>
          <p:nvPr/>
        </p:nvSpPr>
        <p:spPr>
          <a:xfrm>
            <a:off x="822960" y="3794760"/>
            <a:ext cx="9601200" cy="914400"/>
          </a:xfrm>
          <a:prstGeom prst="rect">
            <a:avLst/>
          </a:prstGeom>
          <a:noFill/>
        </p:spPr>
        <p:txBody>
          <a:bodyPr wrap="square" lIns="36576" rIns="36576" tIns="18288" bIns="18288" anchor="t">
            <a:spAutoFit/>
          </a:bodyPr>
          <a:lstStyle/>
          <a:p>
            <a:pPr algn="l">
              <a:lnSpc>
                <a:spcPct val="112000"/>
              </a:lnSpc>
            </a:pPr>
            <a:r>
              <a:rPr sz="2600" b="1" i="0">
                <a:solidFill>
                  <a:srgbClr val="FFFFFF"/>
                </a:solidFill>
                <a:latin typeface="Cambria"/>
              </a:rPr>
              <a:t>Kopi Kaki Co. decides to run as a one-person company.</a:t>
            </a:r>
          </a:p>
        </p:txBody>
      </p:sp>
      <p:sp>
        <p:nvSpPr>
          <p:cNvPr id="6" name="TextBox 5"/>
          <p:cNvSpPr txBox="1"/>
          <p:nvPr/>
        </p:nvSpPr>
        <p:spPr>
          <a:xfrm>
            <a:off x="822960" y="4800600"/>
            <a:ext cx="9601200" cy="109728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You are the founder, the Board and the only employee with a pulse. An AI CEO runs the day-to-day, hires a Chief of Staff, and the Chief of Staff hires the marketing team. Your job: set the mission, approve the hires, approve what goes public.</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138</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WHAT IS PAPERCLIP?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Organises Tasks. Paperclip Organises People.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Paperclip (open source) runs a company of AI agents: org chart, job titles, reporting lines, budgets and an approval inbox.</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5440680" cy="3611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HERMES KANBAN (ACTIVITY 5)</a:t>
            </a:r>
          </a:p>
        </p:txBody>
      </p:sp>
      <p:sp>
        <p:nvSpPr>
          <p:cNvPr id="10" name="TextBox 9"/>
          <p:cNvSpPr txBox="1"/>
          <p:nvPr/>
        </p:nvSpPr>
        <p:spPr>
          <a:xfrm>
            <a:off x="86868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You are the manager</a:t>
            </a:r>
          </a:p>
        </p:txBody>
      </p:sp>
      <p:sp>
        <p:nvSpPr>
          <p:cNvPr id="11" name="TextBox 10"/>
          <p:cNvSpPr txBox="1"/>
          <p:nvPr/>
        </p:nvSpPr>
        <p:spPr>
          <a:xfrm>
            <a:off x="86868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6B6862"/>
                </a:solidFill>
                <a:latin typeface="Calibri"/>
              </a:rPr>
              <a:t>You create every card and every dependency.</a:t>
            </a:r>
          </a:p>
          <a:p>
            <a:pPr algn="l">
              <a:lnSpc>
                <a:spcPct val="130000"/>
              </a:lnSpc>
            </a:pPr>
            <a:r>
              <a:rPr sz="1450" b="0" i="0">
                <a:solidFill>
                  <a:srgbClr val="6B6862"/>
                </a:solidFill>
                <a:latin typeface="Calibri"/>
              </a:rPr>
              <a:t>You decide who does what.</a:t>
            </a:r>
          </a:p>
          <a:p>
            <a:pPr algn="l">
              <a:lnSpc>
                <a:spcPct val="130000"/>
              </a:lnSpc>
            </a:pPr>
            <a:r>
              <a:rPr sz="1450" b="0" i="0">
                <a:solidFill>
                  <a:srgbClr val="6B6862"/>
                </a:solidFill>
                <a:latin typeface="Calibri"/>
              </a:rPr>
              <a:t>Budgets and hiring are not modelled.</a:t>
            </a:r>
          </a:p>
        </p:txBody>
      </p:sp>
      <p:sp>
        <p:nvSpPr>
          <p:cNvPr id="12" name="Rounded Rectangle 11"/>
          <p:cNvSpPr/>
          <p:nvPr/>
        </p:nvSpPr>
        <p:spPr>
          <a:xfrm>
            <a:off x="6172200" y="2194560"/>
            <a:ext cx="5440680" cy="36118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92240" y="2377440"/>
            <a:ext cx="484632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PAPERCLIP COMPANY (BONUS)</a:t>
            </a:r>
          </a:p>
        </p:txBody>
      </p:sp>
      <p:sp>
        <p:nvSpPr>
          <p:cNvPr id="14" name="TextBox 13"/>
          <p:cNvSpPr txBox="1"/>
          <p:nvPr/>
        </p:nvSpPr>
        <p:spPr>
          <a:xfrm>
            <a:off x="6492240" y="2697480"/>
            <a:ext cx="4846320" cy="548640"/>
          </a:xfrm>
          <a:prstGeom prst="rect">
            <a:avLst/>
          </a:prstGeom>
          <a:noFill/>
        </p:spPr>
        <p:txBody>
          <a:bodyPr wrap="square" lIns="36576" rIns="36576" tIns="18288" bIns="18288" anchor="t">
            <a:spAutoFit/>
          </a:bodyPr>
          <a:lstStyle/>
          <a:p>
            <a:pPr algn="l">
              <a:lnSpc>
                <a:spcPct val="112000"/>
              </a:lnSpc>
            </a:pPr>
            <a:r>
              <a:rPr sz="2100" b="1" i="0">
                <a:solidFill>
                  <a:srgbClr val="FFFFFF"/>
                </a:solidFill>
                <a:latin typeface="Cambria"/>
              </a:rPr>
              <a:t>You are the Board</a:t>
            </a:r>
          </a:p>
        </p:txBody>
      </p:sp>
      <p:sp>
        <p:nvSpPr>
          <p:cNvPr id="15" name="TextBox 14"/>
          <p:cNvSpPr txBox="1"/>
          <p:nvPr/>
        </p:nvSpPr>
        <p:spPr>
          <a:xfrm>
            <a:off x="6492240" y="3383280"/>
            <a:ext cx="4846320" cy="2286000"/>
          </a:xfrm>
          <a:prstGeom prst="rect">
            <a:avLst/>
          </a:prstGeom>
          <a:noFill/>
        </p:spPr>
        <p:txBody>
          <a:bodyPr wrap="square" lIns="36576" rIns="36576" tIns="18288" bIns="18288" anchor="t">
            <a:spAutoFit/>
          </a:bodyPr>
          <a:lstStyle/>
          <a:p>
            <a:pPr algn="l">
              <a:lnSpc>
                <a:spcPct val="130000"/>
              </a:lnSpc>
            </a:pPr>
            <a:r>
              <a:rPr sz="1450" b="0" i="0">
                <a:solidFill>
                  <a:srgbClr val="C9C4B9"/>
                </a:solidFill>
                <a:latin typeface="Calibri"/>
              </a:rPr>
              <a:t>A CEO agent breaks goals into tasks and hires.</a:t>
            </a:r>
          </a:p>
          <a:p>
            <a:pPr algn="l">
              <a:lnSpc>
                <a:spcPct val="130000"/>
              </a:lnSpc>
            </a:pPr>
            <a:r>
              <a:rPr sz="1450" b="0" i="0">
                <a:solidFill>
                  <a:srgbClr val="C9C4B9"/>
                </a:solidFill>
                <a:latin typeface="Calibri"/>
              </a:rPr>
              <a:t>Hires wait in your approval inbox.</a:t>
            </a:r>
          </a:p>
          <a:p>
            <a:pPr algn="l">
              <a:lnSpc>
                <a:spcPct val="130000"/>
              </a:lnSpc>
            </a:pPr>
            <a:r>
              <a:rPr sz="1450" b="0" i="0">
                <a:solidFill>
                  <a:srgbClr val="C9C4B9"/>
                </a:solidFill>
                <a:latin typeface="Calibri"/>
              </a:rPr>
              <a:t>Each agent has a budget and a manager.</a:t>
            </a:r>
          </a:p>
        </p:txBody>
      </p:sp>
      <p:cxnSp>
        <p:nvCxnSpPr>
          <p:cNvPr id="16" name="Connector 15"/>
          <p:cNvCxnSpPr/>
          <p:nvPr/>
        </p:nvCxnSpPr>
        <p:spPr>
          <a:xfrm>
            <a:off x="5897880" y="3977639"/>
            <a:ext cx="365760" cy="0"/>
          </a:xfrm>
          <a:prstGeom prst="line">
            <a:avLst/>
          </a:prstGeom>
          <a:ln w="381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58978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Paperclip runs on agents you already have: Hermes, Claude Code, Codex or Gemini CLI become its “adapters”.</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INSTALL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Install Paperclip: One Request to Mia, Then localhost:3100</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ashboard.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ar-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Prerequisite</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Node.js 24.11+ on the laptop (the trainer installs it) and Mia from Topic 2.</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Ask Mia: “Install Paperclip and keep it running.” She runs the installer for you.</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Company</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Wizard: name it Kopi Kaki Co.; first agent Ava.</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Ask Mia to install and start it, then open http://localhost:3100. Trainer’s demo company shown; you build Kopi Kaki Co. the same way.</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SET UP THE COMPANY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Kopi Kaki Co.: Mission, Budget, Hiring Gate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any-settings.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Company settings hold the name, mission and budget. Then Settings → General → Hiring → “Require board approval for new hires” = ON.</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THE CEO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50" b="1" i="0">
                <a:solidFill>
                  <a:srgbClr val="21201C"/>
                </a:solidFill>
                <a:latin typeface="Cambria"/>
              </a:rPr>
              <a:t>Write the CEO’s Job Description Before You Give Her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Agents → Ava → Instructions → AGENTS.md. These instructions steer every decision she makes.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48840"/>
            <a:ext cx="7040880" cy="40233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286000"/>
            <a:ext cx="6675120" cy="3794760"/>
          </a:xfrm>
          <a:prstGeom prst="rect">
            <a:avLst/>
          </a:prstGeom>
          <a:noFill/>
        </p:spPr>
        <p:txBody>
          <a:bodyPr wrap="square" lIns="36576" rIns="36576" tIns="18288" bIns="18288" anchor="t">
            <a:spAutoFit/>
          </a:bodyPr>
          <a:lstStyle/>
          <a:p>
            <a:pPr algn="l">
              <a:lnSpc>
                <a:spcPct val="112000"/>
              </a:lnSpc>
            </a:pPr>
            <a:r>
              <a:rPr sz="1250" b="0" i="0">
                <a:solidFill>
                  <a:srgbClr val="F1EDE4"/>
                </a:solidFill>
                <a:latin typeface="Consolas"/>
              </a:rPr>
              <a:t>You are Ava, CEO of Kopi Kaki Co., a Singapore kopi startup run as a one-person company:</a:t>
            </a:r>
          </a:p>
          <a:p>
            <a:pPr algn="l">
              <a:lnSpc>
                <a:spcPct val="112000"/>
              </a:lnSpc>
            </a:pPr>
            <a:r>
              <a:rPr sz="1250" b="0" i="0">
                <a:solidFill>
                  <a:srgbClr val="F1EDE4"/>
                </a:solidFill>
                <a:latin typeface="Consolas"/>
              </a:rPr>
              <a:t>the founder is the Board and the only human.</a:t>
            </a:r>
          </a:p>
          <a:p>
            <a:pPr algn="l">
              <a:lnSpc>
                <a:spcPct val="112000"/>
              </a:lnSpc>
            </a:pPr>
          </a:p>
          <a:p>
            <a:pPr algn="l">
              <a:lnSpc>
                <a:spcPct val="112000"/>
              </a:lnSpc>
            </a:pPr>
            <a:r>
              <a:rPr sz="1250" b="0" i="0">
                <a:solidFill>
                  <a:srgbClr val="F1EDE4"/>
                </a:solidFill>
                <a:latin typeface="Consolas"/>
              </a:rPr>
              <a:t>Mission: launch the Gula Melaka Cold Brew on 1 Dec 2026.</a:t>
            </a:r>
          </a:p>
          <a:p>
            <a:pPr algn="l">
              <a:lnSpc>
                <a:spcPct val="112000"/>
              </a:lnSpc>
            </a:pPr>
          </a:p>
          <a:p>
            <a:pPr algn="l">
              <a:lnSpc>
                <a:spcPct val="112000"/>
              </a:lnSpc>
            </a:pPr>
            <a:r>
              <a:rPr sz="1250" b="0" i="0">
                <a:solidFill>
                  <a:srgbClr val="F1EDE4"/>
                </a:solidFill>
                <a:latin typeface="Consolas"/>
              </a:rPr>
              <a:t>- You do not do the marketing work. You hire and manage.</a:t>
            </a:r>
          </a:p>
          <a:p>
            <a:pPr algn="l">
              <a:lnSpc>
                <a:spcPct val="112000"/>
              </a:lnSpc>
            </a:pPr>
            <a:r>
              <a:rPr sz="1250" b="0" i="0">
                <a:solidFill>
                  <a:srgbClr val="F1EDE4"/>
                </a:solidFill>
                <a:latin typeface="Consolas"/>
              </a:rPr>
              <a:t>- First hire: a Chief of Staff who runs the marketing team.</a:t>
            </a:r>
          </a:p>
          <a:p>
            <a:pPr algn="l">
              <a:lnSpc>
                <a:spcPct val="112000"/>
              </a:lnSpc>
            </a:pPr>
            <a:r>
              <a:rPr sz="1250" b="0" i="0">
                <a:solidFill>
                  <a:srgbClr val="F1EDE4"/>
                </a:solidFill>
                <a:latin typeface="Consolas"/>
              </a:rPr>
              <a:t>- Every hire: mandate, reporting line, budget, Board approval.</a:t>
            </a:r>
          </a:p>
          <a:p>
            <a:pPr algn="l">
              <a:lnSpc>
                <a:spcPct val="112000"/>
              </a:lnSpc>
            </a:pPr>
            <a:r>
              <a:rPr sz="1250" b="0" i="0">
                <a:solidFill>
                  <a:srgbClr val="F1EDE4"/>
                </a:solidFill>
                <a:latin typeface="Consolas"/>
              </a:rPr>
              <a:t>- Every public item: independent reviewer, then the Board.</a:t>
            </a:r>
          </a:p>
          <a:p>
            <a:pPr algn="l">
              <a:lnSpc>
                <a:spcPct val="112000"/>
              </a:lnSpc>
            </a:pPr>
            <a:r>
              <a:rPr sz="1250" b="0" i="0">
                <a:solidFill>
                  <a:srgbClr val="F1EDE4"/>
                </a:solidFill>
                <a:latin typeface="Consolas"/>
              </a:rPr>
              <a:t>- Report weekly: progress, spend, risks, decisions.</a:t>
            </a:r>
          </a:p>
        </p:txBody>
      </p:sp>
      <p:sp>
        <p:nvSpPr>
          <p:cNvPr id="10" name="Oval 9"/>
          <p:cNvSpPr/>
          <p:nvPr/>
        </p:nvSpPr>
        <p:spPr>
          <a:xfrm>
            <a:off x="7909560" y="224028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riefcase-FFFFFF.png"/>
          <p:cNvPicPr>
            <a:picLocks noChangeAspect="1"/>
          </p:cNvPicPr>
          <p:nvPr/>
        </p:nvPicPr>
        <p:blipFill>
          <a:blip r:embed="rId2"/>
          <a:stretch>
            <a:fillRect/>
          </a:stretch>
        </p:blipFill>
        <p:spPr>
          <a:xfrm>
            <a:off x="8023677" y="2354397"/>
            <a:ext cx="247253" cy="247253"/>
          </a:xfrm>
          <a:prstGeom prst="rect">
            <a:avLst/>
          </a:prstGeom>
        </p:spPr>
      </p:pic>
      <p:sp>
        <p:nvSpPr>
          <p:cNvPr id="12" name="TextBox 11"/>
          <p:cNvSpPr txBox="1"/>
          <p:nvPr/>
        </p:nvSpPr>
        <p:spPr>
          <a:xfrm>
            <a:off x="8503920" y="2212848"/>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Role: CEO</a:t>
            </a:r>
          </a:p>
        </p:txBody>
      </p:sp>
      <p:sp>
        <p:nvSpPr>
          <p:cNvPr id="13" name="TextBox 12"/>
          <p:cNvSpPr txBox="1"/>
          <p:nvPr/>
        </p:nvSpPr>
        <p:spPr>
          <a:xfrm>
            <a:off x="8503920" y="260604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has no Role field: ask Mia to set it</a:t>
            </a:r>
          </a:p>
        </p:txBody>
      </p:sp>
      <p:sp>
        <p:nvSpPr>
          <p:cNvPr id="14" name="Oval 13"/>
          <p:cNvSpPr/>
          <p:nvPr/>
        </p:nvSpPr>
        <p:spPr>
          <a:xfrm>
            <a:off x="7909560" y="356616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3"/>
          <a:stretch>
            <a:fillRect/>
          </a:stretch>
        </p:blipFill>
        <p:spPr>
          <a:xfrm>
            <a:off x="8023677" y="3680277"/>
            <a:ext cx="247253" cy="247253"/>
          </a:xfrm>
          <a:prstGeom prst="rect">
            <a:avLst/>
          </a:prstGeom>
        </p:spPr>
      </p:pic>
      <p:sp>
        <p:nvSpPr>
          <p:cNvPr id="16" name="TextBox 15"/>
          <p:cNvSpPr txBox="1"/>
          <p:nvPr/>
        </p:nvSpPr>
        <p:spPr>
          <a:xfrm>
            <a:off x="8503920" y="3538728"/>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files</a:t>
            </a:r>
          </a:p>
        </p:txBody>
      </p:sp>
      <p:sp>
        <p:nvSpPr>
          <p:cNvPr id="17" name="TextBox 16"/>
          <p:cNvSpPr txBox="1"/>
          <p:nvPr/>
        </p:nvSpPr>
        <p:spPr>
          <a:xfrm>
            <a:off x="8503920" y="393192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brand guide, brief, compliance rules</a:t>
            </a:r>
          </a:p>
        </p:txBody>
      </p:sp>
      <p:sp>
        <p:nvSpPr>
          <p:cNvPr id="18" name="Oval 17"/>
          <p:cNvSpPr/>
          <p:nvPr/>
        </p:nvSpPr>
        <p:spPr>
          <a:xfrm>
            <a:off x="7909560" y="489204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gavel-FFFFFF.png"/>
          <p:cNvPicPr>
            <a:picLocks noChangeAspect="1"/>
          </p:cNvPicPr>
          <p:nvPr/>
        </p:nvPicPr>
        <p:blipFill>
          <a:blip r:embed="rId4"/>
          <a:stretch>
            <a:fillRect/>
          </a:stretch>
        </p:blipFill>
        <p:spPr>
          <a:xfrm>
            <a:off x="8023677" y="5006157"/>
            <a:ext cx="247253" cy="247253"/>
          </a:xfrm>
          <a:prstGeom prst="rect">
            <a:avLst/>
          </a:prstGeom>
        </p:spPr>
      </p:pic>
      <p:sp>
        <p:nvSpPr>
          <p:cNvPr id="20" name="TextBox 19"/>
          <p:cNvSpPr txBox="1"/>
          <p:nvPr/>
        </p:nvSpPr>
        <p:spPr>
          <a:xfrm>
            <a:off x="8503920" y="4864607"/>
            <a:ext cx="310896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First task</a:t>
            </a:r>
          </a:p>
        </p:txBody>
      </p:sp>
      <p:sp>
        <p:nvSpPr>
          <p:cNvPr id="21" name="TextBox 20"/>
          <p:cNvSpPr txBox="1"/>
          <p:nvPr/>
        </p:nvSpPr>
        <p:spPr>
          <a:xfrm>
            <a:off x="8503920" y="5257800"/>
            <a:ext cx="3108960" cy="82296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“Hire a Chief of Staff” — it lands in your approval inbox</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DELEGATED HIRING</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The CEO Hires a Chief of Staff; the Chief of Staff Hires the Team</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Managers propose; only the Board approves. That is how a one-person company keeps control.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to Ava: hire a Chief of Staff.</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iefcas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CEO</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mandate, budget, reporting line.</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avel-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approve in Pending Approvals.</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users-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Chief of Staff</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six marketing hires.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gavel-FFFFFF.png"/>
          <p:cNvPicPr>
            <a:picLocks noChangeAspect="1"/>
          </p:cNvPicPr>
          <p:nvPr/>
        </p:nvPicPr>
        <p:blipFill>
          <a:blip r:embed="rId4"/>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revise or reject each.</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ORG CHART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Your One-Person Company on One Page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org-chart.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Agents → Org chart view: Board → CEO → Chief of Staff → marketing team. Trainer’s demo company shown; yours shows the Kopi Kaki roles.</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DELIVER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Team Produces the Launch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sks-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Give the Chief of Staff the Activity 5 brief. Sub-tasks move through Todo → In Progress → In Review → Done, with your approvals in between.</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 COMPARE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Same Video, Two Ways: Hermes Kanban vs Paperclip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771900"/>
        </p:xfrm>
        <a:graphic>
          <a:graphicData uri="http://schemas.openxmlformats.org/drawingml/2006/table">
            <a:tbl>
              <a:tblPr firstRow="0" bandRow="0">
                <a:tableStyleId>{5C22544A-7EE6-4342-B048-85BDC9FD1C3A}</a:tableStyleId>
              </a:tblPr>
              <a:tblGrid>
                <a:gridCol w="2377440"/>
                <a:gridCol w="4343400"/>
                <a:gridCol w="4343400"/>
              </a:tblGrid>
              <a:tr h="457200">
                <a:tc>
                  <a:txBody>
                    <a:bodyPr wrap="square"/>
                    <a:lstStyle/>
                    <a:p>
                      <a:r>
                        <a:rPr b="1" sz="1550">
                          <a:solidFill>
                            <a:srgbClr val="FFFFFF"/>
                          </a:solidFill>
                          <a:latin typeface="Cambria"/>
                        </a:rPr>
                        <a:t/>
                      </a:r>
                    </a:p>
                  </a:txBody>
                  <a:tcPr marL="64008" marR="64008" marT="27432" marB="27432" anchor="ctr">
                    <a:solidFill>
                      <a:srgbClr val="21201C"/>
                    </a:solidFill>
                  </a:tcPr>
                </a:tc>
                <a:tc>
                  <a:txBody>
                    <a:bodyPr wrap="square"/>
                    <a:lstStyle/>
                    <a:p>
                      <a:r>
                        <a:rPr b="1" sz="1550">
                          <a:solidFill>
                            <a:srgbClr val="FFFFFF"/>
                          </a:solidFill>
                          <a:latin typeface="Cambria"/>
                        </a:rPr>
                        <a:t>Hermes Kanban team (Activity 5)</a:t>
                      </a:r>
                    </a:p>
                  </a:txBody>
                  <a:tcPr marL="64008" marR="64008" marT="27432" marB="27432" anchor="ctr">
                    <a:solidFill>
                      <a:srgbClr val="21201C"/>
                    </a:solidFill>
                  </a:tcPr>
                </a:tc>
                <a:tc>
                  <a:txBody>
                    <a:bodyPr wrap="square"/>
                    <a:lstStyle/>
                    <a:p>
                      <a:r>
                        <a:rPr b="1" sz="1550">
                          <a:solidFill>
                            <a:srgbClr val="FFFFFF"/>
                          </a:solidFill>
                          <a:latin typeface="Cambria"/>
                        </a:rPr>
                        <a:t>Paperclip company (bonus)</a:t>
                      </a:r>
                    </a:p>
                  </a:txBody>
                  <a:tcPr marL="64008" marR="64008" marT="27432" marB="27432" anchor="ctr">
                    <a:solidFill>
                      <a:srgbClr val="21201C"/>
                    </a:solidFill>
                  </a:tcPr>
                </a:tc>
              </a:tr>
              <a:tr h="662940">
                <a:tc>
                  <a:txBody>
                    <a:bodyPr wrap="square"/>
                    <a:lstStyle/>
                    <a:p>
                      <a:r>
                        <a:rPr b="1" sz="1500">
                          <a:solidFill>
                            <a:srgbClr val="21201C"/>
                          </a:solidFill>
                          <a:latin typeface="Cambria"/>
                        </a:rPr>
                        <a:t>Who breaks down the work</a:t>
                      </a:r>
                    </a:p>
                  </a:txBody>
                  <a:tcPr marL="64008" marR="64008" marT="27432" marB="27432" anchor="ctr">
                    <a:solidFill>
                      <a:srgbClr val="FFFFFF"/>
                    </a:solidFill>
                  </a:tcPr>
                </a:tc>
                <a:tc>
                  <a:txBody>
                    <a:bodyPr wrap="square"/>
                    <a:lstStyle/>
                    <a:p>
                      <a:r>
                        <a:rPr b="0" sz="1500">
                          <a:solidFill>
                            <a:srgbClr val="6B6862"/>
                          </a:solidFill>
                          <a:latin typeface="Calibri"/>
                        </a:rPr>
                        <a:t>You create every card and parent</a:t>
                      </a:r>
                    </a:p>
                  </a:txBody>
                  <a:tcPr marL="64008" marR="64008" marT="27432" marB="27432" anchor="ctr">
                    <a:solidFill>
                      <a:srgbClr val="FFFFFF"/>
                    </a:solidFill>
                  </a:tcPr>
                </a:tc>
                <a:tc>
                  <a:txBody>
                    <a:bodyPr wrap="square"/>
                    <a:lstStyle/>
                    <a:p>
                      <a:r>
                        <a:rPr b="0" sz="1500">
                          <a:solidFill>
                            <a:srgbClr val="6B6862"/>
                          </a:solidFill>
                          <a:latin typeface="Calibri"/>
                        </a:rPr>
                        <a:t>The CEO and Chief of Staff create tasks</a:t>
                      </a:r>
                    </a:p>
                  </a:txBody>
                  <a:tcPr marL="64008" marR="64008" marT="27432" marB="27432" anchor="ctr">
                    <a:solidFill>
                      <a:srgbClr val="FFFFFF"/>
                    </a:solidFill>
                  </a:tcPr>
                </a:tc>
              </a:tr>
              <a:tr h="662940">
                <a:tc>
                  <a:txBody>
                    <a:bodyPr wrap="square"/>
                    <a:lstStyle/>
                    <a:p>
                      <a:r>
                        <a:rPr b="1" sz="1500">
                          <a:solidFill>
                            <a:srgbClr val="21201C"/>
                          </a:solidFill>
                          <a:latin typeface="Cambria"/>
                        </a:rPr>
                        <a:t>Who decides the team</a:t>
                      </a:r>
                    </a:p>
                  </a:txBody>
                  <a:tcPr marL="64008" marR="64008" marT="27432" marB="27432" anchor="ctr">
                    <a:solidFill>
                      <a:srgbClr val="F3F1EB"/>
                    </a:solidFill>
                  </a:tcPr>
                </a:tc>
                <a:tc>
                  <a:txBody>
                    <a:bodyPr wrap="square"/>
                    <a:lstStyle/>
                    <a:p>
                      <a:r>
                        <a:rPr b="0" sz="1500">
                          <a:solidFill>
                            <a:srgbClr val="6B6862"/>
                          </a:solidFill>
                          <a:latin typeface="Calibri"/>
                        </a:rPr>
                        <a:t>You (one prompt to Mia) create the agents</a:t>
                      </a:r>
                    </a:p>
                  </a:txBody>
                  <a:tcPr marL="64008" marR="64008" marT="27432" marB="27432" anchor="ctr">
                    <a:solidFill>
                      <a:srgbClr val="F3F1EB"/>
                    </a:solidFill>
                  </a:tcPr>
                </a:tc>
                <a:tc>
                  <a:txBody>
                    <a:bodyPr wrap="square"/>
                    <a:lstStyle/>
                    <a:p>
                      <a:r>
                        <a:rPr b="0" sz="1500">
                          <a:solidFill>
                            <a:srgbClr val="6B6862"/>
                          </a:solidFill>
                          <a:latin typeface="Calibri"/>
                        </a:rPr>
                        <a:t>Managers propose hires; you approve</a:t>
                      </a:r>
                    </a:p>
                  </a:txBody>
                  <a:tcPr marL="64008" marR="64008" marT="27432" marB="27432" anchor="ctr">
                    <a:solidFill>
                      <a:srgbClr val="F3F1EB"/>
                    </a:solidFill>
                  </a:tcPr>
                </a:tc>
              </a:tr>
              <a:tr h="662940">
                <a:tc>
                  <a:txBody>
                    <a:bodyPr wrap="square"/>
                    <a:lstStyle/>
                    <a:p>
                      <a:r>
                        <a:rPr b="1" sz="1500">
                          <a:solidFill>
                            <a:srgbClr val="21201C"/>
                          </a:solidFill>
                          <a:latin typeface="Cambria"/>
                        </a:rPr>
                        <a:t>Control</a:t>
                      </a:r>
                    </a:p>
                  </a:txBody>
                  <a:tcPr marL="64008" marR="64008" marT="27432" marB="27432" anchor="ctr">
                    <a:solidFill>
                      <a:srgbClr val="FFFFFF"/>
                    </a:solidFill>
                  </a:tcPr>
                </a:tc>
                <a:tc>
                  <a:txBody>
                    <a:bodyPr wrap="square"/>
                    <a:lstStyle/>
                    <a:p>
                      <a:r>
                        <a:rPr b="0" sz="1500">
                          <a:solidFill>
                            <a:srgbClr val="6B6862"/>
                          </a:solidFill>
                          <a:latin typeface="Calibri"/>
                        </a:rPr>
                        <a:t>HUMAN cards on the board</a:t>
                      </a:r>
                    </a:p>
                  </a:txBody>
                  <a:tcPr marL="64008" marR="64008" marT="27432" marB="27432" anchor="ctr">
                    <a:solidFill>
                      <a:srgbClr val="FFFFFF"/>
                    </a:solidFill>
                  </a:tcPr>
                </a:tc>
                <a:tc>
                  <a:txBody>
                    <a:bodyPr wrap="square"/>
                    <a:lstStyle/>
                    <a:p>
                      <a:r>
                        <a:rPr b="0" sz="1500">
                          <a:solidFill>
                            <a:srgbClr val="6B6862"/>
                          </a:solidFill>
                          <a:latin typeface="Calibri"/>
                        </a:rPr>
                        <a:t>Approval inbox, budgets, hiring gate</a:t>
                      </a:r>
                    </a:p>
                  </a:txBody>
                  <a:tcPr marL="64008" marR="64008" marT="27432" marB="27432" anchor="ctr">
                    <a:solidFill>
                      <a:srgbClr val="FFFFFF"/>
                    </a:solidFill>
                  </a:tcPr>
                </a:tc>
              </a:tr>
              <a:tr h="662940">
                <a:tc>
                  <a:txBody>
                    <a:bodyPr wrap="square"/>
                    <a:lstStyle/>
                    <a:p>
                      <a:r>
                        <a:rPr b="1" sz="1500">
                          <a:solidFill>
                            <a:srgbClr val="21201C"/>
                          </a:solidFill>
                          <a:latin typeface="Cambria"/>
                        </a:rPr>
                        <a:t>Visibility</a:t>
                      </a:r>
                    </a:p>
                  </a:txBody>
                  <a:tcPr marL="64008" marR="64008" marT="27432" marB="27432" anchor="ctr">
                    <a:solidFill>
                      <a:srgbClr val="F3F1EB"/>
                    </a:solidFill>
                  </a:tcPr>
                </a:tc>
                <a:tc>
                  <a:txBody>
                    <a:bodyPr wrap="square"/>
                    <a:lstStyle/>
                    <a:p>
                      <a:r>
                        <a:rPr b="0" sz="1500">
                          <a:solidFill>
                            <a:srgbClr val="6B6862"/>
                          </a:solidFill>
                          <a:latin typeface="Calibri"/>
                        </a:rPr>
                        <a:t>Board, run history, files</a:t>
                      </a:r>
                    </a:p>
                  </a:txBody>
                  <a:tcPr marL="64008" marR="64008" marT="27432" marB="27432" anchor="ctr">
                    <a:solidFill>
                      <a:srgbClr val="F3F1EB"/>
                    </a:solidFill>
                  </a:tcPr>
                </a:tc>
                <a:tc>
                  <a:txBody>
                    <a:bodyPr wrap="square"/>
                    <a:lstStyle/>
                    <a:p>
                      <a:r>
                        <a:rPr b="0" sz="1500">
                          <a:solidFill>
                            <a:srgbClr val="6B6862"/>
                          </a:solidFill>
                          <a:latin typeface="Calibri"/>
                        </a:rPr>
                        <a:t>Org chart, audit log, costs per agent</a:t>
                      </a:r>
                    </a:p>
                  </a:txBody>
                  <a:tcPr marL="64008" marR="64008" marT="27432" marB="27432" anchor="ctr">
                    <a:solidFill>
                      <a:srgbClr val="F3F1EB"/>
                    </a:solidFill>
                  </a:tcPr>
                </a:tc>
              </a:tr>
              <a:tr h="662940">
                <a:tc>
                  <a:txBody>
                    <a:bodyPr wrap="square"/>
                    <a:lstStyle/>
                    <a:p>
                      <a:r>
                        <a:rPr b="1" sz="1500">
                          <a:solidFill>
                            <a:srgbClr val="21201C"/>
                          </a:solidFill>
                          <a:latin typeface="Cambria"/>
                        </a:rPr>
                        <a:t>Best for</a:t>
                      </a:r>
                    </a:p>
                  </a:txBody>
                  <a:tcPr marL="64008" marR="64008" marT="27432" marB="27432" anchor="ctr">
                    <a:solidFill>
                      <a:srgbClr val="FFFFFF"/>
                    </a:solidFill>
                  </a:tcPr>
                </a:tc>
                <a:tc>
                  <a:txBody>
                    <a:bodyPr wrap="square"/>
                    <a:lstStyle/>
                    <a:p>
                      <a:r>
                        <a:rPr b="0" sz="1500">
                          <a:solidFill>
                            <a:srgbClr val="6B6862"/>
                          </a:solidFill>
                          <a:latin typeface="Calibri"/>
                        </a:rPr>
                        <a:t>A known pipeline you want to run exactly</a:t>
                      </a:r>
                    </a:p>
                  </a:txBody>
                  <a:tcPr marL="64008" marR="64008" marT="27432" marB="27432" anchor="ctr">
                    <a:solidFill>
                      <a:srgbClr val="FFFFFF"/>
                    </a:solidFill>
                  </a:tcPr>
                </a:tc>
                <a:tc>
                  <a:txBody>
                    <a:bodyPr wrap="square"/>
                    <a:lstStyle/>
                    <a:p>
                      <a:r>
                        <a:rPr b="0" sz="1500">
                          <a:solidFill>
                            <a:srgbClr val="6B6862"/>
                          </a:solidFill>
                          <a:latin typeface="Calibri"/>
                        </a:rPr>
                        <a:t>An ongoing operation you want to delegate and govern</a:t>
                      </a:r>
                    </a:p>
                  </a:txBody>
                  <a:tcPr marL="64008" marR="64008" marT="27432" marB="27432" anchor="ctr">
                    <a:solidFill>
                      <a:srgbClr val="FFFFFF"/>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Write comparison.md in the bonus lab: which would you use for Kopi Kaki next month, and why?</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Bonus Lab — Paperclip: Run Kopi Kaki as a One-Person Company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You are the only human. A CEO agent hires a Chief of Staff, the Chief of Staff hires the marketing team, and you approve every hire from the Board seat.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uilding-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the founder-CEO of Kopi Kaki Co., a fictional Singapore kopi startup. The Tiong Bahru flagship opens on 1 Dec 2026 with the Gula Melaka Cold Brew (SGD 6.80, #ShiokColdBrew); until then you sell at weekend pop-ups and take app pre-orders. Your team is two baristas — and the AI agents you set up in this course. You have proved that agents can do the work. Now you decide to run Kopi Kaki as a one-person company (OPC): you sit on the Board, and an AI CEO runs the day-to-day. You set up Paperclip, write the CEO's instructions, and let the CEO hire a Chief of Staff, who hires the marketing team. Then you give the team the same launch-video brief as Activity 5 and compare.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  Paperclip running at http://localhost:3100 with the company 'Kopi Kaki Co.'</a:t>
            </a:r>
          </a:p>
          <a:p>
            <a:pPr algn="l">
              <a:lnSpc>
                <a:spcPct val="112000"/>
              </a:lnSpc>
            </a:pPr>
            <a:r>
              <a:rPr sz="1200" b="0" i="0">
                <a:solidFill>
                  <a:srgbClr val="6B6862"/>
                </a:solidFill>
                <a:latin typeface="Calibri"/>
              </a:rPr>
              <a:t>✓  CEO agent with written instructions; a Chief of Staff hired through Board approval</a:t>
            </a:r>
          </a:p>
          <a:p>
            <a:pPr algn="l">
              <a:lnSpc>
                <a:spcPct val="112000"/>
              </a:lnSpc>
            </a:pPr>
            <a:r>
              <a:rPr sz="1200" b="0" i="0">
                <a:solidFill>
                  <a:srgbClr val="6B6862"/>
                </a:solidFill>
                <a:latin typeface="Calibri"/>
              </a:rPr>
              <a:t>✓  Marketing team hired by the Chief of Staff (researcher, writers, image creator, video producer, reviewer)</a:t>
            </a:r>
          </a:p>
          <a:p>
            <a:pPr algn="l">
              <a:lnSpc>
                <a:spcPct val="112000"/>
              </a:lnSpc>
            </a:pPr>
            <a:r>
              <a:rPr sz="1200" b="0" i="0">
                <a:solidFill>
                  <a:srgbClr val="6B6862"/>
                </a:solidFill>
                <a:latin typeface="Calibri"/>
              </a:rPr>
              <a:t>✓  Org chart screenshot: Board → CEO → Chief of Staff → team</a:t>
            </a:r>
          </a:p>
          <a:p>
            <a:pPr algn="l">
              <a:lnSpc>
                <a:spcPct val="112000"/>
              </a:lnSpc>
            </a:pPr>
            <a:r>
              <a:rPr sz="1200" b="0" i="0">
                <a:solidFill>
                  <a:srgbClr val="6B6862"/>
                </a:solidFill>
                <a:latin typeface="Calibri"/>
              </a:rPr>
              <a:t>✓  The launch-video task delivered by the team, and comparison.md: Paperclip vs Hermes Kanban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CEO → Chief of Staff → 6 marketing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You are the Board: write the mission, approve hires and budgets, accept the video</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60 min  ·  AI company with an org chart, governed by you</a:t>
            </a:r>
          </a:p>
        </p:txBody>
      </p:sp>
      <p:sp>
        <p:nvSpPr>
          <p:cNvPr id="18" name="Rounded Rectangle 17">
            <a:hlinkClick r:id="rId3"/>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a:hlinkClick r:id="rId3"/>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B</a:t>
            </a:r>
          </a:p>
        </p:txBody>
      </p:sp>
      <p:sp>
        <p:nvSpPr>
          <p:cNvPr id="20" name="TextBox 19">
            <a:hlinkClick r:id="rId3"/>
          </p:cNvPr>
          <p:cNvSpPr txBox="1"/>
          <p:nvPr/>
        </p:nvSpPr>
        <p:spPr>
          <a:xfrm>
            <a:off x="548640" y="6208776"/>
            <a:ext cx="11064240" cy="237744"/>
          </a:xfrm>
          <a:prstGeom prst="rect">
            <a:avLst/>
          </a:prstGeom>
          <a:noFill/>
        </p:spPr>
        <p:txBody>
          <a:bodyPr wrap="square" lIns="36576" rIns="36576" tIns="18288" bIns="18288" anchor="t">
            <a:spAutoFit/>
          </a:bodyPr>
          <a:lstStyle/>
          <a:p>
            <a:pPr algn="l">
              <a:lnSpc>
                <a:spcPct val="112000"/>
              </a:lnSpc>
            </a:pPr>
            <a:r>
              <a:rPr sz="1100" b="1" i="0">
                <a:solidFill>
                  <a:srgbClr val="3A7D7B"/>
                </a:solidFill>
                <a:latin typeface="Calibri"/>
              </a:rPr>
              <a:t>Copy every prompt for this lab ▸ https://tertiarycourses.github.io/TGS-2024043854-Build-a-Human-AI-Workforce-with-Autonomous-AI-Agents/prompts/#lab-B</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Bonus Lab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rver-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Install</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Ask Mia to install it.</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2602992"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ilding-C2603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Company</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Kopi Kaki Co., mission, budget.</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briefcase-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CEO</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Instructions + task: hire a Chief of Staff.</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s-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Chief of Staff</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Hires the marketing team.</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8217407"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org-C2603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Org chart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Board → CEO → CoS → team.</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6</a:t>
            </a:r>
          </a:p>
        </p:txBody>
      </p:sp>
      <p:sp>
        <p:nvSpPr>
          <p:cNvPr id="45" name="Oval 44"/>
          <p:cNvSpPr/>
          <p:nvPr/>
        </p:nvSpPr>
        <p:spPr>
          <a:xfrm>
            <a:off x="1008887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film-FFFFF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Deliver</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Team makes the video; you compare.</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org chart shows Board → CEO → Chief of Staff → marketing team, every hire has a Board approval, and comparison.md answers when to use Kanban and when to use Paperclip.</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Mia to install and start Paperclip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prompts/#lab-B</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Install Paperclip for me with its one-line onboarder (npx paperclipai onboard --yes) and keep it running. Check first that Node.js is 24.11 or newer; if not, stop and tell me what the trainer must install. When it is up, give me the link to open.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 Mia, folder Desktop/kopi-kaki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Mia reports 'Server running at http://localhost:3100' — open it in your browser.</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B</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Ava the CEO and write her instructions (8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prompts/#lab-B</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You are Ava, CEO of Kopi Kaki Co., a Singapore kopi startup run as a one-person company: the founder is the Board and the only human.</a:t>
            </a:r>
          </a:p>
          <a:p>
            <a:pPr algn="l">
              <a:lnSpc>
                <a:spcPct val="110000"/>
              </a:lnSpc>
            </a:pPr>
            <a:r>
              <a:rPr sz="1300" b="0" i="0">
                <a:solidFill>
                  <a:srgbClr val="F1EDE4"/>
                </a:solidFill>
                <a:latin typeface="Consolas"/>
              </a:rPr>
              <a:t>Mission: launch the Gula Melaka Cold Brew on 1 Dec 2026 - 2,500 app pre-orders, one approved short video every week, AI spend under USD 60/month, zero compliance breaches.</a:t>
            </a:r>
          </a:p>
          <a:p>
            <a:pPr algn="l">
              <a:lnSpc>
                <a:spcPct val="110000"/>
              </a:lnSpc>
            </a:pPr>
            <a:r>
              <a:rPr sz="1300" b="0" i="0">
                <a:solidFill>
                  <a:srgbClr val="F1EDE4"/>
                </a:solidFill>
                <a:latin typeface="Consolas"/>
              </a:rPr>
              <a:t>How you work:</a:t>
            </a:r>
          </a:p>
          <a:p>
            <a:pPr algn="l">
              <a:lnSpc>
                <a:spcPct val="110000"/>
              </a:lnSpc>
            </a:pPr>
            <a:r>
              <a:rPr sz="1300" b="0" i="0">
                <a:solidFill>
                  <a:srgbClr val="F1EDE4"/>
                </a:solidFill>
                <a:latin typeface="Consolas"/>
              </a:rPr>
              <a:t>- You do not do the marketing work yourself. You hire and manage.</a:t>
            </a:r>
          </a:p>
          <a:p>
            <a:pPr algn="l">
              <a:lnSpc>
                <a:spcPct val="110000"/>
              </a:lnSpc>
            </a:pPr>
            <a:r>
              <a:rPr sz="1300" b="0" i="0">
                <a:solidFill>
                  <a:srgbClr val="F1EDE4"/>
                </a:solidFill>
                <a:latin typeface="Consolas"/>
              </a:rPr>
              <a:t>- Your first hire is a Chief of Staff who runs the marketing team for you.</a:t>
            </a:r>
          </a:p>
          <a:p>
            <a:pPr algn="l">
              <a:lnSpc>
                <a:spcPct val="110000"/>
              </a:lnSpc>
            </a:pPr>
            <a:r>
              <a:rPr sz="1300" b="0" i="0">
                <a:solidFill>
                  <a:srgbClr val="F1EDE4"/>
                </a:solidFill>
                <a:latin typeface="Consolas"/>
              </a:rPr>
              <a:t>- Every hire needs a mandate, a reporting line and a monthly budget, and waits for Board approval.</a:t>
            </a:r>
          </a:p>
          <a:p>
            <a:pPr algn="l">
              <a:lnSpc>
                <a:spcPct val="110000"/>
              </a:lnSpc>
            </a:pPr>
            <a:r>
              <a:rPr sz="1300" b="0" i="0">
                <a:solidFill>
                  <a:srgbClr val="F1EDE4"/>
                </a:solidFill>
                <a:latin typeface="Consolas"/>
              </a:rPr>
              <a:t>- Every public item passes an independent reviewer and then the Board. Never publish anything yourself.</a:t>
            </a:r>
          </a:p>
          <a:p>
            <a:pPr algn="l">
              <a:lnSpc>
                <a:spcPct val="110000"/>
              </a:lnSpc>
            </a:pPr>
            <a:r>
              <a:rPr sz="1300" b="0" i="0">
                <a:solidFill>
                  <a:srgbClr val="F1EDE4"/>
                </a:solidFill>
                <a:latin typeface="Consolas"/>
              </a:rPr>
              <a:t>- Source of truth: brand-guide.md, campaign-brief.md, compliance-rules.md.</a:t>
            </a:r>
          </a:p>
          <a:p>
            <a:pPr algn="l">
              <a:lnSpc>
                <a:spcPct val="110000"/>
              </a:lnSpc>
            </a:pPr>
            <a:r>
              <a:rPr sz="1300" b="0" i="0">
                <a:solidFill>
                  <a:srgbClr val="F1EDE4"/>
                </a:solidFill>
                <a:latin typeface="Consolas"/>
              </a:rPr>
              <a:t>- Report weekly to the Board: progress, spend vs budget, risks, decisions needed.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Agents → Ava → Instructions → AGENTS.md (after asking Mia: 'In Paperclip, set Ava's role to CEO and her title to CEO for me.')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Ava's role is CEO, her instructions show the mandate and three files, and the hiring gate is 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B</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BONUS TOPIC · BONUS LAB</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CEO task: hire a Chief of Staff (5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a:hlinkClick r:id="rId2"/>
          </p:cNvPr>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7FB8B6"/>
                </a:solidFill>
                <a:latin typeface="Calibri"/>
              </a:rPr>
              <a:t>PROMPT  ·  click to copy it from the Lab Prompts page  ·  prompts/#lab-B</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Hire a Chief of Staff for Kopi Kaki Co.</a:t>
            </a:r>
          </a:p>
          <a:p>
            <a:pPr algn="l">
              <a:lnSpc>
                <a:spcPct val="110000"/>
              </a:lnSpc>
            </a:pPr>
            <a:r>
              <a:rPr sz="1300" b="0" i="0">
                <a:solidFill>
                  <a:srgbClr val="F1EDE4"/>
                </a:solidFill>
                <a:latin typeface="Consolas"/>
              </a:rPr>
              <a:t>Mandate (3 bullets): turn my goals into weekly plans, hire and manage the marketing team, report progress and risks to you every Friday.</a:t>
            </a:r>
          </a:p>
          <a:p>
            <a:pPr algn="l">
              <a:lnSpc>
                <a:spcPct val="110000"/>
              </a:lnSpc>
            </a:pPr>
            <a:r>
              <a:rPr sz="1300" b="0" i="0">
                <a:solidFill>
                  <a:srgbClr val="F1EDE4"/>
                </a:solidFill>
                <a:latin typeface="Consolas"/>
              </a:rPr>
              <a:t>Reports to: you (CEO). Monthly budget: USD 10. Use the same adapter as you.</a:t>
            </a:r>
          </a:p>
          <a:p>
            <a:pPr algn="l">
              <a:lnSpc>
                <a:spcPct val="110000"/>
              </a:lnSpc>
            </a:pPr>
            <a:r>
              <a:rPr sz="1300" b="0" i="0">
                <a:solidFill>
                  <a:srgbClr val="F1EDE4"/>
                </a:solidFill>
                <a:latin typeface="Consolas"/>
              </a:rPr>
              <a:t>Submit the hire for Board approval and tell me when it is waiting.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Paperclip → New Task (assign to Ava)</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4"/>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'Hire Agent' card in Pending Approvals.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5"/>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 are the Board: write the mission, approve hires and budgets, accept the video</a:t>
            </a:r>
          </a:p>
        </p:txBody>
      </p:sp>
      <p:sp>
        <p:nvSpPr>
          <p:cNvPr id="25" name="Rounded Rectangle 24">
            <a:hlinkClick r:id="rId2"/>
          </p:cNvPr>
          <p:cNvSpPr/>
          <p:nvPr/>
        </p:nvSpPr>
        <p:spPr>
          <a:xfrm>
            <a:off x="7726679" y="128016"/>
            <a:ext cx="3931920" cy="512064"/>
          </a:xfrm>
          <a:prstGeom prst="roundRect">
            <a:avLst>
              <a:gd name="adj" fmla="val 50000"/>
            </a:avLst>
          </a:prstGeom>
          <a:solidFill>
            <a:srgbClr val="C2603F"/>
          </a:solidFill>
          <a:ln w="25400">
            <a:solidFill>
              <a:srgbClr val="FFFFFF"/>
            </a:solid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a:hlinkClick r:id="rId2"/>
          </p:cNvPr>
          <p:cNvSpPr txBox="1"/>
          <p:nvPr/>
        </p:nvSpPr>
        <p:spPr>
          <a:xfrm>
            <a:off x="7726679" y="128016"/>
            <a:ext cx="3931920" cy="512064"/>
          </a:xfrm>
          <a:prstGeom prst="rect">
            <a:avLst/>
          </a:prstGeom>
          <a:noFill/>
        </p:spPr>
        <p:txBody>
          <a:bodyPr wrap="square" lIns="36576" rIns="36576" tIns="18288" bIns="18288" anchor="ctr">
            <a:spAutoFit/>
          </a:bodyPr>
          <a:lstStyle/>
          <a:p>
            <a:pPr algn="ctr">
              <a:lnSpc>
                <a:spcPct val="112000"/>
              </a:lnSpc>
            </a:pPr>
            <a:r>
              <a:rPr sz="1500" b="1" i="0">
                <a:solidFill>
                  <a:srgbClr val="FFFFFF"/>
                </a:solidFill>
                <a:latin typeface="Calibri"/>
              </a:rPr>
              <a:t>▶  COPY THE PROMPTS  ·  lab B</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272283"/>
            <a:ext cx="3520440" cy="1947672"/>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500883"/>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500883"/>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What you can now do</a:t>
            </a:r>
          </a:p>
        </p:txBody>
      </p:sp>
      <p:sp>
        <p:nvSpPr>
          <p:cNvPr id="8" name="TextBox 7"/>
          <p:cNvSpPr txBox="1"/>
          <p:nvPr/>
        </p:nvSpPr>
        <p:spPr>
          <a:xfrm>
            <a:off x="8366760" y="3012947"/>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3012947"/>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0" name="TextBox 9"/>
          <p:cNvSpPr txBox="1"/>
          <p:nvPr/>
        </p:nvSpPr>
        <p:spPr>
          <a:xfrm>
            <a:off x="8366760" y="352501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52501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2" name="TextBox 11"/>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always-on CEO assistant checked your schedule and drafted your email; the harness and the human make agents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 Mia — got a model, Telegram, voice, tools, skills, web search, Gmail and a schedule, all from one app, then built the website and the pitch deck.</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Five bots in a group chat wrote the posts, a Kanban team made the video, and crons now start both every week; you approved everything. Bonus: Paperclip ran it as a company.</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Paid Nous Portal plans include one cloud-hosted agent, so scheduled jobs and Telegram keep running when your laptop sleeps.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ONE Muse or Dots screenshot (Activity 1). Task 2: ONE Hermes PPT screenshot (Activity 3). Task 3: TWO screenshots, the Kanban board and the video (Activity 5).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3931920"/>
            <a:ext cx="2377440" cy="23774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158</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