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 id="395" r:id="rId146"/>
    <p:sldId id="396" r:id="rId147"/>
    <p:sldId id="397" r:id="rId148"/>
    <p:sldId id="398" r:id="rId149"/>
    <p:sldId id="399" r:id="rId150"/>
    <p:sldId id="400" r:id="rId151"/>
    <p:sldId id="401" r:id="rId152"/>
    <p:sldId id="402" r:id="rId153"/>
    <p:sldId id="403" r:id="rId154"/>
    <p:sldId id="404" r:id="rId155"/>
    <p:sldId id="405" r:id="rId156"/>
    <p:sldId id="406" r:id="rId157"/>
    <p:sldId id="407" r:id="rId158"/>
    <p:sldId id="408" r:id="rId15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 Id="rId131" Type="http://schemas.openxmlformats.org/officeDocument/2006/relationships/slide" Target="slides/slide125.xml"/><Relationship Id="rId132" Type="http://schemas.openxmlformats.org/officeDocument/2006/relationships/slide" Target="slides/slide126.xml"/><Relationship Id="rId133" Type="http://schemas.openxmlformats.org/officeDocument/2006/relationships/slide" Target="slides/slide127.xml"/><Relationship Id="rId134" Type="http://schemas.openxmlformats.org/officeDocument/2006/relationships/slide" Target="slides/slide128.xml"/><Relationship Id="rId135" Type="http://schemas.openxmlformats.org/officeDocument/2006/relationships/slide" Target="slides/slide129.xml"/><Relationship Id="rId136" Type="http://schemas.openxmlformats.org/officeDocument/2006/relationships/slide" Target="slides/slide130.xml"/><Relationship Id="rId137" Type="http://schemas.openxmlformats.org/officeDocument/2006/relationships/slide" Target="slides/slide131.xml"/><Relationship Id="rId138" Type="http://schemas.openxmlformats.org/officeDocument/2006/relationships/slide" Target="slides/slide132.xml"/><Relationship Id="rId139" Type="http://schemas.openxmlformats.org/officeDocument/2006/relationships/slide" Target="slides/slide133.xml"/><Relationship Id="rId140" Type="http://schemas.openxmlformats.org/officeDocument/2006/relationships/slide" Target="slides/slide134.xml"/><Relationship Id="rId141" Type="http://schemas.openxmlformats.org/officeDocument/2006/relationships/slide" Target="slides/slide135.xml"/><Relationship Id="rId142" Type="http://schemas.openxmlformats.org/officeDocument/2006/relationships/slide" Target="slides/slide136.xml"/><Relationship Id="rId143" Type="http://schemas.openxmlformats.org/officeDocument/2006/relationships/slide" Target="slides/slide137.xml"/><Relationship Id="rId144" Type="http://schemas.openxmlformats.org/officeDocument/2006/relationships/slide" Target="slides/slide138.xml"/><Relationship Id="rId145" Type="http://schemas.openxmlformats.org/officeDocument/2006/relationships/slide" Target="slides/slide139.xml"/><Relationship Id="rId146" Type="http://schemas.openxmlformats.org/officeDocument/2006/relationships/slide" Target="slides/slide140.xml"/><Relationship Id="rId147" Type="http://schemas.openxmlformats.org/officeDocument/2006/relationships/slide" Target="slides/slide141.xml"/><Relationship Id="rId148" Type="http://schemas.openxmlformats.org/officeDocument/2006/relationships/slide" Target="slides/slide142.xml"/><Relationship Id="rId149" Type="http://schemas.openxmlformats.org/officeDocument/2006/relationships/slide" Target="slides/slide143.xml"/><Relationship Id="rId150" Type="http://schemas.openxmlformats.org/officeDocument/2006/relationships/slide" Target="slides/slide144.xml"/><Relationship Id="rId151" Type="http://schemas.openxmlformats.org/officeDocument/2006/relationships/slide" Target="slides/slide145.xml"/><Relationship Id="rId152" Type="http://schemas.openxmlformats.org/officeDocument/2006/relationships/slide" Target="slides/slide146.xml"/><Relationship Id="rId153" Type="http://schemas.openxmlformats.org/officeDocument/2006/relationships/slide" Target="slides/slide147.xml"/><Relationship Id="rId154" Type="http://schemas.openxmlformats.org/officeDocument/2006/relationships/slide" Target="slides/slide148.xml"/><Relationship Id="rId155" Type="http://schemas.openxmlformats.org/officeDocument/2006/relationships/slide" Target="slides/slide149.xml"/><Relationship Id="rId156" Type="http://schemas.openxmlformats.org/officeDocument/2006/relationships/slide" Target="slides/slide150.xml"/><Relationship Id="rId157" Type="http://schemas.openxmlformats.org/officeDocument/2006/relationships/slide" Target="slides/slide151.xml"/><Relationship Id="rId158" Type="http://schemas.openxmlformats.org/officeDocument/2006/relationships/slide" Target="slides/slide152.xml"/><Relationship Id="rId159" Type="http://schemas.openxmlformats.org/officeDocument/2006/relationships/slide" Target="slides/slide15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1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5.png"/><Relationship Id="rId4" Type="http://schemas.openxmlformats.org/officeDocument/2006/relationships/image" Target="../media/image7.png"/><Relationship Id="rId5" Type="http://schemas.openxmlformats.org/officeDocument/2006/relationships/image" Target="../media/image1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image" Target="../media/image19.png"/><Relationship Id="rId4" Type="http://schemas.openxmlformats.org/officeDocument/2006/relationships/image" Target="../media/image2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21.png"/><Relationship Id="rId4" Type="http://schemas.openxmlformats.org/officeDocument/2006/relationships/image" Target="../media/image14.png"/><Relationship Id="rId5" Type="http://schemas.openxmlformats.org/officeDocument/2006/relationships/image" Target="../media/image22.png"/><Relationship Id="rId6" Type="http://schemas.openxmlformats.org/officeDocument/2006/relationships/image" Target="../media/image23.png"/><Relationship Id="rId7" Type="http://schemas.openxmlformats.org/officeDocument/2006/relationships/image" Target="../media/image24.png"/><Relationship Id="rId8" Type="http://schemas.openxmlformats.org/officeDocument/2006/relationships/image" Target="../media/image8.png"/><Relationship Id="rId9" Type="http://schemas.openxmlformats.org/officeDocument/2006/relationships/image" Target="../media/image25.png"/><Relationship Id="rId10" Type="http://schemas.openxmlformats.org/officeDocument/2006/relationships/image" Target="../media/image15.png"/><Relationship Id="rId11" Type="http://schemas.openxmlformats.org/officeDocument/2006/relationships/image" Target="../media/image2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image" Target="../media/image28.png"/><Relationship Id="rId4" Type="http://schemas.openxmlformats.org/officeDocument/2006/relationships/image" Target="../media/image29.png"/><Relationship Id="rId5" Type="http://schemas.openxmlformats.org/officeDocument/2006/relationships/image" Target="../media/image30.png"/><Relationship Id="rId6" Type="http://schemas.openxmlformats.org/officeDocument/2006/relationships/image" Target="../media/image1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image" Target="../media/image32.png"/><Relationship Id="rId4" Type="http://schemas.openxmlformats.org/officeDocument/2006/relationships/image" Target="../media/image12.png"/><Relationship Id="rId5" Type="http://schemas.openxmlformats.org/officeDocument/2006/relationships/image" Target="../media/image3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 Id="rId3" Type="http://schemas.openxmlformats.org/officeDocument/2006/relationships/image" Target="../media/image35.png"/><Relationship Id="rId4" Type="http://schemas.openxmlformats.org/officeDocument/2006/relationships/image" Target="../media/image28.png"/><Relationship Id="rId5" Type="http://schemas.openxmlformats.org/officeDocument/2006/relationships/image" Target="../media/image3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 Id="rId3" Type="http://schemas.openxmlformats.org/officeDocument/2006/relationships/image" Target="../media/image6.png"/><Relationship Id="rId4" Type="http://schemas.openxmlformats.org/officeDocument/2006/relationships/image" Target="../media/image38.png"/><Relationship Id="rId5" Type="http://schemas.openxmlformats.org/officeDocument/2006/relationships/image" Target="../media/image30.png"/><Relationship Id="rId6" Type="http://schemas.openxmlformats.org/officeDocument/2006/relationships/image" Target="../media/image2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 Id="rId3" Type="http://schemas.openxmlformats.org/officeDocument/2006/relationships/image" Target="../media/image40.png"/><Relationship Id="rId4" Type="http://schemas.openxmlformats.org/officeDocument/2006/relationships/image" Target="../media/image41.png"/><Relationship Id="rId5" Type="http://schemas.openxmlformats.org/officeDocument/2006/relationships/image" Target="../media/image11.png"/><Relationship Id="rId6" Type="http://schemas.openxmlformats.org/officeDocument/2006/relationships/image" Target="../media/image15.png"/><Relationship Id="rId7" Type="http://schemas.openxmlformats.org/officeDocument/2006/relationships/image" Target="../media/image4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 Id="rId3" Type="http://schemas.openxmlformats.org/officeDocument/2006/relationships/image" Target="../media/image4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 Id="rId3" Type="http://schemas.openxmlformats.org/officeDocument/2006/relationships/image" Target="../media/image2.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1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png"/><Relationship Id="rId3" Type="http://schemas.openxmlformats.org/officeDocument/2006/relationships/image" Target="../media/image46.png"/><Relationship Id="rId4" Type="http://schemas.openxmlformats.org/officeDocument/2006/relationships/image" Target="../media/image19.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40.png"/><Relationship Id="rId4" Type="http://schemas.openxmlformats.org/officeDocument/2006/relationships/image" Target="../media/image20.png"/><Relationship Id="rId5" Type="http://schemas.openxmlformats.org/officeDocument/2006/relationships/image" Target="../media/image2.png"/><Relationship Id="rId6" Type="http://schemas.openxmlformats.org/officeDocument/2006/relationships/image" Target="../media/image47.png"/><Relationship Id="rId7" Type="http://schemas.openxmlformats.org/officeDocument/2006/relationships/image" Target="../media/image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7.png"/><Relationship Id="rId4" Type="http://schemas.openxmlformats.org/officeDocument/2006/relationships/image" Target="../media/image48.png"/><Relationship Id="rId5" Type="http://schemas.openxmlformats.org/officeDocument/2006/relationships/image" Target="../media/image49.png"/><Relationship Id="rId6" Type="http://schemas.openxmlformats.org/officeDocument/2006/relationships/image" Target="../media/image33.png"/><Relationship Id="rId7" Type="http://schemas.openxmlformats.org/officeDocument/2006/relationships/image" Target="../media/image1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image" Target="../media/image50.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image" Target="../media/image51.png"/><Relationship Id="rId4" Type="http://schemas.openxmlformats.org/officeDocument/2006/relationships/image" Target="../media/image16.png"/><Relationship Id="rId5" Type="http://schemas.openxmlformats.org/officeDocument/2006/relationships/image" Target="../media/image48.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8.png"/><Relationship Id="rId4" Type="http://schemas.openxmlformats.org/officeDocument/2006/relationships/image" Target="../media/image52.png"/><Relationship Id="rId5" Type="http://schemas.openxmlformats.org/officeDocument/2006/relationships/image" Target="../media/image51.png"/><Relationship Id="rId6" Type="http://schemas.openxmlformats.org/officeDocument/2006/relationships/image" Target="../media/image16.png"/><Relationship Id="rId7" Type="http://schemas.openxmlformats.org/officeDocument/2006/relationships/image" Target="../media/image1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6.png"/><Relationship Id="rId4" Type="http://schemas.openxmlformats.org/officeDocument/2006/relationships/image" Target="../media/image53.png"/><Relationship Id="rId5" Type="http://schemas.openxmlformats.org/officeDocument/2006/relationships/image" Target="../media/image46.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image" Target="../media/image49.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33.png"/><Relationship Id="rId7" Type="http://schemas.openxmlformats.org/officeDocument/2006/relationships/image" Target="../media/image56.png"/><Relationship Id="rId8" Type="http://schemas.openxmlformats.org/officeDocument/2006/relationships/image" Target="../media/image15.png"/><Relationship Id="rId9" Type="http://schemas.openxmlformats.org/officeDocument/2006/relationships/image" Target="../media/image57.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8.png"/><Relationship Id="rId3" Type="http://schemas.openxmlformats.org/officeDocument/2006/relationships/image" Target="../media/image52.png"/><Relationship Id="rId4" Type="http://schemas.openxmlformats.org/officeDocument/2006/relationships/image" Target="../media/image53.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png"/><Relationship Id="rId3" Type="http://schemas.openxmlformats.org/officeDocument/2006/relationships/image" Target="../media/image49.png"/><Relationship Id="rId4" Type="http://schemas.openxmlformats.org/officeDocument/2006/relationships/image" Target="../media/image52.png"/><Relationship Id="rId5" Type="http://schemas.openxmlformats.org/officeDocument/2006/relationships/image" Target="../media/image59.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8.png"/><Relationship Id="rId3" Type="http://schemas.openxmlformats.org/officeDocument/2006/relationships/image" Target="../media/image17.png"/><Relationship Id="rId4" Type="http://schemas.openxmlformats.org/officeDocument/2006/relationships/image" Target="../media/image37.png"/><Relationship Id="rId5" Type="http://schemas.openxmlformats.org/officeDocument/2006/relationships/image" Target="../media/image48.png"/><Relationship Id="rId6" Type="http://schemas.openxmlformats.org/officeDocument/2006/relationships/image" Target="../media/image49.png"/><Relationship Id="rId7" Type="http://schemas.openxmlformats.org/officeDocument/2006/relationships/image" Target="../media/image20.png"/><Relationship Id="rId8" Type="http://schemas.openxmlformats.org/officeDocument/2006/relationships/image" Target="../media/image60.png"/><Relationship Id="rId9" Type="http://schemas.openxmlformats.org/officeDocument/2006/relationships/image" Target="../media/image6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image" Target="../media/image41.png"/><Relationship Id="rId4" Type="http://schemas.openxmlformats.org/officeDocument/2006/relationships/image" Target="../media/image29.png"/><Relationship Id="rId5" Type="http://schemas.openxmlformats.org/officeDocument/2006/relationships/image" Target="../media/image62.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png"/><Relationship Id="rId3" Type="http://schemas.openxmlformats.org/officeDocument/2006/relationships/image" Target="../media/image13.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14.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image" Target="../media/image44.png"/><Relationship Id="rId4" Type="http://schemas.openxmlformats.org/officeDocument/2006/relationships/image" Target="../media/image63.png"/><Relationship Id="rId5" Type="http://schemas.openxmlformats.org/officeDocument/2006/relationships/image" Target="../media/image55.png"/><Relationship Id="rId6" Type="http://schemas.openxmlformats.org/officeDocument/2006/relationships/image" Target="../media/image45.png"/><Relationship Id="rId7" Type="http://schemas.openxmlformats.org/officeDocument/2006/relationships/image" Target="../media/image11.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14.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8.png"/><Relationship Id="rId4" Type="http://schemas.openxmlformats.org/officeDocument/2006/relationships/image" Target="../media/image4.png"/><Relationship Id="rId5" Type="http://schemas.openxmlformats.org/officeDocument/2006/relationships/image" Target="../media/image50.png"/><Relationship Id="rId6" Type="http://schemas.openxmlformats.org/officeDocument/2006/relationships/image" Target="../media/image24.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24.png"/><Relationship Id="rId4" Type="http://schemas.openxmlformats.org/officeDocument/2006/relationships/image" Target="../media/image33.png"/><Relationship Id="rId5" Type="http://schemas.openxmlformats.org/officeDocument/2006/relationships/image" Target="../media/image42.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4.png"/><Relationship Id="rId3" Type="http://schemas.openxmlformats.org/officeDocument/2006/relationships/image" Target="../media/image65.png"/><Relationship Id="rId4" Type="http://schemas.openxmlformats.org/officeDocument/2006/relationships/image" Target="../media/image8.png"/><Relationship Id="rId5" Type="http://schemas.openxmlformats.org/officeDocument/2006/relationships/image" Target="../media/image66.png"/><Relationship Id="rId6" Type="http://schemas.openxmlformats.org/officeDocument/2006/relationships/image" Target="../media/image33.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7.png"/><Relationship Id="rId3" Type="http://schemas.openxmlformats.org/officeDocument/2006/relationships/image" Target="../media/image59.png"/><Relationship Id="rId4" Type="http://schemas.openxmlformats.org/officeDocument/2006/relationships/image" Target="../media/image24.png"/><Relationship Id="rId5" Type="http://schemas.openxmlformats.org/officeDocument/2006/relationships/image" Target="../media/image65.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11.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8.png"/><Relationship Id="rId3" Type="http://schemas.openxmlformats.org/officeDocument/2006/relationships/image" Target="../media/image38.png"/><Relationship Id="rId4" Type="http://schemas.openxmlformats.org/officeDocument/2006/relationships/image" Target="../media/image58.png"/><Relationship Id="rId5" Type="http://schemas.openxmlformats.org/officeDocument/2006/relationships/image" Target="../media/image42.png"/><Relationship Id="rId6" Type="http://schemas.openxmlformats.org/officeDocument/2006/relationships/image" Target="../media/image43.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8.png"/><Relationship Id="rId3" Type="http://schemas.openxmlformats.org/officeDocument/2006/relationships/image" Target="../media/image38.png"/><Relationship Id="rId4" Type="http://schemas.openxmlformats.org/officeDocument/2006/relationships/image" Target="../media/image53.png"/><Relationship Id="rId5" Type="http://schemas.openxmlformats.org/officeDocument/2006/relationships/image" Target="../media/image57.png"/><Relationship Id="rId6" Type="http://schemas.openxmlformats.org/officeDocument/2006/relationships/image" Target="../media/image69.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0.png"/><Relationship Id="rId3" Type="http://schemas.openxmlformats.org/officeDocument/2006/relationships/image" Target="../media/image71.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9.png"/><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11.png"/><Relationship Id="rId6" Type="http://schemas.openxmlformats.org/officeDocument/2006/relationships/image" Target="../media/image53.png"/><Relationship Id="rId7" Type="http://schemas.openxmlformats.org/officeDocument/2006/relationships/image" Target="../media/image72.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42.png"/><Relationship Id="rId4" Type="http://schemas.openxmlformats.org/officeDocument/2006/relationships/image" Target="../media/image73.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4.png"/><Relationship Id="rId3" Type="http://schemas.openxmlformats.org/officeDocument/2006/relationships/image" Target="../media/image61.png"/><Relationship Id="rId4" Type="http://schemas.openxmlformats.org/officeDocument/2006/relationships/image" Target="../media/image13.png"/><Relationship Id="rId5" Type="http://schemas.openxmlformats.org/officeDocument/2006/relationships/image" Target="../media/image17.png"/><Relationship Id="rId6" Type="http://schemas.openxmlformats.org/officeDocument/2006/relationships/image" Target="../media/image15.png"/><Relationship Id="rId7" Type="http://schemas.openxmlformats.org/officeDocument/2006/relationships/image" Target="../media/image75.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image" Target="../media/image49.png"/><Relationship Id="rId4" Type="http://schemas.openxmlformats.org/officeDocument/2006/relationships/image" Target="../media/image54.png"/><Relationship Id="rId5" Type="http://schemas.openxmlformats.org/officeDocument/2006/relationships/image" Target="../media/image17.png"/><Relationship Id="rId6" Type="http://schemas.openxmlformats.org/officeDocument/2006/relationships/image" Target="../media/image13.png"/><Relationship Id="rId7" Type="http://schemas.openxmlformats.org/officeDocument/2006/relationships/image" Target="../media/image75.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6.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21.png"/><Relationship Id="rId4" Type="http://schemas.openxmlformats.org/officeDocument/2006/relationships/image" Target="../media/image14.png"/><Relationship Id="rId5" Type="http://schemas.openxmlformats.org/officeDocument/2006/relationships/image" Target="../media/image22.png"/><Relationship Id="rId6" Type="http://schemas.openxmlformats.org/officeDocument/2006/relationships/image" Target="../media/image23.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image" Target="../media/image49.png"/><Relationship Id="rId4" Type="http://schemas.openxmlformats.org/officeDocument/2006/relationships/image" Target="../media/image18.png"/><Relationship Id="rId5" Type="http://schemas.openxmlformats.org/officeDocument/2006/relationships/image" Target="../media/image52.png"/><Relationship Id="rId6" Type="http://schemas.openxmlformats.org/officeDocument/2006/relationships/image" Target="../media/image77.png"/><Relationship Id="rId7" Type="http://schemas.openxmlformats.org/officeDocument/2006/relationships/image" Target="../media/image16.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image" Target="../media/image19.png"/><Relationship Id="rId4" Type="http://schemas.openxmlformats.org/officeDocument/2006/relationships/image" Target="../media/image30.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16.png"/><Relationship Id="rId4" Type="http://schemas.openxmlformats.org/officeDocument/2006/relationships/image" Target="../media/image53.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16.png"/><Relationship Id="rId4" Type="http://schemas.openxmlformats.org/officeDocument/2006/relationships/image" Target="../media/image53.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image" Target="../media/image62.png"/><Relationship Id="rId4" Type="http://schemas.openxmlformats.org/officeDocument/2006/relationships/image" Target="../media/image25.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4.png"/><Relationship Id="rId3" Type="http://schemas.openxmlformats.org/officeDocument/2006/relationships/image" Target="../media/image12.png"/><Relationship Id="rId4" Type="http://schemas.openxmlformats.org/officeDocument/2006/relationships/image" Target="../media/image78.png"/><Relationship Id="rId5" Type="http://schemas.openxmlformats.org/officeDocument/2006/relationships/image" Target="../media/image79.png"/><Relationship Id="rId6" Type="http://schemas.openxmlformats.org/officeDocument/2006/relationships/image" Target="../media/image77.png"/><Relationship Id="rId7" Type="http://schemas.openxmlformats.org/officeDocument/2006/relationships/image" Target="../media/image48.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0.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8.png"/><Relationship Id="rId3" Type="http://schemas.openxmlformats.org/officeDocument/2006/relationships/image" Target="../media/image59.png"/><Relationship Id="rId4" Type="http://schemas.openxmlformats.org/officeDocument/2006/relationships/image" Target="../media/image16.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16.png"/><Relationship Id="rId4" Type="http://schemas.openxmlformats.org/officeDocument/2006/relationships/image" Target="../media/image53.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16.png"/><Relationship Id="rId4" Type="http://schemas.openxmlformats.org/officeDocument/2006/relationships/image" Target="../media/image53.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image" Target="../media/image62.png"/><Relationship Id="rId4" Type="http://schemas.openxmlformats.org/officeDocument/2006/relationships/image" Target="../media/image25.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45.png"/><Relationship Id="rId4" Type="http://schemas.openxmlformats.org/officeDocument/2006/relationships/image" Target="../media/image77.png"/><Relationship Id="rId5" Type="http://schemas.openxmlformats.org/officeDocument/2006/relationships/image" Target="../media/image21.png"/><Relationship Id="rId6" Type="http://schemas.openxmlformats.org/officeDocument/2006/relationships/image" Target="../media/image33.png"/><Relationship Id="rId7" Type="http://schemas.openxmlformats.org/officeDocument/2006/relationships/image" Target="../media/image81.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11.png"/><Relationship Id="rId4" Type="http://schemas.openxmlformats.org/officeDocument/2006/relationships/image" Target="../media/image19.png"/><Relationship Id="rId5" Type="http://schemas.openxmlformats.org/officeDocument/2006/relationships/image" Target="../media/image74.png"/><Relationship Id="rId6" Type="http://schemas.openxmlformats.org/officeDocument/2006/relationships/image" Target="../media/image21.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image" Target="../media/image45.png"/><Relationship Id="rId4" Type="http://schemas.openxmlformats.org/officeDocument/2006/relationships/image" Target="../media/image53.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16.png"/><Relationship Id="rId4" Type="http://schemas.openxmlformats.org/officeDocument/2006/relationships/image" Target="../media/image53.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16.png"/><Relationship Id="rId4" Type="http://schemas.openxmlformats.org/officeDocument/2006/relationships/image" Target="../media/image53.pn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image" Target="../media/image62.png"/><Relationship Id="rId4" Type="http://schemas.openxmlformats.org/officeDocument/2006/relationships/image" Target="../media/image25.pn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image" Target="../media/image44.png"/><Relationship Id="rId4" Type="http://schemas.openxmlformats.org/officeDocument/2006/relationships/image" Target="../media/image63.png"/><Relationship Id="rId5" Type="http://schemas.openxmlformats.org/officeDocument/2006/relationships/image" Target="../media/image55.png"/><Relationship Id="rId6" Type="http://schemas.openxmlformats.org/officeDocument/2006/relationships/image" Target="../media/image77.png"/><Relationship Id="rId7" Type="http://schemas.openxmlformats.org/officeDocument/2006/relationships/image" Target="../media/image45.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image" Target="../media/image44.png"/><Relationship Id="rId4" Type="http://schemas.openxmlformats.org/officeDocument/2006/relationships/image" Target="../media/image63.png"/><Relationship Id="rId5" Type="http://schemas.openxmlformats.org/officeDocument/2006/relationships/image" Target="../media/image55.png"/><Relationship Id="rId6" Type="http://schemas.openxmlformats.org/officeDocument/2006/relationships/image" Target="../media/image45.png"/><Relationship Id="rId7" Type="http://schemas.openxmlformats.org/officeDocument/2006/relationships/image" Target="../media/image11.pn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2.pn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3.png"/><Relationship Id="rId3" Type="http://schemas.openxmlformats.org/officeDocument/2006/relationships/image" Target="../media/image30.png"/><Relationship Id="rId4" Type="http://schemas.openxmlformats.org/officeDocument/2006/relationships/image" Target="../media/image69.pn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4.pn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16.png"/><Relationship Id="rId4" Type="http://schemas.openxmlformats.org/officeDocument/2006/relationships/image" Target="../media/image53.pn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image" Target="../media/image62.png"/><Relationship Id="rId4" Type="http://schemas.openxmlformats.org/officeDocument/2006/relationships/image" Target="../media/image25.pn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image" Target="../media/image13.png"/><Relationship Id="rId4" Type="http://schemas.openxmlformats.org/officeDocument/2006/relationships/image" Target="../media/image18.png"/><Relationship Id="rId5" Type="http://schemas.openxmlformats.org/officeDocument/2006/relationships/image" Target="../media/image16.png"/><Relationship Id="rId6" Type="http://schemas.openxmlformats.org/officeDocument/2006/relationships/image" Target="../media/image46.png"/><Relationship Id="rId7" Type="http://schemas.openxmlformats.org/officeDocument/2006/relationships/image" Target="../media/image77.png"/></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image" Target="../media/image13.png"/><Relationship Id="rId4" Type="http://schemas.openxmlformats.org/officeDocument/2006/relationships/image" Target="../media/image18.png"/><Relationship Id="rId5" Type="http://schemas.openxmlformats.org/officeDocument/2006/relationships/image" Target="../media/image16.png"/><Relationship Id="rId6" Type="http://schemas.openxmlformats.org/officeDocument/2006/relationships/image" Target="../media/image46.png"/><Relationship Id="rId7" Type="http://schemas.openxmlformats.org/officeDocument/2006/relationships/image" Target="../media/image11.png"/></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16.png"/><Relationship Id="rId4" Type="http://schemas.openxmlformats.org/officeDocument/2006/relationships/image" Target="../media/image46.png"/></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16.png"/><Relationship Id="rId4" Type="http://schemas.openxmlformats.org/officeDocument/2006/relationships/image" Target="../media/image53.png"/></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image" Target="../media/image62.png"/><Relationship Id="rId4" Type="http://schemas.openxmlformats.org/officeDocument/2006/relationships/image" Target="../media/image25.png"/></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14.png"/><Relationship Id="rId4" Type="http://schemas.openxmlformats.org/officeDocument/2006/relationships/image" Target="../media/image8.png"/><Relationship Id="rId5" Type="http://schemas.openxmlformats.org/officeDocument/2006/relationships/image" Target="../media/image19.png"/></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image" Target="../media/image67.png"/><Relationship Id="rId4" Type="http://schemas.openxmlformats.org/officeDocument/2006/relationships/image" Target="../media/image85.png"/><Relationship Id="rId5" Type="http://schemas.openxmlformats.org/officeDocument/2006/relationships/image" Target="../media/image12.png"/><Relationship Id="rId6" Type="http://schemas.openxmlformats.org/officeDocument/2006/relationships/image" Target="../media/image15.png"/><Relationship Id="rId7" Type="http://schemas.openxmlformats.org/officeDocument/2006/relationships/image" Target="../media/image43.png"/></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6.png"/></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image" Target="../media/image8.png"/><Relationship Id="rId4" Type="http://schemas.openxmlformats.org/officeDocument/2006/relationships/image" Target="../media/image25.png"/><Relationship Id="rId5" Type="http://schemas.openxmlformats.org/officeDocument/2006/relationships/image" Target="../media/image15.png"/><Relationship Id="rId6" Type="http://schemas.openxmlformats.org/officeDocument/2006/relationships/image" Target="../media/image26.png"/></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4.png"/><Relationship Id="rId3" Type="http://schemas.openxmlformats.org/officeDocument/2006/relationships/image" Target="../media/image87.png"/><Relationship Id="rId4" Type="http://schemas.openxmlformats.org/officeDocument/2006/relationships/image" Target="../media/image88.png"/><Relationship Id="rId5" Type="http://schemas.openxmlformats.org/officeDocument/2006/relationships/image" Target="../media/image89.png"/><Relationship Id="rId6" Type="http://schemas.openxmlformats.org/officeDocument/2006/relationships/image" Target="../media/image81.png"/><Relationship Id="rId7" Type="http://schemas.openxmlformats.org/officeDocument/2006/relationships/image" Target="../media/image56.png"/></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2.png"/><Relationship Id="rId3" Type="http://schemas.openxmlformats.org/officeDocument/2006/relationships/image" Target="../media/image90.png"/><Relationship Id="rId4" Type="http://schemas.openxmlformats.org/officeDocument/2006/relationships/image" Target="../media/image37.png"/></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7.png"/><Relationship Id="rId4" Type="http://schemas.openxmlformats.org/officeDocument/2006/relationships/image" Target="../media/image43.png"/></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1.png"/></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16.png"/><Relationship Id="rId4" Type="http://schemas.openxmlformats.org/officeDocument/2006/relationships/image" Target="../media/image53.png"/></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image" Target="../media/image62.png"/><Relationship Id="rId4" Type="http://schemas.openxmlformats.org/officeDocument/2006/relationships/image" Target="../media/image25.png"/></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77.png"/><Relationship Id="rId4" Type="http://schemas.openxmlformats.org/officeDocument/2006/relationships/image" Target="../media/image8.png"/><Relationship Id="rId5" Type="http://schemas.openxmlformats.org/officeDocument/2006/relationships/image" Target="../media/image92.png"/><Relationship Id="rId6" Type="http://schemas.openxmlformats.org/officeDocument/2006/relationships/image" Target="../media/image93.png"/><Relationship Id="rId7" Type="http://schemas.openxmlformats.org/officeDocument/2006/relationships/image" Target="../media/image18.png"/></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4.png"/></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5.png"/></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16.png"/><Relationship Id="rId4" Type="http://schemas.openxmlformats.org/officeDocument/2006/relationships/image" Target="../media/image53.png"/></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16.png"/><Relationship Id="rId4" Type="http://schemas.openxmlformats.org/officeDocument/2006/relationships/image" Target="../media/image53.png"/></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image" Target="../media/image62.png"/><Relationship Id="rId4" Type="http://schemas.openxmlformats.org/officeDocument/2006/relationships/image" Target="../media/image25.png"/></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9.png"/><Relationship Id="rId3" Type="http://schemas.openxmlformats.org/officeDocument/2006/relationships/image" Target="../media/image18.png"/><Relationship Id="rId4" Type="http://schemas.openxmlformats.org/officeDocument/2006/relationships/image" Target="../media/image78.png"/><Relationship Id="rId5" Type="http://schemas.openxmlformats.org/officeDocument/2006/relationships/image" Target="../media/image63.png"/><Relationship Id="rId6" Type="http://schemas.openxmlformats.org/officeDocument/2006/relationships/image" Target="../media/image55.png"/><Relationship Id="rId7" Type="http://schemas.openxmlformats.org/officeDocument/2006/relationships/image" Target="../media/image77.png"/></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6.png"/></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16.png"/><Relationship Id="rId4" Type="http://schemas.openxmlformats.org/officeDocument/2006/relationships/image" Target="../media/image53.png"/></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16.png"/><Relationship Id="rId4" Type="http://schemas.openxmlformats.org/officeDocument/2006/relationships/image" Target="../media/image53.png"/></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image" Target="../media/image62.png"/><Relationship Id="rId4" Type="http://schemas.openxmlformats.org/officeDocument/2006/relationships/image" Target="../media/image25.png"/></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image" Target="../media/image18.png"/><Relationship Id="rId4" Type="http://schemas.openxmlformats.org/officeDocument/2006/relationships/image" Target="../media/image44.png"/><Relationship Id="rId5" Type="http://schemas.openxmlformats.org/officeDocument/2006/relationships/image" Target="../media/image63.png"/><Relationship Id="rId6" Type="http://schemas.openxmlformats.org/officeDocument/2006/relationships/image" Target="../media/image55.png"/><Relationship Id="rId7" Type="http://schemas.openxmlformats.org/officeDocument/2006/relationships/image" Target="../media/image77.png"/></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7.png"/></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8.png"/></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16.png"/><Relationship Id="rId4" Type="http://schemas.openxmlformats.org/officeDocument/2006/relationships/image" Target="../media/image53.png"/></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image" Target="../media/image62.png"/><Relationship Id="rId4" Type="http://schemas.openxmlformats.org/officeDocument/2006/relationships/image" Target="../media/image25.png"/></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png"/><Relationship Id="rId3" Type="http://schemas.openxmlformats.org/officeDocument/2006/relationships/image" Target="../media/image57.png"/><Relationship Id="rId4" Type="http://schemas.openxmlformats.org/officeDocument/2006/relationships/image" Target="../media/image23.png"/><Relationship Id="rId5" Type="http://schemas.openxmlformats.org/officeDocument/2006/relationships/image" Target="../media/image99.png"/><Relationship Id="rId6" Type="http://schemas.openxmlformats.org/officeDocument/2006/relationships/image" Target="../media/image100.png"/><Relationship Id="rId7" Type="http://schemas.openxmlformats.org/officeDocument/2006/relationships/image" Target="../media/image101.png"/></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2.png"/></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16.png"/><Relationship Id="rId4" Type="http://schemas.openxmlformats.org/officeDocument/2006/relationships/image" Target="../media/image53.png"/></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16.png"/><Relationship Id="rId4" Type="http://schemas.openxmlformats.org/officeDocument/2006/relationships/image" Target="../media/image53.png"/></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image" Target="../media/image62.png"/><Relationship Id="rId4" Type="http://schemas.openxmlformats.org/officeDocument/2006/relationships/image" Target="../media/image25.png"/></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image" Target="../media/image8.png"/><Relationship Id="rId4" Type="http://schemas.openxmlformats.org/officeDocument/2006/relationships/image" Target="../media/image25.png"/><Relationship Id="rId5" Type="http://schemas.openxmlformats.org/officeDocument/2006/relationships/image" Target="../media/image67.png"/></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2.png"/><Relationship Id="rId3" Type="http://schemas.openxmlformats.org/officeDocument/2006/relationships/image" Target="../media/image7.png"/><Relationship Id="rId4" Type="http://schemas.openxmlformats.org/officeDocument/2006/relationships/image" Target="../media/image24.png"/><Relationship Id="rId5" Type="http://schemas.openxmlformats.org/officeDocument/2006/relationships/image" Target="../media/image14.png"/></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4.png"/><Relationship Id="rId3" Type="http://schemas.openxmlformats.org/officeDocument/2006/relationships/image" Target="../media/image54.png"/><Relationship Id="rId4" Type="http://schemas.openxmlformats.org/officeDocument/2006/relationships/image" Target="../media/image33.png"/><Relationship Id="rId5" Type="http://schemas.openxmlformats.org/officeDocument/2006/relationships/image" Target="../media/image23.png"/></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3.png"/><Relationship Id="rId3" Type="http://schemas.openxmlformats.org/officeDocument/2006/relationships/image" Target="../media/image37.png"/><Relationship Id="rId4" Type="http://schemas.openxmlformats.org/officeDocument/2006/relationships/image" Target="../media/image15.png"/><Relationship Id="rId5" Type="http://schemas.openxmlformats.org/officeDocument/2006/relationships/image" Target="../media/image41.png"/></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png"/><Relationship Id="rId3" Type="http://schemas.openxmlformats.org/officeDocument/2006/relationships/image" Target="../media/image17.png"/></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 Id="rId3" Type="http://schemas.openxmlformats.org/officeDocument/2006/relationships/image" Target="../media/image2.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16.png"/></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 Id="rId3" Type="http://schemas.openxmlformats.org/officeDocument/2006/relationships/image" Target="../media/image2.png"/></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Oval 1"/>
          <p:cNvSpPr/>
          <p:nvPr/>
        </p:nvSpPr>
        <p:spPr>
          <a:xfrm>
            <a:off x="9509760" y="-1463040"/>
            <a:ext cx="4206240" cy="42062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0607040" y="4023360"/>
            <a:ext cx="3108960" cy="3108960"/>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ounded Rectangle 3"/>
          <p:cNvSpPr/>
          <p:nvPr/>
        </p:nvSpPr>
        <p:spPr>
          <a:xfrm>
            <a:off x="749808" y="384048"/>
            <a:ext cx="841247" cy="74980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 name="Picture 4" descr="tertiary-infotech-logo.png"/>
          <p:cNvPicPr>
            <a:picLocks noChangeAspect="1"/>
          </p:cNvPicPr>
          <p:nvPr/>
        </p:nvPicPr>
        <p:blipFill>
          <a:blip r:embed="rId2"/>
          <a:stretch>
            <a:fillRect/>
          </a:stretch>
        </p:blipFill>
        <p:spPr>
          <a:xfrm>
            <a:off x="886968" y="475488"/>
            <a:ext cx="566928" cy="566928"/>
          </a:xfrm>
          <a:prstGeom prst="rect">
            <a:avLst/>
          </a:prstGeom>
        </p:spPr>
      </p:pic>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 All rights reserved.</a:t>
            </a:r>
          </a:p>
        </p:txBody>
      </p:sp>
      <p:sp>
        <p:nvSpPr>
          <p:cNvPr id="7" name="TextBox 6"/>
          <p:cNvSpPr txBox="1"/>
          <p:nvPr/>
        </p:nvSpPr>
        <p:spPr>
          <a:xfrm>
            <a:off x="822960" y="1371600"/>
            <a:ext cx="7772400" cy="365760"/>
          </a:xfrm>
          <a:prstGeom prst="rect">
            <a:avLst/>
          </a:prstGeom>
          <a:noFill/>
        </p:spPr>
        <p:txBody>
          <a:bodyPr wrap="square" lIns="36576" rIns="36576" tIns="18288" bIns="18288" anchor="t">
            <a:spAutoFit/>
          </a:bodyPr>
          <a:lstStyle/>
          <a:p>
            <a:pPr algn="l">
              <a:lnSpc>
                <a:spcPct val="112000"/>
              </a:lnSpc>
            </a:pPr>
            <a:r>
              <a:rPr sz="1400" b="1" i="0">
                <a:solidFill>
                  <a:srgbClr val="D97757"/>
                </a:solidFill>
                <a:latin typeface="Calibri"/>
              </a:rPr>
              <a:t>WSQ Course Code: TGS-2024043854</a:t>
            </a:r>
          </a:p>
        </p:txBody>
      </p:sp>
      <p:sp>
        <p:nvSpPr>
          <p:cNvPr id="8" name="TextBox 7"/>
          <p:cNvSpPr txBox="1"/>
          <p:nvPr/>
        </p:nvSpPr>
        <p:spPr>
          <a:xfrm>
            <a:off x="777240" y="1828800"/>
            <a:ext cx="9509760" cy="2377440"/>
          </a:xfrm>
          <a:prstGeom prst="rect">
            <a:avLst/>
          </a:prstGeom>
          <a:noFill/>
        </p:spPr>
        <p:txBody>
          <a:bodyPr wrap="square" lIns="36576" rIns="36576" tIns="18288" bIns="18288" anchor="t">
            <a:spAutoFit/>
          </a:bodyPr>
          <a:lstStyle/>
          <a:p>
            <a:pPr algn="l">
              <a:lnSpc>
                <a:spcPct val="102000"/>
              </a:lnSpc>
            </a:pPr>
            <a:r>
              <a:rPr sz="4800" b="1" i="0">
                <a:solidFill>
                  <a:srgbClr val="FFFFFF"/>
                </a:solidFill>
                <a:latin typeface="Cambria"/>
              </a:rPr>
              <a:t>Build a Human–AI Workforce</a:t>
            </a:r>
          </a:p>
          <a:p>
            <a:pPr algn="l">
              <a:lnSpc>
                <a:spcPct val="102000"/>
              </a:lnSpc>
            </a:pPr>
            <a:r>
              <a:rPr sz="4800" b="1" i="0">
                <a:solidFill>
                  <a:srgbClr val="FFFFFF"/>
                </a:solidFill>
                <a:latin typeface="Cambria"/>
              </a:rPr>
              <a:t>with Autonomous AI Agents</a:t>
            </a:r>
          </a:p>
        </p:txBody>
      </p:sp>
      <p:sp>
        <p:nvSpPr>
          <p:cNvPr id="9" name="TextBox 8"/>
          <p:cNvSpPr txBox="1"/>
          <p:nvPr/>
        </p:nvSpPr>
        <p:spPr>
          <a:xfrm>
            <a:off x="822960" y="4343400"/>
            <a:ext cx="7315200" cy="365760"/>
          </a:xfrm>
          <a:prstGeom prst="rect">
            <a:avLst/>
          </a:prstGeom>
          <a:noFill/>
        </p:spPr>
        <p:txBody>
          <a:bodyPr wrap="square" lIns="36576" rIns="36576" tIns="18288" bIns="18288" anchor="t">
            <a:spAutoFit/>
          </a:bodyPr>
          <a:lstStyle/>
          <a:p>
            <a:pPr algn="l">
              <a:lnSpc>
                <a:spcPct val="112000"/>
              </a:lnSpc>
            </a:pPr>
            <a:r>
              <a:rPr sz="1400" b="1" i="0">
                <a:solidFill>
                  <a:srgbClr val="D97757"/>
                </a:solidFill>
                <a:latin typeface="Calibri"/>
              </a:rPr>
              <a:t>Version 2.0  ·  18 October 2026</a:t>
            </a:r>
          </a:p>
        </p:txBody>
      </p:sp>
      <p:sp>
        <p:nvSpPr>
          <p:cNvPr id="10" name="TextBox 9"/>
          <p:cNvSpPr txBox="1"/>
          <p:nvPr/>
        </p:nvSpPr>
        <p:spPr>
          <a:xfrm>
            <a:off x="822960" y="5074920"/>
            <a:ext cx="8686800" cy="731520"/>
          </a:xfrm>
          <a:prstGeom prst="rect">
            <a:avLst/>
          </a:prstGeom>
          <a:noFill/>
        </p:spPr>
        <p:txBody>
          <a:bodyPr wrap="square" lIns="36576" rIns="36576" tIns="18288" bIns="18288" anchor="t">
            <a:spAutoFit/>
          </a:bodyPr>
          <a:lstStyle/>
          <a:p>
            <a:pPr algn="l">
              <a:lnSpc>
                <a:spcPct val="112000"/>
              </a:lnSpc>
            </a:pPr>
            <a:r>
              <a:rPr sz="1500" b="1" i="0">
                <a:solidFill>
                  <a:srgbClr val="FFFFFF"/>
                </a:solidFill>
                <a:latin typeface="Calibri"/>
              </a:rPr>
              <a:t>Tertiary Infotech Academy Pte Ltd</a:t>
            </a:r>
          </a:p>
          <a:p>
            <a:pPr algn="l">
              <a:lnSpc>
                <a:spcPct val="112000"/>
              </a:lnSpc>
            </a:pPr>
            <a:r>
              <a:rPr sz="1500" b="1" i="0">
                <a:solidFill>
                  <a:srgbClr val="FFFFFF"/>
                </a:solidFill>
                <a:latin typeface="Calibri"/>
              </a:rPr>
              <a:t>UEN: 201200696W</a:t>
            </a:r>
          </a:p>
        </p:txBody>
      </p:sp>
      <p:sp>
        <p:nvSpPr>
          <p:cNvPr id="11" name="TextBox 10"/>
          <p:cNvSpPr txBox="1"/>
          <p:nvPr/>
        </p:nvSpPr>
        <p:spPr>
          <a:xfrm>
            <a:off x="822960" y="6126480"/>
            <a:ext cx="10515600" cy="320040"/>
          </a:xfrm>
          <a:prstGeom prst="rect">
            <a:avLst/>
          </a:prstGeom>
          <a:noFill/>
        </p:spPr>
        <p:txBody>
          <a:bodyPr wrap="square" lIns="36576" rIns="36576" tIns="18288" bIns="18288" anchor="t">
            <a:spAutoFit/>
          </a:bodyPr>
          <a:lstStyle/>
          <a:p>
            <a:pPr algn="l">
              <a:lnSpc>
                <a:spcPct val="112000"/>
              </a:lnSpc>
            </a:pPr>
            <a:r>
              <a:rPr sz="1200" b="0" i="0">
                <a:solidFill>
                  <a:srgbClr val="B9B4A9"/>
                </a:solidFill>
                <a:latin typeface="Calibri"/>
              </a:rPr>
              <a:t>www.tertiarycourses.com.sg   |   enquiry@tertiaryinfotech.com   |   +65 6100 0613</a:t>
            </a:r>
          </a:p>
        </p:txBody>
      </p:sp>
    </p:spTree>
  </p:cSld>
  <p:clrMapOvr>
    <a:masterClrMapping/>
  </p:clrMapOvr>
  <p:transition spd="med">
    <p:fade/>
  </p:transition>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HOUSEKEEPING</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Digital Attendance</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2</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83080"/>
            <a:ext cx="6949440" cy="329184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68680" y="2057400"/>
            <a:ext cx="566928" cy="56692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phone-FFFFFF.png"/>
          <p:cNvPicPr>
            <a:picLocks noChangeAspect="1"/>
          </p:cNvPicPr>
          <p:nvPr/>
        </p:nvPicPr>
        <p:blipFill>
          <a:blip r:embed="rId2"/>
          <a:stretch>
            <a:fillRect/>
          </a:stretch>
        </p:blipFill>
        <p:spPr>
          <a:xfrm>
            <a:off x="1004742" y="2193462"/>
            <a:ext cx="294802" cy="294802"/>
          </a:xfrm>
          <a:prstGeom prst="rect">
            <a:avLst/>
          </a:prstGeom>
        </p:spPr>
      </p:pic>
      <p:sp>
        <p:nvSpPr>
          <p:cNvPr id="10" name="TextBox 9"/>
          <p:cNvSpPr txBox="1"/>
          <p:nvPr/>
        </p:nvSpPr>
        <p:spPr>
          <a:xfrm>
            <a:off x="1645920" y="2103120"/>
            <a:ext cx="5669280" cy="457200"/>
          </a:xfrm>
          <a:prstGeom prst="rect">
            <a:avLst/>
          </a:prstGeom>
          <a:noFill/>
        </p:spPr>
        <p:txBody>
          <a:bodyPr wrap="square" lIns="36576" rIns="36576" tIns="18288" bIns="18288" anchor="t">
            <a:spAutoFit/>
          </a:bodyPr>
          <a:lstStyle/>
          <a:p>
            <a:pPr algn="l">
              <a:lnSpc>
                <a:spcPct val="112000"/>
              </a:lnSpc>
            </a:pPr>
            <a:r>
              <a:rPr sz="1700" b="1" i="0">
                <a:solidFill>
                  <a:srgbClr val="21201C"/>
                </a:solidFill>
                <a:latin typeface="Cambria"/>
              </a:rPr>
              <a:t>Attendance is mandatory for SSG funding.</a:t>
            </a:r>
          </a:p>
        </p:txBody>
      </p:sp>
      <p:sp>
        <p:nvSpPr>
          <p:cNvPr id="11" name="TextBox 10"/>
          <p:cNvSpPr txBox="1"/>
          <p:nvPr/>
        </p:nvSpPr>
        <p:spPr>
          <a:xfrm>
            <a:off x="868680" y="2834640"/>
            <a:ext cx="6400800" cy="2103120"/>
          </a:xfrm>
          <a:prstGeom prst="rect">
            <a:avLst/>
          </a:prstGeom>
          <a:noFill/>
        </p:spPr>
        <p:txBody>
          <a:bodyPr wrap="square" lIns="36576" rIns="36576" tIns="18288" bIns="18288" anchor="t">
            <a:spAutoFit/>
          </a:bodyPr>
          <a:lstStyle/>
          <a:p>
            <a:pPr algn="l">
              <a:lnSpc>
                <a:spcPct val="130000"/>
              </a:lnSpc>
            </a:pPr>
            <a:r>
              <a:rPr sz="1500" b="0" i="0">
                <a:solidFill>
                  <a:srgbClr val="6B6862"/>
                </a:solidFill>
                <a:latin typeface="Calibri"/>
              </a:rPr>
              <a:t>Take AM, PM and Assessment digital attendance for every session.</a:t>
            </a:r>
          </a:p>
          <a:p>
            <a:pPr algn="l">
              <a:lnSpc>
                <a:spcPct val="130000"/>
              </a:lnSpc>
            </a:pPr>
            <a:r>
              <a:rPr sz="1500" b="0" i="0">
                <a:solidFill>
                  <a:srgbClr val="6B6862"/>
                </a:solidFill>
                <a:latin typeface="Calibri"/>
              </a:rPr>
              <a:t>Scan the SSG digital attendance QR code shown by your trainer with your phone camera.</a:t>
            </a:r>
          </a:p>
          <a:p>
            <a:pPr algn="l">
              <a:lnSpc>
                <a:spcPct val="130000"/>
              </a:lnSpc>
            </a:pPr>
            <a:r>
              <a:rPr sz="1500" b="0" i="0">
                <a:solidFill>
                  <a:srgbClr val="6B6862"/>
                </a:solidFill>
                <a:latin typeface="Calibri"/>
              </a:rPr>
              <a:t>The TRAQOM survey and Assessment attendance are taken on assessment day.</a:t>
            </a:r>
          </a:p>
        </p:txBody>
      </p:sp>
      <p:sp>
        <p:nvSpPr>
          <p:cNvPr id="12" name="Rounded Rectangle 11"/>
          <p:cNvSpPr/>
          <p:nvPr/>
        </p:nvSpPr>
        <p:spPr>
          <a:xfrm>
            <a:off x="7863840" y="1783080"/>
            <a:ext cx="3749039" cy="3291840"/>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7863840" y="2148840"/>
            <a:ext cx="3749039" cy="457200"/>
          </a:xfrm>
          <a:prstGeom prst="rect">
            <a:avLst/>
          </a:prstGeom>
          <a:noFill/>
        </p:spPr>
        <p:txBody>
          <a:bodyPr wrap="square" lIns="36576" rIns="36576" tIns="18288" bIns="18288" anchor="t">
            <a:spAutoFit/>
          </a:bodyPr>
          <a:lstStyle/>
          <a:p>
            <a:pPr algn="ctr">
              <a:lnSpc>
                <a:spcPct val="112000"/>
              </a:lnSpc>
            </a:pPr>
            <a:r>
              <a:rPr sz="2000" b="0" i="0">
                <a:solidFill>
                  <a:srgbClr val="C9C4B9"/>
                </a:solidFill>
                <a:latin typeface="Cambria"/>
              </a:rPr>
              <a:t>Minimum</a:t>
            </a:r>
          </a:p>
        </p:txBody>
      </p:sp>
      <p:sp>
        <p:nvSpPr>
          <p:cNvPr id="14" name="TextBox 13"/>
          <p:cNvSpPr txBox="1"/>
          <p:nvPr/>
        </p:nvSpPr>
        <p:spPr>
          <a:xfrm>
            <a:off x="7863840" y="2606040"/>
            <a:ext cx="3749039" cy="1097280"/>
          </a:xfrm>
          <a:prstGeom prst="rect">
            <a:avLst/>
          </a:prstGeom>
          <a:noFill/>
        </p:spPr>
        <p:txBody>
          <a:bodyPr wrap="square" lIns="36576" rIns="36576" tIns="18288" bIns="18288" anchor="t">
            <a:spAutoFit/>
          </a:bodyPr>
          <a:lstStyle/>
          <a:p>
            <a:pPr algn="ctr">
              <a:lnSpc>
                <a:spcPct val="112000"/>
              </a:lnSpc>
            </a:pPr>
            <a:r>
              <a:rPr sz="6000" b="1" i="0">
                <a:solidFill>
                  <a:srgbClr val="D97757"/>
                </a:solidFill>
                <a:latin typeface="Cambria"/>
              </a:rPr>
              <a:t>75%</a:t>
            </a:r>
          </a:p>
        </p:txBody>
      </p:sp>
      <p:sp>
        <p:nvSpPr>
          <p:cNvPr id="15" name="TextBox 14"/>
          <p:cNvSpPr txBox="1"/>
          <p:nvPr/>
        </p:nvSpPr>
        <p:spPr>
          <a:xfrm>
            <a:off x="7863840" y="3840480"/>
            <a:ext cx="3749039" cy="548640"/>
          </a:xfrm>
          <a:prstGeom prst="rect">
            <a:avLst/>
          </a:prstGeom>
          <a:noFill/>
        </p:spPr>
        <p:txBody>
          <a:bodyPr wrap="square" lIns="36576" rIns="36576" tIns="18288" bIns="18288" anchor="t">
            <a:spAutoFit/>
          </a:bodyPr>
          <a:lstStyle/>
          <a:p>
            <a:pPr algn="ctr">
              <a:lnSpc>
                <a:spcPct val="112000"/>
              </a:lnSpc>
            </a:pPr>
            <a:r>
              <a:rPr sz="1800" b="0" i="0">
                <a:solidFill>
                  <a:srgbClr val="C9C4B9"/>
                </a:solidFill>
                <a:latin typeface="Cambria"/>
              </a:rPr>
              <a:t>attendance required</a:t>
            </a:r>
          </a:p>
        </p:txBody>
      </p:sp>
    </p:spTree>
  </p:cSld>
  <p:clrMapOvr>
    <a:masterClrMapping/>
  </p:clrMapOvr>
  <p:transition spd="med">
    <p:fade/>
  </p:transition>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INTRODUCTION</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About the Trainer</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3</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822960" y="1783080"/>
            <a:ext cx="3291840" cy="3566160"/>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2057400" y="2148840"/>
            <a:ext cx="822960" cy="82296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057400" y="2148840"/>
            <a:ext cx="822960" cy="822960"/>
          </a:xfrm>
          <a:prstGeom prst="rect">
            <a:avLst/>
          </a:prstGeom>
          <a:noFill/>
        </p:spPr>
        <p:txBody>
          <a:bodyPr wrap="square" lIns="36576" rIns="36576" tIns="18288" bIns="18288" anchor="ctr">
            <a:spAutoFit/>
          </a:bodyPr>
          <a:lstStyle/>
          <a:p>
            <a:pPr algn="ctr">
              <a:lnSpc>
                <a:spcPct val="112000"/>
              </a:lnSpc>
            </a:pPr>
            <a:r>
              <a:rPr sz="2200" b="1" i="0">
                <a:solidFill>
                  <a:srgbClr val="FFFFFF"/>
                </a:solidFill>
                <a:latin typeface="Cambria"/>
              </a:rPr>
              <a:t>?</a:t>
            </a:r>
          </a:p>
        </p:txBody>
      </p:sp>
      <p:sp>
        <p:nvSpPr>
          <p:cNvPr id="10" name="TextBox 9"/>
          <p:cNvSpPr txBox="1"/>
          <p:nvPr/>
        </p:nvSpPr>
        <p:spPr>
          <a:xfrm>
            <a:off x="960120" y="3154680"/>
            <a:ext cx="3017520" cy="548640"/>
          </a:xfrm>
          <a:prstGeom prst="rect">
            <a:avLst/>
          </a:prstGeom>
          <a:noFill/>
        </p:spPr>
        <p:txBody>
          <a:bodyPr wrap="square" lIns="36576" rIns="36576" tIns="18288" bIns="18288" anchor="t">
            <a:spAutoFit/>
          </a:bodyPr>
          <a:lstStyle/>
          <a:p>
            <a:pPr algn="ctr">
              <a:lnSpc>
                <a:spcPct val="112000"/>
              </a:lnSpc>
            </a:pPr>
            <a:r>
              <a:rPr sz="2000" b="1" i="0">
                <a:solidFill>
                  <a:srgbClr val="FFFFFF"/>
                </a:solidFill>
                <a:latin typeface="Cambria"/>
              </a:rPr>
              <a:t>[ Trainer Name ]</a:t>
            </a:r>
          </a:p>
        </p:txBody>
      </p:sp>
      <p:sp>
        <p:nvSpPr>
          <p:cNvPr id="11" name="TextBox 10"/>
          <p:cNvSpPr txBox="1"/>
          <p:nvPr/>
        </p:nvSpPr>
        <p:spPr>
          <a:xfrm>
            <a:off x="960120" y="3749039"/>
            <a:ext cx="3017520" cy="1097280"/>
          </a:xfrm>
          <a:prstGeom prst="rect">
            <a:avLst/>
          </a:prstGeom>
          <a:noFill/>
        </p:spPr>
        <p:txBody>
          <a:bodyPr wrap="square" lIns="36576" rIns="36576" tIns="18288" bIns="18288" anchor="t">
            <a:spAutoFit/>
          </a:bodyPr>
          <a:lstStyle/>
          <a:p>
            <a:pPr algn="ctr">
              <a:lnSpc>
                <a:spcPct val="112000"/>
              </a:lnSpc>
            </a:pPr>
            <a:r>
              <a:rPr sz="1250" b="0" i="0">
                <a:solidFill>
                  <a:srgbClr val="D97757"/>
                </a:solidFill>
                <a:latin typeface="Calibri"/>
              </a:rPr>
              <a:t>[ Title / Role ]</a:t>
            </a:r>
          </a:p>
        </p:txBody>
      </p:sp>
      <p:sp>
        <p:nvSpPr>
          <p:cNvPr id="12" name="Oval 11"/>
          <p:cNvSpPr/>
          <p:nvPr/>
        </p:nvSpPr>
        <p:spPr>
          <a:xfrm>
            <a:off x="4572000" y="1828800"/>
            <a:ext cx="457200" cy="457200"/>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3" name="Picture 12" descr="grad-FFFFFF.png"/>
          <p:cNvPicPr>
            <a:picLocks noChangeAspect="1"/>
          </p:cNvPicPr>
          <p:nvPr/>
        </p:nvPicPr>
        <p:blipFill>
          <a:blip r:embed="rId2"/>
          <a:stretch>
            <a:fillRect/>
          </a:stretch>
        </p:blipFill>
        <p:spPr>
          <a:xfrm>
            <a:off x="4681728" y="1938528"/>
            <a:ext cx="237744" cy="237744"/>
          </a:xfrm>
          <a:prstGeom prst="rect">
            <a:avLst/>
          </a:prstGeom>
        </p:spPr>
      </p:pic>
      <p:sp>
        <p:nvSpPr>
          <p:cNvPr id="14" name="TextBox 13"/>
          <p:cNvSpPr txBox="1"/>
          <p:nvPr/>
        </p:nvSpPr>
        <p:spPr>
          <a:xfrm>
            <a:off x="5212080" y="1874519"/>
            <a:ext cx="6400800" cy="365760"/>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Qualifications:  ________________________________________________</a:t>
            </a:r>
          </a:p>
        </p:txBody>
      </p:sp>
      <p:sp>
        <p:nvSpPr>
          <p:cNvPr id="15" name="Oval 14"/>
          <p:cNvSpPr/>
          <p:nvPr/>
        </p:nvSpPr>
        <p:spPr>
          <a:xfrm>
            <a:off x="4572000" y="2880359"/>
            <a:ext cx="457200" cy="457200"/>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star-FFFFFF.png"/>
          <p:cNvPicPr>
            <a:picLocks noChangeAspect="1"/>
          </p:cNvPicPr>
          <p:nvPr/>
        </p:nvPicPr>
        <p:blipFill>
          <a:blip r:embed="rId3"/>
          <a:stretch>
            <a:fillRect/>
          </a:stretch>
        </p:blipFill>
        <p:spPr>
          <a:xfrm>
            <a:off x="4681728" y="2990087"/>
            <a:ext cx="237744" cy="237744"/>
          </a:xfrm>
          <a:prstGeom prst="rect">
            <a:avLst/>
          </a:prstGeom>
        </p:spPr>
      </p:pic>
      <p:sp>
        <p:nvSpPr>
          <p:cNvPr id="17" name="TextBox 16"/>
          <p:cNvSpPr txBox="1"/>
          <p:nvPr/>
        </p:nvSpPr>
        <p:spPr>
          <a:xfrm>
            <a:off x="5212080" y="2926079"/>
            <a:ext cx="6400800" cy="365760"/>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Expertise:  ________________________________________________</a:t>
            </a:r>
          </a:p>
        </p:txBody>
      </p:sp>
      <p:sp>
        <p:nvSpPr>
          <p:cNvPr id="18" name="Oval 17"/>
          <p:cNvSpPr/>
          <p:nvPr/>
        </p:nvSpPr>
        <p:spPr>
          <a:xfrm>
            <a:off x="4572000" y="3931920"/>
            <a:ext cx="457200" cy="457200"/>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 name="Picture 18" descr="briefcase-FFFFFF.png"/>
          <p:cNvPicPr>
            <a:picLocks noChangeAspect="1"/>
          </p:cNvPicPr>
          <p:nvPr/>
        </p:nvPicPr>
        <p:blipFill>
          <a:blip r:embed="rId4"/>
          <a:stretch>
            <a:fillRect/>
          </a:stretch>
        </p:blipFill>
        <p:spPr>
          <a:xfrm>
            <a:off x="4681728" y="4041648"/>
            <a:ext cx="237744" cy="237744"/>
          </a:xfrm>
          <a:prstGeom prst="rect">
            <a:avLst/>
          </a:prstGeom>
        </p:spPr>
      </p:pic>
      <p:sp>
        <p:nvSpPr>
          <p:cNvPr id="20" name="TextBox 19"/>
          <p:cNvSpPr txBox="1"/>
          <p:nvPr/>
        </p:nvSpPr>
        <p:spPr>
          <a:xfrm>
            <a:off x="5212080" y="3977639"/>
            <a:ext cx="6400800" cy="365760"/>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Experience:  ________________________________________________</a:t>
            </a:r>
          </a:p>
        </p:txBody>
      </p:sp>
      <p:sp>
        <p:nvSpPr>
          <p:cNvPr id="21" name="Oval 20"/>
          <p:cNvSpPr/>
          <p:nvPr/>
        </p:nvSpPr>
        <p:spPr>
          <a:xfrm>
            <a:off x="4572000" y="4983479"/>
            <a:ext cx="457200" cy="457200"/>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mail-FFFFFF.png"/>
          <p:cNvPicPr>
            <a:picLocks noChangeAspect="1"/>
          </p:cNvPicPr>
          <p:nvPr/>
        </p:nvPicPr>
        <p:blipFill>
          <a:blip r:embed="rId5"/>
          <a:stretch>
            <a:fillRect/>
          </a:stretch>
        </p:blipFill>
        <p:spPr>
          <a:xfrm>
            <a:off x="4681728" y="5093207"/>
            <a:ext cx="237744" cy="237744"/>
          </a:xfrm>
          <a:prstGeom prst="rect">
            <a:avLst/>
          </a:prstGeom>
        </p:spPr>
      </p:pic>
      <p:sp>
        <p:nvSpPr>
          <p:cNvPr id="23" name="TextBox 22"/>
          <p:cNvSpPr txBox="1"/>
          <p:nvPr/>
        </p:nvSpPr>
        <p:spPr>
          <a:xfrm>
            <a:off x="5212080" y="5029199"/>
            <a:ext cx="6400800" cy="365760"/>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Contact / Profile:  ________________________________________________</a:t>
            </a:r>
          </a:p>
        </p:txBody>
      </p:sp>
    </p:spTree>
  </p:cSld>
  <p:clrMapOvr>
    <a:masterClrMapping/>
  </p:clrMapOvr>
  <p:transition spd="med">
    <p:fade/>
  </p:transition>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INTRODUCTION</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About the Trainer</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4</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822960" y="1783080"/>
            <a:ext cx="3291840" cy="3566160"/>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2057400" y="2148840"/>
            <a:ext cx="822960" cy="82296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057400" y="2148840"/>
            <a:ext cx="822960" cy="822960"/>
          </a:xfrm>
          <a:prstGeom prst="rect">
            <a:avLst/>
          </a:prstGeom>
          <a:noFill/>
        </p:spPr>
        <p:txBody>
          <a:bodyPr wrap="square" lIns="36576" rIns="36576" tIns="18288" bIns="18288" anchor="ctr">
            <a:spAutoFit/>
          </a:bodyPr>
          <a:lstStyle/>
          <a:p>
            <a:pPr algn="ctr">
              <a:lnSpc>
                <a:spcPct val="112000"/>
              </a:lnSpc>
            </a:pPr>
            <a:r>
              <a:rPr sz="2200" b="1" i="0">
                <a:solidFill>
                  <a:srgbClr val="FFFFFF"/>
                </a:solidFill>
                <a:latin typeface="Cambria"/>
              </a:rPr>
              <a:t>AA</a:t>
            </a:r>
          </a:p>
        </p:txBody>
      </p:sp>
      <p:sp>
        <p:nvSpPr>
          <p:cNvPr id="10" name="TextBox 9"/>
          <p:cNvSpPr txBox="1"/>
          <p:nvPr/>
        </p:nvSpPr>
        <p:spPr>
          <a:xfrm>
            <a:off x="960120" y="3154680"/>
            <a:ext cx="3017520" cy="548640"/>
          </a:xfrm>
          <a:prstGeom prst="rect">
            <a:avLst/>
          </a:prstGeom>
          <a:noFill/>
        </p:spPr>
        <p:txBody>
          <a:bodyPr wrap="square" lIns="36576" rIns="36576" tIns="18288" bIns="18288" anchor="t">
            <a:spAutoFit/>
          </a:bodyPr>
          <a:lstStyle/>
          <a:p>
            <a:pPr algn="ctr">
              <a:lnSpc>
                <a:spcPct val="112000"/>
              </a:lnSpc>
            </a:pPr>
            <a:r>
              <a:rPr sz="2000" b="1" i="0">
                <a:solidFill>
                  <a:srgbClr val="FFFFFF"/>
                </a:solidFill>
                <a:latin typeface="Cambria"/>
              </a:rPr>
              <a:t>Dr. Alfred Ang</a:t>
            </a:r>
          </a:p>
        </p:txBody>
      </p:sp>
      <p:sp>
        <p:nvSpPr>
          <p:cNvPr id="11" name="TextBox 10"/>
          <p:cNvSpPr txBox="1"/>
          <p:nvPr/>
        </p:nvSpPr>
        <p:spPr>
          <a:xfrm>
            <a:off x="960120" y="3749039"/>
            <a:ext cx="3017520" cy="1097280"/>
          </a:xfrm>
          <a:prstGeom prst="rect">
            <a:avLst/>
          </a:prstGeom>
          <a:noFill/>
        </p:spPr>
        <p:txBody>
          <a:bodyPr wrap="square" lIns="36576" rIns="36576" tIns="18288" bIns="18288" anchor="t">
            <a:spAutoFit/>
          </a:bodyPr>
          <a:lstStyle/>
          <a:p>
            <a:pPr algn="ctr">
              <a:lnSpc>
                <a:spcPct val="112000"/>
              </a:lnSpc>
            </a:pPr>
            <a:r>
              <a:rPr sz="1250" b="0" i="0">
                <a:solidFill>
                  <a:srgbClr val="D97757"/>
                </a:solidFill>
                <a:latin typeface="Calibri"/>
              </a:rPr>
              <a:t>AI Trainer &amp; Engineer</a:t>
            </a:r>
          </a:p>
          <a:p>
            <a:pPr algn="ctr">
              <a:lnSpc>
                <a:spcPct val="112000"/>
              </a:lnSpc>
            </a:pPr>
            <a:r>
              <a:rPr sz="1250" b="0" i="0">
                <a:solidFill>
                  <a:srgbClr val="D97757"/>
                </a:solidFill>
                <a:latin typeface="Calibri"/>
              </a:rPr>
              <a:t>Tertiary Infotech Academy</a:t>
            </a:r>
          </a:p>
        </p:txBody>
      </p:sp>
      <p:sp>
        <p:nvSpPr>
          <p:cNvPr id="12" name="Oval 11"/>
          <p:cNvSpPr/>
          <p:nvPr/>
        </p:nvSpPr>
        <p:spPr>
          <a:xfrm>
            <a:off x="4572000" y="1828800"/>
            <a:ext cx="457200" cy="457200"/>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3" name="Picture 12" descr="grad-FFFFFF.png"/>
          <p:cNvPicPr>
            <a:picLocks noChangeAspect="1"/>
          </p:cNvPicPr>
          <p:nvPr/>
        </p:nvPicPr>
        <p:blipFill>
          <a:blip r:embed="rId2"/>
          <a:stretch>
            <a:fillRect/>
          </a:stretch>
        </p:blipFill>
        <p:spPr>
          <a:xfrm>
            <a:off x="4681728" y="1938528"/>
            <a:ext cx="237744" cy="237744"/>
          </a:xfrm>
          <a:prstGeom prst="rect">
            <a:avLst/>
          </a:prstGeom>
        </p:spPr>
      </p:pic>
      <p:sp>
        <p:nvSpPr>
          <p:cNvPr id="14" name="TextBox 13"/>
          <p:cNvSpPr txBox="1"/>
          <p:nvPr/>
        </p:nvSpPr>
        <p:spPr>
          <a:xfrm>
            <a:off x="5212080" y="1801368"/>
            <a:ext cx="6400800" cy="795527"/>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21201C"/>
                </a:solidFill>
                <a:latin typeface="Calibri"/>
              </a:rPr>
              <a:t>Qualifications  </a:t>
            </a:r>
            <a:r>
              <a:rPr sz="1300" b="0" i="0">
                <a:solidFill>
                  <a:srgbClr val="6B6862"/>
                </a:solidFill>
                <a:latin typeface="Calibri"/>
              </a:rPr>
              <a:t>PhD-qualified trainer specialising in AI, automation and software engineering.</a:t>
            </a:r>
          </a:p>
        </p:txBody>
      </p:sp>
      <p:sp>
        <p:nvSpPr>
          <p:cNvPr id="15" name="Oval 14"/>
          <p:cNvSpPr/>
          <p:nvPr/>
        </p:nvSpPr>
        <p:spPr>
          <a:xfrm>
            <a:off x="4572000" y="2670048"/>
            <a:ext cx="457200" cy="457200"/>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robot-FFFFFF.png"/>
          <p:cNvPicPr>
            <a:picLocks noChangeAspect="1"/>
          </p:cNvPicPr>
          <p:nvPr/>
        </p:nvPicPr>
        <p:blipFill>
          <a:blip r:embed="rId3"/>
          <a:stretch>
            <a:fillRect/>
          </a:stretch>
        </p:blipFill>
        <p:spPr>
          <a:xfrm>
            <a:off x="4681728" y="2779776"/>
            <a:ext cx="237744" cy="237744"/>
          </a:xfrm>
          <a:prstGeom prst="rect">
            <a:avLst/>
          </a:prstGeom>
        </p:spPr>
      </p:pic>
      <p:sp>
        <p:nvSpPr>
          <p:cNvPr id="17" name="TextBox 16"/>
          <p:cNvSpPr txBox="1"/>
          <p:nvPr/>
        </p:nvSpPr>
        <p:spPr>
          <a:xfrm>
            <a:off x="5212080" y="2642616"/>
            <a:ext cx="6400800" cy="795527"/>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21201C"/>
                </a:solidFill>
                <a:latin typeface="Calibri"/>
              </a:rPr>
              <a:t>Expertise  </a:t>
            </a:r>
            <a:r>
              <a:rPr sz="1300" b="0" i="0">
                <a:solidFill>
                  <a:srgbClr val="6B6862"/>
                </a:solidFill>
                <a:latin typeface="Calibri"/>
              </a:rPr>
              <a:t>Builds autonomous AI agents and multi-agent workflows with Hermes Agent, Paperclip and Claude Code.</a:t>
            </a:r>
          </a:p>
        </p:txBody>
      </p:sp>
      <p:sp>
        <p:nvSpPr>
          <p:cNvPr id="18" name="Oval 17"/>
          <p:cNvSpPr/>
          <p:nvPr/>
        </p:nvSpPr>
        <p:spPr>
          <a:xfrm>
            <a:off x="4572000" y="3511296"/>
            <a:ext cx="457200" cy="457200"/>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 name="Picture 18" descr="users-FFFFFF.png"/>
          <p:cNvPicPr>
            <a:picLocks noChangeAspect="1"/>
          </p:cNvPicPr>
          <p:nvPr/>
        </p:nvPicPr>
        <p:blipFill>
          <a:blip r:embed="rId4"/>
          <a:stretch>
            <a:fillRect/>
          </a:stretch>
        </p:blipFill>
        <p:spPr>
          <a:xfrm>
            <a:off x="4681728" y="3621024"/>
            <a:ext cx="237744" cy="237744"/>
          </a:xfrm>
          <a:prstGeom prst="rect">
            <a:avLst/>
          </a:prstGeom>
        </p:spPr>
      </p:pic>
      <p:sp>
        <p:nvSpPr>
          <p:cNvPr id="20" name="TextBox 19"/>
          <p:cNvSpPr txBox="1"/>
          <p:nvPr/>
        </p:nvSpPr>
        <p:spPr>
          <a:xfrm>
            <a:off x="5212080" y="3483864"/>
            <a:ext cx="6400800" cy="795527"/>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21201C"/>
                </a:solidFill>
                <a:latin typeface="Calibri"/>
              </a:rPr>
              <a:t>Experience  </a:t>
            </a:r>
            <a:r>
              <a:rPr sz="1300" b="0" i="0">
                <a:solidFill>
                  <a:srgbClr val="6B6862"/>
                </a:solidFill>
                <a:latin typeface="Calibri"/>
              </a:rPr>
              <a:t>Trains professionals across Singapore on practical, project-based AI skills.</a:t>
            </a:r>
          </a:p>
        </p:txBody>
      </p:sp>
      <p:sp>
        <p:nvSpPr>
          <p:cNvPr id="21" name="Oval 20"/>
          <p:cNvSpPr/>
          <p:nvPr/>
        </p:nvSpPr>
        <p:spPr>
          <a:xfrm>
            <a:off x="4572000" y="4352544"/>
            <a:ext cx="457200" cy="457200"/>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medal-FFFFFF.png"/>
          <p:cNvPicPr>
            <a:picLocks noChangeAspect="1"/>
          </p:cNvPicPr>
          <p:nvPr/>
        </p:nvPicPr>
        <p:blipFill>
          <a:blip r:embed="rId5"/>
          <a:stretch>
            <a:fillRect/>
          </a:stretch>
        </p:blipFill>
        <p:spPr>
          <a:xfrm>
            <a:off x="4681728" y="4462272"/>
            <a:ext cx="237744" cy="237744"/>
          </a:xfrm>
          <a:prstGeom prst="rect">
            <a:avLst/>
          </a:prstGeom>
        </p:spPr>
      </p:pic>
      <p:sp>
        <p:nvSpPr>
          <p:cNvPr id="23" name="TextBox 22"/>
          <p:cNvSpPr txBox="1"/>
          <p:nvPr/>
        </p:nvSpPr>
        <p:spPr>
          <a:xfrm>
            <a:off x="5212080" y="4325112"/>
            <a:ext cx="6400800" cy="795527"/>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21201C"/>
                </a:solidFill>
                <a:latin typeface="Calibri"/>
              </a:rPr>
              <a:t>Certifications  </a:t>
            </a:r>
            <a:r>
              <a:rPr sz="1300" b="0" i="0">
                <a:solidFill>
                  <a:srgbClr val="6B6862"/>
                </a:solidFill>
                <a:latin typeface="Calibri"/>
              </a:rPr>
              <a:t>PMP, AWS, Microsoft, CompTIA, CKA, CKAD.</a:t>
            </a:r>
          </a:p>
        </p:txBody>
      </p:sp>
      <p:sp>
        <p:nvSpPr>
          <p:cNvPr id="24" name="Oval 23"/>
          <p:cNvSpPr/>
          <p:nvPr/>
        </p:nvSpPr>
        <p:spPr>
          <a:xfrm>
            <a:off x="4572000" y="5193792"/>
            <a:ext cx="457200" cy="457200"/>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Picture 24" descr="linkedin-FFFFFF.png"/>
          <p:cNvPicPr>
            <a:picLocks noChangeAspect="1"/>
          </p:cNvPicPr>
          <p:nvPr/>
        </p:nvPicPr>
        <p:blipFill>
          <a:blip r:embed="rId6"/>
          <a:stretch>
            <a:fillRect/>
          </a:stretch>
        </p:blipFill>
        <p:spPr>
          <a:xfrm>
            <a:off x="4681728" y="5303520"/>
            <a:ext cx="237744" cy="237744"/>
          </a:xfrm>
          <a:prstGeom prst="rect">
            <a:avLst/>
          </a:prstGeom>
        </p:spPr>
      </p:pic>
      <p:sp>
        <p:nvSpPr>
          <p:cNvPr id="26" name="TextBox 25"/>
          <p:cNvSpPr txBox="1"/>
          <p:nvPr/>
        </p:nvSpPr>
        <p:spPr>
          <a:xfrm>
            <a:off x="5212080" y="5166359"/>
            <a:ext cx="6400800" cy="795527"/>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21201C"/>
                </a:solidFill>
                <a:latin typeface="Calibri"/>
              </a:rPr>
              <a:t>Profile  </a:t>
            </a:r>
            <a:r>
              <a:rPr sz="1300" b="0" i="0">
                <a:solidFill>
                  <a:srgbClr val="6B6862"/>
                </a:solidFill>
                <a:latin typeface="Calibri"/>
              </a:rPr>
              <a:t>linkedin.com/in/angchewhoe   ·   github.com/alfredang</a:t>
            </a:r>
          </a:p>
        </p:txBody>
      </p:sp>
    </p:spTree>
  </p:cSld>
  <p:clrMapOvr>
    <a:masterClrMapping/>
  </p:clrMapOvr>
  <p:transition spd="med">
    <p:fade/>
  </p:transition>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INTRODUCTION</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Let's Know Each Other</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C9C4B9"/>
                </a:solidFill>
                <a:latin typeface="Calibri"/>
              </a:rPr>
              <a:t>Take a minute to introduce yourself to the class:</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5</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sp>
        <p:nvSpPr>
          <p:cNvPr id="8" name="Rounded Rectangle 7"/>
          <p:cNvSpPr/>
          <p:nvPr/>
        </p:nvSpPr>
        <p:spPr>
          <a:xfrm>
            <a:off x="548640" y="2468880"/>
            <a:ext cx="2651760" cy="237744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572768" y="2743200"/>
            <a:ext cx="603504" cy="60350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user-FFFFFF.png"/>
          <p:cNvPicPr>
            <a:picLocks noChangeAspect="1"/>
          </p:cNvPicPr>
          <p:nvPr/>
        </p:nvPicPr>
        <p:blipFill>
          <a:blip r:embed="rId2"/>
          <a:stretch>
            <a:fillRect/>
          </a:stretch>
        </p:blipFill>
        <p:spPr>
          <a:xfrm>
            <a:off x="1717608" y="2888040"/>
            <a:ext cx="313822" cy="313822"/>
          </a:xfrm>
          <a:prstGeom prst="rect">
            <a:avLst/>
          </a:prstGeom>
        </p:spPr>
      </p:pic>
      <p:sp>
        <p:nvSpPr>
          <p:cNvPr id="11" name="TextBox 10"/>
          <p:cNvSpPr txBox="1"/>
          <p:nvPr/>
        </p:nvSpPr>
        <p:spPr>
          <a:xfrm>
            <a:off x="731520" y="3566160"/>
            <a:ext cx="2286000" cy="1097280"/>
          </a:xfrm>
          <a:prstGeom prst="rect">
            <a:avLst/>
          </a:prstGeom>
          <a:noFill/>
        </p:spPr>
        <p:txBody>
          <a:bodyPr wrap="square" lIns="36576" rIns="36576" tIns="18288" bIns="18288" anchor="t">
            <a:spAutoFit/>
          </a:bodyPr>
          <a:lstStyle/>
          <a:p>
            <a:pPr algn="ctr">
              <a:lnSpc>
                <a:spcPct val="112000"/>
              </a:lnSpc>
            </a:pPr>
            <a:r>
              <a:rPr sz="1500" b="1" i="0">
                <a:solidFill>
                  <a:srgbClr val="FFFFFF"/>
                </a:solidFill>
                <a:latin typeface="Cambria"/>
              </a:rPr>
              <a:t>Your name &amp; role</a:t>
            </a:r>
          </a:p>
        </p:txBody>
      </p:sp>
      <p:sp>
        <p:nvSpPr>
          <p:cNvPr id="12" name="Rounded Rectangle 11"/>
          <p:cNvSpPr/>
          <p:nvPr/>
        </p:nvSpPr>
        <p:spPr>
          <a:xfrm>
            <a:off x="3364992" y="2468880"/>
            <a:ext cx="2651760" cy="237744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4389120" y="2743200"/>
            <a:ext cx="603504" cy="60350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briefcase-FFFFFF.png"/>
          <p:cNvPicPr>
            <a:picLocks noChangeAspect="1"/>
          </p:cNvPicPr>
          <p:nvPr/>
        </p:nvPicPr>
        <p:blipFill>
          <a:blip r:embed="rId3"/>
          <a:stretch>
            <a:fillRect/>
          </a:stretch>
        </p:blipFill>
        <p:spPr>
          <a:xfrm>
            <a:off x="4533960" y="2888040"/>
            <a:ext cx="313822" cy="313822"/>
          </a:xfrm>
          <a:prstGeom prst="rect">
            <a:avLst/>
          </a:prstGeom>
        </p:spPr>
      </p:pic>
      <p:sp>
        <p:nvSpPr>
          <p:cNvPr id="15" name="TextBox 14"/>
          <p:cNvSpPr txBox="1"/>
          <p:nvPr/>
        </p:nvSpPr>
        <p:spPr>
          <a:xfrm>
            <a:off x="3547872" y="3566160"/>
            <a:ext cx="2286000" cy="1097280"/>
          </a:xfrm>
          <a:prstGeom prst="rect">
            <a:avLst/>
          </a:prstGeom>
          <a:noFill/>
        </p:spPr>
        <p:txBody>
          <a:bodyPr wrap="square" lIns="36576" rIns="36576" tIns="18288" bIns="18288" anchor="t">
            <a:spAutoFit/>
          </a:bodyPr>
          <a:lstStyle/>
          <a:p>
            <a:pPr algn="ctr">
              <a:lnSpc>
                <a:spcPct val="112000"/>
              </a:lnSpc>
            </a:pPr>
            <a:r>
              <a:rPr sz="1500" b="1" i="0">
                <a:solidFill>
                  <a:srgbClr val="FFFFFF"/>
                </a:solidFill>
                <a:latin typeface="Cambria"/>
              </a:rPr>
              <a:t>What you do day to day</a:t>
            </a:r>
          </a:p>
        </p:txBody>
      </p:sp>
      <p:sp>
        <p:nvSpPr>
          <p:cNvPr id="16" name="Rounded Rectangle 15"/>
          <p:cNvSpPr/>
          <p:nvPr/>
        </p:nvSpPr>
        <p:spPr>
          <a:xfrm>
            <a:off x="6181344" y="2468880"/>
            <a:ext cx="2651760" cy="237744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7205472" y="2743200"/>
            <a:ext cx="603504" cy="60350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robot-FFFFFF.png"/>
          <p:cNvPicPr>
            <a:picLocks noChangeAspect="1"/>
          </p:cNvPicPr>
          <p:nvPr/>
        </p:nvPicPr>
        <p:blipFill>
          <a:blip r:embed="rId4"/>
          <a:stretch>
            <a:fillRect/>
          </a:stretch>
        </p:blipFill>
        <p:spPr>
          <a:xfrm>
            <a:off x="7350312" y="2888040"/>
            <a:ext cx="313822" cy="313822"/>
          </a:xfrm>
          <a:prstGeom prst="rect">
            <a:avLst/>
          </a:prstGeom>
        </p:spPr>
      </p:pic>
      <p:sp>
        <p:nvSpPr>
          <p:cNvPr id="19" name="TextBox 18"/>
          <p:cNvSpPr txBox="1"/>
          <p:nvPr/>
        </p:nvSpPr>
        <p:spPr>
          <a:xfrm>
            <a:off x="6364224" y="3566160"/>
            <a:ext cx="2286000" cy="1097280"/>
          </a:xfrm>
          <a:prstGeom prst="rect">
            <a:avLst/>
          </a:prstGeom>
          <a:noFill/>
        </p:spPr>
        <p:txBody>
          <a:bodyPr wrap="square" lIns="36576" rIns="36576" tIns="18288" bIns="18288" anchor="t">
            <a:spAutoFit/>
          </a:bodyPr>
          <a:lstStyle/>
          <a:p>
            <a:pPr algn="ctr">
              <a:lnSpc>
                <a:spcPct val="112000"/>
              </a:lnSpc>
            </a:pPr>
            <a:r>
              <a:rPr sz="1500" b="1" i="0">
                <a:solidFill>
                  <a:srgbClr val="FFFFFF"/>
                </a:solidFill>
                <a:latin typeface="Cambria"/>
              </a:rPr>
              <a:t>Your experience with AI or agents</a:t>
            </a:r>
          </a:p>
        </p:txBody>
      </p:sp>
      <p:sp>
        <p:nvSpPr>
          <p:cNvPr id="20" name="Rounded Rectangle 19"/>
          <p:cNvSpPr/>
          <p:nvPr/>
        </p:nvSpPr>
        <p:spPr>
          <a:xfrm>
            <a:off x="8997696" y="2468880"/>
            <a:ext cx="2651760" cy="237744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10021824" y="2743200"/>
            <a:ext cx="603504" cy="60350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target-FFFFFF.png"/>
          <p:cNvPicPr>
            <a:picLocks noChangeAspect="1"/>
          </p:cNvPicPr>
          <p:nvPr/>
        </p:nvPicPr>
        <p:blipFill>
          <a:blip r:embed="rId5"/>
          <a:stretch>
            <a:fillRect/>
          </a:stretch>
        </p:blipFill>
        <p:spPr>
          <a:xfrm>
            <a:off x="10166664" y="2888040"/>
            <a:ext cx="313822" cy="313822"/>
          </a:xfrm>
          <a:prstGeom prst="rect">
            <a:avLst/>
          </a:prstGeom>
        </p:spPr>
      </p:pic>
      <p:sp>
        <p:nvSpPr>
          <p:cNvPr id="23" name="TextBox 22"/>
          <p:cNvSpPr txBox="1"/>
          <p:nvPr/>
        </p:nvSpPr>
        <p:spPr>
          <a:xfrm>
            <a:off x="9180576" y="3566160"/>
            <a:ext cx="2286000" cy="1097280"/>
          </a:xfrm>
          <a:prstGeom prst="rect">
            <a:avLst/>
          </a:prstGeom>
          <a:noFill/>
        </p:spPr>
        <p:txBody>
          <a:bodyPr wrap="square" lIns="36576" rIns="36576" tIns="18288" bIns="18288" anchor="t">
            <a:spAutoFit/>
          </a:bodyPr>
          <a:lstStyle/>
          <a:p>
            <a:pPr algn="ctr">
              <a:lnSpc>
                <a:spcPct val="112000"/>
              </a:lnSpc>
            </a:pPr>
            <a:r>
              <a:rPr sz="1500" b="1" i="0">
                <a:solidFill>
                  <a:srgbClr val="FFFFFF"/>
                </a:solidFill>
                <a:latin typeface="Cambria"/>
              </a:rPr>
              <a:t>One task you want an AI agent to take off your plate</a:t>
            </a:r>
          </a:p>
        </p:txBody>
      </p:sp>
    </p:spTree>
  </p:cSld>
  <p:clrMapOvr>
    <a:masterClrMapping/>
  </p:clrMapOvr>
  <p:transition spd="med">
    <p:fade/>
  </p:transition>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HOUSEKEEPING</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Ground Rules</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6</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691640"/>
            <a:ext cx="3566160" cy="17602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77240" y="18745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phone-FFFFFF.png"/>
          <p:cNvPicPr>
            <a:picLocks noChangeAspect="1"/>
          </p:cNvPicPr>
          <p:nvPr/>
        </p:nvPicPr>
        <p:blipFill>
          <a:blip r:embed="rId2"/>
          <a:stretch>
            <a:fillRect/>
          </a:stretch>
        </p:blipFill>
        <p:spPr>
          <a:xfrm>
            <a:off x="900135" y="1997415"/>
            <a:ext cx="266273" cy="266273"/>
          </a:xfrm>
          <a:prstGeom prst="rect">
            <a:avLst/>
          </a:prstGeom>
        </p:spPr>
      </p:pic>
      <p:sp>
        <p:nvSpPr>
          <p:cNvPr id="10" name="TextBox 9"/>
          <p:cNvSpPr txBox="1"/>
          <p:nvPr/>
        </p:nvSpPr>
        <p:spPr>
          <a:xfrm>
            <a:off x="1426464" y="1856232"/>
            <a:ext cx="245973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Phones on silent</a:t>
            </a:r>
          </a:p>
        </p:txBody>
      </p:sp>
      <p:sp>
        <p:nvSpPr>
          <p:cNvPr id="11" name="TextBox 10"/>
          <p:cNvSpPr txBox="1"/>
          <p:nvPr/>
        </p:nvSpPr>
        <p:spPr>
          <a:xfrm>
            <a:off x="777240" y="2459736"/>
            <a:ext cx="3108960" cy="918971"/>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Step out quietly for calls or breaks.</a:t>
            </a:r>
          </a:p>
        </p:txBody>
      </p:sp>
      <p:sp>
        <p:nvSpPr>
          <p:cNvPr id="12" name="Rounded Rectangle 11"/>
          <p:cNvSpPr/>
          <p:nvPr/>
        </p:nvSpPr>
        <p:spPr>
          <a:xfrm>
            <a:off x="4297679" y="1691640"/>
            <a:ext cx="3566160" cy="17602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4526279" y="18745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chat-FFFFFF.png"/>
          <p:cNvPicPr>
            <a:picLocks noChangeAspect="1"/>
          </p:cNvPicPr>
          <p:nvPr/>
        </p:nvPicPr>
        <p:blipFill>
          <a:blip r:embed="rId3"/>
          <a:stretch>
            <a:fillRect/>
          </a:stretch>
        </p:blipFill>
        <p:spPr>
          <a:xfrm>
            <a:off x="4649175" y="1997415"/>
            <a:ext cx="266273" cy="266273"/>
          </a:xfrm>
          <a:prstGeom prst="rect">
            <a:avLst/>
          </a:prstGeom>
        </p:spPr>
      </p:pic>
      <p:sp>
        <p:nvSpPr>
          <p:cNvPr id="15" name="TextBox 14"/>
          <p:cNvSpPr txBox="1"/>
          <p:nvPr/>
        </p:nvSpPr>
        <p:spPr>
          <a:xfrm>
            <a:off x="5175504" y="1856232"/>
            <a:ext cx="245973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Participate actively</a:t>
            </a:r>
          </a:p>
        </p:txBody>
      </p:sp>
      <p:sp>
        <p:nvSpPr>
          <p:cNvPr id="16" name="TextBox 15"/>
          <p:cNvSpPr txBox="1"/>
          <p:nvPr/>
        </p:nvSpPr>
        <p:spPr>
          <a:xfrm>
            <a:off x="4526279" y="2459736"/>
            <a:ext cx="3108960" cy="918971"/>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No question is too small — ask freely.</a:t>
            </a:r>
          </a:p>
        </p:txBody>
      </p:sp>
      <p:sp>
        <p:nvSpPr>
          <p:cNvPr id="17" name="Rounded Rectangle 16"/>
          <p:cNvSpPr/>
          <p:nvPr/>
        </p:nvSpPr>
        <p:spPr>
          <a:xfrm>
            <a:off x="8046719" y="1691640"/>
            <a:ext cx="3566160" cy="17602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8275319" y="18745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 name="Picture 18" descr="handshake-FFFFFF.png"/>
          <p:cNvPicPr>
            <a:picLocks noChangeAspect="1"/>
          </p:cNvPicPr>
          <p:nvPr/>
        </p:nvPicPr>
        <p:blipFill>
          <a:blip r:embed="rId4"/>
          <a:stretch>
            <a:fillRect/>
          </a:stretch>
        </p:blipFill>
        <p:spPr>
          <a:xfrm>
            <a:off x="8398215" y="1997415"/>
            <a:ext cx="266273" cy="266273"/>
          </a:xfrm>
          <a:prstGeom prst="rect">
            <a:avLst/>
          </a:prstGeom>
        </p:spPr>
      </p:pic>
      <p:sp>
        <p:nvSpPr>
          <p:cNvPr id="20" name="TextBox 19"/>
          <p:cNvSpPr txBox="1"/>
          <p:nvPr/>
        </p:nvSpPr>
        <p:spPr>
          <a:xfrm>
            <a:off x="8924544" y="1856232"/>
            <a:ext cx="245973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Mutual respect</a:t>
            </a:r>
          </a:p>
        </p:txBody>
      </p:sp>
      <p:sp>
        <p:nvSpPr>
          <p:cNvPr id="21" name="TextBox 20"/>
          <p:cNvSpPr txBox="1"/>
          <p:nvPr/>
        </p:nvSpPr>
        <p:spPr>
          <a:xfrm>
            <a:off x="8275319" y="2459736"/>
            <a:ext cx="3108960" cy="918971"/>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Agree to disagree; one conversation at a time.</a:t>
            </a:r>
          </a:p>
        </p:txBody>
      </p:sp>
      <p:sp>
        <p:nvSpPr>
          <p:cNvPr id="22" name="Rounded Rectangle 21"/>
          <p:cNvSpPr/>
          <p:nvPr/>
        </p:nvSpPr>
        <p:spPr>
          <a:xfrm>
            <a:off x="548640" y="3634740"/>
            <a:ext cx="3566160" cy="17602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777240" y="38176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clock-FFFFFF.png"/>
          <p:cNvPicPr>
            <a:picLocks noChangeAspect="1"/>
          </p:cNvPicPr>
          <p:nvPr/>
        </p:nvPicPr>
        <p:blipFill>
          <a:blip r:embed="rId5"/>
          <a:stretch>
            <a:fillRect/>
          </a:stretch>
        </p:blipFill>
        <p:spPr>
          <a:xfrm>
            <a:off x="900135" y="3940515"/>
            <a:ext cx="266273" cy="266273"/>
          </a:xfrm>
          <a:prstGeom prst="rect">
            <a:avLst/>
          </a:prstGeom>
        </p:spPr>
      </p:pic>
      <p:sp>
        <p:nvSpPr>
          <p:cNvPr id="25" name="TextBox 24"/>
          <p:cNvSpPr txBox="1"/>
          <p:nvPr/>
        </p:nvSpPr>
        <p:spPr>
          <a:xfrm>
            <a:off x="1426464" y="3799332"/>
            <a:ext cx="245973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Be punctual</a:t>
            </a:r>
          </a:p>
        </p:txBody>
      </p:sp>
      <p:sp>
        <p:nvSpPr>
          <p:cNvPr id="26" name="TextBox 25"/>
          <p:cNvSpPr txBox="1"/>
          <p:nvPr/>
        </p:nvSpPr>
        <p:spPr>
          <a:xfrm>
            <a:off x="777240" y="4402836"/>
            <a:ext cx="3108960" cy="918971"/>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Return from breaks on time.</a:t>
            </a:r>
          </a:p>
        </p:txBody>
      </p:sp>
      <p:sp>
        <p:nvSpPr>
          <p:cNvPr id="27" name="Rounded Rectangle 26"/>
          <p:cNvSpPr/>
          <p:nvPr/>
        </p:nvSpPr>
        <p:spPr>
          <a:xfrm>
            <a:off x="4297679" y="3634740"/>
            <a:ext cx="3566160" cy="17602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4526279" y="38176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9" name="Picture 28" descr="check-FFFFFF.png"/>
          <p:cNvPicPr>
            <a:picLocks noChangeAspect="1"/>
          </p:cNvPicPr>
          <p:nvPr/>
        </p:nvPicPr>
        <p:blipFill>
          <a:blip r:embed="rId6"/>
          <a:stretch>
            <a:fillRect/>
          </a:stretch>
        </p:blipFill>
        <p:spPr>
          <a:xfrm>
            <a:off x="4649175" y="3940515"/>
            <a:ext cx="266273" cy="266273"/>
          </a:xfrm>
          <a:prstGeom prst="rect">
            <a:avLst/>
          </a:prstGeom>
        </p:spPr>
      </p:pic>
      <p:sp>
        <p:nvSpPr>
          <p:cNvPr id="30" name="TextBox 29"/>
          <p:cNvSpPr txBox="1"/>
          <p:nvPr/>
        </p:nvSpPr>
        <p:spPr>
          <a:xfrm>
            <a:off x="5175504" y="3799332"/>
            <a:ext cx="245973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75% attendance</a:t>
            </a:r>
          </a:p>
        </p:txBody>
      </p:sp>
      <p:sp>
        <p:nvSpPr>
          <p:cNvPr id="31" name="TextBox 30"/>
          <p:cNvSpPr txBox="1"/>
          <p:nvPr/>
        </p:nvSpPr>
        <p:spPr>
          <a:xfrm>
            <a:off x="4526279" y="4402836"/>
            <a:ext cx="3108960" cy="918971"/>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Required for funding eligibility.</a:t>
            </a:r>
          </a:p>
        </p:txBody>
      </p:sp>
      <p:sp>
        <p:nvSpPr>
          <p:cNvPr id="32" name="Rounded Rectangle 31"/>
          <p:cNvSpPr/>
          <p:nvPr/>
        </p:nvSpPr>
        <p:spPr>
          <a:xfrm>
            <a:off x="8046719" y="3634740"/>
            <a:ext cx="3566160" cy="17602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8275319" y="38176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4" name="Picture 33" descr="tool-FFFFFF.png"/>
          <p:cNvPicPr>
            <a:picLocks noChangeAspect="1"/>
          </p:cNvPicPr>
          <p:nvPr/>
        </p:nvPicPr>
        <p:blipFill>
          <a:blip r:embed="rId7"/>
          <a:stretch>
            <a:fillRect/>
          </a:stretch>
        </p:blipFill>
        <p:spPr>
          <a:xfrm>
            <a:off x="8398215" y="3940515"/>
            <a:ext cx="266273" cy="266273"/>
          </a:xfrm>
          <a:prstGeom prst="rect">
            <a:avLst/>
          </a:prstGeom>
        </p:spPr>
      </p:pic>
      <p:sp>
        <p:nvSpPr>
          <p:cNvPr id="35" name="TextBox 34"/>
          <p:cNvSpPr txBox="1"/>
          <p:nvPr/>
        </p:nvSpPr>
        <p:spPr>
          <a:xfrm>
            <a:off x="8924544" y="3799332"/>
            <a:ext cx="245973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Stay hands-on</a:t>
            </a:r>
          </a:p>
        </p:txBody>
      </p:sp>
      <p:sp>
        <p:nvSpPr>
          <p:cNvPr id="36" name="TextBox 35"/>
          <p:cNvSpPr txBox="1"/>
          <p:nvPr/>
        </p:nvSpPr>
        <p:spPr>
          <a:xfrm>
            <a:off x="8275319" y="4402836"/>
            <a:ext cx="3108960" cy="918971"/>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Follow along with every lab.</a:t>
            </a:r>
          </a:p>
        </p:txBody>
      </p:sp>
    </p:spTree>
  </p:cSld>
  <p:clrMapOvr>
    <a:masterClrMapping/>
  </p:clrMapOvr>
  <p:transition spd="med">
    <p:fade/>
  </p:transition>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ROADMAP</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Course Outline</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Three topics, ten connected use-case labs, one company: Kopi Kaki Co..</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7</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240280"/>
            <a:ext cx="3566160" cy="397763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822959" y="2468880"/>
            <a:ext cx="566928" cy="56692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22959" y="2468880"/>
            <a:ext cx="566928" cy="566928"/>
          </a:xfrm>
          <a:prstGeom prst="rect">
            <a:avLst/>
          </a:prstGeom>
          <a:noFill/>
        </p:spPr>
        <p:txBody>
          <a:bodyPr wrap="square" lIns="36576" rIns="36576" tIns="18288" bIns="18288" anchor="ctr">
            <a:spAutoFit/>
          </a:bodyPr>
          <a:lstStyle/>
          <a:p>
            <a:pPr algn="ctr">
              <a:lnSpc>
                <a:spcPct val="112000"/>
              </a:lnSpc>
            </a:pPr>
            <a:r>
              <a:rPr sz="2000" b="1" i="0">
                <a:solidFill>
                  <a:srgbClr val="FFFFFF"/>
                </a:solidFill>
                <a:latin typeface="Cambria"/>
              </a:rPr>
              <a:t>1</a:t>
            </a:r>
          </a:p>
        </p:txBody>
      </p:sp>
      <p:sp>
        <p:nvSpPr>
          <p:cNvPr id="11" name="TextBox 10"/>
          <p:cNvSpPr txBox="1"/>
          <p:nvPr/>
        </p:nvSpPr>
        <p:spPr>
          <a:xfrm>
            <a:off x="822959" y="3154680"/>
            <a:ext cx="3063240" cy="868680"/>
          </a:xfrm>
          <a:prstGeom prst="rect">
            <a:avLst/>
          </a:prstGeom>
          <a:noFill/>
        </p:spPr>
        <p:txBody>
          <a:bodyPr wrap="square" lIns="36576" rIns="36576" tIns="18288" bIns="18288" anchor="t">
            <a:spAutoFit/>
          </a:bodyPr>
          <a:lstStyle/>
          <a:p>
            <a:pPr algn="l">
              <a:lnSpc>
                <a:spcPct val="112000"/>
              </a:lnSpc>
            </a:pPr>
            <a:r>
              <a:rPr sz="1600" b="1" i="0">
                <a:solidFill>
                  <a:srgbClr val="21201C"/>
                </a:solidFill>
                <a:latin typeface="Cambria"/>
              </a:rPr>
              <a:t>Foundations of Autonomous AI Agents &amp; the Human–AI Workforce</a:t>
            </a:r>
          </a:p>
        </p:txBody>
      </p:sp>
      <p:sp>
        <p:nvSpPr>
          <p:cNvPr id="12" name="TextBox 11"/>
          <p:cNvSpPr txBox="1"/>
          <p:nvPr/>
        </p:nvSpPr>
        <p:spPr>
          <a:xfrm>
            <a:off x="822959" y="4069080"/>
            <a:ext cx="3063240" cy="2057400"/>
          </a:xfrm>
          <a:prstGeom prst="rect">
            <a:avLst/>
          </a:prstGeom>
          <a:noFill/>
        </p:spPr>
        <p:txBody>
          <a:bodyPr wrap="square" lIns="36576" rIns="36576" tIns="18288" bIns="18288" anchor="t">
            <a:spAutoFit/>
          </a:bodyPr>
          <a:lstStyle/>
          <a:p>
            <a:pPr algn="l">
              <a:lnSpc>
                <a:spcPct val="125000"/>
              </a:lnSpc>
            </a:pPr>
            <a:r>
              <a:rPr sz="1200" b="0" i="0">
                <a:solidFill>
                  <a:srgbClr val="6B6862"/>
                </a:solidFill>
                <a:latin typeface="Calibri"/>
              </a:rPr>
              <a:t>•  A brief history of AI</a:t>
            </a:r>
          </a:p>
          <a:p>
            <a:pPr algn="l">
              <a:lnSpc>
                <a:spcPct val="125000"/>
              </a:lnSpc>
            </a:pPr>
            <a:r>
              <a:rPr sz="1200" b="0" i="0">
                <a:solidFill>
                  <a:srgbClr val="6B6862"/>
                </a:solidFill>
                <a:latin typeface="Calibri"/>
              </a:rPr>
              <a:t>•  AI agents vs agentic AI</a:t>
            </a:r>
          </a:p>
          <a:p>
            <a:pPr algn="l">
              <a:lnSpc>
                <a:spcPct val="125000"/>
              </a:lnSpc>
            </a:pPr>
            <a:r>
              <a:rPr sz="1200" b="0" i="0">
                <a:solidFill>
                  <a:srgbClr val="6B6862"/>
                </a:solidFill>
                <a:latin typeface="Calibri"/>
              </a:rPr>
              <a:t>•  The agentic loop &amp; harness engineering</a:t>
            </a:r>
          </a:p>
          <a:p>
            <a:pPr algn="l">
              <a:lnSpc>
                <a:spcPct val="125000"/>
              </a:lnSpc>
            </a:pPr>
            <a:r>
              <a:rPr sz="1200" b="0" i="0">
                <a:solidFill>
                  <a:srgbClr val="6B6862"/>
                </a:solidFill>
                <a:latin typeface="Calibri"/>
              </a:rPr>
              <a:t>•  Brain · perception · action, memory &amp; world models</a:t>
            </a:r>
          </a:p>
          <a:p>
            <a:pPr algn="l">
              <a:lnSpc>
                <a:spcPct val="125000"/>
              </a:lnSpc>
            </a:pPr>
            <a:r>
              <a:rPr sz="1200" b="0" i="0">
                <a:solidFill>
                  <a:srgbClr val="6B6862"/>
                </a:solidFill>
                <a:latin typeface="Calibri"/>
              </a:rPr>
              <a:t>•  From single agent to human–AI collaboration</a:t>
            </a:r>
          </a:p>
          <a:p>
            <a:pPr algn="l">
              <a:lnSpc>
                <a:spcPct val="125000"/>
              </a:lnSpc>
            </a:pPr>
            <a:r>
              <a:rPr sz="1200" b="0" i="0">
                <a:solidFill>
                  <a:srgbClr val="6B6862"/>
                </a:solidFill>
                <a:latin typeface="Calibri"/>
              </a:rPr>
              <a:t>•  The 2026 agent market, use cases &amp; governance</a:t>
            </a:r>
          </a:p>
        </p:txBody>
      </p:sp>
      <p:sp>
        <p:nvSpPr>
          <p:cNvPr id="13" name="Rounded Rectangle 12"/>
          <p:cNvSpPr/>
          <p:nvPr/>
        </p:nvSpPr>
        <p:spPr>
          <a:xfrm>
            <a:off x="4297679" y="2240280"/>
            <a:ext cx="3566160" cy="397763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4571999" y="2468880"/>
            <a:ext cx="566928" cy="56692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4571999" y="2468880"/>
            <a:ext cx="566928" cy="566928"/>
          </a:xfrm>
          <a:prstGeom prst="rect">
            <a:avLst/>
          </a:prstGeom>
          <a:noFill/>
        </p:spPr>
        <p:txBody>
          <a:bodyPr wrap="square" lIns="36576" rIns="36576" tIns="18288" bIns="18288" anchor="ctr">
            <a:spAutoFit/>
          </a:bodyPr>
          <a:lstStyle/>
          <a:p>
            <a:pPr algn="ctr">
              <a:lnSpc>
                <a:spcPct val="112000"/>
              </a:lnSpc>
            </a:pPr>
            <a:r>
              <a:rPr sz="2000" b="1" i="0">
                <a:solidFill>
                  <a:srgbClr val="FFFFFF"/>
                </a:solidFill>
                <a:latin typeface="Cambria"/>
              </a:rPr>
              <a:t>2</a:t>
            </a:r>
          </a:p>
        </p:txBody>
      </p:sp>
      <p:sp>
        <p:nvSpPr>
          <p:cNvPr id="16" name="TextBox 15"/>
          <p:cNvSpPr txBox="1"/>
          <p:nvPr/>
        </p:nvSpPr>
        <p:spPr>
          <a:xfrm>
            <a:off x="4571999" y="3154680"/>
            <a:ext cx="3063240" cy="868680"/>
          </a:xfrm>
          <a:prstGeom prst="rect">
            <a:avLst/>
          </a:prstGeom>
          <a:noFill/>
        </p:spPr>
        <p:txBody>
          <a:bodyPr wrap="square" lIns="36576" rIns="36576" tIns="18288" bIns="18288" anchor="t">
            <a:spAutoFit/>
          </a:bodyPr>
          <a:lstStyle/>
          <a:p>
            <a:pPr algn="l">
              <a:lnSpc>
                <a:spcPct val="112000"/>
              </a:lnSpc>
            </a:pPr>
            <a:r>
              <a:rPr sz="1600" b="1" i="0">
                <a:solidFill>
                  <a:srgbClr val="21201C"/>
                </a:solidFill>
                <a:latin typeface="Cambria"/>
              </a:rPr>
              <a:t>Hermes Agent — From a Single AI Employee to a Multi-Agent Team</a:t>
            </a:r>
          </a:p>
        </p:txBody>
      </p:sp>
      <p:sp>
        <p:nvSpPr>
          <p:cNvPr id="17" name="TextBox 16"/>
          <p:cNvSpPr txBox="1"/>
          <p:nvPr/>
        </p:nvSpPr>
        <p:spPr>
          <a:xfrm>
            <a:off x="4571999" y="4069080"/>
            <a:ext cx="3063240" cy="2057400"/>
          </a:xfrm>
          <a:prstGeom prst="rect">
            <a:avLst/>
          </a:prstGeom>
          <a:noFill/>
        </p:spPr>
        <p:txBody>
          <a:bodyPr wrap="square" lIns="36576" rIns="36576" tIns="18288" bIns="18288" anchor="t">
            <a:spAutoFit/>
          </a:bodyPr>
          <a:lstStyle/>
          <a:p>
            <a:pPr algn="l">
              <a:lnSpc>
                <a:spcPct val="125000"/>
              </a:lnSpc>
            </a:pPr>
            <a:r>
              <a:rPr sz="1200" b="0" i="0">
                <a:solidFill>
                  <a:srgbClr val="6B6862"/>
                </a:solidFill>
                <a:latin typeface="Calibri"/>
              </a:rPr>
              <a:t>•  Lab 1 · Your first AI employee</a:t>
            </a:r>
          </a:p>
          <a:p>
            <a:pPr algn="l">
              <a:lnSpc>
                <a:spcPct val="125000"/>
              </a:lnSpc>
            </a:pPr>
            <a:r>
              <a:rPr sz="1200" b="0" i="0">
                <a:solidFill>
                  <a:srgbClr val="6B6862"/>
                </a:solidFill>
                <a:latin typeface="Calibri"/>
              </a:rPr>
              <a:t>•  Lab 2 · End-to-end social media campaign</a:t>
            </a:r>
          </a:p>
          <a:p>
            <a:pPr algn="l">
              <a:lnSpc>
                <a:spcPct val="125000"/>
              </a:lnSpc>
            </a:pPr>
            <a:r>
              <a:rPr sz="1200" b="0" i="0">
                <a:solidFill>
                  <a:srgbClr val="6B6862"/>
                </a:solidFill>
                <a:latin typeface="Calibri"/>
              </a:rPr>
              <a:t>•  Lab 3 · Human-in-the-loop publishing</a:t>
            </a:r>
          </a:p>
          <a:p>
            <a:pPr algn="l">
              <a:lnSpc>
                <a:spcPct val="125000"/>
              </a:lnSpc>
            </a:pPr>
            <a:r>
              <a:rPr sz="1200" b="0" i="0">
                <a:solidFill>
                  <a:srgbClr val="6B6862"/>
                </a:solidFill>
                <a:latin typeface="Calibri"/>
              </a:rPr>
              <a:t>•  Lab 4 · Multi-agent video studio</a:t>
            </a:r>
          </a:p>
          <a:p>
            <a:pPr algn="l">
              <a:lnSpc>
                <a:spcPct val="125000"/>
              </a:lnSpc>
            </a:pPr>
            <a:r>
              <a:rPr sz="1200" b="0" i="0">
                <a:solidFill>
                  <a:srgbClr val="6B6862"/>
                </a:solidFill>
                <a:latin typeface="Calibri"/>
              </a:rPr>
              <a:t>•  Lab 5 · Campaign command centre</a:t>
            </a:r>
          </a:p>
        </p:txBody>
      </p:sp>
      <p:sp>
        <p:nvSpPr>
          <p:cNvPr id="18" name="Rounded Rectangle 17"/>
          <p:cNvSpPr/>
          <p:nvPr/>
        </p:nvSpPr>
        <p:spPr>
          <a:xfrm>
            <a:off x="8046719" y="2240280"/>
            <a:ext cx="3566160" cy="397763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8321040" y="2468880"/>
            <a:ext cx="566928" cy="56692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8321040" y="2468880"/>
            <a:ext cx="566928" cy="566928"/>
          </a:xfrm>
          <a:prstGeom prst="rect">
            <a:avLst/>
          </a:prstGeom>
          <a:noFill/>
        </p:spPr>
        <p:txBody>
          <a:bodyPr wrap="square" lIns="36576" rIns="36576" tIns="18288" bIns="18288" anchor="ctr">
            <a:spAutoFit/>
          </a:bodyPr>
          <a:lstStyle/>
          <a:p>
            <a:pPr algn="ctr">
              <a:lnSpc>
                <a:spcPct val="112000"/>
              </a:lnSpc>
            </a:pPr>
            <a:r>
              <a:rPr sz="2000" b="1" i="0">
                <a:solidFill>
                  <a:srgbClr val="FFFFFF"/>
                </a:solidFill>
                <a:latin typeface="Cambria"/>
              </a:rPr>
              <a:t>3</a:t>
            </a:r>
          </a:p>
        </p:txBody>
      </p:sp>
      <p:sp>
        <p:nvSpPr>
          <p:cNvPr id="21" name="TextBox 20"/>
          <p:cNvSpPr txBox="1"/>
          <p:nvPr/>
        </p:nvSpPr>
        <p:spPr>
          <a:xfrm>
            <a:off x="8321040" y="3154680"/>
            <a:ext cx="3063240" cy="868680"/>
          </a:xfrm>
          <a:prstGeom prst="rect">
            <a:avLst/>
          </a:prstGeom>
          <a:noFill/>
        </p:spPr>
        <p:txBody>
          <a:bodyPr wrap="square" lIns="36576" rIns="36576" tIns="18288" bIns="18288" anchor="t">
            <a:spAutoFit/>
          </a:bodyPr>
          <a:lstStyle/>
          <a:p>
            <a:pPr algn="l">
              <a:lnSpc>
                <a:spcPct val="112000"/>
              </a:lnSpc>
            </a:pPr>
            <a:r>
              <a:rPr sz="1600" b="1" i="0">
                <a:solidFill>
                  <a:srgbClr val="21201C"/>
                </a:solidFill>
                <a:latin typeface="Cambria"/>
              </a:rPr>
              <a:t>Paperclip — Running &amp; Governing a Company of AI Agents</a:t>
            </a:r>
          </a:p>
        </p:txBody>
      </p:sp>
      <p:sp>
        <p:nvSpPr>
          <p:cNvPr id="22" name="TextBox 21"/>
          <p:cNvSpPr txBox="1"/>
          <p:nvPr/>
        </p:nvSpPr>
        <p:spPr>
          <a:xfrm>
            <a:off x="8321040" y="4069080"/>
            <a:ext cx="3063240" cy="2057400"/>
          </a:xfrm>
          <a:prstGeom prst="rect">
            <a:avLst/>
          </a:prstGeom>
          <a:noFill/>
        </p:spPr>
        <p:txBody>
          <a:bodyPr wrap="square" lIns="36576" rIns="36576" tIns="18288" bIns="18288" anchor="t">
            <a:spAutoFit/>
          </a:bodyPr>
          <a:lstStyle/>
          <a:p>
            <a:pPr algn="l">
              <a:lnSpc>
                <a:spcPct val="125000"/>
              </a:lnSpc>
            </a:pPr>
            <a:r>
              <a:rPr sz="1200" b="0" i="0">
                <a:solidFill>
                  <a:srgbClr val="6B6862"/>
                </a:solidFill>
                <a:latin typeface="Calibri"/>
              </a:rPr>
              <a:t>•  Lab 6 · Found the AI company</a:t>
            </a:r>
          </a:p>
          <a:p>
            <a:pPr algn="l">
              <a:lnSpc>
                <a:spcPct val="125000"/>
              </a:lnSpc>
            </a:pPr>
            <a:r>
              <a:rPr sz="1200" b="0" i="0">
                <a:solidFill>
                  <a:srgbClr val="6B6862"/>
                </a:solidFill>
                <a:latin typeface="Calibri"/>
              </a:rPr>
              <a:t>•  Lab 7 · Hire the team</a:t>
            </a:r>
          </a:p>
          <a:p>
            <a:pPr algn="l">
              <a:lnSpc>
                <a:spcPct val="125000"/>
              </a:lnSpc>
            </a:pPr>
            <a:r>
              <a:rPr sz="1200" b="0" i="0">
                <a:solidFill>
                  <a:srgbClr val="6B6862"/>
                </a:solidFill>
                <a:latin typeface="Calibri"/>
              </a:rPr>
              <a:t>•  Lab 8 · Launch campaign project</a:t>
            </a:r>
          </a:p>
          <a:p>
            <a:pPr algn="l">
              <a:lnSpc>
                <a:spcPct val="125000"/>
              </a:lnSpc>
            </a:pPr>
            <a:r>
              <a:rPr sz="1200" b="0" i="0">
                <a:solidFill>
                  <a:srgbClr val="6B6862"/>
                </a:solidFill>
                <a:latin typeface="Calibri"/>
              </a:rPr>
              <a:t>•  Lab 9 · Weekly video routine</a:t>
            </a:r>
          </a:p>
          <a:p>
            <a:pPr algn="l">
              <a:lnSpc>
                <a:spcPct val="125000"/>
              </a:lnSpc>
            </a:pPr>
            <a:r>
              <a:rPr sz="1200" b="0" i="0">
                <a:solidFill>
                  <a:srgbClr val="6B6862"/>
                </a:solidFill>
                <a:latin typeface="Calibri"/>
              </a:rPr>
              <a:t>•  Lab 10 · Govern, measure &amp; improve</a:t>
            </a:r>
          </a:p>
        </p:txBody>
      </p:sp>
    </p:spTree>
  </p:cSld>
  <p:clrMapOvr>
    <a:masterClrMapping/>
  </p:clrMapOvr>
  <p:transition spd="med">
    <p:fade/>
  </p:transition>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WHAT YOU'LL ACHIEVE</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Learning Outcomes</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Mapped to the TSC Artificial Intelligence Application in Product Development (ICT-TEM-4034-1.1).</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8</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240280"/>
            <a:ext cx="3566160" cy="352043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77240" y="242316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search-FFFFFF.png"/>
          <p:cNvPicPr>
            <a:picLocks noChangeAspect="1"/>
          </p:cNvPicPr>
          <p:nvPr/>
        </p:nvPicPr>
        <p:blipFill>
          <a:blip r:embed="rId2"/>
          <a:stretch>
            <a:fillRect/>
          </a:stretch>
        </p:blipFill>
        <p:spPr>
          <a:xfrm>
            <a:off x="900135" y="2546055"/>
            <a:ext cx="266273" cy="266273"/>
          </a:xfrm>
          <a:prstGeom prst="rect">
            <a:avLst/>
          </a:prstGeom>
        </p:spPr>
      </p:pic>
      <p:sp>
        <p:nvSpPr>
          <p:cNvPr id="11" name="TextBox 10"/>
          <p:cNvSpPr txBox="1"/>
          <p:nvPr/>
        </p:nvSpPr>
        <p:spPr>
          <a:xfrm>
            <a:off x="777240" y="3063240"/>
            <a:ext cx="3108960" cy="384048"/>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LO1 · Analyse AI applications</a:t>
            </a:r>
          </a:p>
        </p:txBody>
      </p:sp>
      <p:sp>
        <p:nvSpPr>
          <p:cNvPr id="12" name="TextBox 11"/>
          <p:cNvSpPr txBox="1"/>
          <p:nvPr/>
        </p:nvSpPr>
        <p:spPr>
          <a:xfrm>
            <a:off x="777240" y="3483864"/>
            <a:ext cx="3108960" cy="2167127"/>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Analyse AI (LLM-based) applications across a range of industries to identify their capabilities and limitations.</a:t>
            </a:r>
          </a:p>
        </p:txBody>
      </p:sp>
      <p:sp>
        <p:nvSpPr>
          <p:cNvPr id="13" name="Rounded Rectangle 12"/>
          <p:cNvSpPr/>
          <p:nvPr/>
        </p:nvSpPr>
        <p:spPr>
          <a:xfrm>
            <a:off x="4297679" y="2240280"/>
            <a:ext cx="3566160" cy="352043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4526279" y="242316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Picture 14" descr="gear-FFFFFF.png"/>
          <p:cNvPicPr>
            <a:picLocks noChangeAspect="1"/>
          </p:cNvPicPr>
          <p:nvPr/>
        </p:nvPicPr>
        <p:blipFill>
          <a:blip r:embed="rId3"/>
          <a:stretch>
            <a:fillRect/>
          </a:stretch>
        </p:blipFill>
        <p:spPr>
          <a:xfrm>
            <a:off x="4649175" y="2546055"/>
            <a:ext cx="266273" cy="266273"/>
          </a:xfrm>
          <a:prstGeom prst="rect">
            <a:avLst/>
          </a:prstGeom>
        </p:spPr>
      </p:pic>
      <p:sp>
        <p:nvSpPr>
          <p:cNvPr id="16" name="TextBox 15"/>
          <p:cNvSpPr txBox="1"/>
          <p:nvPr/>
        </p:nvSpPr>
        <p:spPr>
          <a:xfrm>
            <a:off x="4526279" y="3063240"/>
            <a:ext cx="3108960" cy="566928"/>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LO2 · Agent design and efficiency</a:t>
            </a:r>
          </a:p>
        </p:txBody>
      </p:sp>
      <p:sp>
        <p:nvSpPr>
          <p:cNvPr id="17" name="TextBox 16"/>
          <p:cNvSpPr txBox="1"/>
          <p:nvPr/>
        </p:nvSpPr>
        <p:spPr>
          <a:xfrm>
            <a:off x="4526279" y="3666744"/>
            <a:ext cx="3108960" cy="1984247"/>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Establish the relationship between AI algorithm/agent design and chatbot/agent efficiency.</a:t>
            </a:r>
          </a:p>
        </p:txBody>
      </p:sp>
      <p:sp>
        <p:nvSpPr>
          <p:cNvPr id="18" name="Rounded Rectangle 17"/>
          <p:cNvSpPr/>
          <p:nvPr/>
        </p:nvSpPr>
        <p:spPr>
          <a:xfrm>
            <a:off x="8046719" y="2240280"/>
            <a:ext cx="3566160" cy="352043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8275319" y="242316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trend-FFFFFF.png"/>
          <p:cNvPicPr>
            <a:picLocks noChangeAspect="1"/>
          </p:cNvPicPr>
          <p:nvPr/>
        </p:nvPicPr>
        <p:blipFill>
          <a:blip r:embed="rId4"/>
          <a:stretch>
            <a:fillRect/>
          </a:stretch>
        </p:blipFill>
        <p:spPr>
          <a:xfrm>
            <a:off x="8398215" y="2546055"/>
            <a:ext cx="266273" cy="266273"/>
          </a:xfrm>
          <a:prstGeom prst="rect">
            <a:avLst/>
          </a:prstGeom>
        </p:spPr>
      </p:pic>
      <p:sp>
        <p:nvSpPr>
          <p:cNvPr id="21" name="TextBox 20"/>
          <p:cNvSpPr txBox="1"/>
          <p:nvPr/>
        </p:nvSpPr>
        <p:spPr>
          <a:xfrm>
            <a:off x="8275319" y="3063240"/>
            <a:ext cx="3108960" cy="384048"/>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LO3 · Evaluate &amp; improve</a:t>
            </a:r>
          </a:p>
        </p:txBody>
      </p:sp>
      <p:sp>
        <p:nvSpPr>
          <p:cNvPr id="22" name="TextBox 21"/>
          <p:cNvSpPr txBox="1"/>
          <p:nvPr/>
        </p:nvSpPr>
        <p:spPr>
          <a:xfrm>
            <a:off x="8275319" y="3483864"/>
            <a:ext cx="3108960" cy="2167127"/>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Evaluate and improve the effectiveness of AI (RAG and agent) applications in product development.</a:t>
            </a:r>
          </a:p>
        </p:txBody>
      </p:sp>
    </p:spTree>
  </p:cSld>
  <p:clrMapOvr>
    <a:masterClrMapping/>
  </p:clrMapOvr>
  <p:transition spd="med">
    <p:fade/>
  </p:transition>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WHAT YOU'LL ACHIEVE</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Learning Units, Topics and Labs</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Approved Course Proposal: TSC ICT-TEM-4034-1.1 Artificial Intelligence Application in Product Development — 16 hours.</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9</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graphicFrame>
        <p:nvGraphicFramePr>
          <p:cNvPr id="8" name="Table 7"/>
          <p:cNvGraphicFramePr>
            <a:graphicFrameLocks noGrp="1"/>
          </p:cNvGraphicFramePr>
          <p:nvPr/>
        </p:nvGraphicFramePr>
        <p:xfrm>
          <a:off x="548640" y="2194560"/>
          <a:ext cx="11064237" cy="3639308"/>
        </p:xfrm>
        <a:graphic>
          <a:graphicData uri="http://schemas.openxmlformats.org/drawingml/2006/table">
            <a:tbl>
              <a:tblPr firstRow="0" bandRow="0">
                <a:tableStyleId>{5C22544A-7EE6-4342-B048-85BDC9FD1C3A}</a:tableStyleId>
              </a:tblPr>
              <a:tblGrid>
                <a:gridCol w="843882"/>
                <a:gridCol w="3375530"/>
                <a:gridCol w="4313178"/>
                <a:gridCol w="1687765"/>
                <a:gridCol w="843882"/>
              </a:tblGrid>
              <a:tr h="457200">
                <a:tc>
                  <a:txBody>
                    <a:bodyPr wrap="square"/>
                    <a:lstStyle/>
                    <a:p>
                      <a:r>
                        <a:rPr b="1" sz="1550">
                          <a:solidFill>
                            <a:srgbClr val="FFFFFF"/>
                          </a:solidFill>
                          <a:latin typeface="Cambria"/>
                        </a:rPr>
                        <a:t>LU</a:t>
                      </a:r>
                    </a:p>
                  </a:txBody>
                  <a:tcPr marL="64008" marR="64008" marT="27432" marB="27432" anchor="ctr">
                    <a:solidFill>
                      <a:srgbClr val="21201C"/>
                    </a:solidFill>
                  </a:tcPr>
                </a:tc>
                <a:tc>
                  <a:txBody>
                    <a:bodyPr wrap="square"/>
                    <a:lstStyle/>
                    <a:p>
                      <a:r>
                        <a:rPr b="1" sz="1550">
                          <a:solidFill>
                            <a:srgbClr val="FFFFFF"/>
                          </a:solidFill>
                          <a:latin typeface="Cambria"/>
                        </a:rPr>
                        <a:t>Learning unit</a:t>
                      </a:r>
                    </a:p>
                  </a:txBody>
                  <a:tcPr marL="64008" marR="64008" marT="27432" marB="27432" anchor="ctr">
                    <a:solidFill>
                      <a:srgbClr val="21201C"/>
                    </a:solidFill>
                  </a:tcPr>
                </a:tc>
                <a:tc>
                  <a:txBody>
                    <a:bodyPr wrap="square"/>
                    <a:lstStyle/>
                    <a:p>
                      <a:r>
                        <a:rPr b="1" sz="1550">
                          <a:solidFill>
                            <a:srgbClr val="FFFFFF"/>
                          </a:solidFill>
                          <a:latin typeface="Cambria"/>
                        </a:rPr>
                        <a:t>Delivered through</a:t>
                      </a:r>
                    </a:p>
                  </a:txBody>
                  <a:tcPr marL="64008" marR="64008" marT="27432" marB="27432" anchor="ctr">
                    <a:solidFill>
                      <a:srgbClr val="21201C"/>
                    </a:solidFill>
                  </a:tcPr>
                </a:tc>
                <a:tc>
                  <a:txBody>
                    <a:bodyPr wrap="square"/>
                    <a:lstStyle/>
                    <a:p>
                      <a:r>
                        <a:rPr b="1" sz="1550">
                          <a:solidFill>
                            <a:srgbClr val="FFFFFF"/>
                          </a:solidFill>
                          <a:latin typeface="Cambria"/>
                        </a:rPr>
                        <a:t>K &amp; A</a:t>
                      </a:r>
                    </a:p>
                  </a:txBody>
                  <a:tcPr marL="64008" marR="64008" marT="27432" marB="27432" anchor="ctr">
                    <a:solidFill>
                      <a:srgbClr val="21201C"/>
                    </a:solidFill>
                  </a:tcPr>
                </a:tc>
                <a:tc>
                  <a:txBody>
                    <a:bodyPr wrap="square"/>
                    <a:lstStyle/>
                    <a:p>
                      <a:r>
                        <a:rPr b="1" sz="1550">
                          <a:solidFill>
                            <a:srgbClr val="FFFFFF"/>
                          </a:solidFill>
                          <a:latin typeface="Cambria"/>
                        </a:rPr>
                        <a:t>Hours</a:t>
                      </a:r>
                    </a:p>
                  </a:txBody>
                  <a:tcPr marL="64008" marR="64008" marT="27432" marB="27432" anchor="ctr">
                    <a:solidFill>
                      <a:srgbClr val="21201C"/>
                    </a:solidFill>
                  </a:tcPr>
                </a:tc>
              </a:tr>
              <a:tr h="795527">
                <a:tc>
                  <a:txBody>
                    <a:bodyPr wrap="square"/>
                    <a:lstStyle/>
                    <a:p>
                      <a:r>
                        <a:rPr b="1" sz="1500">
                          <a:solidFill>
                            <a:srgbClr val="21201C"/>
                          </a:solidFill>
                          <a:latin typeface="Cambria"/>
                        </a:rPr>
                        <a:t>LU1</a:t>
                      </a:r>
                    </a:p>
                  </a:txBody>
                  <a:tcPr marL="64008" marR="64008" marT="27432" marB="27432" anchor="ctr">
                    <a:solidFill>
                      <a:srgbClr val="FFFFFF"/>
                    </a:solidFill>
                  </a:tcPr>
                </a:tc>
                <a:tc>
                  <a:txBody>
                    <a:bodyPr wrap="square"/>
                    <a:lstStyle/>
                    <a:p>
                      <a:r>
                        <a:rPr b="0" sz="1500">
                          <a:solidFill>
                            <a:srgbClr val="6B6862"/>
                          </a:solidFill>
                          <a:latin typeface="Calibri"/>
                        </a:rPr>
                        <a:t>Foundations of autonomous AI agents and single-agent LLM applications</a:t>
                      </a:r>
                    </a:p>
                  </a:txBody>
                  <a:tcPr marL="64008" marR="64008" marT="27432" marB="27432" anchor="ctr">
                    <a:solidFill>
                      <a:srgbClr val="FFFFFF"/>
                    </a:solidFill>
                  </a:tcPr>
                </a:tc>
                <a:tc>
                  <a:txBody>
                    <a:bodyPr wrap="square"/>
                    <a:lstStyle/>
                    <a:p>
                      <a:r>
                        <a:rPr b="0" sz="1500">
                          <a:solidFill>
                            <a:srgbClr val="6B6862"/>
                          </a:solidFill>
                          <a:latin typeface="Calibri"/>
                        </a:rPr>
                        <a:t>Topic 1 (Foundations) + Topic 2 Labs 1–2 (single Hermes agent)</a:t>
                      </a:r>
                    </a:p>
                  </a:txBody>
                  <a:tcPr marL="64008" marR="64008" marT="27432" marB="27432" anchor="ctr">
                    <a:solidFill>
                      <a:srgbClr val="FFFFFF"/>
                    </a:solidFill>
                  </a:tcPr>
                </a:tc>
                <a:tc>
                  <a:txBody>
                    <a:bodyPr wrap="square"/>
                    <a:lstStyle/>
                    <a:p>
                      <a:r>
                        <a:rPr b="0" sz="1500">
                          <a:solidFill>
                            <a:srgbClr val="6B6862"/>
                          </a:solidFill>
                          <a:latin typeface="Calibri"/>
                        </a:rPr>
                        <a:t>K1, K6, A1, A3</a:t>
                      </a:r>
                    </a:p>
                  </a:txBody>
                  <a:tcPr marL="64008" marR="64008" marT="27432" marB="27432" anchor="ctr">
                    <a:solidFill>
                      <a:srgbClr val="FFFFFF"/>
                    </a:solidFill>
                  </a:tcPr>
                </a:tc>
                <a:tc>
                  <a:txBody>
                    <a:bodyPr wrap="square"/>
                    <a:lstStyle/>
                    <a:p>
                      <a:r>
                        <a:rPr b="0" sz="1500">
                          <a:solidFill>
                            <a:srgbClr val="6B6862"/>
                          </a:solidFill>
                          <a:latin typeface="Calibri"/>
                        </a:rPr>
                        <a:t>5 h</a:t>
                      </a:r>
                    </a:p>
                  </a:txBody>
                  <a:tcPr marL="64008" marR="64008" marT="27432" marB="27432" anchor="ctr">
                    <a:solidFill>
                      <a:srgbClr val="FFFFFF"/>
                    </a:solidFill>
                  </a:tcPr>
                </a:tc>
              </a:tr>
              <a:tr h="795527">
                <a:tc>
                  <a:txBody>
                    <a:bodyPr wrap="square"/>
                    <a:lstStyle/>
                    <a:p>
                      <a:r>
                        <a:rPr b="1" sz="1500">
                          <a:solidFill>
                            <a:srgbClr val="21201C"/>
                          </a:solidFill>
                          <a:latin typeface="Cambria"/>
                        </a:rPr>
                        <a:t>LU2</a:t>
                      </a:r>
                    </a:p>
                  </a:txBody>
                  <a:tcPr marL="64008" marR="64008" marT="27432" marB="27432" anchor="ctr">
                    <a:solidFill>
                      <a:srgbClr val="F3F1EB"/>
                    </a:solidFill>
                  </a:tcPr>
                </a:tc>
                <a:tc>
                  <a:txBody>
                    <a:bodyPr wrap="square"/>
                    <a:lstStyle/>
                    <a:p>
                      <a:r>
                        <a:rPr b="0" sz="1500">
                          <a:solidFill>
                            <a:srgbClr val="6B6862"/>
                          </a:solidFill>
                          <a:latin typeface="Calibri"/>
                        </a:rPr>
                        <a:t>Agent and multi-agent design for efficiency, with humans in the loop</a:t>
                      </a:r>
                    </a:p>
                  </a:txBody>
                  <a:tcPr marL="64008" marR="64008" marT="27432" marB="27432" anchor="ctr">
                    <a:solidFill>
                      <a:srgbClr val="F3F1EB"/>
                    </a:solidFill>
                  </a:tcPr>
                </a:tc>
                <a:tc>
                  <a:txBody>
                    <a:bodyPr wrap="square"/>
                    <a:lstStyle/>
                    <a:p>
                      <a:r>
                        <a:rPr b="0" sz="1500">
                          <a:solidFill>
                            <a:srgbClr val="6B6862"/>
                          </a:solidFill>
                          <a:latin typeface="Calibri"/>
                        </a:rPr>
                        <a:t>Topic 2 Labs 3–5 (human-in-the-loop, multi-agent studio, swarm) + Topic 3 Lab 6 (designing a governed agent company)</a:t>
                      </a:r>
                    </a:p>
                  </a:txBody>
                  <a:tcPr marL="64008" marR="64008" marT="27432" marB="27432" anchor="ctr">
                    <a:solidFill>
                      <a:srgbClr val="F3F1EB"/>
                    </a:solidFill>
                  </a:tcPr>
                </a:tc>
                <a:tc>
                  <a:txBody>
                    <a:bodyPr wrap="square"/>
                    <a:lstStyle/>
                    <a:p>
                      <a:r>
                        <a:rPr b="0" sz="1500">
                          <a:solidFill>
                            <a:srgbClr val="6B6862"/>
                          </a:solidFill>
                          <a:latin typeface="Calibri"/>
                        </a:rPr>
                        <a:t>K4, K5, A2, A6</a:t>
                      </a:r>
                    </a:p>
                  </a:txBody>
                  <a:tcPr marL="64008" marR="64008" marT="27432" marB="27432" anchor="ctr">
                    <a:solidFill>
                      <a:srgbClr val="F3F1EB"/>
                    </a:solidFill>
                  </a:tcPr>
                </a:tc>
                <a:tc>
                  <a:txBody>
                    <a:bodyPr wrap="square"/>
                    <a:lstStyle/>
                    <a:p>
                      <a:r>
                        <a:rPr b="0" sz="1500">
                          <a:solidFill>
                            <a:srgbClr val="6B6862"/>
                          </a:solidFill>
                          <a:latin typeface="Calibri"/>
                        </a:rPr>
                        <a:t>5 h</a:t>
                      </a:r>
                    </a:p>
                  </a:txBody>
                  <a:tcPr marL="64008" marR="64008" marT="27432" marB="27432" anchor="ctr">
                    <a:solidFill>
                      <a:srgbClr val="F3F1EB"/>
                    </a:solidFill>
                  </a:tcPr>
                </a:tc>
              </a:tr>
              <a:tr h="795527">
                <a:tc>
                  <a:txBody>
                    <a:bodyPr wrap="square"/>
                    <a:lstStyle/>
                    <a:p>
                      <a:r>
                        <a:rPr b="1" sz="1500">
                          <a:solidFill>
                            <a:srgbClr val="21201C"/>
                          </a:solidFill>
                          <a:latin typeface="Cambria"/>
                        </a:rPr>
                        <a:t>LU3</a:t>
                      </a:r>
                    </a:p>
                  </a:txBody>
                  <a:tcPr marL="64008" marR="64008" marT="27432" marB="27432" anchor="ctr">
                    <a:solidFill>
                      <a:srgbClr val="FFFFFF"/>
                    </a:solidFill>
                  </a:tcPr>
                </a:tc>
                <a:tc>
                  <a:txBody>
                    <a:bodyPr wrap="square"/>
                    <a:lstStyle/>
                    <a:p>
                      <a:r>
                        <a:rPr b="0" sz="1500">
                          <a:solidFill>
                            <a:srgbClr val="6B6862"/>
                          </a:solidFill>
                          <a:latin typeface="Calibri"/>
                        </a:rPr>
                        <a:t>Evaluate and improve the effectiveness of an AI-agent workforce in product development</a:t>
                      </a:r>
                    </a:p>
                  </a:txBody>
                  <a:tcPr marL="64008" marR="64008" marT="27432" marB="27432" anchor="ctr">
                    <a:solidFill>
                      <a:srgbClr val="FFFFFF"/>
                    </a:solidFill>
                  </a:tcPr>
                </a:tc>
                <a:tc>
                  <a:txBody>
                    <a:bodyPr wrap="square"/>
                    <a:lstStyle/>
                    <a:p>
                      <a:r>
                        <a:rPr b="0" sz="1500">
                          <a:solidFill>
                            <a:srgbClr val="6B6862"/>
                          </a:solidFill>
                          <a:latin typeface="Calibri"/>
                        </a:rPr>
                        <a:t>Topic 3 Labs 7–10 (team, launch project, routine, governance and improvement)</a:t>
                      </a:r>
                    </a:p>
                  </a:txBody>
                  <a:tcPr marL="64008" marR="64008" marT="27432" marB="27432" anchor="ctr">
                    <a:solidFill>
                      <a:srgbClr val="FFFFFF"/>
                    </a:solidFill>
                  </a:tcPr>
                </a:tc>
                <a:tc>
                  <a:txBody>
                    <a:bodyPr wrap="square"/>
                    <a:lstStyle/>
                    <a:p>
                      <a:r>
                        <a:rPr b="0" sz="1500">
                          <a:solidFill>
                            <a:srgbClr val="6B6862"/>
                          </a:solidFill>
                          <a:latin typeface="Calibri"/>
                        </a:rPr>
                        <a:t>K2, K3, A4, A5</a:t>
                      </a:r>
                    </a:p>
                  </a:txBody>
                  <a:tcPr marL="64008" marR="64008" marT="27432" marB="27432" anchor="ctr">
                    <a:solidFill>
                      <a:srgbClr val="FFFFFF"/>
                    </a:solidFill>
                  </a:tcPr>
                </a:tc>
                <a:tc>
                  <a:txBody>
                    <a:bodyPr wrap="square"/>
                    <a:lstStyle/>
                    <a:p>
                      <a:r>
                        <a:rPr b="0" sz="1500">
                          <a:solidFill>
                            <a:srgbClr val="6B6862"/>
                          </a:solidFill>
                          <a:latin typeface="Calibri"/>
                        </a:rPr>
                        <a:t>4 h</a:t>
                      </a:r>
                    </a:p>
                  </a:txBody>
                  <a:tcPr marL="64008" marR="64008" marT="27432" marB="27432" anchor="ctr">
                    <a:solidFill>
                      <a:srgbClr val="FFFFFF"/>
                    </a:solidFill>
                  </a:tcPr>
                </a:tc>
              </a:tr>
              <a:tr h="795527">
                <a:tc>
                  <a:txBody>
                    <a:bodyPr wrap="square"/>
                    <a:lstStyle/>
                    <a:p>
                      <a:r>
                        <a:rPr b="1" sz="1500">
                          <a:solidFill>
                            <a:srgbClr val="21201C"/>
                          </a:solidFill>
                          <a:latin typeface="Cambria"/>
                        </a:rPr>
                        <a:t>Assess</a:t>
                      </a:r>
                    </a:p>
                  </a:txBody>
                  <a:tcPr marL="64008" marR="64008" marT="27432" marB="27432" anchor="ctr">
                    <a:solidFill>
                      <a:srgbClr val="F3F1EB"/>
                    </a:solidFill>
                  </a:tcPr>
                </a:tc>
                <a:tc>
                  <a:txBody>
                    <a:bodyPr wrap="square"/>
                    <a:lstStyle/>
                    <a:p>
                      <a:r>
                        <a:rPr b="0" sz="1500">
                          <a:solidFill>
                            <a:srgbClr val="6B6862"/>
                          </a:solidFill>
                          <a:latin typeface="Calibri"/>
                        </a:rPr>
                        <a:t>WA-SAQ (1 h) + Practical Performance (1 h)</a:t>
                      </a:r>
                    </a:p>
                  </a:txBody>
                  <a:tcPr marL="64008" marR="64008" marT="27432" marB="27432" anchor="ctr">
                    <a:solidFill>
                      <a:srgbClr val="F3F1EB"/>
                    </a:solidFill>
                  </a:tcPr>
                </a:tc>
                <a:tc>
                  <a:txBody>
                    <a:bodyPr wrap="square"/>
                    <a:lstStyle/>
                    <a:p>
                      <a:r>
                        <a:rPr b="0" sz="1500">
                          <a:solidFill>
                            <a:srgbClr val="6B6862"/>
                          </a:solidFill>
                          <a:latin typeface="Calibri"/>
                        </a:rPr>
                        <a:t>Day 2, 4:30–6:30 PM</a:t>
                      </a:r>
                    </a:p>
                  </a:txBody>
                  <a:tcPr marL="64008" marR="64008" marT="27432" marB="27432" anchor="ctr">
                    <a:solidFill>
                      <a:srgbClr val="F3F1EB"/>
                    </a:solidFill>
                  </a:tcPr>
                </a:tc>
                <a:tc>
                  <a:txBody>
                    <a:bodyPr wrap="square"/>
                    <a:lstStyle/>
                    <a:p>
                      <a:r>
                        <a:rPr b="0" sz="1500">
                          <a:solidFill>
                            <a:srgbClr val="6B6862"/>
                          </a:solidFill>
                          <a:latin typeface="Calibri"/>
                        </a:rPr>
                        <a:t>K1–K6 · A1–A6</a:t>
                      </a:r>
                    </a:p>
                  </a:txBody>
                  <a:tcPr marL="64008" marR="64008" marT="27432" marB="27432" anchor="ctr">
                    <a:solidFill>
                      <a:srgbClr val="F3F1EB"/>
                    </a:solidFill>
                  </a:tcPr>
                </a:tc>
                <a:tc>
                  <a:txBody>
                    <a:bodyPr wrap="square"/>
                    <a:lstStyle/>
                    <a:p>
                      <a:r>
                        <a:rPr b="0" sz="1500">
                          <a:solidFill>
                            <a:srgbClr val="6B6862"/>
                          </a:solidFill>
                          <a:latin typeface="Calibri"/>
                        </a:rPr>
                        <a:t>2 h</a:t>
                      </a:r>
                    </a:p>
                  </a:txBody>
                  <a:tcPr marL="64008" marR="64008" marT="27432" marB="27432" anchor="ctr">
                    <a:solidFill>
                      <a:srgbClr val="F3F1EB"/>
                    </a:solidFill>
                  </a:tcPr>
                </a:tc>
              </a:tr>
            </a:tbl>
          </a:graphicData>
        </a:graphic>
      </p:graphicFrame>
    </p:spTree>
  </p:cSld>
  <p:clrMapOvr>
    <a:masterClrMapping/>
  </p:clrMapOvr>
  <p:transition spd="med">
    <p:fade/>
  </p:transition>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ROADMAP</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Lesson Plan — Day 1 (9:30 AM – 6:30 PM)</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10</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graphicFrame>
        <p:nvGraphicFramePr>
          <p:cNvPr id="7" name="Table 6"/>
          <p:cNvGraphicFramePr>
            <a:graphicFrameLocks noGrp="1"/>
          </p:cNvGraphicFramePr>
          <p:nvPr/>
        </p:nvGraphicFramePr>
        <p:xfrm>
          <a:off x="548640" y="1691640"/>
          <a:ext cx="11064240" cy="4480560"/>
        </p:xfrm>
        <a:graphic>
          <a:graphicData uri="http://schemas.openxmlformats.org/drawingml/2006/table">
            <a:tbl>
              <a:tblPr firstRow="0" bandRow="0">
                <a:tableStyleId>{5C22544A-7EE6-4342-B048-85BDC9FD1C3A}</a:tableStyleId>
              </a:tblPr>
              <a:tblGrid>
                <a:gridCol w="1371600"/>
                <a:gridCol w="8869680"/>
                <a:gridCol w="822960"/>
              </a:tblGrid>
              <a:tr h="320040">
                <a:tc>
                  <a:txBody>
                    <a:bodyPr wrap="square"/>
                    <a:lstStyle/>
                    <a:p>
                      <a:r>
                        <a:rPr b="1" sz="1100">
                          <a:solidFill>
                            <a:srgbClr val="FFFFFF"/>
                          </a:solidFill>
                          <a:latin typeface="Cambria"/>
                        </a:rPr>
                        <a:t>Time</a:t>
                      </a:r>
                    </a:p>
                  </a:txBody>
                  <a:tcPr marL="64008" marR="64008" marT="27432" marB="27432" anchor="ctr">
                    <a:solidFill>
                      <a:srgbClr val="21201C"/>
                    </a:solidFill>
                  </a:tcPr>
                </a:tc>
                <a:tc>
                  <a:txBody>
                    <a:bodyPr wrap="square"/>
                    <a:lstStyle/>
                    <a:p>
                      <a:r>
                        <a:rPr b="1" sz="1100">
                          <a:solidFill>
                            <a:srgbClr val="FFFFFF"/>
                          </a:solidFill>
                          <a:latin typeface="Cambria"/>
                        </a:rPr>
                        <a:t>Session</a:t>
                      </a:r>
                    </a:p>
                  </a:txBody>
                  <a:tcPr marL="64008" marR="64008" marT="27432" marB="27432" anchor="ctr">
                    <a:solidFill>
                      <a:srgbClr val="21201C"/>
                    </a:solidFill>
                  </a:tcPr>
                </a:tc>
                <a:tc>
                  <a:txBody>
                    <a:bodyPr wrap="square"/>
                    <a:lstStyle/>
                    <a:p>
                      <a:r>
                        <a:rPr b="1" sz="1100">
                          <a:solidFill>
                            <a:srgbClr val="FFFFFF"/>
                          </a:solidFill>
                          <a:latin typeface="Cambria"/>
                        </a:rPr>
                        <a:t>LU</a:t>
                      </a:r>
                    </a:p>
                  </a:txBody>
                  <a:tcPr marL="64008" marR="64008" marT="27432" marB="27432" anchor="ctr">
                    <a:solidFill>
                      <a:srgbClr val="21201C"/>
                    </a:solidFill>
                  </a:tcPr>
                </a:tc>
              </a:tr>
              <a:tr h="320040">
                <a:tc>
                  <a:txBody>
                    <a:bodyPr wrap="square"/>
                    <a:lstStyle/>
                    <a:p>
                      <a:r>
                        <a:rPr b="1" sz="1050">
                          <a:solidFill>
                            <a:srgbClr val="21201C"/>
                          </a:solidFill>
                          <a:latin typeface="Cambria"/>
                        </a:rPr>
                        <a:t>9:30–9:50</a:t>
                      </a:r>
                    </a:p>
                  </a:txBody>
                  <a:tcPr marL="64008" marR="64008" marT="27432" marB="27432" anchor="ctr">
                    <a:solidFill>
                      <a:srgbClr val="FFFFFF"/>
                    </a:solidFill>
                  </a:tcPr>
                </a:tc>
                <a:tc>
                  <a:txBody>
                    <a:bodyPr wrap="square"/>
                    <a:lstStyle/>
                    <a:p>
                      <a:r>
                        <a:rPr b="0" sz="1050">
                          <a:solidFill>
                            <a:srgbClr val="6B6862"/>
                          </a:solidFill>
                          <a:latin typeface="Calibri"/>
                        </a:rPr>
                        <a:t>Welcome, housekeeping, trainer introduction, learning outcomes and AM digital attendance</a:t>
                      </a:r>
                    </a:p>
                  </a:txBody>
                  <a:tcPr marL="64008" marR="64008" marT="27432" marB="27432" anchor="ctr">
                    <a:solidFill>
                      <a:srgbClr val="FFFFFF"/>
                    </a:solidFill>
                  </a:tcPr>
                </a:tc>
                <a:tc>
                  <a:txBody>
                    <a:bodyPr wrap="square"/>
                    <a:lstStyle/>
                    <a:p>
                      <a:r>
                        <a:rPr b="0" sz="1050">
                          <a:solidFill>
                            <a:srgbClr val="6B6862"/>
                          </a:solidFill>
                          <a:latin typeface="Calibri"/>
                        </a:rPr>
                        <a:t>LU1</a:t>
                      </a:r>
                    </a:p>
                  </a:txBody>
                  <a:tcPr marL="64008" marR="64008" marT="27432" marB="27432" anchor="ctr">
                    <a:solidFill>
                      <a:srgbClr val="FFFFFF"/>
                    </a:solidFill>
                  </a:tcPr>
                </a:tc>
              </a:tr>
              <a:tr h="320040">
                <a:tc>
                  <a:txBody>
                    <a:bodyPr wrap="square"/>
                    <a:lstStyle/>
                    <a:p>
                      <a:r>
                        <a:rPr b="1" sz="1050">
                          <a:solidFill>
                            <a:srgbClr val="21201C"/>
                          </a:solidFill>
                          <a:latin typeface="Cambria"/>
                        </a:rPr>
                        <a:t>9:50–11:05</a:t>
                      </a:r>
                    </a:p>
                  </a:txBody>
                  <a:tcPr marL="64008" marR="64008" marT="27432" marB="27432" anchor="ctr">
                    <a:solidFill>
                      <a:srgbClr val="F3F1EB"/>
                    </a:solidFill>
                  </a:tcPr>
                </a:tc>
                <a:tc>
                  <a:txBody>
                    <a:bodyPr wrap="square"/>
                    <a:lstStyle/>
                    <a:p>
                      <a:r>
                        <a:rPr b="0" sz="1050">
                          <a:solidFill>
                            <a:srgbClr val="6B6862"/>
                          </a:solidFill>
                          <a:latin typeface="Calibri"/>
                        </a:rPr>
                        <a:t>Topic 1 (Part A) — history of AI; AI agents vs agentic AI; the agentic loop; harness engineering; brain–perception–action; short- and long-term memory; RAG; world models</a:t>
                      </a:r>
                    </a:p>
                  </a:txBody>
                  <a:tcPr marL="64008" marR="64008" marT="27432" marB="27432" anchor="ctr">
                    <a:solidFill>
                      <a:srgbClr val="F3F1EB"/>
                    </a:solidFill>
                  </a:tcPr>
                </a:tc>
                <a:tc>
                  <a:txBody>
                    <a:bodyPr wrap="square"/>
                    <a:lstStyle/>
                    <a:p>
                      <a:r>
                        <a:rPr b="0" sz="1050">
                          <a:solidFill>
                            <a:srgbClr val="6B6862"/>
                          </a:solidFill>
                          <a:latin typeface="Calibri"/>
                        </a:rPr>
                        <a:t>LU1</a:t>
                      </a:r>
                    </a:p>
                  </a:txBody>
                  <a:tcPr marL="64008" marR="64008" marT="27432" marB="27432" anchor="ctr">
                    <a:solidFill>
                      <a:srgbClr val="F3F1EB"/>
                    </a:solidFill>
                  </a:tcPr>
                </a:tc>
              </a:tr>
              <a:tr h="320040">
                <a:tc>
                  <a:txBody>
                    <a:bodyPr wrap="square"/>
                    <a:lstStyle/>
                    <a:p>
                      <a:r>
                        <a:rPr b="1" sz="1050">
                          <a:solidFill>
                            <a:srgbClr val="21201C"/>
                          </a:solidFill>
                          <a:latin typeface="Cambria"/>
                        </a:rPr>
                        <a:t>11:05–11:20</a:t>
                      </a:r>
                    </a:p>
                  </a:txBody>
                  <a:tcPr marL="64008" marR="64008" marT="27432" marB="27432" anchor="ctr">
                    <a:solidFill>
                      <a:srgbClr val="FFFFFF"/>
                    </a:solidFill>
                  </a:tcPr>
                </a:tc>
                <a:tc>
                  <a:txBody>
                    <a:bodyPr wrap="square"/>
                    <a:lstStyle/>
                    <a:p>
                      <a:r>
                        <a:rPr b="0" sz="1050">
                          <a:solidFill>
                            <a:srgbClr val="6B6862"/>
                          </a:solidFill>
                          <a:latin typeface="Calibri"/>
                        </a:rPr>
                        <a:t>Tea break</a:t>
                      </a:r>
                    </a:p>
                  </a:txBody>
                  <a:tcPr marL="64008" marR="64008" marT="27432" marB="27432" anchor="ctr">
                    <a:solidFill>
                      <a:srgbClr val="FFFFFF"/>
                    </a:solidFill>
                  </a:tcPr>
                </a:tc>
                <a:tc>
                  <a:txBody>
                    <a:bodyPr wrap="square"/>
                    <a:lstStyle/>
                    <a:p>
                      <a:r>
                        <a:rPr b="0" sz="1050">
                          <a:solidFill>
                            <a:srgbClr val="6B6862"/>
                          </a:solidFill>
                          <a:latin typeface="Calibri"/>
                        </a:rPr>
                        <a:t>LU1</a:t>
                      </a:r>
                    </a:p>
                  </a:txBody>
                  <a:tcPr marL="64008" marR="64008" marT="27432" marB="27432" anchor="ctr">
                    <a:solidFill>
                      <a:srgbClr val="FFFFFF"/>
                    </a:solidFill>
                  </a:tcPr>
                </a:tc>
              </a:tr>
              <a:tr h="320040">
                <a:tc>
                  <a:txBody>
                    <a:bodyPr wrap="square"/>
                    <a:lstStyle/>
                    <a:p>
                      <a:r>
                        <a:rPr b="1" sz="1050">
                          <a:solidFill>
                            <a:srgbClr val="21201C"/>
                          </a:solidFill>
                          <a:latin typeface="Cambria"/>
                        </a:rPr>
                        <a:t>11:20–12:10</a:t>
                      </a:r>
                    </a:p>
                  </a:txBody>
                  <a:tcPr marL="64008" marR="64008" marT="27432" marB="27432" anchor="ctr">
                    <a:solidFill>
                      <a:srgbClr val="F3F1EB"/>
                    </a:solidFill>
                  </a:tcPr>
                </a:tc>
                <a:tc>
                  <a:txBody>
                    <a:bodyPr wrap="square"/>
                    <a:lstStyle/>
                    <a:p>
                      <a:r>
                        <a:rPr b="0" sz="1050">
                          <a:solidFill>
                            <a:srgbClr val="6B6862"/>
                          </a:solidFill>
                          <a:latin typeface="Calibri"/>
                        </a:rPr>
                        <a:t>Topic 1 (Part B) — single agent → multi-agent → human–agent collaboration; levels of autonomy; agent society; the 2026 agent market (OpenClaw, Hermes, Paperclip, OpenAI Dots, Meta Muse, Block Buzz, Manus Cue …); Singapore's AgentSea; human–AI use cases in science, maths, drug discovery and business; risks and governance</a:t>
                      </a:r>
                    </a:p>
                  </a:txBody>
                  <a:tcPr marL="64008" marR="64008" marT="27432" marB="27432" anchor="ctr">
                    <a:solidFill>
                      <a:srgbClr val="F3F1EB"/>
                    </a:solidFill>
                  </a:tcPr>
                </a:tc>
                <a:tc>
                  <a:txBody>
                    <a:bodyPr wrap="square"/>
                    <a:lstStyle/>
                    <a:p>
                      <a:r>
                        <a:rPr b="0" sz="1050">
                          <a:solidFill>
                            <a:srgbClr val="6B6862"/>
                          </a:solidFill>
                          <a:latin typeface="Calibri"/>
                        </a:rPr>
                        <a:t>LU1</a:t>
                      </a:r>
                    </a:p>
                  </a:txBody>
                  <a:tcPr marL="64008" marR="64008" marT="27432" marB="27432" anchor="ctr">
                    <a:solidFill>
                      <a:srgbClr val="F3F1EB"/>
                    </a:solidFill>
                  </a:tcPr>
                </a:tc>
              </a:tr>
              <a:tr h="320040">
                <a:tc>
                  <a:txBody>
                    <a:bodyPr wrap="square"/>
                    <a:lstStyle/>
                    <a:p>
                      <a:r>
                        <a:rPr b="1" sz="1050">
                          <a:solidFill>
                            <a:srgbClr val="21201C"/>
                          </a:solidFill>
                          <a:latin typeface="Cambria"/>
                        </a:rPr>
                        <a:t>12:10–12:35</a:t>
                      </a:r>
                    </a:p>
                  </a:txBody>
                  <a:tcPr marL="64008" marR="64008" marT="27432" marB="27432" anchor="ctr">
                    <a:solidFill>
                      <a:srgbClr val="FFFFFF"/>
                    </a:solidFill>
                  </a:tcPr>
                </a:tc>
                <a:tc>
                  <a:txBody>
                    <a:bodyPr wrap="square"/>
                    <a:lstStyle/>
                    <a:p>
                      <a:r>
                        <a:rPr b="0" sz="1050">
                          <a:solidFill>
                            <a:srgbClr val="6B6862"/>
                          </a:solidFill>
                          <a:latin typeface="Calibri"/>
                        </a:rPr>
                        <a:t>Activity — Human–AI Workforce Canvas for Kopi Kaki Co., and start the Hermes Agent install</a:t>
                      </a:r>
                    </a:p>
                  </a:txBody>
                  <a:tcPr marL="64008" marR="64008" marT="27432" marB="27432" anchor="ctr">
                    <a:solidFill>
                      <a:srgbClr val="FFFFFF"/>
                    </a:solidFill>
                  </a:tcPr>
                </a:tc>
                <a:tc>
                  <a:txBody>
                    <a:bodyPr wrap="square"/>
                    <a:lstStyle/>
                    <a:p>
                      <a:r>
                        <a:rPr b="0" sz="1050">
                          <a:solidFill>
                            <a:srgbClr val="6B6862"/>
                          </a:solidFill>
                          <a:latin typeface="Calibri"/>
                        </a:rPr>
                        <a:t>LU1</a:t>
                      </a:r>
                    </a:p>
                  </a:txBody>
                  <a:tcPr marL="64008" marR="64008" marT="27432" marB="27432" anchor="ctr">
                    <a:solidFill>
                      <a:srgbClr val="FFFFFF"/>
                    </a:solidFill>
                  </a:tcPr>
                </a:tc>
              </a:tr>
              <a:tr h="320040">
                <a:tc>
                  <a:txBody>
                    <a:bodyPr wrap="square"/>
                    <a:lstStyle/>
                    <a:p>
                      <a:r>
                        <a:rPr b="1" sz="1050">
                          <a:solidFill>
                            <a:srgbClr val="21201C"/>
                          </a:solidFill>
                          <a:latin typeface="Cambria"/>
                        </a:rPr>
                        <a:t>12:35–13:30</a:t>
                      </a:r>
                    </a:p>
                  </a:txBody>
                  <a:tcPr marL="64008" marR="64008" marT="27432" marB="27432" anchor="ctr">
                    <a:solidFill>
                      <a:srgbClr val="F3F1EB"/>
                    </a:solidFill>
                  </a:tcPr>
                </a:tc>
                <a:tc>
                  <a:txBody>
                    <a:bodyPr wrap="square"/>
                    <a:lstStyle/>
                    <a:p>
                      <a:r>
                        <a:rPr b="0" sz="1050">
                          <a:solidFill>
                            <a:srgbClr val="6B6862"/>
                          </a:solidFill>
                          <a:latin typeface="Calibri"/>
                        </a:rPr>
                        <a:t>Topic 2 — Lab 1: Hire Your First AI Employee (Hermes) — customer &amp; market research brief</a:t>
                      </a:r>
                    </a:p>
                  </a:txBody>
                  <a:tcPr marL="64008" marR="64008" marT="27432" marB="27432" anchor="ctr">
                    <a:solidFill>
                      <a:srgbClr val="F3F1EB"/>
                    </a:solidFill>
                  </a:tcPr>
                </a:tc>
                <a:tc>
                  <a:txBody>
                    <a:bodyPr wrap="square"/>
                    <a:lstStyle/>
                    <a:p>
                      <a:r>
                        <a:rPr b="0" sz="1050">
                          <a:solidFill>
                            <a:srgbClr val="6B6862"/>
                          </a:solidFill>
                          <a:latin typeface="Calibri"/>
                        </a:rPr>
                        <a:t>LU1</a:t>
                      </a:r>
                    </a:p>
                  </a:txBody>
                  <a:tcPr marL="64008" marR="64008" marT="27432" marB="27432" anchor="ctr">
                    <a:solidFill>
                      <a:srgbClr val="F3F1EB"/>
                    </a:solidFill>
                  </a:tcPr>
                </a:tc>
              </a:tr>
              <a:tr h="320040">
                <a:tc>
                  <a:txBody>
                    <a:bodyPr wrap="square"/>
                    <a:lstStyle/>
                    <a:p>
                      <a:r>
                        <a:rPr b="1" sz="1050">
                          <a:solidFill>
                            <a:srgbClr val="21201C"/>
                          </a:solidFill>
                          <a:latin typeface="Cambria"/>
                        </a:rPr>
                        <a:t>13:30–14:30</a:t>
                      </a:r>
                    </a:p>
                  </a:txBody>
                  <a:tcPr marL="64008" marR="64008" marT="27432" marB="27432" anchor="ctr">
                    <a:solidFill>
                      <a:srgbClr val="FFFFFF"/>
                    </a:solidFill>
                  </a:tcPr>
                </a:tc>
                <a:tc>
                  <a:txBody>
                    <a:bodyPr wrap="square"/>
                    <a:lstStyle/>
                    <a:p>
                      <a:r>
                        <a:rPr b="0" sz="1050">
                          <a:solidFill>
                            <a:srgbClr val="6B6862"/>
                          </a:solidFill>
                          <a:latin typeface="Calibri"/>
                        </a:rPr>
                        <a:t>Lunch break</a:t>
                      </a:r>
                    </a:p>
                  </a:txBody>
                  <a:tcPr marL="64008" marR="64008" marT="27432" marB="27432" anchor="ctr">
                    <a:solidFill>
                      <a:srgbClr val="FFFFFF"/>
                    </a:solidFill>
                  </a:tcPr>
                </a:tc>
                <a:tc>
                  <a:txBody>
                    <a:bodyPr wrap="square"/>
                    <a:lstStyle/>
                    <a:p>
                      <a:r>
                        <a:rPr b="0" sz="1050">
                          <a:solidFill>
                            <a:srgbClr val="6B6862"/>
                          </a:solidFill>
                          <a:latin typeface="Calibri"/>
                        </a:rPr>
                        <a:t>—</a:t>
                      </a:r>
                    </a:p>
                  </a:txBody>
                  <a:tcPr marL="64008" marR="64008" marT="27432" marB="27432" anchor="ctr">
                    <a:solidFill>
                      <a:srgbClr val="FFFFFF"/>
                    </a:solidFill>
                  </a:tcPr>
                </a:tc>
              </a:tr>
              <a:tr h="320040">
                <a:tc>
                  <a:txBody>
                    <a:bodyPr wrap="square"/>
                    <a:lstStyle/>
                    <a:p>
                      <a:r>
                        <a:rPr b="1" sz="1050">
                          <a:solidFill>
                            <a:srgbClr val="21201C"/>
                          </a:solidFill>
                          <a:latin typeface="Cambria"/>
                        </a:rPr>
                        <a:t>14:30–15:30</a:t>
                      </a:r>
                    </a:p>
                  </a:txBody>
                  <a:tcPr marL="64008" marR="64008" marT="27432" marB="27432" anchor="ctr">
                    <a:solidFill>
                      <a:srgbClr val="F3F1EB"/>
                    </a:solidFill>
                  </a:tcPr>
                </a:tc>
                <a:tc>
                  <a:txBody>
                    <a:bodyPr wrap="square"/>
                    <a:lstStyle/>
                    <a:p>
                      <a:r>
                        <a:rPr b="0" sz="1050">
                          <a:solidFill>
                            <a:srgbClr val="6B6862"/>
                          </a:solidFill>
                          <a:latin typeface="Calibri"/>
                        </a:rPr>
                        <a:t>Lab 2: End-to-End Social Media Campaign with one agent (skills + tools)</a:t>
                      </a:r>
                    </a:p>
                  </a:txBody>
                  <a:tcPr marL="64008" marR="64008" marT="27432" marB="27432" anchor="ctr">
                    <a:solidFill>
                      <a:srgbClr val="F3F1EB"/>
                    </a:solidFill>
                  </a:tcPr>
                </a:tc>
                <a:tc>
                  <a:txBody>
                    <a:bodyPr wrap="square"/>
                    <a:lstStyle/>
                    <a:p>
                      <a:r>
                        <a:rPr b="0" sz="1050">
                          <a:solidFill>
                            <a:srgbClr val="6B6862"/>
                          </a:solidFill>
                          <a:latin typeface="Calibri"/>
                        </a:rPr>
                        <a:t>LU1</a:t>
                      </a:r>
                    </a:p>
                  </a:txBody>
                  <a:tcPr marL="64008" marR="64008" marT="27432" marB="27432" anchor="ctr">
                    <a:solidFill>
                      <a:srgbClr val="F3F1EB"/>
                    </a:solidFill>
                  </a:tcPr>
                </a:tc>
              </a:tr>
              <a:tr h="320040">
                <a:tc>
                  <a:txBody>
                    <a:bodyPr wrap="square"/>
                    <a:lstStyle/>
                    <a:p>
                      <a:r>
                        <a:rPr b="1" sz="1050">
                          <a:solidFill>
                            <a:srgbClr val="21201C"/>
                          </a:solidFill>
                          <a:latin typeface="Cambria"/>
                        </a:rPr>
                        <a:t>15:30–16:15</a:t>
                      </a:r>
                    </a:p>
                  </a:txBody>
                  <a:tcPr marL="64008" marR="64008" marT="27432" marB="27432" anchor="ctr">
                    <a:solidFill>
                      <a:srgbClr val="FFFFFF"/>
                    </a:solidFill>
                  </a:tcPr>
                </a:tc>
                <a:tc>
                  <a:txBody>
                    <a:bodyPr wrap="square"/>
                    <a:lstStyle/>
                    <a:p>
                      <a:r>
                        <a:rPr b="0" sz="1050">
                          <a:solidFill>
                            <a:srgbClr val="6B6862"/>
                          </a:solidFill>
                          <a:latin typeface="Calibri"/>
                        </a:rPr>
                        <a:t>Lab 3: Human-in-the-Loop Publishing &amp; Community Care (Telegram + cron)</a:t>
                      </a:r>
                    </a:p>
                  </a:txBody>
                  <a:tcPr marL="64008" marR="64008" marT="27432" marB="27432" anchor="ctr">
                    <a:solidFill>
                      <a:srgbClr val="FFFFFF"/>
                    </a:solidFill>
                  </a:tcPr>
                </a:tc>
                <a:tc>
                  <a:txBody>
                    <a:bodyPr wrap="square"/>
                    <a:lstStyle/>
                    <a:p>
                      <a:r>
                        <a:rPr b="0" sz="1050">
                          <a:solidFill>
                            <a:srgbClr val="6B6862"/>
                          </a:solidFill>
                          <a:latin typeface="Calibri"/>
                        </a:rPr>
                        <a:t>LU2</a:t>
                      </a:r>
                    </a:p>
                  </a:txBody>
                  <a:tcPr marL="64008" marR="64008" marT="27432" marB="27432" anchor="ctr">
                    <a:solidFill>
                      <a:srgbClr val="FFFFFF"/>
                    </a:solidFill>
                  </a:tcPr>
                </a:tc>
              </a:tr>
              <a:tr h="320040">
                <a:tc>
                  <a:txBody>
                    <a:bodyPr wrap="square"/>
                    <a:lstStyle/>
                    <a:p>
                      <a:r>
                        <a:rPr b="1" sz="1050">
                          <a:solidFill>
                            <a:srgbClr val="21201C"/>
                          </a:solidFill>
                          <a:latin typeface="Cambria"/>
                        </a:rPr>
                        <a:t>16:15–16:30</a:t>
                      </a:r>
                    </a:p>
                  </a:txBody>
                  <a:tcPr marL="64008" marR="64008" marT="27432" marB="27432" anchor="ctr">
                    <a:solidFill>
                      <a:srgbClr val="F3F1EB"/>
                    </a:solidFill>
                  </a:tcPr>
                </a:tc>
                <a:tc>
                  <a:txBody>
                    <a:bodyPr wrap="square"/>
                    <a:lstStyle/>
                    <a:p>
                      <a:r>
                        <a:rPr b="0" sz="1050">
                          <a:solidFill>
                            <a:srgbClr val="6B6862"/>
                          </a:solidFill>
                          <a:latin typeface="Calibri"/>
                        </a:rPr>
                        <a:t>Tea break</a:t>
                      </a:r>
                    </a:p>
                  </a:txBody>
                  <a:tcPr marL="64008" marR="64008" marT="27432" marB="27432" anchor="ctr">
                    <a:solidFill>
                      <a:srgbClr val="F3F1EB"/>
                    </a:solidFill>
                  </a:tcPr>
                </a:tc>
                <a:tc>
                  <a:txBody>
                    <a:bodyPr wrap="square"/>
                    <a:lstStyle/>
                    <a:p>
                      <a:r>
                        <a:rPr b="0" sz="1050">
                          <a:solidFill>
                            <a:srgbClr val="6B6862"/>
                          </a:solidFill>
                          <a:latin typeface="Calibri"/>
                        </a:rPr>
                        <a:t>LU2</a:t>
                      </a:r>
                    </a:p>
                  </a:txBody>
                  <a:tcPr marL="64008" marR="64008" marT="27432" marB="27432" anchor="ctr">
                    <a:solidFill>
                      <a:srgbClr val="F3F1EB"/>
                    </a:solidFill>
                  </a:tcPr>
                </a:tc>
              </a:tr>
              <a:tr h="320040">
                <a:tc>
                  <a:txBody>
                    <a:bodyPr wrap="square"/>
                    <a:lstStyle/>
                    <a:p>
                      <a:r>
                        <a:rPr b="1" sz="1050">
                          <a:solidFill>
                            <a:srgbClr val="21201C"/>
                          </a:solidFill>
                          <a:latin typeface="Cambria"/>
                        </a:rPr>
                        <a:t>16:30–17:30</a:t>
                      </a:r>
                    </a:p>
                  </a:txBody>
                  <a:tcPr marL="64008" marR="64008" marT="27432" marB="27432" anchor="ctr">
                    <a:solidFill>
                      <a:srgbClr val="FFFFFF"/>
                    </a:solidFill>
                  </a:tcPr>
                </a:tc>
                <a:tc>
                  <a:txBody>
                    <a:bodyPr wrap="square"/>
                    <a:lstStyle/>
                    <a:p>
                      <a:r>
                        <a:rPr b="0" sz="1050">
                          <a:solidFill>
                            <a:srgbClr val="6B6862"/>
                          </a:solidFill>
                          <a:latin typeface="Calibri"/>
                        </a:rPr>
                        <a:t>Lab 4: Multi-Agent Video Studio — research → script → production → audit → publish</a:t>
                      </a:r>
                    </a:p>
                  </a:txBody>
                  <a:tcPr marL="64008" marR="64008" marT="27432" marB="27432" anchor="ctr">
                    <a:solidFill>
                      <a:srgbClr val="FFFFFF"/>
                    </a:solidFill>
                  </a:tcPr>
                </a:tc>
                <a:tc>
                  <a:txBody>
                    <a:bodyPr wrap="square"/>
                    <a:lstStyle/>
                    <a:p>
                      <a:r>
                        <a:rPr b="0" sz="1050">
                          <a:solidFill>
                            <a:srgbClr val="6B6862"/>
                          </a:solidFill>
                          <a:latin typeface="Calibri"/>
                        </a:rPr>
                        <a:t>LU2</a:t>
                      </a:r>
                    </a:p>
                  </a:txBody>
                  <a:tcPr marL="64008" marR="64008" marT="27432" marB="27432" anchor="ctr">
                    <a:solidFill>
                      <a:srgbClr val="FFFFFF"/>
                    </a:solidFill>
                  </a:tcPr>
                </a:tc>
              </a:tr>
              <a:tr h="320040">
                <a:tc>
                  <a:txBody>
                    <a:bodyPr wrap="square"/>
                    <a:lstStyle/>
                    <a:p>
                      <a:r>
                        <a:rPr b="1" sz="1050">
                          <a:solidFill>
                            <a:srgbClr val="21201C"/>
                          </a:solidFill>
                          <a:latin typeface="Cambria"/>
                        </a:rPr>
                        <a:t>17:30–18:15</a:t>
                      </a:r>
                    </a:p>
                  </a:txBody>
                  <a:tcPr marL="64008" marR="64008" marT="27432" marB="27432" anchor="ctr">
                    <a:solidFill>
                      <a:srgbClr val="F3F1EB"/>
                    </a:solidFill>
                  </a:tcPr>
                </a:tc>
                <a:tc>
                  <a:txBody>
                    <a:bodyPr wrap="square"/>
                    <a:lstStyle/>
                    <a:p>
                      <a:r>
                        <a:rPr b="0" sz="1050">
                          <a:solidFill>
                            <a:srgbClr val="6B6862"/>
                          </a:solidFill>
                          <a:latin typeface="Calibri"/>
                        </a:rPr>
                        <a:t>Lab 5: Multi-Agent Campaign Command Centre — measure, optimise &amp; report</a:t>
                      </a:r>
                    </a:p>
                  </a:txBody>
                  <a:tcPr marL="64008" marR="64008" marT="27432" marB="27432" anchor="ctr">
                    <a:solidFill>
                      <a:srgbClr val="F3F1EB"/>
                    </a:solidFill>
                  </a:tcPr>
                </a:tc>
                <a:tc>
                  <a:txBody>
                    <a:bodyPr wrap="square"/>
                    <a:lstStyle/>
                    <a:p>
                      <a:r>
                        <a:rPr b="0" sz="1050">
                          <a:solidFill>
                            <a:srgbClr val="6B6862"/>
                          </a:solidFill>
                          <a:latin typeface="Calibri"/>
                        </a:rPr>
                        <a:t>LU2</a:t>
                      </a:r>
                    </a:p>
                  </a:txBody>
                  <a:tcPr marL="64008" marR="64008" marT="27432" marB="27432" anchor="ctr">
                    <a:solidFill>
                      <a:srgbClr val="F3F1EB"/>
                    </a:solidFill>
                  </a:tcPr>
                </a:tc>
              </a:tr>
              <a:tr h="320040">
                <a:tc>
                  <a:txBody>
                    <a:bodyPr wrap="square"/>
                    <a:lstStyle/>
                    <a:p>
                      <a:r>
                        <a:rPr b="1" sz="1050">
                          <a:solidFill>
                            <a:srgbClr val="21201C"/>
                          </a:solidFill>
                          <a:latin typeface="Cambria"/>
                        </a:rPr>
                        <a:t>18:15–18:30</a:t>
                      </a:r>
                    </a:p>
                  </a:txBody>
                  <a:tcPr marL="64008" marR="64008" marT="27432" marB="27432" anchor="ctr">
                    <a:solidFill>
                      <a:srgbClr val="FFFFFF"/>
                    </a:solidFill>
                  </a:tcPr>
                </a:tc>
                <a:tc>
                  <a:txBody>
                    <a:bodyPr wrap="square"/>
                    <a:lstStyle/>
                    <a:p>
                      <a:r>
                        <a:rPr b="0" sz="1050">
                          <a:solidFill>
                            <a:srgbClr val="6B6862"/>
                          </a:solidFill>
                          <a:latin typeface="Calibri"/>
                        </a:rPr>
                        <a:t>Day 1 recap, Q&amp;A and PM digital attendance</a:t>
                      </a:r>
                    </a:p>
                  </a:txBody>
                  <a:tcPr marL="64008" marR="64008" marT="27432" marB="27432" anchor="ctr">
                    <a:solidFill>
                      <a:srgbClr val="FFFFFF"/>
                    </a:solidFill>
                  </a:tcPr>
                </a:tc>
                <a:tc>
                  <a:txBody>
                    <a:bodyPr wrap="square"/>
                    <a:lstStyle/>
                    <a:p>
                      <a:r>
                        <a:rPr b="0" sz="1050">
                          <a:solidFill>
                            <a:srgbClr val="6B6862"/>
                          </a:solidFill>
                          <a:latin typeface="Calibri"/>
                        </a:rPr>
                        <a:t>LU2</a:t>
                      </a:r>
                    </a:p>
                  </a:txBody>
                  <a:tcPr marL="64008" marR="64008" marT="27432" marB="27432" anchor="ctr">
                    <a:solidFill>
                      <a:srgbClr val="FFFFFF"/>
                    </a:solidFill>
                  </a:tcPr>
                </a:tc>
              </a:tr>
            </a:tbl>
          </a:graphicData>
        </a:graphic>
      </p:graphicFrame>
    </p:spTree>
  </p:cSld>
  <p:clrMapOvr>
    <a:masterClrMapping/>
  </p:clrMapOvr>
  <p:transition spd="med">
    <p:fade/>
  </p:transition>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ROADMAP</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Lesson Plan — Day 2 (9:30 AM – 6:30 PM)</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11</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graphicFrame>
        <p:nvGraphicFramePr>
          <p:cNvPr id="7" name="Table 6"/>
          <p:cNvGraphicFramePr>
            <a:graphicFrameLocks noGrp="1"/>
          </p:cNvGraphicFramePr>
          <p:nvPr/>
        </p:nvGraphicFramePr>
        <p:xfrm>
          <a:off x="548640" y="1691640"/>
          <a:ext cx="11064240" cy="4480560"/>
        </p:xfrm>
        <a:graphic>
          <a:graphicData uri="http://schemas.openxmlformats.org/drawingml/2006/table">
            <a:tbl>
              <a:tblPr firstRow="0" bandRow="0">
                <a:tableStyleId>{5C22544A-7EE6-4342-B048-85BDC9FD1C3A}</a:tableStyleId>
              </a:tblPr>
              <a:tblGrid>
                <a:gridCol w="1371600"/>
                <a:gridCol w="8869680"/>
                <a:gridCol w="822960"/>
              </a:tblGrid>
              <a:tr h="298704">
                <a:tc>
                  <a:txBody>
                    <a:bodyPr wrap="square"/>
                    <a:lstStyle/>
                    <a:p>
                      <a:r>
                        <a:rPr b="1" sz="1150">
                          <a:solidFill>
                            <a:srgbClr val="FFFFFF"/>
                          </a:solidFill>
                          <a:latin typeface="Cambria"/>
                        </a:rPr>
                        <a:t>Time</a:t>
                      </a:r>
                    </a:p>
                  </a:txBody>
                  <a:tcPr marL="64008" marR="64008" marT="27432" marB="27432" anchor="ctr">
                    <a:solidFill>
                      <a:srgbClr val="21201C"/>
                    </a:solidFill>
                  </a:tcPr>
                </a:tc>
                <a:tc>
                  <a:txBody>
                    <a:bodyPr wrap="square"/>
                    <a:lstStyle/>
                    <a:p>
                      <a:r>
                        <a:rPr b="1" sz="1150">
                          <a:solidFill>
                            <a:srgbClr val="FFFFFF"/>
                          </a:solidFill>
                          <a:latin typeface="Cambria"/>
                        </a:rPr>
                        <a:t>Session</a:t>
                      </a:r>
                    </a:p>
                  </a:txBody>
                  <a:tcPr marL="64008" marR="64008" marT="27432" marB="27432" anchor="ctr">
                    <a:solidFill>
                      <a:srgbClr val="21201C"/>
                    </a:solidFill>
                  </a:tcPr>
                </a:tc>
                <a:tc>
                  <a:txBody>
                    <a:bodyPr wrap="square"/>
                    <a:lstStyle/>
                    <a:p>
                      <a:r>
                        <a:rPr b="1" sz="1150">
                          <a:solidFill>
                            <a:srgbClr val="FFFFFF"/>
                          </a:solidFill>
                          <a:latin typeface="Cambria"/>
                        </a:rPr>
                        <a:t>LU</a:t>
                      </a:r>
                    </a:p>
                  </a:txBody>
                  <a:tcPr marL="64008" marR="64008" marT="27432" marB="27432" anchor="ctr">
                    <a:solidFill>
                      <a:srgbClr val="21201C"/>
                    </a:solidFill>
                  </a:tcPr>
                </a:tc>
              </a:tr>
              <a:tr h="298704">
                <a:tc>
                  <a:txBody>
                    <a:bodyPr wrap="square"/>
                    <a:lstStyle/>
                    <a:p>
                      <a:r>
                        <a:rPr b="1" sz="1100">
                          <a:solidFill>
                            <a:srgbClr val="21201C"/>
                          </a:solidFill>
                          <a:latin typeface="Cambria"/>
                        </a:rPr>
                        <a:t>9:30–9:45</a:t>
                      </a:r>
                    </a:p>
                  </a:txBody>
                  <a:tcPr marL="64008" marR="64008" marT="27432" marB="27432" anchor="ctr">
                    <a:solidFill>
                      <a:srgbClr val="FFFFFF"/>
                    </a:solidFill>
                  </a:tcPr>
                </a:tc>
                <a:tc>
                  <a:txBody>
                    <a:bodyPr wrap="square"/>
                    <a:lstStyle/>
                    <a:p>
                      <a:r>
                        <a:rPr b="0" sz="1100">
                          <a:solidFill>
                            <a:srgbClr val="6B6862"/>
                          </a:solidFill>
                          <a:latin typeface="Calibri"/>
                        </a:rPr>
                        <a:t>Day 1 recap and AM digital attendance</a:t>
                      </a:r>
                    </a:p>
                  </a:txBody>
                  <a:tcPr marL="64008" marR="64008" marT="27432" marB="27432" anchor="ctr">
                    <a:solidFill>
                      <a:srgbClr val="FFFFFF"/>
                    </a:solidFill>
                  </a:tcPr>
                </a:tc>
                <a:tc>
                  <a:txBody>
                    <a:bodyPr wrap="square"/>
                    <a:lstStyle/>
                    <a:p>
                      <a:r>
                        <a:rPr b="0" sz="1100">
                          <a:solidFill>
                            <a:srgbClr val="6B6862"/>
                          </a:solidFill>
                          <a:latin typeface="Calibri"/>
                        </a:rPr>
                        <a:t>LU2</a:t>
                      </a:r>
                    </a:p>
                  </a:txBody>
                  <a:tcPr marL="64008" marR="64008" marT="27432" marB="27432" anchor="ctr">
                    <a:solidFill>
                      <a:srgbClr val="FFFFFF"/>
                    </a:solidFill>
                  </a:tcPr>
                </a:tc>
              </a:tr>
              <a:tr h="298704">
                <a:tc>
                  <a:txBody>
                    <a:bodyPr wrap="square"/>
                    <a:lstStyle/>
                    <a:p>
                      <a:r>
                        <a:rPr b="1" sz="1100">
                          <a:solidFill>
                            <a:srgbClr val="21201C"/>
                          </a:solidFill>
                          <a:latin typeface="Cambria"/>
                        </a:rPr>
                        <a:t>9:45–10:15</a:t>
                      </a:r>
                    </a:p>
                  </a:txBody>
                  <a:tcPr marL="64008" marR="64008" marT="27432" marB="27432" anchor="ctr">
                    <a:solidFill>
                      <a:srgbClr val="F3F1EB"/>
                    </a:solidFill>
                  </a:tcPr>
                </a:tc>
                <a:tc>
                  <a:txBody>
                    <a:bodyPr wrap="square"/>
                    <a:lstStyle/>
                    <a:p>
                      <a:r>
                        <a:rPr b="0" sz="1100">
                          <a:solidFill>
                            <a:srgbClr val="6B6862"/>
                          </a:solidFill>
                          <a:latin typeface="Calibri"/>
                        </a:rPr>
                        <a:t>Topic 3 — Paperclip: the company as the agent harness; Board, CEO and org chart; adapters; goals, projects and tasks; routines and heartbeats; budgets, approvals and the audit trail</a:t>
                      </a:r>
                    </a:p>
                  </a:txBody>
                  <a:tcPr marL="64008" marR="64008" marT="27432" marB="27432" anchor="ctr">
                    <a:solidFill>
                      <a:srgbClr val="F3F1EB"/>
                    </a:solidFill>
                  </a:tcPr>
                </a:tc>
                <a:tc>
                  <a:txBody>
                    <a:bodyPr wrap="square"/>
                    <a:lstStyle/>
                    <a:p>
                      <a:r>
                        <a:rPr b="0" sz="1100">
                          <a:solidFill>
                            <a:srgbClr val="6B6862"/>
                          </a:solidFill>
                          <a:latin typeface="Calibri"/>
                        </a:rPr>
                        <a:t>LU2</a:t>
                      </a:r>
                    </a:p>
                  </a:txBody>
                  <a:tcPr marL="64008" marR="64008" marT="27432" marB="27432" anchor="ctr">
                    <a:solidFill>
                      <a:srgbClr val="F3F1EB"/>
                    </a:solidFill>
                  </a:tcPr>
                </a:tc>
              </a:tr>
              <a:tr h="298704">
                <a:tc>
                  <a:txBody>
                    <a:bodyPr wrap="square"/>
                    <a:lstStyle/>
                    <a:p>
                      <a:r>
                        <a:rPr b="1" sz="1100">
                          <a:solidFill>
                            <a:srgbClr val="21201C"/>
                          </a:solidFill>
                          <a:latin typeface="Cambria"/>
                        </a:rPr>
                        <a:t>10:15–11:15</a:t>
                      </a:r>
                    </a:p>
                  </a:txBody>
                  <a:tcPr marL="64008" marR="64008" marT="27432" marB="27432" anchor="ctr">
                    <a:solidFill>
                      <a:srgbClr val="FFFFFF"/>
                    </a:solidFill>
                  </a:tcPr>
                </a:tc>
                <a:tc>
                  <a:txBody>
                    <a:bodyPr wrap="square"/>
                    <a:lstStyle/>
                    <a:p>
                      <a:r>
                        <a:rPr b="0" sz="1100">
                          <a:solidFill>
                            <a:srgbClr val="6B6862"/>
                          </a:solidFill>
                          <a:latin typeface="Calibri"/>
                        </a:rPr>
                        <a:t>Lab 6: Found Kopi Kaki Growth Studio — an AI company you govern</a:t>
                      </a:r>
                    </a:p>
                  </a:txBody>
                  <a:tcPr marL="64008" marR="64008" marT="27432" marB="27432" anchor="ctr">
                    <a:solidFill>
                      <a:srgbClr val="FFFFFF"/>
                    </a:solidFill>
                  </a:tcPr>
                </a:tc>
                <a:tc>
                  <a:txBody>
                    <a:bodyPr wrap="square"/>
                    <a:lstStyle/>
                    <a:p>
                      <a:r>
                        <a:rPr b="0" sz="1100">
                          <a:solidFill>
                            <a:srgbClr val="6B6862"/>
                          </a:solidFill>
                          <a:latin typeface="Calibri"/>
                        </a:rPr>
                        <a:t>LU2</a:t>
                      </a:r>
                    </a:p>
                  </a:txBody>
                  <a:tcPr marL="64008" marR="64008" marT="27432" marB="27432" anchor="ctr">
                    <a:solidFill>
                      <a:srgbClr val="FFFFFF"/>
                    </a:solidFill>
                  </a:tcPr>
                </a:tc>
              </a:tr>
              <a:tr h="298704">
                <a:tc>
                  <a:txBody>
                    <a:bodyPr wrap="square"/>
                    <a:lstStyle/>
                    <a:p>
                      <a:r>
                        <a:rPr b="1" sz="1100">
                          <a:solidFill>
                            <a:srgbClr val="21201C"/>
                          </a:solidFill>
                          <a:latin typeface="Cambria"/>
                        </a:rPr>
                        <a:t>11:15–11:30</a:t>
                      </a:r>
                    </a:p>
                  </a:txBody>
                  <a:tcPr marL="64008" marR="64008" marT="27432" marB="27432" anchor="ctr">
                    <a:solidFill>
                      <a:srgbClr val="F3F1EB"/>
                    </a:solidFill>
                  </a:tcPr>
                </a:tc>
                <a:tc>
                  <a:txBody>
                    <a:bodyPr wrap="square"/>
                    <a:lstStyle/>
                    <a:p>
                      <a:r>
                        <a:rPr b="0" sz="1100">
                          <a:solidFill>
                            <a:srgbClr val="6B6862"/>
                          </a:solidFill>
                          <a:latin typeface="Calibri"/>
                        </a:rPr>
                        <a:t>Tea break</a:t>
                      </a:r>
                    </a:p>
                  </a:txBody>
                  <a:tcPr marL="64008" marR="64008" marT="27432" marB="27432" anchor="ctr">
                    <a:solidFill>
                      <a:srgbClr val="F3F1EB"/>
                    </a:solidFill>
                  </a:tcPr>
                </a:tc>
                <a:tc>
                  <a:txBody>
                    <a:bodyPr wrap="square"/>
                    <a:lstStyle/>
                    <a:p>
                      <a:r>
                        <a:rPr b="0" sz="1100">
                          <a:solidFill>
                            <a:srgbClr val="6B6862"/>
                          </a:solidFill>
                          <a:latin typeface="Calibri"/>
                        </a:rPr>
                        <a:t>LU2</a:t>
                      </a:r>
                    </a:p>
                  </a:txBody>
                  <a:tcPr marL="64008" marR="64008" marT="27432" marB="27432" anchor="ctr">
                    <a:solidFill>
                      <a:srgbClr val="F3F1EB"/>
                    </a:solidFill>
                  </a:tcPr>
                </a:tc>
              </a:tr>
              <a:tr h="298704">
                <a:tc>
                  <a:txBody>
                    <a:bodyPr wrap="square"/>
                    <a:lstStyle/>
                    <a:p>
                      <a:r>
                        <a:rPr b="1" sz="1100">
                          <a:solidFill>
                            <a:srgbClr val="21201C"/>
                          </a:solidFill>
                          <a:latin typeface="Cambria"/>
                        </a:rPr>
                        <a:t>11:30–12:15</a:t>
                      </a:r>
                    </a:p>
                  </a:txBody>
                  <a:tcPr marL="64008" marR="64008" marT="27432" marB="27432" anchor="ctr">
                    <a:solidFill>
                      <a:srgbClr val="FFFFFF"/>
                    </a:solidFill>
                  </a:tcPr>
                </a:tc>
                <a:tc>
                  <a:txBody>
                    <a:bodyPr wrap="square"/>
                    <a:lstStyle/>
                    <a:p>
                      <a:r>
                        <a:rPr b="0" sz="1100">
                          <a:solidFill>
                            <a:srgbClr val="6B6862"/>
                          </a:solidFill>
                          <a:latin typeface="Calibri"/>
                        </a:rPr>
                        <a:t>Lab 7: Hire the Marketing Team through the Board approval gate</a:t>
                      </a:r>
                    </a:p>
                  </a:txBody>
                  <a:tcPr marL="64008" marR="64008" marT="27432" marB="27432" anchor="ctr">
                    <a:solidFill>
                      <a:srgbClr val="FFFFFF"/>
                    </a:solidFill>
                  </a:tcPr>
                </a:tc>
                <a:tc>
                  <a:txBody>
                    <a:bodyPr wrap="square"/>
                    <a:lstStyle/>
                    <a:p>
                      <a:r>
                        <a:rPr b="0" sz="1100">
                          <a:solidFill>
                            <a:srgbClr val="6B6862"/>
                          </a:solidFill>
                          <a:latin typeface="Calibri"/>
                        </a:rPr>
                        <a:t>LU3</a:t>
                      </a:r>
                    </a:p>
                  </a:txBody>
                  <a:tcPr marL="64008" marR="64008" marT="27432" marB="27432" anchor="ctr">
                    <a:solidFill>
                      <a:srgbClr val="FFFFFF"/>
                    </a:solidFill>
                  </a:tcPr>
                </a:tc>
              </a:tr>
              <a:tr h="298704">
                <a:tc>
                  <a:txBody>
                    <a:bodyPr wrap="square"/>
                    <a:lstStyle/>
                    <a:p>
                      <a:r>
                        <a:rPr b="1" sz="1100">
                          <a:solidFill>
                            <a:srgbClr val="21201C"/>
                          </a:solidFill>
                          <a:latin typeface="Cambria"/>
                        </a:rPr>
                        <a:t>12:15–13:15</a:t>
                      </a:r>
                    </a:p>
                  </a:txBody>
                  <a:tcPr marL="64008" marR="64008" marT="27432" marB="27432" anchor="ctr">
                    <a:solidFill>
                      <a:srgbClr val="F3F1EB"/>
                    </a:solidFill>
                  </a:tcPr>
                </a:tc>
                <a:tc>
                  <a:txBody>
                    <a:bodyPr wrap="square"/>
                    <a:lstStyle/>
                    <a:p>
                      <a:r>
                        <a:rPr b="0" sz="1100">
                          <a:solidFill>
                            <a:srgbClr val="6B6862"/>
                          </a:solidFill>
                          <a:latin typeface="Calibri"/>
                        </a:rPr>
                        <a:t>Lunch break</a:t>
                      </a:r>
                    </a:p>
                  </a:txBody>
                  <a:tcPr marL="64008" marR="64008" marT="27432" marB="27432" anchor="ctr">
                    <a:solidFill>
                      <a:srgbClr val="F3F1EB"/>
                    </a:solidFill>
                  </a:tcPr>
                </a:tc>
                <a:tc>
                  <a:txBody>
                    <a:bodyPr wrap="square"/>
                    <a:lstStyle/>
                    <a:p>
                      <a:r>
                        <a:rPr b="0" sz="1100">
                          <a:solidFill>
                            <a:srgbClr val="6B6862"/>
                          </a:solidFill>
                          <a:latin typeface="Calibri"/>
                        </a:rPr>
                        <a:t>—</a:t>
                      </a:r>
                    </a:p>
                  </a:txBody>
                  <a:tcPr marL="64008" marR="64008" marT="27432" marB="27432" anchor="ctr">
                    <a:solidFill>
                      <a:srgbClr val="F3F1EB"/>
                    </a:solidFill>
                  </a:tcPr>
                </a:tc>
              </a:tr>
              <a:tr h="298704">
                <a:tc>
                  <a:txBody>
                    <a:bodyPr wrap="square"/>
                    <a:lstStyle/>
                    <a:p>
                      <a:r>
                        <a:rPr b="1" sz="1100">
                          <a:solidFill>
                            <a:srgbClr val="21201C"/>
                          </a:solidFill>
                          <a:latin typeface="Cambria"/>
                        </a:rPr>
                        <a:t>13:15–14:10</a:t>
                      </a:r>
                    </a:p>
                  </a:txBody>
                  <a:tcPr marL="64008" marR="64008" marT="27432" marB="27432" anchor="ctr">
                    <a:solidFill>
                      <a:srgbClr val="FFFFFF"/>
                    </a:solidFill>
                  </a:tcPr>
                </a:tc>
                <a:tc>
                  <a:txBody>
                    <a:bodyPr wrap="square"/>
                    <a:lstStyle/>
                    <a:p>
                      <a:r>
                        <a:rPr b="0" sz="1100">
                          <a:solidFill>
                            <a:srgbClr val="6B6862"/>
                          </a:solidFill>
                          <a:latin typeface="Calibri"/>
                        </a:rPr>
                        <a:t>Lab 8: Run the #ShiokColdBrew launch as a project — review, revise, release</a:t>
                      </a:r>
                    </a:p>
                  </a:txBody>
                  <a:tcPr marL="64008" marR="64008" marT="27432" marB="27432" anchor="ctr">
                    <a:solidFill>
                      <a:srgbClr val="FFFFFF"/>
                    </a:solidFill>
                  </a:tcPr>
                </a:tc>
                <a:tc>
                  <a:txBody>
                    <a:bodyPr wrap="square"/>
                    <a:lstStyle/>
                    <a:p>
                      <a:r>
                        <a:rPr b="0" sz="1100">
                          <a:solidFill>
                            <a:srgbClr val="6B6862"/>
                          </a:solidFill>
                          <a:latin typeface="Calibri"/>
                        </a:rPr>
                        <a:t>LU3</a:t>
                      </a:r>
                    </a:p>
                  </a:txBody>
                  <a:tcPr marL="64008" marR="64008" marT="27432" marB="27432" anchor="ctr">
                    <a:solidFill>
                      <a:srgbClr val="FFFFFF"/>
                    </a:solidFill>
                  </a:tcPr>
                </a:tc>
              </a:tr>
              <a:tr h="298704">
                <a:tc>
                  <a:txBody>
                    <a:bodyPr wrap="square"/>
                    <a:lstStyle/>
                    <a:p>
                      <a:r>
                        <a:rPr b="1" sz="1100">
                          <a:solidFill>
                            <a:srgbClr val="21201C"/>
                          </a:solidFill>
                          <a:latin typeface="Cambria"/>
                        </a:rPr>
                        <a:t>14:10–14:55</a:t>
                      </a:r>
                    </a:p>
                  </a:txBody>
                  <a:tcPr marL="64008" marR="64008" marT="27432" marB="27432" anchor="ctr">
                    <a:solidFill>
                      <a:srgbClr val="F3F1EB"/>
                    </a:solidFill>
                  </a:tcPr>
                </a:tc>
                <a:tc>
                  <a:txBody>
                    <a:bodyPr wrap="square"/>
                    <a:lstStyle/>
                    <a:p>
                      <a:r>
                        <a:rPr b="0" sz="1100">
                          <a:solidFill>
                            <a:srgbClr val="6B6862"/>
                          </a:solidFill>
                          <a:latin typeface="Calibri"/>
                        </a:rPr>
                        <a:t>Lab 9: Automate the weekly video pipeline with a routine and a Board gate</a:t>
                      </a:r>
                    </a:p>
                  </a:txBody>
                  <a:tcPr marL="64008" marR="64008" marT="27432" marB="27432" anchor="ctr">
                    <a:solidFill>
                      <a:srgbClr val="F3F1EB"/>
                    </a:solidFill>
                  </a:tcPr>
                </a:tc>
                <a:tc>
                  <a:txBody>
                    <a:bodyPr wrap="square"/>
                    <a:lstStyle/>
                    <a:p>
                      <a:r>
                        <a:rPr b="0" sz="1100">
                          <a:solidFill>
                            <a:srgbClr val="6B6862"/>
                          </a:solidFill>
                          <a:latin typeface="Calibri"/>
                        </a:rPr>
                        <a:t>LU3</a:t>
                      </a:r>
                    </a:p>
                  </a:txBody>
                  <a:tcPr marL="64008" marR="64008" marT="27432" marB="27432" anchor="ctr">
                    <a:solidFill>
                      <a:srgbClr val="F3F1EB"/>
                    </a:solidFill>
                  </a:tcPr>
                </a:tc>
              </a:tr>
              <a:tr h="298704">
                <a:tc>
                  <a:txBody>
                    <a:bodyPr wrap="square"/>
                    <a:lstStyle/>
                    <a:p>
                      <a:r>
                        <a:rPr b="1" sz="1100">
                          <a:solidFill>
                            <a:srgbClr val="21201C"/>
                          </a:solidFill>
                          <a:latin typeface="Cambria"/>
                        </a:rPr>
                        <a:t>14:55–15:10</a:t>
                      </a:r>
                    </a:p>
                  </a:txBody>
                  <a:tcPr marL="64008" marR="64008" marT="27432" marB="27432" anchor="ctr">
                    <a:solidFill>
                      <a:srgbClr val="FFFFFF"/>
                    </a:solidFill>
                  </a:tcPr>
                </a:tc>
                <a:tc>
                  <a:txBody>
                    <a:bodyPr wrap="square"/>
                    <a:lstStyle/>
                    <a:p>
                      <a:r>
                        <a:rPr b="0" sz="1100">
                          <a:solidFill>
                            <a:srgbClr val="6B6862"/>
                          </a:solidFill>
                          <a:latin typeface="Calibri"/>
                        </a:rPr>
                        <a:t>Tea break</a:t>
                      </a:r>
                    </a:p>
                  </a:txBody>
                  <a:tcPr marL="64008" marR="64008" marT="27432" marB="27432" anchor="ctr">
                    <a:solidFill>
                      <a:srgbClr val="FFFFFF"/>
                    </a:solidFill>
                  </a:tcPr>
                </a:tc>
                <a:tc>
                  <a:txBody>
                    <a:bodyPr wrap="square"/>
                    <a:lstStyle/>
                    <a:p>
                      <a:r>
                        <a:rPr b="0" sz="1100">
                          <a:solidFill>
                            <a:srgbClr val="6B6862"/>
                          </a:solidFill>
                          <a:latin typeface="Calibri"/>
                        </a:rPr>
                        <a:t>LU3</a:t>
                      </a:r>
                    </a:p>
                  </a:txBody>
                  <a:tcPr marL="64008" marR="64008" marT="27432" marB="27432" anchor="ctr">
                    <a:solidFill>
                      <a:srgbClr val="FFFFFF"/>
                    </a:solidFill>
                  </a:tcPr>
                </a:tc>
              </a:tr>
              <a:tr h="298704">
                <a:tc>
                  <a:txBody>
                    <a:bodyPr wrap="square"/>
                    <a:lstStyle/>
                    <a:p>
                      <a:r>
                        <a:rPr b="1" sz="1100">
                          <a:solidFill>
                            <a:srgbClr val="21201C"/>
                          </a:solidFill>
                          <a:latin typeface="Cambria"/>
                        </a:rPr>
                        <a:t>15:10–15:55</a:t>
                      </a:r>
                    </a:p>
                  </a:txBody>
                  <a:tcPr marL="64008" marR="64008" marT="27432" marB="27432" anchor="ctr">
                    <a:solidFill>
                      <a:srgbClr val="F3F1EB"/>
                    </a:solidFill>
                  </a:tcPr>
                </a:tc>
                <a:tc>
                  <a:txBody>
                    <a:bodyPr wrap="square"/>
                    <a:lstStyle/>
                    <a:p>
                      <a:r>
                        <a:rPr b="0" sz="1100">
                          <a:solidFill>
                            <a:srgbClr val="6B6862"/>
                          </a:solidFill>
                          <a:latin typeface="Calibri"/>
                        </a:rPr>
                        <a:t>Lab 10: Govern, measure &amp; improve your human–AI workforce</a:t>
                      </a:r>
                    </a:p>
                  </a:txBody>
                  <a:tcPr marL="64008" marR="64008" marT="27432" marB="27432" anchor="ctr">
                    <a:solidFill>
                      <a:srgbClr val="F3F1EB"/>
                    </a:solidFill>
                  </a:tcPr>
                </a:tc>
                <a:tc>
                  <a:txBody>
                    <a:bodyPr wrap="square"/>
                    <a:lstStyle/>
                    <a:p>
                      <a:r>
                        <a:rPr b="0" sz="1100">
                          <a:solidFill>
                            <a:srgbClr val="6B6862"/>
                          </a:solidFill>
                          <a:latin typeface="Calibri"/>
                        </a:rPr>
                        <a:t>LU3</a:t>
                      </a:r>
                    </a:p>
                  </a:txBody>
                  <a:tcPr marL="64008" marR="64008" marT="27432" marB="27432" anchor="ctr">
                    <a:solidFill>
                      <a:srgbClr val="F3F1EB"/>
                    </a:solidFill>
                  </a:tcPr>
                </a:tc>
              </a:tr>
              <a:tr h="298704">
                <a:tc>
                  <a:txBody>
                    <a:bodyPr wrap="square"/>
                    <a:lstStyle/>
                    <a:p>
                      <a:r>
                        <a:rPr b="1" sz="1100">
                          <a:solidFill>
                            <a:srgbClr val="21201C"/>
                          </a:solidFill>
                          <a:latin typeface="Cambria"/>
                        </a:rPr>
                        <a:t>15:55–16:15</a:t>
                      </a:r>
                    </a:p>
                  </a:txBody>
                  <a:tcPr marL="64008" marR="64008" marT="27432" marB="27432" anchor="ctr">
                    <a:solidFill>
                      <a:srgbClr val="FFFFFF"/>
                    </a:solidFill>
                  </a:tcPr>
                </a:tc>
                <a:tc>
                  <a:txBody>
                    <a:bodyPr wrap="square"/>
                    <a:lstStyle/>
                    <a:p>
                      <a:r>
                        <a:rPr b="0" sz="1100">
                          <a:solidFill>
                            <a:srgbClr val="6B6862"/>
                          </a:solidFill>
                          <a:latin typeface="Calibri"/>
                        </a:rPr>
                        <a:t>Course recap, practice exam and Q&amp;A</a:t>
                      </a:r>
                    </a:p>
                  </a:txBody>
                  <a:tcPr marL="64008" marR="64008" marT="27432" marB="27432" anchor="ctr">
                    <a:solidFill>
                      <a:srgbClr val="FFFFFF"/>
                    </a:solidFill>
                  </a:tcPr>
                </a:tc>
                <a:tc>
                  <a:txBody>
                    <a:bodyPr wrap="square"/>
                    <a:lstStyle/>
                    <a:p>
                      <a:r>
                        <a:rPr b="0" sz="1100">
                          <a:solidFill>
                            <a:srgbClr val="6B6862"/>
                          </a:solidFill>
                          <a:latin typeface="Calibri"/>
                        </a:rPr>
                        <a:t>LU3</a:t>
                      </a:r>
                    </a:p>
                  </a:txBody>
                  <a:tcPr marL="64008" marR="64008" marT="27432" marB="27432" anchor="ctr">
                    <a:solidFill>
                      <a:srgbClr val="FFFFFF"/>
                    </a:solidFill>
                  </a:tcPr>
                </a:tc>
              </a:tr>
              <a:tr h="298704">
                <a:tc>
                  <a:txBody>
                    <a:bodyPr wrap="square"/>
                    <a:lstStyle/>
                    <a:p>
                      <a:r>
                        <a:rPr b="1" sz="1100">
                          <a:solidFill>
                            <a:srgbClr val="21201C"/>
                          </a:solidFill>
                          <a:latin typeface="Cambria"/>
                        </a:rPr>
                        <a:t>16:15–16:30</a:t>
                      </a:r>
                    </a:p>
                  </a:txBody>
                  <a:tcPr marL="64008" marR="64008" marT="27432" marB="27432" anchor="ctr">
                    <a:solidFill>
                      <a:srgbClr val="F3F1EB"/>
                    </a:solidFill>
                  </a:tcPr>
                </a:tc>
                <a:tc>
                  <a:txBody>
                    <a:bodyPr wrap="square"/>
                    <a:lstStyle/>
                    <a:p>
                      <a:r>
                        <a:rPr b="0" sz="1100">
                          <a:solidFill>
                            <a:srgbClr val="6B6862"/>
                          </a:solidFill>
                          <a:latin typeface="Calibri"/>
                        </a:rPr>
                        <a:t>Briefing for Assessment</a:t>
                      </a:r>
                    </a:p>
                  </a:txBody>
                  <a:tcPr marL="64008" marR="64008" marT="27432" marB="27432" anchor="ctr">
                    <a:solidFill>
                      <a:srgbClr val="F3F1EB"/>
                    </a:solidFill>
                  </a:tcPr>
                </a:tc>
                <a:tc>
                  <a:txBody>
                    <a:bodyPr wrap="square"/>
                    <a:lstStyle/>
                    <a:p>
                      <a:r>
                        <a:rPr b="0" sz="1100">
                          <a:solidFill>
                            <a:srgbClr val="6B6862"/>
                          </a:solidFill>
                          <a:latin typeface="Calibri"/>
                        </a:rPr>
                        <a:t>LU3</a:t>
                      </a:r>
                    </a:p>
                  </a:txBody>
                  <a:tcPr marL="64008" marR="64008" marT="27432" marB="27432" anchor="ctr">
                    <a:solidFill>
                      <a:srgbClr val="F3F1EB"/>
                    </a:solidFill>
                  </a:tcPr>
                </a:tc>
              </a:tr>
              <a:tr h="298704">
                <a:tc>
                  <a:txBody>
                    <a:bodyPr wrap="square"/>
                    <a:lstStyle/>
                    <a:p>
                      <a:r>
                        <a:rPr b="1" sz="1100">
                          <a:solidFill>
                            <a:srgbClr val="21201C"/>
                          </a:solidFill>
                          <a:latin typeface="Cambria"/>
                        </a:rPr>
                        <a:t>16:30–17:30</a:t>
                      </a:r>
                    </a:p>
                  </a:txBody>
                  <a:tcPr marL="64008" marR="64008" marT="27432" marB="27432" anchor="ctr">
                    <a:solidFill>
                      <a:srgbClr val="FFFFFF"/>
                    </a:solidFill>
                  </a:tcPr>
                </a:tc>
                <a:tc>
                  <a:txBody>
                    <a:bodyPr wrap="square"/>
                    <a:lstStyle/>
                    <a:p>
                      <a:r>
                        <a:rPr b="0" sz="1100">
                          <a:solidFill>
                            <a:srgbClr val="6B6862"/>
                          </a:solidFill>
                          <a:latin typeface="Calibri"/>
                        </a:rPr>
                        <a:t>Written Assessment (WA) — Short-Answer Questions (SAQ), 1 hour, open book</a:t>
                      </a:r>
                    </a:p>
                  </a:txBody>
                  <a:tcPr marL="64008" marR="64008" marT="27432" marB="27432" anchor="ctr">
                    <a:solidFill>
                      <a:srgbClr val="FFFFFF"/>
                    </a:solidFill>
                  </a:tcPr>
                </a:tc>
                <a:tc>
                  <a:txBody>
                    <a:bodyPr wrap="square"/>
                    <a:lstStyle/>
                    <a:p>
                      <a:r>
                        <a:rPr b="0" sz="1100">
                          <a:solidFill>
                            <a:srgbClr val="6B6862"/>
                          </a:solidFill>
                          <a:latin typeface="Calibri"/>
                        </a:rPr>
                        <a:t>Assess</a:t>
                      </a:r>
                    </a:p>
                  </a:txBody>
                  <a:tcPr marL="64008" marR="64008" marT="27432" marB="27432" anchor="ctr">
                    <a:solidFill>
                      <a:srgbClr val="FFFFFF"/>
                    </a:solidFill>
                  </a:tcPr>
                </a:tc>
              </a:tr>
              <a:tr h="298704">
                <a:tc>
                  <a:txBody>
                    <a:bodyPr wrap="square"/>
                    <a:lstStyle/>
                    <a:p>
                      <a:r>
                        <a:rPr b="1" sz="1100">
                          <a:solidFill>
                            <a:srgbClr val="21201C"/>
                          </a:solidFill>
                          <a:latin typeface="Cambria"/>
                        </a:rPr>
                        <a:t>17:30–18:30</a:t>
                      </a:r>
                    </a:p>
                  </a:txBody>
                  <a:tcPr marL="64008" marR="64008" marT="27432" marB="27432" anchor="ctr">
                    <a:solidFill>
                      <a:srgbClr val="F3F1EB"/>
                    </a:solidFill>
                  </a:tcPr>
                </a:tc>
                <a:tc>
                  <a:txBody>
                    <a:bodyPr wrap="square"/>
                    <a:lstStyle/>
                    <a:p>
                      <a:r>
                        <a:rPr b="0" sz="1100">
                          <a:solidFill>
                            <a:srgbClr val="6B6862"/>
                          </a:solidFill>
                          <a:latin typeface="Calibri"/>
                        </a:rPr>
                        <a:t>Practical Performance (PP) — 1 hour, open book; TRAQOM survey and PM / assessment digital attendance</a:t>
                      </a:r>
                    </a:p>
                  </a:txBody>
                  <a:tcPr marL="64008" marR="64008" marT="27432" marB="27432" anchor="ctr">
                    <a:solidFill>
                      <a:srgbClr val="F3F1EB"/>
                    </a:solidFill>
                  </a:tcPr>
                </a:tc>
                <a:tc>
                  <a:txBody>
                    <a:bodyPr wrap="square"/>
                    <a:lstStyle/>
                    <a:p>
                      <a:r>
                        <a:rPr b="0" sz="1100">
                          <a:solidFill>
                            <a:srgbClr val="6B6862"/>
                          </a:solidFill>
                          <a:latin typeface="Calibri"/>
                        </a:rPr>
                        <a:t>Assess</a:t>
                      </a:r>
                    </a:p>
                  </a:txBody>
                  <a:tcPr marL="64008" marR="64008" marT="27432" marB="27432" anchor="ctr">
                    <a:solidFill>
                      <a:srgbClr val="F3F1EB"/>
                    </a:solidFill>
                  </a:tcPr>
                </a:tc>
              </a:tr>
            </a:tbl>
          </a:graphicData>
        </a:graphic>
      </p:graphicFrame>
    </p:spTree>
  </p:cSld>
  <p:clrMapOvr>
    <a:masterClrMapping/>
  </p:clrMapOvr>
  <p:transition spd="med">
    <p:fade/>
  </p:transition>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ROADMAP · HANDS-ON</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Ten Labs, One Company</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Every lab builds on the last — the same Kopi Kaki campaign grows from one agent to a governed AI company.</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12</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194560"/>
            <a:ext cx="2103120" cy="1719072"/>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13232" y="2322576"/>
            <a:ext cx="1828800" cy="274320"/>
          </a:xfrm>
          <a:prstGeom prst="rect">
            <a:avLst/>
          </a:prstGeom>
          <a:noFill/>
        </p:spPr>
        <p:txBody>
          <a:bodyPr wrap="square" lIns="36576" rIns="36576" tIns="18288" bIns="18288" anchor="t">
            <a:spAutoFit/>
          </a:bodyPr>
          <a:lstStyle/>
          <a:p>
            <a:pPr algn="l">
              <a:lnSpc>
                <a:spcPct val="112000"/>
              </a:lnSpc>
            </a:pPr>
            <a:r>
              <a:rPr sz="1000" b="1" i="0">
                <a:solidFill>
                  <a:srgbClr val="D97757"/>
                </a:solidFill>
                <a:latin typeface="Calibri"/>
              </a:rPr>
              <a:t>LAB 1  ·  DAY 1</a:t>
            </a:r>
          </a:p>
        </p:txBody>
      </p:sp>
      <p:sp>
        <p:nvSpPr>
          <p:cNvPr id="10" name="Oval 9"/>
          <p:cNvSpPr/>
          <p:nvPr/>
        </p:nvSpPr>
        <p:spPr>
          <a:xfrm>
            <a:off x="713232" y="2651760"/>
            <a:ext cx="438912" cy="438912"/>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user-FFFFFF.png"/>
          <p:cNvPicPr>
            <a:picLocks noChangeAspect="1"/>
          </p:cNvPicPr>
          <p:nvPr/>
        </p:nvPicPr>
        <p:blipFill>
          <a:blip r:embed="rId2"/>
          <a:stretch>
            <a:fillRect/>
          </a:stretch>
        </p:blipFill>
        <p:spPr>
          <a:xfrm>
            <a:off x="818570" y="2757098"/>
            <a:ext cx="228234" cy="228234"/>
          </a:xfrm>
          <a:prstGeom prst="rect">
            <a:avLst/>
          </a:prstGeom>
        </p:spPr>
      </p:pic>
      <p:sp>
        <p:nvSpPr>
          <p:cNvPr id="12" name="TextBox 11"/>
          <p:cNvSpPr txBox="1"/>
          <p:nvPr/>
        </p:nvSpPr>
        <p:spPr>
          <a:xfrm>
            <a:off x="713232" y="3154680"/>
            <a:ext cx="1810512" cy="548640"/>
          </a:xfrm>
          <a:prstGeom prst="rect">
            <a:avLst/>
          </a:prstGeom>
          <a:noFill/>
        </p:spPr>
        <p:txBody>
          <a:bodyPr wrap="square" lIns="36576" rIns="36576" tIns="18288" bIns="18288" anchor="t">
            <a:spAutoFit/>
          </a:bodyPr>
          <a:lstStyle/>
          <a:p>
            <a:pPr algn="l">
              <a:lnSpc>
                <a:spcPct val="112000"/>
              </a:lnSpc>
            </a:pPr>
            <a:r>
              <a:rPr sz="1350" b="1" i="0">
                <a:solidFill>
                  <a:srgbClr val="21201C"/>
                </a:solidFill>
                <a:latin typeface="Cambria"/>
              </a:rPr>
              <a:t>First AI Employee</a:t>
            </a:r>
          </a:p>
        </p:txBody>
      </p:sp>
      <p:sp>
        <p:nvSpPr>
          <p:cNvPr id="13" name="TextBox 12"/>
          <p:cNvSpPr txBox="1"/>
          <p:nvPr/>
        </p:nvSpPr>
        <p:spPr>
          <a:xfrm>
            <a:off x="713232" y="3657600"/>
            <a:ext cx="1810512" cy="320040"/>
          </a:xfrm>
          <a:prstGeom prst="rect">
            <a:avLst/>
          </a:prstGeom>
          <a:noFill/>
        </p:spPr>
        <p:txBody>
          <a:bodyPr wrap="square" lIns="36576" rIns="36576" tIns="18288" bIns="18288" anchor="t">
            <a:spAutoFit/>
          </a:bodyPr>
          <a:lstStyle/>
          <a:p>
            <a:pPr algn="l">
              <a:lnSpc>
                <a:spcPct val="112000"/>
              </a:lnSpc>
            </a:pPr>
            <a:r>
              <a:rPr sz="950" b="0" i="0">
                <a:solidFill>
                  <a:srgbClr val="6B6862"/>
                </a:solidFill>
                <a:latin typeface="Calibri"/>
              </a:rPr>
              <a:t>Single agent</a:t>
            </a:r>
          </a:p>
        </p:txBody>
      </p:sp>
      <p:sp>
        <p:nvSpPr>
          <p:cNvPr id="14" name="Rounded Rectangle 13"/>
          <p:cNvSpPr/>
          <p:nvPr/>
        </p:nvSpPr>
        <p:spPr>
          <a:xfrm>
            <a:off x="2798064" y="2194560"/>
            <a:ext cx="2103120" cy="1719072"/>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2962656" y="2322576"/>
            <a:ext cx="1828800" cy="274320"/>
          </a:xfrm>
          <a:prstGeom prst="rect">
            <a:avLst/>
          </a:prstGeom>
          <a:noFill/>
        </p:spPr>
        <p:txBody>
          <a:bodyPr wrap="square" lIns="36576" rIns="36576" tIns="18288" bIns="18288" anchor="t">
            <a:spAutoFit/>
          </a:bodyPr>
          <a:lstStyle/>
          <a:p>
            <a:pPr algn="l">
              <a:lnSpc>
                <a:spcPct val="112000"/>
              </a:lnSpc>
            </a:pPr>
            <a:r>
              <a:rPr sz="1000" b="1" i="0">
                <a:solidFill>
                  <a:srgbClr val="D97757"/>
                </a:solidFill>
                <a:latin typeface="Calibri"/>
              </a:rPr>
              <a:t>LAB 2  ·  DAY 1</a:t>
            </a:r>
          </a:p>
        </p:txBody>
      </p:sp>
      <p:sp>
        <p:nvSpPr>
          <p:cNvPr id="16" name="Oval 15"/>
          <p:cNvSpPr/>
          <p:nvPr/>
        </p:nvSpPr>
        <p:spPr>
          <a:xfrm>
            <a:off x="2962656" y="2651760"/>
            <a:ext cx="438912" cy="438912"/>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megaphone-FFFFFF.png"/>
          <p:cNvPicPr>
            <a:picLocks noChangeAspect="1"/>
          </p:cNvPicPr>
          <p:nvPr/>
        </p:nvPicPr>
        <p:blipFill>
          <a:blip r:embed="rId3"/>
          <a:stretch>
            <a:fillRect/>
          </a:stretch>
        </p:blipFill>
        <p:spPr>
          <a:xfrm>
            <a:off x="3067994" y="2757098"/>
            <a:ext cx="228234" cy="228234"/>
          </a:xfrm>
          <a:prstGeom prst="rect">
            <a:avLst/>
          </a:prstGeom>
        </p:spPr>
      </p:pic>
      <p:sp>
        <p:nvSpPr>
          <p:cNvPr id="18" name="TextBox 17"/>
          <p:cNvSpPr txBox="1"/>
          <p:nvPr/>
        </p:nvSpPr>
        <p:spPr>
          <a:xfrm>
            <a:off x="2962656" y="3154680"/>
            <a:ext cx="1810512" cy="548640"/>
          </a:xfrm>
          <a:prstGeom prst="rect">
            <a:avLst/>
          </a:prstGeom>
          <a:noFill/>
        </p:spPr>
        <p:txBody>
          <a:bodyPr wrap="square" lIns="36576" rIns="36576" tIns="18288" bIns="18288" anchor="t">
            <a:spAutoFit/>
          </a:bodyPr>
          <a:lstStyle/>
          <a:p>
            <a:pPr algn="l">
              <a:lnSpc>
                <a:spcPct val="112000"/>
              </a:lnSpc>
            </a:pPr>
            <a:r>
              <a:rPr sz="1350" b="1" i="0">
                <a:solidFill>
                  <a:srgbClr val="21201C"/>
                </a:solidFill>
                <a:latin typeface="Cambria"/>
              </a:rPr>
              <a:t>Social Media Campaign</a:t>
            </a:r>
          </a:p>
        </p:txBody>
      </p:sp>
      <p:sp>
        <p:nvSpPr>
          <p:cNvPr id="19" name="TextBox 18"/>
          <p:cNvSpPr txBox="1"/>
          <p:nvPr/>
        </p:nvSpPr>
        <p:spPr>
          <a:xfrm>
            <a:off x="2962656" y="3657600"/>
            <a:ext cx="1810512" cy="320040"/>
          </a:xfrm>
          <a:prstGeom prst="rect">
            <a:avLst/>
          </a:prstGeom>
          <a:noFill/>
        </p:spPr>
        <p:txBody>
          <a:bodyPr wrap="square" lIns="36576" rIns="36576" tIns="18288" bIns="18288" anchor="t">
            <a:spAutoFit/>
          </a:bodyPr>
          <a:lstStyle/>
          <a:p>
            <a:pPr algn="l">
              <a:lnSpc>
                <a:spcPct val="112000"/>
              </a:lnSpc>
            </a:pPr>
            <a:r>
              <a:rPr sz="950" b="0" i="0">
                <a:solidFill>
                  <a:srgbClr val="6B6862"/>
                </a:solidFill>
                <a:latin typeface="Calibri"/>
              </a:rPr>
              <a:t>Single agent + skills</a:t>
            </a:r>
          </a:p>
        </p:txBody>
      </p:sp>
      <p:sp>
        <p:nvSpPr>
          <p:cNvPr id="20" name="Rounded Rectangle 19"/>
          <p:cNvSpPr/>
          <p:nvPr/>
        </p:nvSpPr>
        <p:spPr>
          <a:xfrm>
            <a:off x="5047488" y="2194560"/>
            <a:ext cx="2103120" cy="1719072"/>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212079" y="2322576"/>
            <a:ext cx="1828800" cy="274320"/>
          </a:xfrm>
          <a:prstGeom prst="rect">
            <a:avLst/>
          </a:prstGeom>
          <a:noFill/>
        </p:spPr>
        <p:txBody>
          <a:bodyPr wrap="square" lIns="36576" rIns="36576" tIns="18288" bIns="18288" anchor="t">
            <a:spAutoFit/>
          </a:bodyPr>
          <a:lstStyle/>
          <a:p>
            <a:pPr algn="l">
              <a:lnSpc>
                <a:spcPct val="112000"/>
              </a:lnSpc>
            </a:pPr>
            <a:r>
              <a:rPr sz="1000" b="1" i="0">
                <a:solidFill>
                  <a:srgbClr val="D97757"/>
                </a:solidFill>
                <a:latin typeface="Calibri"/>
              </a:rPr>
              <a:t>LAB 3  ·  DAY 1</a:t>
            </a:r>
          </a:p>
        </p:txBody>
      </p:sp>
      <p:sp>
        <p:nvSpPr>
          <p:cNvPr id="22" name="Oval 21"/>
          <p:cNvSpPr/>
          <p:nvPr/>
        </p:nvSpPr>
        <p:spPr>
          <a:xfrm>
            <a:off x="5212079" y="2651760"/>
            <a:ext cx="438912" cy="438912"/>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3" name="Picture 22" descr="handshake-FFFFFF.png"/>
          <p:cNvPicPr>
            <a:picLocks noChangeAspect="1"/>
          </p:cNvPicPr>
          <p:nvPr/>
        </p:nvPicPr>
        <p:blipFill>
          <a:blip r:embed="rId4"/>
          <a:stretch>
            <a:fillRect/>
          </a:stretch>
        </p:blipFill>
        <p:spPr>
          <a:xfrm>
            <a:off x="5317418" y="2757098"/>
            <a:ext cx="228234" cy="228234"/>
          </a:xfrm>
          <a:prstGeom prst="rect">
            <a:avLst/>
          </a:prstGeom>
        </p:spPr>
      </p:pic>
      <p:sp>
        <p:nvSpPr>
          <p:cNvPr id="24" name="TextBox 23"/>
          <p:cNvSpPr txBox="1"/>
          <p:nvPr/>
        </p:nvSpPr>
        <p:spPr>
          <a:xfrm>
            <a:off x="5212079" y="3154680"/>
            <a:ext cx="1810512" cy="548640"/>
          </a:xfrm>
          <a:prstGeom prst="rect">
            <a:avLst/>
          </a:prstGeom>
          <a:noFill/>
        </p:spPr>
        <p:txBody>
          <a:bodyPr wrap="square" lIns="36576" rIns="36576" tIns="18288" bIns="18288" anchor="t">
            <a:spAutoFit/>
          </a:bodyPr>
          <a:lstStyle/>
          <a:p>
            <a:pPr algn="l">
              <a:lnSpc>
                <a:spcPct val="112000"/>
              </a:lnSpc>
            </a:pPr>
            <a:r>
              <a:rPr sz="1350" b="1" i="0">
                <a:solidFill>
                  <a:srgbClr val="21201C"/>
                </a:solidFill>
                <a:latin typeface="Cambria"/>
              </a:rPr>
              <a:t>Human-in-the-Loop</a:t>
            </a:r>
          </a:p>
        </p:txBody>
      </p:sp>
      <p:sp>
        <p:nvSpPr>
          <p:cNvPr id="25" name="TextBox 24"/>
          <p:cNvSpPr txBox="1"/>
          <p:nvPr/>
        </p:nvSpPr>
        <p:spPr>
          <a:xfrm>
            <a:off x="5212079" y="3657600"/>
            <a:ext cx="1810512" cy="320040"/>
          </a:xfrm>
          <a:prstGeom prst="rect">
            <a:avLst/>
          </a:prstGeom>
          <a:noFill/>
        </p:spPr>
        <p:txBody>
          <a:bodyPr wrap="square" lIns="36576" rIns="36576" tIns="18288" bIns="18288" anchor="t">
            <a:spAutoFit/>
          </a:bodyPr>
          <a:lstStyle/>
          <a:p>
            <a:pPr algn="l">
              <a:lnSpc>
                <a:spcPct val="112000"/>
              </a:lnSpc>
            </a:pPr>
            <a:r>
              <a:rPr sz="950" b="0" i="0">
                <a:solidFill>
                  <a:srgbClr val="6B6862"/>
                </a:solidFill>
                <a:latin typeface="Calibri"/>
              </a:rPr>
              <a:t>Human–agent collaboration</a:t>
            </a:r>
          </a:p>
        </p:txBody>
      </p:sp>
      <p:sp>
        <p:nvSpPr>
          <p:cNvPr id="26" name="Rounded Rectangle 25"/>
          <p:cNvSpPr/>
          <p:nvPr/>
        </p:nvSpPr>
        <p:spPr>
          <a:xfrm>
            <a:off x="7296912" y="2194560"/>
            <a:ext cx="2103120" cy="1719072"/>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461504" y="2322576"/>
            <a:ext cx="1828800" cy="274320"/>
          </a:xfrm>
          <a:prstGeom prst="rect">
            <a:avLst/>
          </a:prstGeom>
          <a:noFill/>
        </p:spPr>
        <p:txBody>
          <a:bodyPr wrap="square" lIns="36576" rIns="36576" tIns="18288" bIns="18288" anchor="t">
            <a:spAutoFit/>
          </a:bodyPr>
          <a:lstStyle/>
          <a:p>
            <a:pPr algn="l">
              <a:lnSpc>
                <a:spcPct val="112000"/>
              </a:lnSpc>
            </a:pPr>
            <a:r>
              <a:rPr sz="1000" b="1" i="0">
                <a:solidFill>
                  <a:srgbClr val="D97757"/>
                </a:solidFill>
                <a:latin typeface="Calibri"/>
              </a:rPr>
              <a:t>LAB 4  ·  DAY 1</a:t>
            </a:r>
          </a:p>
        </p:txBody>
      </p:sp>
      <p:sp>
        <p:nvSpPr>
          <p:cNvPr id="28" name="Oval 27"/>
          <p:cNvSpPr/>
          <p:nvPr/>
        </p:nvSpPr>
        <p:spPr>
          <a:xfrm>
            <a:off x="7461504" y="2651760"/>
            <a:ext cx="438912" cy="438912"/>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9" name="Picture 28" descr="video-FFFFFF.png"/>
          <p:cNvPicPr>
            <a:picLocks noChangeAspect="1"/>
          </p:cNvPicPr>
          <p:nvPr/>
        </p:nvPicPr>
        <p:blipFill>
          <a:blip r:embed="rId5"/>
          <a:stretch>
            <a:fillRect/>
          </a:stretch>
        </p:blipFill>
        <p:spPr>
          <a:xfrm>
            <a:off x="7566842" y="2757098"/>
            <a:ext cx="228234" cy="228234"/>
          </a:xfrm>
          <a:prstGeom prst="rect">
            <a:avLst/>
          </a:prstGeom>
        </p:spPr>
      </p:pic>
      <p:sp>
        <p:nvSpPr>
          <p:cNvPr id="30" name="TextBox 29"/>
          <p:cNvSpPr txBox="1"/>
          <p:nvPr/>
        </p:nvSpPr>
        <p:spPr>
          <a:xfrm>
            <a:off x="7461504" y="3154680"/>
            <a:ext cx="1810512" cy="548640"/>
          </a:xfrm>
          <a:prstGeom prst="rect">
            <a:avLst/>
          </a:prstGeom>
          <a:noFill/>
        </p:spPr>
        <p:txBody>
          <a:bodyPr wrap="square" lIns="36576" rIns="36576" tIns="18288" bIns="18288" anchor="t">
            <a:spAutoFit/>
          </a:bodyPr>
          <a:lstStyle/>
          <a:p>
            <a:pPr algn="l">
              <a:lnSpc>
                <a:spcPct val="112000"/>
              </a:lnSpc>
            </a:pPr>
            <a:r>
              <a:rPr sz="1350" b="1" i="0">
                <a:solidFill>
                  <a:srgbClr val="21201C"/>
                </a:solidFill>
                <a:latin typeface="Cambria"/>
              </a:rPr>
              <a:t>Multi-Agent Video Studio</a:t>
            </a:r>
          </a:p>
        </p:txBody>
      </p:sp>
      <p:sp>
        <p:nvSpPr>
          <p:cNvPr id="31" name="TextBox 30"/>
          <p:cNvSpPr txBox="1"/>
          <p:nvPr/>
        </p:nvSpPr>
        <p:spPr>
          <a:xfrm>
            <a:off x="7461504" y="3657600"/>
            <a:ext cx="1810512" cy="32004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Multi-agent (ordered pipeline)</a:t>
            </a:r>
          </a:p>
        </p:txBody>
      </p:sp>
      <p:sp>
        <p:nvSpPr>
          <p:cNvPr id="32" name="Rounded Rectangle 31"/>
          <p:cNvSpPr/>
          <p:nvPr/>
        </p:nvSpPr>
        <p:spPr>
          <a:xfrm>
            <a:off x="9546336" y="2194560"/>
            <a:ext cx="2103120" cy="1719072"/>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9710928" y="2322576"/>
            <a:ext cx="1828800" cy="274320"/>
          </a:xfrm>
          <a:prstGeom prst="rect">
            <a:avLst/>
          </a:prstGeom>
          <a:noFill/>
        </p:spPr>
        <p:txBody>
          <a:bodyPr wrap="square" lIns="36576" rIns="36576" tIns="18288" bIns="18288" anchor="t">
            <a:spAutoFit/>
          </a:bodyPr>
          <a:lstStyle/>
          <a:p>
            <a:pPr algn="l">
              <a:lnSpc>
                <a:spcPct val="112000"/>
              </a:lnSpc>
            </a:pPr>
            <a:r>
              <a:rPr sz="1000" b="1" i="0">
                <a:solidFill>
                  <a:srgbClr val="D97757"/>
                </a:solidFill>
                <a:latin typeface="Calibri"/>
              </a:rPr>
              <a:t>LAB 5  ·  DAY 1</a:t>
            </a:r>
          </a:p>
        </p:txBody>
      </p:sp>
      <p:sp>
        <p:nvSpPr>
          <p:cNvPr id="34" name="Oval 33"/>
          <p:cNvSpPr/>
          <p:nvPr/>
        </p:nvSpPr>
        <p:spPr>
          <a:xfrm>
            <a:off x="9710928" y="2651760"/>
            <a:ext cx="438912" cy="438912"/>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5" name="Picture 34" descr="chart-FFFFFF.png"/>
          <p:cNvPicPr>
            <a:picLocks noChangeAspect="1"/>
          </p:cNvPicPr>
          <p:nvPr/>
        </p:nvPicPr>
        <p:blipFill>
          <a:blip r:embed="rId6"/>
          <a:stretch>
            <a:fillRect/>
          </a:stretch>
        </p:blipFill>
        <p:spPr>
          <a:xfrm>
            <a:off x="9816266" y="2757098"/>
            <a:ext cx="228234" cy="228234"/>
          </a:xfrm>
          <a:prstGeom prst="rect">
            <a:avLst/>
          </a:prstGeom>
        </p:spPr>
      </p:pic>
      <p:sp>
        <p:nvSpPr>
          <p:cNvPr id="36" name="TextBox 35"/>
          <p:cNvSpPr txBox="1"/>
          <p:nvPr/>
        </p:nvSpPr>
        <p:spPr>
          <a:xfrm>
            <a:off x="9710928" y="3154680"/>
            <a:ext cx="1810512" cy="548640"/>
          </a:xfrm>
          <a:prstGeom prst="rect">
            <a:avLst/>
          </a:prstGeom>
          <a:noFill/>
        </p:spPr>
        <p:txBody>
          <a:bodyPr wrap="square" lIns="36576" rIns="36576" tIns="18288" bIns="18288" anchor="t">
            <a:spAutoFit/>
          </a:bodyPr>
          <a:lstStyle/>
          <a:p>
            <a:pPr algn="l">
              <a:lnSpc>
                <a:spcPct val="112000"/>
              </a:lnSpc>
            </a:pPr>
            <a:r>
              <a:rPr sz="1350" b="1" i="0">
                <a:solidFill>
                  <a:srgbClr val="21201C"/>
                </a:solidFill>
                <a:latin typeface="Cambria"/>
              </a:rPr>
              <a:t>Campaign Command Centre</a:t>
            </a:r>
          </a:p>
        </p:txBody>
      </p:sp>
      <p:sp>
        <p:nvSpPr>
          <p:cNvPr id="37" name="TextBox 36"/>
          <p:cNvSpPr txBox="1"/>
          <p:nvPr/>
        </p:nvSpPr>
        <p:spPr>
          <a:xfrm>
            <a:off x="9710928" y="3657600"/>
            <a:ext cx="1810512" cy="320040"/>
          </a:xfrm>
          <a:prstGeom prst="rect">
            <a:avLst/>
          </a:prstGeom>
          <a:noFill/>
        </p:spPr>
        <p:txBody>
          <a:bodyPr wrap="square" lIns="36576" rIns="36576" tIns="18288" bIns="18288" anchor="t">
            <a:spAutoFit/>
          </a:bodyPr>
          <a:lstStyle/>
          <a:p>
            <a:pPr algn="l">
              <a:lnSpc>
                <a:spcPct val="112000"/>
              </a:lnSpc>
            </a:pPr>
            <a:r>
              <a:rPr sz="950" b="0" i="0">
                <a:solidFill>
                  <a:srgbClr val="6B6862"/>
                </a:solidFill>
                <a:latin typeface="Calibri"/>
              </a:rPr>
              <a:t>Multi-agent (parallel swarm)</a:t>
            </a:r>
          </a:p>
        </p:txBody>
      </p:sp>
      <p:sp>
        <p:nvSpPr>
          <p:cNvPr id="38" name="Rounded Rectangle 37"/>
          <p:cNvSpPr/>
          <p:nvPr/>
        </p:nvSpPr>
        <p:spPr>
          <a:xfrm>
            <a:off x="548640" y="4041648"/>
            <a:ext cx="2103120" cy="1719072"/>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713232" y="4169663"/>
            <a:ext cx="1828800" cy="274320"/>
          </a:xfrm>
          <a:prstGeom prst="rect">
            <a:avLst/>
          </a:prstGeom>
          <a:noFill/>
        </p:spPr>
        <p:txBody>
          <a:bodyPr wrap="square" lIns="36576" rIns="36576" tIns="18288" bIns="18288" anchor="t">
            <a:spAutoFit/>
          </a:bodyPr>
          <a:lstStyle/>
          <a:p>
            <a:pPr algn="l">
              <a:lnSpc>
                <a:spcPct val="112000"/>
              </a:lnSpc>
            </a:pPr>
            <a:r>
              <a:rPr sz="1000" b="1" i="0">
                <a:solidFill>
                  <a:srgbClr val="D97757"/>
                </a:solidFill>
                <a:latin typeface="Calibri"/>
              </a:rPr>
              <a:t>LAB 6  ·  DAY 2</a:t>
            </a:r>
          </a:p>
        </p:txBody>
      </p:sp>
      <p:sp>
        <p:nvSpPr>
          <p:cNvPr id="40" name="Oval 39"/>
          <p:cNvSpPr/>
          <p:nvPr/>
        </p:nvSpPr>
        <p:spPr>
          <a:xfrm>
            <a:off x="713232" y="4498848"/>
            <a:ext cx="438912" cy="438912"/>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1" name="Picture 40" descr="building-FFFFFF.png"/>
          <p:cNvPicPr>
            <a:picLocks noChangeAspect="1"/>
          </p:cNvPicPr>
          <p:nvPr/>
        </p:nvPicPr>
        <p:blipFill>
          <a:blip r:embed="rId7"/>
          <a:stretch>
            <a:fillRect/>
          </a:stretch>
        </p:blipFill>
        <p:spPr>
          <a:xfrm>
            <a:off x="818570" y="4604186"/>
            <a:ext cx="228234" cy="228234"/>
          </a:xfrm>
          <a:prstGeom prst="rect">
            <a:avLst/>
          </a:prstGeom>
        </p:spPr>
      </p:pic>
      <p:sp>
        <p:nvSpPr>
          <p:cNvPr id="42" name="TextBox 41"/>
          <p:cNvSpPr txBox="1"/>
          <p:nvPr/>
        </p:nvSpPr>
        <p:spPr>
          <a:xfrm>
            <a:off x="713232" y="5001768"/>
            <a:ext cx="1810512" cy="548640"/>
          </a:xfrm>
          <a:prstGeom prst="rect">
            <a:avLst/>
          </a:prstGeom>
          <a:noFill/>
        </p:spPr>
        <p:txBody>
          <a:bodyPr wrap="square" lIns="36576" rIns="36576" tIns="18288" bIns="18288" anchor="t">
            <a:spAutoFit/>
          </a:bodyPr>
          <a:lstStyle/>
          <a:p>
            <a:pPr algn="l">
              <a:lnSpc>
                <a:spcPct val="112000"/>
              </a:lnSpc>
            </a:pPr>
            <a:r>
              <a:rPr sz="1350" b="1" i="0">
                <a:solidFill>
                  <a:srgbClr val="FFFFFF"/>
                </a:solidFill>
                <a:latin typeface="Cambria"/>
              </a:rPr>
              <a:t>Found the AI Company</a:t>
            </a:r>
          </a:p>
        </p:txBody>
      </p:sp>
      <p:sp>
        <p:nvSpPr>
          <p:cNvPr id="43" name="TextBox 42"/>
          <p:cNvSpPr txBox="1"/>
          <p:nvPr/>
        </p:nvSpPr>
        <p:spPr>
          <a:xfrm>
            <a:off x="713232" y="5504688"/>
            <a:ext cx="1810512" cy="320040"/>
          </a:xfrm>
          <a:prstGeom prst="rect">
            <a:avLst/>
          </a:prstGeom>
          <a:noFill/>
        </p:spPr>
        <p:txBody>
          <a:bodyPr wrap="square" lIns="36576" rIns="36576" tIns="18288" bIns="18288" anchor="t">
            <a:spAutoFit/>
          </a:bodyPr>
          <a:lstStyle/>
          <a:p>
            <a:pPr algn="l">
              <a:lnSpc>
                <a:spcPct val="112000"/>
              </a:lnSpc>
            </a:pPr>
            <a:r>
              <a:rPr sz="850" b="0" i="0">
                <a:solidFill>
                  <a:srgbClr val="C9C4B9"/>
                </a:solidFill>
                <a:latin typeface="Calibri"/>
              </a:rPr>
              <a:t>Human-governed company of agents</a:t>
            </a:r>
          </a:p>
        </p:txBody>
      </p:sp>
      <p:sp>
        <p:nvSpPr>
          <p:cNvPr id="44" name="Rounded Rectangle 43"/>
          <p:cNvSpPr/>
          <p:nvPr/>
        </p:nvSpPr>
        <p:spPr>
          <a:xfrm>
            <a:off x="2798064" y="4041648"/>
            <a:ext cx="2103120" cy="1719072"/>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2962656" y="4169663"/>
            <a:ext cx="1828800" cy="274320"/>
          </a:xfrm>
          <a:prstGeom prst="rect">
            <a:avLst/>
          </a:prstGeom>
          <a:noFill/>
        </p:spPr>
        <p:txBody>
          <a:bodyPr wrap="square" lIns="36576" rIns="36576" tIns="18288" bIns="18288" anchor="t">
            <a:spAutoFit/>
          </a:bodyPr>
          <a:lstStyle/>
          <a:p>
            <a:pPr algn="l">
              <a:lnSpc>
                <a:spcPct val="112000"/>
              </a:lnSpc>
            </a:pPr>
            <a:r>
              <a:rPr sz="1000" b="1" i="0">
                <a:solidFill>
                  <a:srgbClr val="D97757"/>
                </a:solidFill>
                <a:latin typeface="Calibri"/>
              </a:rPr>
              <a:t>LAB 7  ·  DAY 2</a:t>
            </a:r>
          </a:p>
        </p:txBody>
      </p:sp>
      <p:sp>
        <p:nvSpPr>
          <p:cNvPr id="46" name="Oval 45"/>
          <p:cNvSpPr/>
          <p:nvPr/>
        </p:nvSpPr>
        <p:spPr>
          <a:xfrm>
            <a:off x="2962656" y="4498848"/>
            <a:ext cx="438912" cy="438912"/>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7" name="Picture 46" descr="users-FFFFFF.png"/>
          <p:cNvPicPr>
            <a:picLocks noChangeAspect="1"/>
          </p:cNvPicPr>
          <p:nvPr/>
        </p:nvPicPr>
        <p:blipFill>
          <a:blip r:embed="rId8"/>
          <a:stretch>
            <a:fillRect/>
          </a:stretch>
        </p:blipFill>
        <p:spPr>
          <a:xfrm>
            <a:off x="3067994" y="4604186"/>
            <a:ext cx="228234" cy="228234"/>
          </a:xfrm>
          <a:prstGeom prst="rect">
            <a:avLst/>
          </a:prstGeom>
        </p:spPr>
      </p:pic>
      <p:sp>
        <p:nvSpPr>
          <p:cNvPr id="48" name="TextBox 47"/>
          <p:cNvSpPr txBox="1"/>
          <p:nvPr/>
        </p:nvSpPr>
        <p:spPr>
          <a:xfrm>
            <a:off x="2962656" y="5001768"/>
            <a:ext cx="1810512" cy="548640"/>
          </a:xfrm>
          <a:prstGeom prst="rect">
            <a:avLst/>
          </a:prstGeom>
          <a:noFill/>
        </p:spPr>
        <p:txBody>
          <a:bodyPr wrap="square" lIns="36576" rIns="36576" tIns="18288" bIns="18288" anchor="t">
            <a:spAutoFit/>
          </a:bodyPr>
          <a:lstStyle/>
          <a:p>
            <a:pPr algn="l">
              <a:lnSpc>
                <a:spcPct val="112000"/>
              </a:lnSpc>
            </a:pPr>
            <a:r>
              <a:rPr sz="1350" b="1" i="0">
                <a:solidFill>
                  <a:srgbClr val="FFFFFF"/>
                </a:solidFill>
                <a:latin typeface="Cambria"/>
              </a:rPr>
              <a:t>Hire the Team</a:t>
            </a:r>
          </a:p>
        </p:txBody>
      </p:sp>
      <p:sp>
        <p:nvSpPr>
          <p:cNvPr id="49" name="TextBox 48"/>
          <p:cNvSpPr txBox="1"/>
          <p:nvPr/>
        </p:nvSpPr>
        <p:spPr>
          <a:xfrm>
            <a:off x="2962656" y="5504688"/>
            <a:ext cx="1810512" cy="320040"/>
          </a:xfrm>
          <a:prstGeom prst="rect">
            <a:avLst/>
          </a:prstGeom>
          <a:noFill/>
        </p:spPr>
        <p:txBody>
          <a:bodyPr wrap="square" lIns="36576" rIns="36576" tIns="18288" bIns="18288" anchor="t">
            <a:spAutoFit/>
          </a:bodyPr>
          <a:lstStyle/>
          <a:p>
            <a:pPr algn="l">
              <a:lnSpc>
                <a:spcPct val="112000"/>
              </a:lnSpc>
            </a:pPr>
            <a:r>
              <a:rPr sz="950" b="0" i="0">
                <a:solidFill>
                  <a:srgbClr val="C9C4B9"/>
                </a:solidFill>
                <a:latin typeface="Calibri"/>
              </a:rPr>
              <a:t>Multi-agent organisation</a:t>
            </a:r>
          </a:p>
        </p:txBody>
      </p:sp>
      <p:sp>
        <p:nvSpPr>
          <p:cNvPr id="50" name="Rounded Rectangle 49"/>
          <p:cNvSpPr/>
          <p:nvPr/>
        </p:nvSpPr>
        <p:spPr>
          <a:xfrm>
            <a:off x="5047488" y="4041648"/>
            <a:ext cx="2103120" cy="1719072"/>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TextBox 50"/>
          <p:cNvSpPr txBox="1"/>
          <p:nvPr/>
        </p:nvSpPr>
        <p:spPr>
          <a:xfrm>
            <a:off x="5212079" y="4169663"/>
            <a:ext cx="1828800" cy="274320"/>
          </a:xfrm>
          <a:prstGeom prst="rect">
            <a:avLst/>
          </a:prstGeom>
          <a:noFill/>
        </p:spPr>
        <p:txBody>
          <a:bodyPr wrap="square" lIns="36576" rIns="36576" tIns="18288" bIns="18288" anchor="t">
            <a:spAutoFit/>
          </a:bodyPr>
          <a:lstStyle/>
          <a:p>
            <a:pPr algn="l">
              <a:lnSpc>
                <a:spcPct val="112000"/>
              </a:lnSpc>
            </a:pPr>
            <a:r>
              <a:rPr sz="1000" b="1" i="0">
                <a:solidFill>
                  <a:srgbClr val="D97757"/>
                </a:solidFill>
                <a:latin typeface="Calibri"/>
              </a:rPr>
              <a:t>LAB 8  ·  DAY 2</a:t>
            </a:r>
          </a:p>
        </p:txBody>
      </p:sp>
      <p:sp>
        <p:nvSpPr>
          <p:cNvPr id="52" name="Oval 51"/>
          <p:cNvSpPr/>
          <p:nvPr/>
        </p:nvSpPr>
        <p:spPr>
          <a:xfrm>
            <a:off x="5212079" y="4498848"/>
            <a:ext cx="438912" cy="438912"/>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3" name="Picture 52" descr="rocket-FFFFFF.png"/>
          <p:cNvPicPr>
            <a:picLocks noChangeAspect="1"/>
          </p:cNvPicPr>
          <p:nvPr/>
        </p:nvPicPr>
        <p:blipFill>
          <a:blip r:embed="rId9"/>
          <a:stretch>
            <a:fillRect/>
          </a:stretch>
        </p:blipFill>
        <p:spPr>
          <a:xfrm>
            <a:off x="5317418" y="4604186"/>
            <a:ext cx="228234" cy="228234"/>
          </a:xfrm>
          <a:prstGeom prst="rect">
            <a:avLst/>
          </a:prstGeom>
        </p:spPr>
      </p:pic>
      <p:sp>
        <p:nvSpPr>
          <p:cNvPr id="54" name="TextBox 53"/>
          <p:cNvSpPr txBox="1"/>
          <p:nvPr/>
        </p:nvSpPr>
        <p:spPr>
          <a:xfrm>
            <a:off x="5212079" y="5001768"/>
            <a:ext cx="1810512" cy="548640"/>
          </a:xfrm>
          <a:prstGeom prst="rect">
            <a:avLst/>
          </a:prstGeom>
          <a:noFill/>
        </p:spPr>
        <p:txBody>
          <a:bodyPr wrap="square" lIns="36576" rIns="36576" tIns="18288" bIns="18288" anchor="t">
            <a:spAutoFit/>
          </a:bodyPr>
          <a:lstStyle/>
          <a:p>
            <a:pPr algn="l">
              <a:lnSpc>
                <a:spcPct val="112000"/>
              </a:lnSpc>
            </a:pPr>
            <a:r>
              <a:rPr sz="1350" b="1" i="0">
                <a:solidFill>
                  <a:srgbClr val="FFFFFF"/>
                </a:solidFill>
                <a:latin typeface="Cambria"/>
              </a:rPr>
              <a:t>Launch Campaign Project</a:t>
            </a:r>
          </a:p>
        </p:txBody>
      </p:sp>
      <p:sp>
        <p:nvSpPr>
          <p:cNvPr id="55" name="TextBox 54"/>
          <p:cNvSpPr txBox="1"/>
          <p:nvPr/>
        </p:nvSpPr>
        <p:spPr>
          <a:xfrm>
            <a:off x="5212079" y="5504688"/>
            <a:ext cx="1810512" cy="320040"/>
          </a:xfrm>
          <a:prstGeom prst="rect">
            <a:avLst/>
          </a:prstGeom>
          <a:noFill/>
        </p:spPr>
        <p:txBody>
          <a:bodyPr wrap="square" lIns="36576" rIns="36576" tIns="18288" bIns="18288" anchor="t">
            <a:spAutoFit/>
          </a:bodyPr>
          <a:lstStyle/>
          <a:p>
            <a:pPr algn="l">
              <a:lnSpc>
                <a:spcPct val="112000"/>
              </a:lnSpc>
            </a:pPr>
            <a:r>
              <a:rPr sz="850" b="0" i="0">
                <a:solidFill>
                  <a:srgbClr val="C9C4B9"/>
                </a:solidFill>
                <a:latin typeface="Calibri"/>
              </a:rPr>
              <a:t>Multi-agent project with Board review</a:t>
            </a:r>
          </a:p>
        </p:txBody>
      </p:sp>
      <p:sp>
        <p:nvSpPr>
          <p:cNvPr id="56" name="Rounded Rectangle 55"/>
          <p:cNvSpPr/>
          <p:nvPr/>
        </p:nvSpPr>
        <p:spPr>
          <a:xfrm>
            <a:off x="7296912" y="4041648"/>
            <a:ext cx="2103120" cy="1719072"/>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TextBox 56"/>
          <p:cNvSpPr txBox="1"/>
          <p:nvPr/>
        </p:nvSpPr>
        <p:spPr>
          <a:xfrm>
            <a:off x="7461504" y="4169663"/>
            <a:ext cx="1828800" cy="274320"/>
          </a:xfrm>
          <a:prstGeom prst="rect">
            <a:avLst/>
          </a:prstGeom>
          <a:noFill/>
        </p:spPr>
        <p:txBody>
          <a:bodyPr wrap="square" lIns="36576" rIns="36576" tIns="18288" bIns="18288" anchor="t">
            <a:spAutoFit/>
          </a:bodyPr>
          <a:lstStyle/>
          <a:p>
            <a:pPr algn="l">
              <a:lnSpc>
                <a:spcPct val="112000"/>
              </a:lnSpc>
            </a:pPr>
            <a:r>
              <a:rPr sz="1000" b="1" i="0">
                <a:solidFill>
                  <a:srgbClr val="D97757"/>
                </a:solidFill>
                <a:latin typeface="Calibri"/>
              </a:rPr>
              <a:t>LAB 9  ·  DAY 2</a:t>
            </a:r>
          </a:p>
        </p:txBody>
      </p:sp>
      <p:sp>
        <p:nvSpPr>
          <p:cNvPr id="58" name="Oval 57"/>
          <p:cNvSpPr/>
          <p:nvPr/>
        </p:nvSpPr>
        <p:spPr>
          <a:xfrm>
            <a:off x="7461504" y="4498848"/>
            <a:ext cx="438912" cy="438912"/>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9" name="Picture 58" descr="clock-FFFFFF.png"/>
          <p:cNvPicPr>
            <a:picLocks noChangeAspect="1"/>
          </p:cNvPicPr>
          <p:nvPr/>
        </p:nvPicPr>
        <p:blipFill>
          <a:blip r:embed="rId10"/>
          <a:stretch>
            <a:fillRect/>
          </a:stretch>
        </p:blipFill>
        <p:spPr>
          <a:xfrm>
            <a:off x="7566842" y="4604186"/>
            <a:ext cx="228234" cy="228234"/>
          </a:xfrm>
          <a:prstGeom prst="rect">
            <a:avLst/>
          </a:prstGeom>
        </p:spPr>
      </p:pic>
      <p:sp>
        <p:nvSpPr>
          <p:cNvPr id="60" name="TextBox 59"/>
          <p:cNvSpPr txBox="1"/>
          <p:nvPr/>
        </p:nvSpPr>
        <p:spPr>
          <a:xfrm>
            <a:off x="7461504" y="5001768"/>
            <a:ext cx="1810512" cy="548640"/>
          </a:xfrm>
          <a:prstGeom prst="rect">
            <a:avLst/>
          </a:prstGeom>
          <a:noFill/>
        </p:spPr>
        <p:txBody>
          <a:bodyPr wrap="square" lIns="36576" rIns="36576" tIns="18288" bIns="18288" anchor="t">
            <a:spAutoFit/>
          </a:bodyPr>
          <a:lstStyle/>
          <a:p>
            <a:pPr algn="l">
              <a:lnSpc>
                <a:spcPct val="112000"/>
              </a:lnSpc>
            </a:pPr>
            <a:r>
              <a:rPr sz="1350" b="1" i="0">
                <a:solidFill>
                  <a:srgbClr val="FFFFFF"/>
                </a:solidFill>
                <a:latin typeface="Cambria"/>
              </a:rPr>
              <a:t>Weekly Video Routine</a:t>
            </a:r>
          </a:p>
        </p:txBody>
      </p:sp>
      <p:sp>
        <p:nvSpPr>
          <p:cNvPr id="61" name="TextBox 60"/>
          <p:cNvSpPr txBox="1"/>
          <p:nvPr/>
        </p:nvSpPr>
        <p:spPr>
          <a:xfrm>
            <a:off x="7461504" y="5504688"/>
            <a:ext cx="1810512" cy="320040"/>
          </a:xfrm>
          <a:prstGeom prst="rect">
            <a:avLst/>
          </a:prstGeom>
          <a:noFill/>
        </p:spPr>
        <p:txBody>
          <a:bodyPr wrap="square" lIns="36576" rIns="36576" tIns="18288" bIns="18288" anchor="t">
            <a:spAutoFit/>
          </a:bodyPr>
          <a:lstStyle/>
          <a:p>
            <a:pPr algn="l">
              <a:lnSpc>
                <a:spcPct val="112000"/>
              </a:lnSpc>
            </a:pPr>
            <a:r>
              <a:rPr sz="900" b="0" i="0">
                <a:solidFill>
                  <a:srgbClr val="C9C4B9"/>
                </a:solidFill>
                <a:latin typeface="Calibri"/>
              </a:rPr>
              <a:t>Scheduled multi-agent workflow</a:t>
            </a:r>
          </a:p>
        </p:txBody>
      </p:sp>
      <p:sp>
        <p:nvSpPr>
          <p:cNvPr id="62" name="Rounded Rectangle 61"/>
          <p:cNvSpPr/>
          <p:nvPr/>
        </p:nvSpPr>
        <p:spPr>
          <a:xfrm>
            <a:off x="9546336" y="4041648"/>
            <a:ext cx="2103120" cy="1719072"/>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3" name="TextBox 62"/>
          <p:cNvSpPr txBox="1"/>
          <p:nvPr/>
        </p:nvSpPr>
        <p:spPr>
          <a:xfrm>
            <a:off x="9710928" y="4169663"/>
            <a:ext cx="1828800" cy="274320"/>
          </a:xfrm>
          <a:prstGeom prst="rect">
            <a:avLst/>
          </a:prstGeom>
          <a:noFill/>
        </p:spPr>
        <p:txBody>
          <a:bodyPr wrap="square" lIns="36576" rIns="36576" tIns="18288" bIns="18288" anchor="t">
            <a:spAutoFit/>
          </a:bodyPr>
          <a:lstStyle/>
          <a:p>
            <a:pPr algn="l">
              <a:lnSpc>
                <a:spcPct val="112000"/>
              </a:lnSpc>
            </a:pPr>
            <a:r>
              <a:rPr sz="1000" b="1" i="0">
                <a:solidFill>
                  <a:srgbClr val="D97757"/>
                </a:solidFill>
                <a:latin typeface="Calibri"/>
              </a:rPr>
              <a:t>LAB 10  ·  DAY 2</a:t>
            </a:r>
          </a:p>
        </p:txBody>
      </p:sp>
      <p:sp>
        <p:nvSpPr>
          <p:cNvPr id="64" name="Oval 63"/>
          <p:cNvSpPr/>
          <p:nvPr/>
        </p:nvSpPr>
        <p:spPr>
          <a:xfrm>
            <a:off x="9710928" y="4498848"/>
            <a:ext cx="438912" cy="438912"/>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5" name="Picture 64" descr="gauge-FFFFFF.png"/>
          <p:cNvPicPr>
            <a:picLocks noChangeAspect="1"/>
          </p:cNvPicPr>
          <p:nvPr/>
        </p:nvPicPr>
        <p:blipFill>
          <a:blip r:embed="rId11"/>
          <a:stretch>
            <a:fillRect/>
          </a:stretch>
        </p:blipFill>
        <p:spPr>
          <a:xfrm>
            <a:off x="9816266" y="4604186"/>
            <a:ext cx="228234" cy="228234"/>
          </a:xfrm>
          <a:prstGeom prst="rect">
            <a:avLst/>
          </a:prstGeom>
        </p:spPr>
      </p:pic>
      <p:sp>
        <p:nvSpPr>
          <p:cNvPr id="66" name="TextBox 65"/>
          <p:cNvSpPr txBox="1"/>
          <p:nvPr/>
        </p:nvSpPr>
        <p:spPr>
          <a:xfrm>
            <a:off x="9710928" y="5001768"/>
            <a:ext cx="1810512" cy="548640"/>
          </a:xfrm>
          <a:prstGeom prst="rect">
            <a:avLst/>
          </a:prstGeom>
          <a:noFill/>
        </p:spPr>
        <p:txBody>
          <a:bodyPr wrap="square" lIns="36576" rIns="36576" tIns="18288" bIns="18288" anchor="t">
            <a:spAutoFit/>
          </a:bodyPr>
          <a:lstStyle/>
          <a:p>
            <a:pPr algn="l">
              <a:lnSpc>
                <a:spcPct val="112000"/>
              </a:lnSpc>
            </a:pPr>
            <a:r>
              <a:rPr sz="1350" b="1" i="0">
                <a:solidFill>
                  <a:srgbClr val="FFFFFF"/>
                </a:solidFill>
                <a:latin typeface="Cambria"/>
              </a:rPr>
              <a:t>Govern &amp; Improve</a:t>
            </a:r>
          </a:p>
        </p:txBody>
      </p:sp>
      <p:sp>
        <p:nvSpPr>
          <p:cNvPr id="67" name="TextBox 66"/>
          <p:cNvSpPr txBox="1"/>
          <p:nvPr/>
        </p:nvSpPr>
        <p:spPr>
          <a:xfrm>
            <a:off x="9710928" y="5504688"/>
            <a:ext cx="1810512" cy="320040"/>
          </a:xfrm>
          <a:prstGeom prst="rect">
            <a:avLst/>
          </a:prstGeom>
          <a:noFill/>
        </p:spPr>
        <p:txBody>
          <a:bodyPr wrap="square" lIns="36576" rIns="36576" tIns="18288" bIns="18288" anchor="t">
            <a:spAutoFit/>
          </a:bodyPr>
          <a:lstStyle/>
          <a:p>
            <a:pPr algn="l">
              <a:lnSpc>
                <a:spcPct val="112000"/>
              </a:lnSpc>
            </a:pPr>
            <a:r>
              <a:rPr sz="950" b="0" i="0">
                <a:solidFill>
                  <a:srgbClr val="C9C4B9"/>
                </a:solidFill>
                <a:latin typeface="Calibri"/>
              </a:rPr>
              <a:t>Workforce governance</a:t>
            </a:r>
          </a:p>
        </p:txBody>
      </p:sp>
      <p:sp>
        <p:nvSpPr>
          <p:cNvPr id="68" name="TextBox 67"/>
          <p:cNvSpPr txBox="1"/>
          <p:nvPr/>
        </p:nvSpPr>
        <p:spPr>
          <a:xfrm>
            <a:off x="548640" y="5943600"/>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Day 1 = Hermes Agent (single → multi-agent).  Day 2 = Paperclip (a governed company of agents).</a:t>
            </a:r>
          </a:p>
        </p:txBody>
      </p:sp>
    </p:spTree>
  </p:cSld>
  <p:clrMapOvr>
    <a:masterClrMapping/>
  </p:clrMapOvr>
  <p:transition spd="med">
    <p:fade/>
  </p:transition>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ROADMAP · HANDS-ON</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Lab Materials &amp; the Lab Prompts Page</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Everything you need is in the course repo: instructions PDF, mock data, skills and copy-ready prompts for every lab.</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13</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2172614" y="2231136"/>
            <a:ext cx="2969971" cy="3995928"/>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prompts-page.png"/>
          <p:cNvPicPr>
            <a:picLocks noChangeAspect="1"/>
          </p:cNvPicPr>
          <p:nvPr/>
        </p:nvPicPr>
        <p:blipFill>
          <a:blip r:embed="rId2"/>
          <a:stretch>
            <a:fillRect/>
          </a:stretch>
        </p:blipFill>
        <p:spPr>
          <a:xfrm>
            <a:off x="2227478" y="2286000"/>
            <a:ext cx="2860243" cy="3886200"/>
          </a:xfrm>
          <a:prstGeom prst="rect">
            <a:avLst/>
          </a:prstGeom>
        </p:spPr>
      </p:pic>
      <p:sp>
        <p:nvSpPr>
          <p:cNvPr id="10" name="Oval 9"/>
          <p:cNvSpPr/>
          <p:nvPr/>
        </p:nvSpPr>
        <p:spPr>
          <a:xfrm>
            <a:off x="7040880" y="2286000"/>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download-FFFFFF.png"/>
          <p:cNvPicPr>
            <a:picLocks noChangeAspect="1"/>
          </p:cNvPicPr>
          <p:nvPr/>
        </p:nvPicPr>
        <p:blipFill>
          <a:blip r:embed="rId3"/>
          <a:stretch>
            <a:fillRect/>
          </a:stretch>
        </p:blipFill>
        <p:spPr>
          <a:xfrm>
            <a:off x="7154997" y="2400117"/>
            <a:ext cx="247253" cy="247253"/>
          </a:xfrm>
          <a:prstGeom prst="rect">
            <a:avLst/>
          </a:prstGeom>
        </p:spPr>
      </p:pic>
      <p:sp>
        <p:nvSpPr>
          <p:cNvPr id="12" name="TextBox 11"/>
          <p:cNvSpPr txBox="1"/>
          <p:nvPr/>
        </p:nvSpPr>
        <p:spPr>
          <a:xfrm>
            <a:off x="7662672" y="2249424"/>
            <a:ext cx="4023360" cy="347472"/>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Get the labs</a:t>
            </a:r>
          </a:p>
        </p:txBody>
      </p:sp>
      <p:sp>
        <p:nvSpPr>
          <p:cNvPr id="13" name="TextBox 12"/>
          <p:cNvSpPr txBox="1"/>
          <p:nvPr/>
        </p:nvSpPr>
        <p:spPr>
          <a:xfrm>
            <a:off x="7662672" y="2596896"/>
            <a:ext cx="4023360" cy="640080"/>
          </a:xfrm>
          <a:prstGeom prst="rect">
            <a:avLst/>
          </a:prstGeom>
          <a:noFill/>
        </p:spPr>
        <p:txBody>
          <a:bodyPr wrap="square" lIns="36576" rIns="36576" tIns="18288" bIns="18288" anchor="t">
            <a:spAutoFit/>
          </a:bodyPr>
          <a:lstStyle/>
          <a:p>
            <a:pPr algn="l">
              <a:lnSpc>
                <a:spcPct val="112000"/>
              </a:lnSpc>
            </a:pPr>
            <a:r>
              <a:rPr sz="1150" b="0" i="0">
                <a:solidFill>
                  <a:srgbClr val="6B6862"/>
                </a:solidFill>
                <a:latin typeface="Calibri"/>
              </a:rPr>
              <a:t>github.com/tertiarycourses/TGS-2024043854-… → Code → Download ZIP. Unzip anywhere.</a:t>
            </a:r>
          </a:p>
        </p:txBody>
      </p:sp>
      <p:sp>
        <p:nvSpPr>
          <p:cNvPr id="14" name="Oval 13"/>
          <p:cNvSpPr/>
          <p:nvPr/>
        </p:nvSpPr>
        <p:spPr>
          <a:xfrm>
            <a:off x="7040880" y="3273552"/>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Picture 14" descr="file-FFFFFF.png"/>
          <p:cNvPicPr>
            <a:picLocks noChangeAspect="1"/>
          </p:cNvPicPr>
          <p:nvPr/>
        </p:nvPicPr>
        <p:blipFill>
          <a:blip r:embed="rId4"/>
          <a:stretch>
            <a:fillRect/>
          </a:stretch>
        </p:blipFill>
        <p:spPr>
          <a:xfrm>
            <a:off x="7154997" y="3387669"/>
            <a:ext cx="247253" cy="247253"/>
          </a:xfrm>
          <a:prstGeom prst="rect">
            <a:avLst/>
          </a:prstGeom>
        </p:spPr>
      </p:pic>
      <p:sp>
        <p:nvSpPr>
          <p:cNvPr id="16" name="TextBox 15"/>
          <p:cNvSpPr txBox="1"/>
          <p:nvPr/>
        </p:nvSpPr>
        <p:spPr>
          <a:xfrm>
            <a:off x="7662672" y="3236976"/>
            <a:ext cx="4023360" cy="347472"/>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Open the prompts page</a:t>
            </a:r>
          </a:p>
        </p:txBody>
      </p:sp>
      <p:sp>
        <p:nvSpPr>
          <p:cNvPr id="17" name="TextBox 16"/>
          <p:cNvSpPr txBox="1"/>
          <p:nvPr/>
        </p:nvSpPr>
        <p:spPr>
          <a:xfrm>
            <a:off x="7662672" y="3584448"/>
            <a:ext cx="4023360" cy="640080"/>
          </a:xfrm>
          <a:prstGeom prst="rect">
            <a:avLst/>
          </a:prstGeom>
          <a:noFill/>
        </p:spPr>
        <p:txBody>
          <a:bodyPr wrap="square" lIns="36576" rIns="36576" tIns="18288" bIns="18288" anchor="t">
            <a:spAutoFit/>
          </a:bodyPr>
          <a:lstStyle/>
          <a:p>
            <a:pPr algn="l">
              <a:lnSpc>
                <a:spcPct val="112000"/>
              </a:lnSpc>
            </a:pPr>
            <a:r>
              <a:rPr sz="1150" b="0" i="0">
                <a:solidFill>
                  <a:srgbClr val="6B6862"/>
                </a:solidFill>
                <a:latin typeface="Calibri"/>
              </a:rPr>
              <a:t>Double-click prompts/index.html — pick your lab, click Copy, paste into Hermes, Telegram or Paperclip.</a:t>
            </a:r>
          </a:p>
        </p:txBody>
      </p:sp>
      <p:sp>
        <p:nvSpPr>
          <p:cNvPr id="18" name="Oval 17"/>
          <p:cNvSpPr/>
          <p:nvPr/>
        </p:nvSpPr>
        <p:spPr>
          <a:xfrm>
            <a:off x="7040880" y="4261104"/>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 name="Picture 18" descr="folder-FFFFFF.png"/>
          <p:cNvPicPr>
            <a:picLocks noChangeAspect="1"/>
          </p:cNvPicPr>
          <p:nvPr/>
        </p:nvPicPr>
        <p:blipFill>
          <a:blip r:embed="rId5"/>
          <a:stretch>
            <a:fillRect/>
          </a:stretch>
        </p:blipFill>
        <p:spPr>
          <a:xfrm>
            <a:off x="7154997" y="4375221"/>
            <a:ext cx="247253" cy="247253"/>
          </a:xfrm>
          <a:prstGeom prst="rect">
            <a:avLst/>
          </a:prstGeom>
        </p:spPr>
      </p:pic>
      <p:sp>
        <p:nvSpPr>
          <p:cNvPr id="20" name="TextBox 19"/>
          <p:cNvSpPr txBox="1"/>
          <p:nvPr/>
        </p:nvSpPr>
        <p:spPr>
          <a:xfrm>
            <a:off x="7662672" y="4224528"/>
            <a:ext cx="4023360" cy="347472"/>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Use the lab folder</a:t>
            </a:r>
          </a:p>
        </p:txBody>
      </p:sp>
      <p:sp>
        <p:nvSpPr>
          <p:cNvPr id="21" name="TextBox 20"/>
          <p:cNvSpPr txBox="1"/>
          <p:nvPr/>
        </p:nvSpPr>
        <p:spPr>
          <a:xfrm>
            <a:off x="7662672" y="4572000"/>
            <a:ext cx="4023360" cy="640080"/>
          </a:xfrm>
          <a:prstGeom prst="rect">
            <a:avLst/>
          </a:prstGeom>
          <a:noFill/>
        </p:spPr>
        <p:txBody>
          <a:bodyPr wrap="square" lIns="36576" rIns="36576" tIns="18288" bIns="18288" anchor="t">
            <a:spAutoFit/>
          </a:bodyPr>
          <a:lstStyle/>
          <a:p>
            <a:pPr algn="l">
              <a:lnSpc>
                <a:spcPct val="112000"/>
              </a:lnSpc>
            </a:pPr>
            <a:r>
              <a:rPr sz="1150" b="0" i="0">
                <a:solidFill>
                  <a:srgbClr val="6B6862"/>
                </a:solidFill>
                <a:latin typeface="Calibri"/>
              </a:rPr>
              <a:t>labs/labNN-…/ holds README, LAB-NN-Instructions.pdf, COPY-PROMPTS.txt and data/.</a:t>
            </a:r>
          </a:p>
        </p:txBody>
      </p:sp>
      <p:sp>
        <p:nvSpPr>
          <p:cNvPr id="22" name="Oval 21"/>
          <p:cNvSpPr/>
          <p:nvPr/>
        </p:nvSpPr>
        <p:spPr>
          <a:xfrm>
            <a:off x="7040880" y="5248656"/>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3" name="Picture 22" descr="check-FFFFFF.png"/>
          <p:cNvPicPr>
            <a:picLocks noChangeAspect="1"/>
          </p:cNvPicPr>
          <p:nvPr/>
        </p:nvPicPr>
        <p:blipFill>
          <a:blip r:embed="rId6"/>
          <a:stretch>
            <a:fillRect/>
          </a:stretch>
        </p:blipFill>
        <p:spPr>
          <a:xfrm>
            <a:off x="7154997" y="5362773"/>
            <a:ext cx="247253" cy="247253"/>
          </a:xfrm>
          <a:prstGeom prst="rect">
            <a:avLst/>
          </a:prstGeom>
        </p:spPr>
      </p:pic>
      <p:sp>
        <p:nvSpPr>
          <p:cNvPr id="24" name="TextBox 23"/>
          <p:cNvSpPr txBox="1"/>
          <p:nvPr/>
        </p:nvSpPr>
        <p:spPr>
          <a:xfrm>
            <a:off x="7662672" y="5212080"/>
            <a:ext cx="4023360" cy="347472"/>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Verify every result</a:t>
            </a:r>
          </a:p>
        </p:txBody>
      </p:sp>
      <p:sp>
        <p:nvSpPr>
          <p:cNvPr id="25" name="TextBox 24"/>
          <p:cNvSpPr txBox="1"/>
          <p:nvPr/>
        </p:nvSpPr>
        <p:spPr>
          <a:xfrm>
            <a:off x="7662672" y="5559552"/>
            <a:ext cx="4023360" cy="640080"/>
          </a:xfrm>
          <a:prstGeom prst="rect">
            <a:avLst/>
          </a:prstGeom>
          <a:noFill/>
        </p:spPr>
        <p:txBody>
          <a:bodyPr wrap="square" lIns="36576" rIns="36576" tIns="18288" bIns="18288" anchor="t">
            <a:spAutoFit/>
          </a:bodyPr>
          <a:lstStyle/>
          <a:p>
            <a:pPr algn="l">
              <a:lnSpc>
                <a:spcPct val="112000"/>
              </a:lnSpc>
            </a:pPr>
            <a:r>
              <a:rPr sz="1150" b="0" i="0">
                <a:solidFill>
                  <a:srgbClr val="6B6862"/>
                </a:solidFill>
                <a:latin typeface="Calibri"/>
              </a:rPr>
              <a:t>Each lab ends with a checkpoint — evidence, not vibes.</a:t>
            </a:r>
          </a:p>
        </p:txBody>
      </p:sp>
    </p:spTree>
  </p:cSld>
  <p:clrMapOvr>
    <a:masterClrMapping/>
  </p:clrMapOvr>
  <p:transition spd="med">
    <p:fade/>
  </p:transition>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THE COURSE SCENARIO</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Meet Kopi Kaki Co.</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C9C4B9"/>
                </a:solidFill>
                <a:latin typeface="Calibri"/>
              </a:rPr>
              <a:t>A fictional Singapore kopi chain — the company every lab works for. All data is synthetic.</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14</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sp>
        <p:nvSpPr>
          <p:cNvPr id="8" name="Rounded Rectangle 7"/>
          <p:cNvSpPr/>
          <p:nvPr/>
        </p:nvSpPr>
        <p:spPr>
          <a:xfrm>
            <a:off x="548640" y="2331720"/>
            <a:ext cx="5440680" cy="169164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804672" y="2606039"/>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store-FFFFFF.png"/>
          <p:cNvPicPr>
            <a:picLocks noChangeAspect="1"/>
          </p:cNvPicPr>
          <p:nvPr/>
        </p:nvPicPr>
        <p:blipFill>
          <a:blip r:embed="rId2"/>
          <a:stretch>
            <a:fillRect/>
          </a:stretch>
        </p:blipFill>
        <p:spPr>
          <a:xfrm>
            <a:off x="936345" y="2737713"/>
            <a:ext cx="285292" cy="285292"/>
          </a:xfrm>
          <a:prstGeom prst="rect">
            <a:avLst/>
          </a:prstGeom>
        </p:spPr>
      </p:pic>
      <p:sp>
        <p:nvSpPr>
          <p:cNvPr id="11" name="TextBox 10"/>
          <p:cNvSpPr txBox="1"/>
          <p:nvPr/>
        </p:nvSpPr>
        <p:spPr>
          <a:xfrm>
            <a:off x="1536192" y="2587752"/>
            <a:ext cx="4297680" cy="457200"/>
          </a:xfrm>
          <a:prstGeom prst="rect">
            <a:avLst/>
          </a:prstGeom>
          <a:noFill/>
        </p:spPr>
        <p:txBody>
          <a:bodyPr wrap="square" lIns="36576" rIns="36576" tIns="18288" bIns="18288" anchor="t">
            <a:spAutoFit/>
          </a:bodyPr>
          <a:lstStyle/>
          <a:p>
            <a:pPr algn="l">
              <a:lnSpc>
                <a:spcPct val="112000"/>
              </a:lnSpc>
            </a:pPr>
            <a:r>
              <a:rPr sz="1700" b="1" i="0">
                <a:solidFill>
                  <a:srgbClr val="FFFFFF"/>
                </a:solidFill>
                <a:latin typeface="Cambria"/>
              </a:rPr>
              <a:t>12 outlets · 140 staff</a:t>
            </a:r>
          </a:p>
        </p:txBody>
      </p:sp>
      <p:sp>
        <p:nvSpPr>
          <p:cNvPr id="12" name="TextBox 11"/>
          <p:cNvSpPr txBox="1"/>
          <p:nvPr/>
        </p:nvSpPr>
        <p:spPr>
          <a:xfrm>
            <a:off x="1536192" y="3081527"/>
            <a:ext cx="4251960" cy="868680"/>
          </a:xfrm>
          <a:prstGeom prst="rect">
            <a:avLst/>
          </a:prstGeom>
          <a:noFill/>
        </p:spPr>
        <p:txBody>
          <a:bodyPr wrap="square" lIns="36576" rIns="36576" tIns="18288" bIns="18288" anchor="t">
            <a:spAutoFit/>
          </a:bodyPr>
          <a:lstStyle/>
          <a:p>
            <a:pPr algn="l">
              <a:lnSpc>
                <a:spcPct val="112000"/>
              </a:lnSpc>
            </a:pPr>
            <a:r>
              <a:rPr sz="1300" b="0" i="0">
                <a:solidFill>
                  <a:srgbClr val="C9C4B9"/>
                </a:solidFill>
                <a:latin typeface="Calibri"/>
              </a:rPr>
              <a:t>Heritage kopi, modern craft — Tiong Bahru to Changi T3.</a:t>
            </a:r>
          </a:p>
        </p:txBody>
      </p:sp>
      <p:sp>
        <p:nvSpPr>
          <p:cNvPr id="13" name="Rounded Rectangle 12"/>
          <p:cNvSpPr/>
          <p:nvPr/>
        </p:nvSpPr>
        <p:spPr>
          <a:xfrm>
            <a:off x="6172200" y="2331720"/>
            <a:ext cx="5440680" cy="169164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6428232" y="2606039"/>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Picture 14" descr="coffee-FFFFFF.png"/>
          <p:cNvPicPr>
            <a:picLocks noChangeAspect="1"/>
          </p:cNvPicPr>
          <p:nvPr/>
        </p:nvPicPr>
        <p:blipFill>
          <a:blip r:embed="rId3"/>
          <a:stretch>
            <a:fillRect/>
          </a:stretch>
        </p:blipFill>
        <p:spPr>
          <a:xfrm>
            <a:off x="6559905" y="2737713"/>
            <a:ext cx="285292" cy="285292"/>
          </a:xfrm>
          <a:prstGeom prst="rect">
            <a:avLst/>
          </a:prstGeom>
        </p:spPr>
      </p:pic>
      <p:sp>
        <p:nvSpPr>
          <p:cNvPr id="16" name="TextBox 15"/>
          <p:cNvSpPr txBox="1"/>
          <p:nvPr/>
        </p:nvSpPr>
        <p:spPr>
          <a:xfrm>
            <a:off x="7159752" y="2587752"/>
            <a:ext cx="4297680" cy="457200"/>
          </a:xfrm>
          <a:prstGeom prst="rect">
            <a:avLst/>
          </a:prstGeom>
          <a:noFill/>
        </p:spPr>
        <p:txBody>
          <a:bodyPr wrap="square" lIns="36576" rIns="36576" tIns="18288" bIns="18288" anchor="t">
            <a:spAutoFit/>
          </a:bodyPr>
          <a:lstStyle/>
          <a:p>
            <a:pPr algn="l">
              <a:lnSpc>
                <a:spcPct val="112000"/>
              </a:lnSpc>
            </a:pPr>
            <a:r>
              <a:rPr sz="1700" b="1" i="0">
                <a:solidFill>
                  <a:srgbClr val="FFFFFF"/>
                </a:solidFill>
                <a:latin typeface="Cambria"/>
              </a:rPr>
              <a:t>Launch: Gula Melaka Cold Brew</a:t>
            </a:r>
          </a:p>
        </p:txBody>
      </p:sp>
      <p:sp>
        <p:nvSpPr>
          <p:cNvPr id="17" name="TextBox 16"/>
          <p:cNvSpPr txBox="1"/>
          <p:nvPr/>
        </p:nvSpPr>
        <p:spPr>
          <a:xfrm>
            <a:off x="7159752" y="3081527"/>
            <a:ext cx="4251960" cy="868680"/>
          </a:xfrm>
          <a:prstGeom prst="rect">
            <a:avLst/>
          </a:prstGeom>
          <a:noFill/>
        </p:spPr>
        <p:txBody>
          <a:bodyPr wrap="square" lIns="36576" rIns="36576" tIns="18288" bIns="18288" anchor="t">
            <a:spAutoFit/>
          </a:bodyPr>
          <a:lstStyle/>
          <a:p>
            <a:pPr algn="l">
              <a:lnSpc>
                <a:spcPct val="112000"/>
              </a:lnSpc>
            </a:pPr>
            <a:r>
              <a:rPr sz="1300" b="0" i="0">
                <a:solidFill>
                  <a:srgbClr val="C9C4B9"/>
                </a:solidFill>
                <a:latin typeface="Calibri"/>
              </a:rPr>
              <a:t>SGD 6.80 · 1 Dec 2026 · code SHIOK20 (20% off first app order, 1–14 Dec).</a:t>
            </a:r>
          </a:p>
        </p:txBody>
      </p:sp>
      <p:sp>
        <p:nvSpPr>
          <p:cNvPr id="18" name="Rounded Rectangle 17"/>
          <p:cNvSpPr/>
          <p:nvPr/>
        </p:nvSpPr>
        <p:spPr>
          <a:xfrm>
            <a:off x="548640" y="4206240"/>
            <a:ext cx="5440680" cy="169164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804672" y="4480559"/>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target-FFFFFF.png"/>
          <p:cNvPicPr>
            <a:picLocks noChangeAspect="1"/>
          </p:cNvPicPr>
          <p:nvPr/>
        </p:nvPicPr>
        <p:blipFill>
          <a:blip r:embed="rId4"/>
          <a:stretch>
            <a:fillRect/>
          </a:stretch>
        </p:blipFill>
        <p:spPr>
          <a:xfrm>
            <a:off x="936345" y="4612233"/>
            <a:ext cx="285292" cy="285292"/>
          </a:xfrm>
          <a:prstGeom prst="rect">
            <a:avLst/>
          </a:prstGeom>
        </p:spPr>
      </p:pic>
      <p:sp>
        <p:nvSpPr>
          <p:cNvPr id="21" name="TextBox 20"/>
          <p:cNvSpPr txBox="1"/>
          <p:nvPr/>
        </p:nvSpPr>
        <p:spPr>
          <a:xfrm>
            <a:off x="1536192" y="4462272"/>
            <a:ext cx="4297680" cy="457200"/>
          </a:xfrm>
          <a:prstGeom prst="rect">
            <a:avLst/>
          </a:prstGeom>
          <a:noFill/>
        </p:spPr>
        <p:txBody>
          <a:bodyPr wrap="square" lIns="36576" rIns="36576" tIns="18288" bIns="18288" anchor="t">
            <a:spAutoFit/>
          </a:bodyPr>
          <a:lstStyle/>
          <a:p>
            <a:pPr algn="l">
              <a:lnSpc>
                <a:spcPct val="112000"/>
              </a:lnSpc>
            </a:pPr>
            <a:r>
              <a:rPr sz="1700" b="1" i="0">
                <a:solidFill>
                  <a:srgbClr val="FFFFFF"/>
                </a:solidFill>
                <a:latin typeface="Cambria"/>
              </a:rPr>
              <a:t>Campaign #ShiokColdBrew</a:t>
            </a:r>
          </a:p>
        </p:txBody>
      </p:sp>
      <p:sp>
        <p:nvSpPr>
          <p:cNvPr id="22" name="TextBox 21"/>
          <p:cNvSpPr txBox="1"/>
          <p:nvPr/>
        </p:nvSpPr>
        <p:spPr>
          <a:xfrm>
            <a:off x="1536192" y="4956048"/>
            <a:ext cx="4251960" cy="868680"/>
          </a:xfrm>
          <a:prstGeom prst="rect">
            <a:avLst/>
          </a:prstGeom>
          <a:noFill/>
        </p:spPr>
        <p:txBody>
          <a:bodyPr wrap="square" lIns="36576" rIns="36576" tIns="18288" bIns="18288" anchor="t">
            <a:spAutoFit/>
          </a:bodyPr>
          <a:lstStyle/>
          <a:p>
            <a:pPr algn="l">
              <a:lnSpc>
                <a:spcPct val="112000"/>
              </a:lnSpc>
            </a:pPr>
            <a:r>
              <a:rPr sz="1300" b="0" i="0">
                <a:solidFill>
                  <a:srgbClr val="C9C4B9"/>
                </a:solidFill>
                <a:latin typeface="Calibri"/>
              </a:rPr>
              <a:t>17 Nov – 14 Dec · SGD 15,000 · 2,500 pre-orders · 8% engagement · 40k views.</a:t>
            </a:r>
          </a:p>
        </p:txBody>
      </p:sp>
      <p:sp>
        <p:nvSpPr>
          <p:cNvPr id="23" name="Rounded Rectangle 22"/>
          <p:cNvSpPr/>
          <p:nvPr/>
        </p:nvSpPr>
        <p:spPr>
          <a:xfrm>
            <a:off x="6172200" y="4206240"/>
            <a:ext cx="5440680" cy="169164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6428232" y="4480559"/>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Picture 24" descr="shield-FFFFFF.png"/>
          <p:cNvPicPr>
            <a:picLocks noChangeAspect="1"/>
          </p:cNvPicPr>
          <p:nvPr/>
        </p:nvPicPr>
        <p:blipFill>
          <a:blip r:embed="rId5"/>
          <a:stretch>
            <a:fillRect/>
          </a:stretch>
        </p:blipFill>
        <p:spPr>
          <a:xfrm>
            <a:off x="6559905" y="4612233"/>
            <a:ext cx="285292" cy="285292"/>
          </a:xfrm>
          <a:prstGeom prst="rect">
            <a:avLst/>
          </a:prstGeom>
        </p:spPr>
      </p:pic>
      <p:sp>
        <p:nvSpPr>
          <p:cNvPr id="26" name="TextBox 25"/>
          <p:cNvSpPr txBox="1"/>
          <p:nvPr/>
        </p:nvSpPr>
        <p:spPr>
          <a:xfrm>
            <a:off x="7159752" y="4462272"/>
            <a:ext cx="4297680" cy="457200"/>
          </a:xfrm>
          <a:prstGeom prst="rect">
            <a:avLst/>
          </a:prstGeom>
          <a:noFill/>
        </p:spPr>
        <p:txBody>
          <a:bodyPr wrap="square" lIns="36576" rIns="36576" tIns="18288" bIns="18288" anchor="t">
            <a:spAutoFit/>
          </a:bodyPr>
          <a:lstStyle/>
          <a:p>
            <a:pPr algn="l">
              <a:lnSpc>
                <a:spcPct val="112000"/>
              </a:lnSpc>
            </a:pPr>
            <a:r>
              <a:rPr sz="1700" b="1" i="0">
                <a:solidFill>
                  <a:srgbClr val="FFFFFF"/>
                </a:solidFill>
                <a:latin typeface="Cambria"/>
              </a:rPr>
              <a:t>Rules that matter</a:t>
            </a:r>
          </a:p>
        </p:txBody>
      </p:sp>
      <p:sp>
        <p:nvSpPr>
          <p:cNvPr id="27" name="TextBox 26"/>
          <p:cNvSpPr txBox="1"/>
          <p:nvPr/>
        </p:nvSpPr>
        <p:spPr>
          <a:xfrm>
            <a:off x="7159752" y="4956048"/>
            <a:ext cx="4251960" cy="868680"/>
          </a:xfrm>
          <a:prstGeom prst="rect">
            <a:avLst/>
          </a:prstGeom>
          <a:noFill/>
        </p:spPr>
        <p:txBody>
          <a:bodyPr wrap="square" lIns="36576" rIns="36576" tIns="18288" bIns="18288" anchor="t">
            <a:spAutoFit/>
          </a:bodyPr>
          <a:lstStyle/>
          <a:p>
            <a:pPr algn="l">
              <a:lnSpc>
                <a:spcPct val="112000"/>
              </a:lnSpc>
            </a:pPr>
            <a:r>
              <a:rPr sz="1300" b="0" i="0">
                <a:solidFill>
                  <a:srgbClr val="C9C4B9"/>
                </a:solidFill>
                <a:latin typeface="Calibri"/>
              </a:rPr>
              <a:t>No health or halal claims · no competitor bashing · human APPROVE before anything is public.</a:t>
            </a:r>
          </a:p>
        </p:txBody>
      </p:sp>
    </p:spTree>
  </p:cSld>
  <p:clrMapOvr>
    <a:masterClrMapping/>
  </p:clrMapOvr>
  <p:transition spd="med">
    <p:fade/>
  </p:transition>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LEARNING MANAGEMENT SYSTEM</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Courseware &amp; Assessment on the LMS</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15</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704087" y="1682496"/>
            <a:ext cx="6547104" cy="4133088"/>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lms-portal.png"/>
          <p:cNvPicPr>
            <a:picLocks noChangeAspect="1"/>
          </p:cNvPicPr>
          <p:nvPr/>
        </p:nvPicPr>
        <p:blipFill>
          <a:blip r:embed="rId2"/>
          <a:stretch>
            <a:fillRect/>
          </a:stretch>
        </p:blipFill>
        <p:spPr>
          <a:xfrm>
            <a:off x="758951" y="1737360"/>
            <a:ext cx="6437376" cy="4023360"/>
          </a:xfrm>
          <a:prstGeom prst="rect">
            <a:avLst/>
          </a:prstGeom>
        </p:spPr>
      </p:pic>
      <p:sp>
        <p:nvSpPr>
          <p:cNvPr id="9" name="Oval 8"/>
          <p:cNvSpPr/>
          <p:nvPr/>
        </p:nvSpPr>
        <p:spPr>
          <a:xfrm>
            <a:off x="7635240" y="1737360"/>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login-FFFFFF.png"/>
          <p:cNvPicPr>
            <a:picLocks noChangeAspect="1"/>
          </p:cNvPicPr>
          <p:nvPr/>
        </p:nvPicPr>
        <p:blipFill>
          <a:blip r:embed="rId3"/>
          <a:stretch>
            <a:fillRect/>
          </a:stretch>
        </p:blipFill>
        <p:spPr>
          <a:xfrm>
            <a:off x="7744967" y="1847088"/>
            <a:ext cx="237744" cy="237744"/>
          </a:xfrm>
          <a:prstGeom prst="rect">
            <a:avLst/>
          </a:prstGeom>
        </p:spPr>
      </p:pic>
      <p:sp>
        <p:nvSpPr>
          <p:cNvPr id="11" name="TextBox 10"/>
          <p:cNvSpPr txBox="1"/>
          <p:nvPr/>
        </p:nvSpPr>
        <p:spPr>
          <a:xfrm>
            <a:off x="8229600" y="1691640"/>
            <a:ext cx="34290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Log in</a:t>
            </a:r>
          </a:p>
        </p:txBody>
      </p:sp>
      <p:sp>
        <p:nvSpPr>
          <p:cNvPr id="12" name="TextBox 11"/>
          <p:cNvSpPr txBox="1"/>
          <p:nvPr/>
        </p:nvSpPr>
        <p:spPr>
          <a:xfrm>
            <a:off x="8229600" y="2057400"/>
            <a:ext cx="3429000" cy="96012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lms-tms.tertiaryinfotech.com with your registered email + OTP.</a:t>
            </a:r>
          </a:p>
        </p:txBody>
      </p:sp>
      <p:sp>
        <p:nvSpPr>
          <p:cNvPr id="13" name="Oval 12"/>
          <p:cNvSpPr/>
          <p:nvPr/>
        </p:nvSpPr>
        <p:spPr>
          <a:xfrm>
            <a:off x="7635240" y="3108960"/>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download-FFFFFF.png"/>
          <p:cNvPicPr>
            <a:picLocks noChangeAspect="1"/>
          </p:cNvPicPr>
          <p:nvPr/>
        </p:nvPicPr>
        <p:blipFill>
          <a:blip r:embed="rId4"/>
          <a:stretch>
            <a:fillRect/>
          </a:stretch>
        </p:blipFill>
        <p:spPr>
          <a:xfrm>
            <a:off x="7744967" y="3218688"/>
            <a:ext cx="237744" cy="237744"/>
          </a:xfrm>
          <a:prstGeom prst="rect">
            <a:avLst/>
          </a:prstGeom>
        </p:spPr>
      </p:pic>
      <p:sp>
        <p:nvSpPr>
          <p:cNvPr id="15" name="TextBox 14"/>
          <p:cNvSpPr txBox="1"/>
          <p:nvPr/>
        </p:nvSpPr>
        <p:spPr>
          <a:xfrm>
            <a:off x="8229600" y="3063240"/>
            <a:ext cx="34290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Download the courseware</a:t>
            </a:r>
          </a:p>
        </p:txBody>
      </p:sp>
      <p:sp>
        <p:nvSpPr>
          <p:cNvPr id="16" name="TextBox 15"/>
          <p:cNvSpPr txBox="1"/>
          <p:nvPr/>
        </p:nvSpPr>
        <p:spPr>
          <a:xfrm>
            <a:off x="8229600" y="3429000"/>
            <a:ext cx="3429000" cy="96012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Slides, Learner Guide and Lesson Plan for the open-book assessment.</a:t>
            </a:r>
          </a:p>
        </p:txBody>
      </p:sp>
      <p:sp>
        <p:nvSpPr>
          <p:cNvPr id="17" name="Oval 16"/>
          <p:cNvSpPr/>
          <p:nvPr/>
        </p:nvSpPr>
        <p:spPr>
          <a:xfrm>
            <a:off x="7635240" y="4480559"/>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clipboard-FFFFFF.png"/>
          <p:cNvPicPr>
            <a:picLocks noChangeAspect="1"/>
          </p:cNvPicPr>
          <p:nvPr/>
        </p:nvPicPr>
        <p:blipFill>
          <a:blip r:embed="rId5"/>
          <a:stretch>
            <a:fillRect/>
          </a:stretch>
        </p:blipFill>
        <p:spPr>
          <a:xfrm>
            <a:off x="7744967" y="4590288"/>
            <a:ext cx="237744" cy="237744"/>
          </a:xfrm>
          <a:prstGeom prst="rect">
            <a:avLst/>
          </a:prstGeom>
        </p:spPr>
      </p:pic>
      <p:sp>
        <p:nvSpPr>
          <p:cNvPr id="19" name="TextBox 18"/>
          <p:cNvSpPr txBox="1"/>
          <p:nvPr/>
        </p:nvSpPr>
        <p:spPr>
          <a:xfrm>
            <a:off x="8229600" y="4434840"/>
            <a:ext cx="34290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Take the assessment</a:t>
            </a:r>
          </a:p>
        </p:txBody>
      </p:sp>
      <p:sp>
        <p:nvSpPr>
          <p:cNvPr id="20" name="TextBox 19"/>
          <p:cNvSpPr txBox="1"/>
          <p:nvPr/>
        </p:nvSpPr>
        <p:spPr>
          <a:xfrm>
            <a:off x="8229600" y="4800600"/>
            <a:ext cx="3429000" cy="96012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Complete the WA and PP and upload your answers on the LMS.</a:t>
            </a:r>
          </a:p>
        </p:txBody>
      </p:sp>
      <p:sp>
        <p:nvSpPr>
          <p:cNvPr id="21" name="TextBox 20"/>
          <p:cNvSpPr txBox="1"/>
          <p:nvPr/>
        </p:nvSpPr>
        <p:spPr>
          <a:xfrm>
            <a:off x="548640" y="5870448"/>
            <a:ext cx="11064240" cy="50292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  </a:t>
            </a:r>
            <a:r>
              <a:rPr sz="1250" b="0" i="0">
                <a:solidFill>
                  <a:srgbClr val="6B6862"/>
                </a:solidFill>
                <a:latin typeface="Calibri"/>
              </a:rPr>
              <a:t>LMS: https://lms-tms.tertiaryinfotech.com/  →  open this course  →  Courseware tab.</a:t>
            </a:r>
          </a:p>
        </p:txBody>
      </p:sp>
    </p:spTree>
  </p:cSld>
  <p:clrMapOvr>
    <a:masterClrMapping/>
  </p:clrMapOvr>
  <p:transition spd="med">
    <p:fade/>
  </p:transition>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LEARNING MANAGEMENT SYSTEM</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Download Course Material</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16</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1993392"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1627632"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globe-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1627632"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Open the LMS</a:t>
            </a:r>
          </a:p>
        </p:txBody>
      </p:sp>
      <p:sp>
        <p:nvSpPr>
          <p:cNvPr id="12" name="TextBox 11"/>
          <p:cNvSpPr txBox="1"/>
          <p:nvPr/>
        </p:nvSpPr>
        <p:spPr>
          <a:xfrm>
            <a:off x="749808" y="3611880"/>
            <a:ext cx="1627632"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Go to lms-tms.tertiaryinfotech.com</a:t>
            </a:r>
          </a:p>
        </p:txBody>
      </p:sp>
      <p:cxnSp>
        <p:nvCxnSpPr>
          <p:cNvPr id="13" name="Connector 12"/>
          <p:cNvCxnSpPr/>
          <p:nvPr/>
        </p:nvCxnSpPr>
        <p:spPr>
          <a:xfrm>
            <a:off x="2569464" y="3337560"/>
            <a:ext cx="219456" cy="0"/>
          </a:xfrm>
          <a:prstGeom prst="line">
            <a:avLst/>
          </a:prstGeom>
          <a:ln w="2540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816352" y="2011680"/>
            <a:ext cx="1993392"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017520" y="2176272"/>
            <a:ext cx="1627632"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6" name="Oval 15"/>
          <p:cNvSpPr/>
          <p:nvPr/>
        </p:nvSpPr>
        <p:spPr>
          <a:xfrm>
            <a:off x="3017520"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mail-FFFFFF.png"/>
          <p:cNvPicPr>
            <a:picLocks noChangeAspect="1"/>
          </p:cNvPicPr>
          <p:nvPr/>
        </p:nvPicPr>
        <p:blipFill>
          <a:blip r:embed="rId3"/>
          <a:stretch>
            <a:fillRect/>
          </a:stretch>
        </p:blipFill>
        <p:spPr>
          <a:xfrm>
            <a:off x="3140415" y="2637495"/>
            <a:ext cx="266273" cy="266273"/>
          </a:xfrm>
          <a:prstGeom prst="rect">
            <a:avLst/>
          </a:prstGeom>
        </p:spPr>
      </p:pic>
      <p:sp>
        <p:nvSpPr>
          <p:cNvPr id="18" name="TextBox 17"/>
          <p:cNvSpPr txBox="1"/>
          <p:nvPr/>
        </p:nvSpPr>
        <p:spPr>
          <a:xfrm>
            <a:off x="3017520" y="3154680"/>
            <a:ext cx="1627632"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Send OTP</a:t>
            </a:r>
          </a:p>
        </p:txBody>
      </p:sp>
      <p:sp>
        <p:nvSpPr>
          <p:cNvPr id="19" name="TextBox 18"/>
          <p:cNvSpPr txBox="1"/>
          <p:nvPr/>
        </p:nvSpPr>
        <p:spPr>
          <a:xfrm>
            <a:off x="3017520" y="3611880"/>
            <a:ext cx="1627632"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Enter your registered email and click Send OTP.</a:t>
            </a:r>
          </a:p>
        </p:txBody>
      </p:sp>
      <p:cxnSp>
        <p:nvCxnSpPr>
          <p:cNvPr id="20" name="Connector 19"/>
          <p:cNvCxnSpPr/>
          <p:nvPr/>
        </p:nvCxnSpPr>
        <p:spPr>
          <a:xfrm>
            <a:off x="4837176" y="3337560"/>
            <a:ext cx="219455" cy="0"/>
          </a:xfrm>
          <a:prstGeom prst="line">
            <a:avLst/>
          </a:prstGeom>
          <a:ln w="2540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084064" y="2011680"/>
            <a:ext cx="1993392"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5285231" y="2176272"/>
            <a:ext cx="1627632"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3" name="Oval 22"/>
          <p:cNvSpPr/>
          <p:nvPr/>
        </p:nvSpPr>
        <p:spPr>
          <a:xfrm>
            <a:off x="5285231"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lock-FFFFFF.png"/>
          <p:cNvPicPr>
            <a:picLocks noChangeAspect="1"/>
          </p:cNvPicPr>
          <p:nvPr/>
        </p:nvPicPr>
        <p:blipFill>
          <a:blip r:embed="rId4"/>
          <a:stretch>
            <a:fillRect/>
          </a:stretch>
        </p:blipFill>
        <p:spPr>
          <a:xfrm>
            <a:off x="5408127" y="2637495"/>
            <a:ext cx="266273" cy="266273"/>
          </a:xfrm>
          <a:prstGeom prst="rect">
            <a:avLst/>
          </a:prstGeom>
        </p:spPr>
      </p:pic>
      <p:sp>
        <p:nvSpPr>
          <p:cNvPr id="25" name="TextBox 24"/>
          <p:cNvSpPr txBox="1"/>
          <p:nvPr/>
        </p:nvSpPr>
        <p:spPr>
          <a:xfrm>
            <a:off x="5285231" y="3154680"/>
            <a:ext cx="1627632"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Verify</a:t>
            </a:r>
          </a:p>
        </p:txBody>
      </p:sp>
      <p:sp>
        <p:nvSpPr>
          <p:cNvPr id="26" name="TextBox 25"/>
          <p:cNvSpPr txBox="1"/>
          <p:nvPr/>
        </p:nvSpPr>
        <p:spPr>
          <a:xfrm>
            <a:off x="5285231" y="3611880"/>
            <a:ext cx="1627632"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Key in the one-time password from your inbox.</a:t>
            </a:r>
          </a:p>
        </p:txBody>
      </p:sp>
      <p:cxnSp>
        <p:nvCxnSpPr>
          <p:cNvPr id="27" name="Connector 26"/>
          <p:cNvCxnSpPr/>
          <p:nvPr/>
        </p:nvCxnSpPr>
        <p:spPr>
          <a:xfrm>
            <a:off x="7104888" y="3337560"/>
            <a:ext cx="219456" cy="0"/>
          </a:xfrm>
          <a:prstGeom prst="line">
            <a:avLst/>
          </a:prstGeom>
          <a:ln w="2540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51775" y="2011680"/>
            <a:ext cx="1993392"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7552944" y="2176272"/>
            <a:ext cx="1627632"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30" name="Oval 29"/>
          <p:cNvSpPr/>
          <p:nvPr/>
        </p:nvSpPr>
        <p:spPr>
          <a:xfrm>
            <a:off x="7552944"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1" name="Picture 30" descr="folder-FFFFFF.png"/>
          <p:cNvPicPr>
            <a:picLocks noChangeAspect="1"/>
          </p:cNvPicPr>
          <p:nvPr/>
        </p:nvPicPr>
        <p:blipFill>
          <a:blip r:embed="rId5"/>
          <a:stretch>
            <a:fillRect/>
          </a:stretch>
        </p:blipFill>
        <p:spPr>
          <a:xfrm>
            <a:off x="7675839" y="2637495"/>
            <a:ext cx="266273" cy="266273"/>
          </a:xfrm>
          <a:prstGeom prst="rect">
            <a:avLst/>
          </a:prstGeom>
        </p:spPr>
      </p:pic>
      <p:sp>
        <p:nvSpPr>
          <p:cNvPr id="32" name="TextBox 31"/>
          <p:cNvSpPr txBox="1"/>
          <p:nvPr/>
        </p:nvSpPr>
        <p:spPr>
          <a:xfrm>
            <a:off x="7552944" y="3154680"/>
            <a:ext cx="1627632"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Open the course</a:t>
            </a:r>
          </a:p>
        </p:txBody>
      </p:sp>
      <p:sp>
        <p:nvSpPr>
          <p:cNvPr id="33" name="TextBox 32"/>
          <p:cNvSpPr txBox="1"/>
          <p:nvPr/>
        </p:nvSpPr>
        <p:spPr>
          <a:xfrm>
            <a:off x="7552944" y="3611880"/>
            <a:ext cx="1627632"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Select Build a Human-AI Workforce with Autonomous AI Agents.</a:t>
            </a:r>
          </a:p>
        </p:txBody>
      </p:sp>
      <p:cxnSp>
        <p:nvCxnSpPr>
          <p:cNvPr id="34" name="Connector 33"/>
          <p:cNvCxnSpPr/>
          <p:nvPr/>
        </p:nvCxnSpPr>
        <p:spPr>
          <a:xfrm>
            <a:off x="9372599" y="3337560"/>
            <a:ext cx="219457" cy="0"/>
          </a:xfrm>
          <a:prstGeom prst="line">
            <a:avLst/>
          </a:prstGeom>
          <a:ln w="2540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619488" y="2011680"/>
            <a:ext cx="1993392"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9820656" y="2176272"/>
            <a:ext cx="1627632"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5</a:t>
            </a:r>
          </a:p>
        </p:txBody>
      </p:sp>
      <p:sp>
        <p:nvSpPr>
          <p:cNvPr id="37" name="Oval 36"/>
          <p:cNvSpPr/>
          <p:nvPr/>
        </p:nvSpPr>
        <p:spPr>
          <a:xfrm>
            <a:off x="9820656"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8" name="Picture 37" descr="download-FFFFFF.png"/>
          <p:cNvPicPr>
            <a:picLocks noChangeAspect="1"/>
          </p:cNvPicPr>
          <p:nvPr/>
        </p:nvPicPr>
        <p:blipFill>
          <a:blip r:embed="rId6"/>
          <a:stretch>
            <a:fillRect/>
          </a:stretch>
        </p:blipFill>
        <p:spPr>
          <a:xfrm>
            <a:off x="9943551" y="2637495"/>
            <a:ext cx="266273" cy="266273"/>
          </a:xfrm>
          <a:prstGeom prst="rect">
            <a:avLst/>
          </a:prstGeom>
        </p:spPr>
      </p:pic>
      <p:sp>
        <p:nvSpPr>
          <p:cNvPr id="39" name="TextBox 38"/>
          <p:cNvSpPr txBox="1"/>
          <p:nvPr/>
        </p:nvSpPr>
        <p:spPr>
          <a:xfrm>
            <a:off x="9820656" y="3154680"/>
            <a:ext cx="1627632"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Download</a:t>
            </a:r>
          </a:p>
        </p:txBody>
      </p:sp>
      <p:sp>
        <p:nvSpPr>
          <p:cNvPr id="40" name="TextBox 39"/>
          <p:cNvSpPr txBox="1"/>
          <p:nvPr/>
        </p:nvSpPr>
        <p:spPr>
          <a:xfrm>
            <a:off x="9820656" y="3611880"/>
            <a:ext cx="1627632"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Slides PDF + Learner Guide — keep them for the open-book assessment.</a:t>
            </a:r>
          </a:p>
        </p:txBody>
      </p:sp>
    </p:spTree>
  </p:cSld>
  <p:clrMapOvr>
    <a:masterClrMapping/>
  </p:clrMapOvr>
  <p:transition spd="med">
    <p:fade/>
  </p:transition>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ASSESSMENT</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Briefing for Assessment</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17</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691640"/>
            <a:ext cx="3566160" cy="17602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77240" y="18745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inbox-FFFFFF.png"/>
          <p:cNvPicPr>
            <a:picLocks noChangeAspect="1"/>
          </p:cNvPicPr>
          <p:nvPr/>
        </p:nvPicPr>
        <p:blipFill>
          <a:blip r:embed="rId2"/>
          <a:stretch>
            <a:fillRect/>
          </a:stretch>
        </p:blipFill>
        <p:spPr>
          <a:xfrm>
            <a:off x="900135" y="1997415"/>
            <a:ext cx="266273" cy="266273"/>
          </a:xfrm>
          <a:prstGeom prst="rect">
            <a:avLst/>
          </a:prstGeom>
        </p:spPr>
      </p:pic>
      <p:sp>
        <p:nvSpPr>
          <p:cNvPr id="10" name="TextBox 9"/>
          <p:cNvSpPr txBox="1"/>
          <p:nvPr/>
        </p:nvSpPr>
        <p:spPr>
          <a:xfrm>
            <a:off x="1426464" y="1856232"/>
            <a:ext cx="245973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Clear your space</a:t>
            </a:r>
          </a:p>
        </p:txBody>
      </p:sp>
      <p:sp>
        <p:nvSpPr>
          <p:cNvPr id="11" name="TextBox 10"/>
          <p:cNvSpPr txBox="1"/>
          <p:nvPr/>
        </p:nvSpPr>
        <p:spPr>
          <a:xfrm>
            <a:off x="777240" y="2459736"/>
            <a:ext cx="3108960" cy="918971"/>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Phones and other materials under the table or on the floor.</a:t>
            </a:r>
          </a:p>
        </p:txBody>
      </p:sp>
      <p:sp>
        <p:nvSpPr>
          <p:cNvPr id="12" name="Rounded Rectangle 11"/>
          <p:cNvSpPr/>
          <p:nvPr/>
        </p:nvSpPr>
        <p:spPr>
          <a:xfrm>
            <a:off x="4297679" y="1691640"/>
            <a:ext cx="3566160" cy="17602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4526279" y="18745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camera-FFFFFF.png"/>
          <p:cNvPicPr>
            <a:picLocks noChangeAspect="1"/>
          </p:cNvPicPr>
          <p:nvPr/>
        </p:nvPicPr>
        <p:blipFill>
          <a:blip r:embed="rId3"/>
          <a:stretch>
            <a:fillRect/>
          </a:stretch>
        </p:blipFill>
        <p:spPr>
          <a:xfrm>
            <a:off x="4649175" y="1997415"/>
            <a:ext cx="266273" cy="266273"/>
          </a:xfrm>
          <a:prstGeom prst="rect">
            <a:avLst/>
          </a:prstGeom>
        </p:spPr>
      </p:pic>
      <p:sp>
        <p:nvSpPr>
          <p:cNvPr id="15" name="TextBox 14"/>
          <p:cNvSpPr txBox="1"/>
          <p:nvPr/>
        </p:nvSpPr>
        <p:spPr>
          <a:xfrm>
            <a:off x="5175504" y="1856232"/>
            <a:ext cx="245973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No recording</a:t>
            </a:r>
          </a:p>
        </p:txBody>
      </p:sp>
      <p:sp>
        <p:nvSpPr>
          <p:cNvPr id="16" name="TextBox 15"/>
          <p:cNvSpPr txBox="1"/>
          <p:nvPr/>
        </p:nvSpPr>
        <p:spPr>
          <a:xfrm>
            <a:off x="4526279" y="2459736"/>
            <a:ext cx="3108960" cy="918971"/>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No photos or recording of assessment scripts.</a:t>
            </a:r>
          </a:p>
        </p:txBody>
      </p:sp>
      <p:sp>
        <p:nvSpPr>
          <p:cNvPr id="17" name="Rounded Rectangle 16"/>
          <p:cNvSpPr/>
          <p:nvPr/>
        </p:nvSpPr>
        <p:spPr>
          <a:xfrm>
            <a:off x="8046719" y="1691640"/>
            <a:ext cx="3566160" cy="17602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8275319" y="18745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 name="Picture 18" descr="book-FFFFFF.png"/>
          <p:cNvPicPr>
            <a:picLocks noChangeAspect="1"/>
          </p:cNvPicPr>
          <p:nvPr/>
        </p:nvPicPr>
        <p:blipFill>
          <a:blip r:embed="rId4"/>
          <a:stretch>
            <a:fillRect/>
          </a:stretch>
        </p:blipFill>
        <p:spPr>
          <a:xfrm>
            <a:off x="8398215" y="1997415"/>
            <a:ext cx="266273" cy="266273"/>
          </a:xfrm>
          <a:prstGeom prst="rect">
            <a:avLst/>
          </a:prstGeom>
        </p:spPr>
      </p:pic>
      <p:sp>
        <p:nvSpPr>
          <p:cNvPr id="20" name="TextBox 19"/>
          <p:cNvSpPr txBox="1"/>
          <p:nvPr/>
        </p:nvSpPr>
        <p:spPr>
          <a:xfrm>
            <a:off x="8924544" y="1856232"/>
            <a:ext cx="245973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Open book</a:t>
            </a:r>
          </a:p>
        </p:txBody>
      </p:sp>
      <p:sp>
        <p:nvSpPr>
          <p:cNvPr id="21" name="TextBox 20"/>
          <p:cNvSpPr txBox="1"/>
          <p:nvPr/>
        </p:nvSpPr>
        <p:spPr>
          <a:xfrm>
            <a:off x="8275319" y="2459736"/>
            <a:ext cx="3108960" cy="918971"/>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Slides, Learner Guide and approved materials only.</a:t>
            </a:r>
          </a:p>
        </p:txBody>
      </p:sp>
      <p:sp>
        <p:nvSpPr>
          <p:cNvPr id="22" name="Rounded Rectangle 21"/>
          <p:cNvSpPr/>
          <p:nvPr/>
        </p:nvSpPr>
        <p:spPr>
          <a:xfrm>
            <a:off x="548640" y="3634740"/>
            <a:ext cx="3566160" cy="17602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777240" y="38176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user-FFFFFF.png"/>
          <p:cNvPicPr>
            <a:picLocks noChangeAspect="1"/>
          </p:cNvPicPr>
          <p:nvPr/>
        </p:nvPicPr>
        <p:blipFill>
          <a:blip r:embed="rId5"/>
          <a:stretch>
            <a:fillRect/>
          </a:stretch>
        </p:blipFill>
        <p:spPr>
          <a:xfrm>
            <a:off x="900135" y="3940515"/>
            <a:ext cx="266273" cy="266273"/>
          </a:xfrm>
          <a:prstGeom prst="rect">
            <a:avLst/>
          </a:prstGeom>
        </p:spPr>
      </p:pic>
      <p:sp>
        <p:nvSpPr>
          <p:cNvPr id="25" name="TextBox 24"/>
          <p:cNvSpPr txBox="1"/>
          <p:nvPr/>
        </p:nvSpPr>
        <p:spPr>
          <a:xfrm>
            <a:off x="1426464" y="3799332"/>
            <a:ext cx="245973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Work individually</a:t>
            </a:r>
          </a:p>
        </p:txBody>
      </p:sp>
      <p:sp>
        <p:nvSpPr>
          <p:cNvPr id="26" name="TextBox 25"/>
          <p:cNvSpPr txBox="1"/>
          <p:nvPr/>
        </p:nvSpPr>
        <p:spPr>
          <a:xfrm>
            <a:off x="777240" y="4402836"/>
            <a:ext cx="3108960" cy="918971"/>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No discussion during the assessment.</a:t>
            </a:r>
          </a:p>
        </p:txBody>
      </p:sp>
      <p:sp>
        <p:nvSpPr>
          <p:cNvPr id="27" name="Rounded Rectangle 26"/>
          <p:cNvSpPr/>
          <p:nvPr/>
        </p:nvSpPr>
        <p:spPr>
          <a:xfrm>
            <a:off x="4297679" y="3634740"/>
            <a:ext cx="3566160" cy="17602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4526279" y="38176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9" name="Picture 28" descr="clock-FFFFFF.png"/>
          <p:cNvPicPr>
            <a:picLocks noChangeAspect="1"/>
          </p:cNvPicPr>
          <p:nvPr/>
        </p:nvPicPr>
        <p:blipFill>
          <a:blip r:embed="rId6"/>
          <a:stretch>
            <a:fillRect/>
          </a:stretch>
        </p:blipFill>
        <p:spPr>
          <a:xfrm>
            <a:off x="4649175" y="3940515"/>
            <a:ext cx="266273" cy="266273"/>
          </a:xfrm>
          <a:prstGeom prst="rect">
            <a:avLst/>
          </a:prstGeom>
        </p:spPr>
      </p:pic>
      <p:sp>
        <p:nvSpPr>
          <p:cNvPr id="30" name="TextBox 29"/>
          <p:cNvSpPr txBox="1"/>
          <p:nvPr/>
        </p:nvSpPr>
        <p:spPr>
          <a:xfrm>
            <a:off x="5175504" y="3799332"/>
            <a:ext cx="245973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Manage your time</a:t>
            </a:r>
          </a:p>
        </p:txBody>
      </p:sp>
      <p:sp>
        <p:nvSpPr>
          <p:cNvPr id="31" name="TextBox 30"/>
          <p:cNvSpPr txBox="1"/>
          <p:nvPr/>
        </p:nvSpPr>
        <p:spPr>
          <a:xfrm>
            <a:off x="4526279" y="4402836"/>
            <a:ext cx="3108960" cy="918971"/>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WA (1 hour) then PP (1 hour).</a:t>
            </a:r>
          </a:p>
        </p:txBody>
      </p:sp>
      <p:sp>
        <p:nvSpPr>
          <p:cNvPr id="32" name="Rounded Rectangle 31"/>
          <p:cNvSpPr/>
          <p:nvPr/>
        </p:nvSpPr>
        <p:spPr>
          <a:xfrm>
            <a:off x="8046719" y="3634740"/>
            <a:ext cx="3566160" cy="17602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8275319" y="38176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4" name="Picture 33" descr="scale-FFFFFF.png"/>
          <p:cNvPicPr>
            <a:picLocks noChangeAspect="1"/>
          </p:cNvPicPr>
          <p:nvPr/>
        </p:nvPicPr>
        <p:blipFill>
          <a:blip r:embed="rId7"/>
          <a:stretch>
            <a:fillRect/>
          </a:stretch>
        </p:blipFill>
        <p:spPr>
          <a:xfrm>
            <a:off x="8398215" y="3940515"/>
            <a:ext cx="266273" cy="266273"/>
          </a:xfrm>
          <a:prstGeom prst="rect">
            <a:avLst/>
          </a:prstGeom>
        </p:spPr>
      </p:pic>
      <p:sp>
        <p:nvSpPr>
          <p:cNvPr id="35" name="TextBox 34"/>
          <p:cNvSpPr txBox="1"/>
          <p:nvPr/>
        </p:nvSpPr>
        <p:spPr>
          <a:xfrm>
            <a:off x="8924544" y="3799332"/>
            <a:ext cx="245973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Appeals</a:t>
            </a:r>
          </a:p>
        </p:txBody>
      </p:sp>
      <p:sp>
        <p:nvSpPr>
          <p:cNvPr id="36" name="TextBox 35"/>
          <p:cNvSpPr txBox="1"/>
          <p:nvPr/>
        </p:nvSpPr>
        <p:spPr>
          <a:xfrm>
            <a:off x="8275319" y="4402836"/>
            <a:ext cx="3108960" cy="918971"/>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An appeal process is available if you disagree with the outcome.</a:t>
            </a:r>
          </a:p>
        </p:txBody>
      </p:sp>
    </p:spTree>
  </p:cSld>
  <p:clrMapOvr>
    <a:masterClrMapping/>
  </p:clrMapOvr>
  <p:transition spd="med">
    <p:fade/>
  </p:transition>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ASSESSMENT</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Assessment &amp; Funding</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18</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83080"/>
            <a:ext cx="5486400" cy="420624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22960" y="205740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clipboard-FFFFFF.png"/>
          <p:cNvPicPr>
            <a:picLocks noChangeAspect="1"/>
          </p:cNvPicPr>
          <p:nvPr/>
        </p:nvPicPr>
        <p:blipFill>
          <a:blip r:embed="rId2"/>
          <a:stretch>
            <a:fillRect/>
          </a:stretch>
        </p:blipFill>
        <p:spPr>
          <a:xfrm>
            <a:off x="954633" y="2189073"/>
            <a:ext cx="285292" cy="285292"/>
          </a:xfrm>
          <a:prstGeom prst="rect">
            <a:avLst/>
          </a:prstGeom>
        </p:spPr>
      </p:pic>
      <p:sp>
        <p:nvSpPr>
          <p:cNvPr id="10" name="TextBox 9"/>
          <p:cNvSpPr txBox="1"/>
          <p:nvPr/>
        </p:nvSpPr>
        <p:spPr>
          <a:xfrm>
            <a:off x="1508760" y="2103120"/>
            <a:ext cx="4297680" cy="457200"/>
          </a:xfrm>
          <a:prstGeom prst="rect">
            <a:avLst/>
          </a:prstGeom>
          <a:noFill/>
        </p:spPr>
        <p:txBody>
          <a:bodyPr wrap="square" lIns="36576" rIns="36576" tIns="18288" bIns="18288" anchor="t">
            <a:spAutoFit/>
          </a:bodyPr>
          <a:lstStyle/>
          <a:p>
            <a:pPr algn="l">
              <a:lnSpc>
                <a:spcPct val="112000"/>
              </a:lnSpc>
            </a:pPr>
            <a:r>
              <a:rPr sz="1900" b="1" i="0">
                <a:solidFill>
                  <a:srgbClr val="21201C"/>
                </a:solidFill>
                <a:latin typeface="Cambria"/>
              </a:rPr>
              <a:t>Final Assessment</a:t>
            </a:r>
          </a:p>
        </p:txBody>
      </p:sp>
      <p:sp>
        <p:nvSpPr>
          <p:cNvPr id="11" name="TextBox 10"/>
          <p:cNvSpPr txBox="1"/>
          <p:nvPr/>
        </p:nvSpPr>
        <p:spPr>
          <a:xfrm>
            <a:off x="868680" y="2880360"/>
            <a:ext cx="4937760" cy="2926080"/>
          </a:xfrm>
          <a:prstGeom prst="rect">
            <a:avLst/>
          </a:prstGeom>
          <a:noFill/>
        </p:spPr>
        <p:txBody>
          <a:bodyPr wrap="square" lIns="36576" rIns="36576" tIns="18288" bIns="18288" anchor="t">
            <a:spAutoFit/>
          </a:bodyPr>
          <a:lstStyle/>
          <a:p>
            <a:pPr algn="l">
              <a:lnSpc>
                <a:spcPct val="125000"/>
              </a:lnSpc>
            </a:pPr>
            <a:r>
              <a:rPr sz="1350" b="0" i="0">
                <a:solidFill>
                  <a:srgbClr val="6B6862"/>
                </a:solidFill>
                <a:latin typeface="Calibri"/>
              </a:rPr>
              <a:t>•  Written Assessment (WA) — Short-Answer Questions (SAQ), 1 hour, open book.</a:t>
            </a:r>
          </a:p>
          <a:p>
            <a:pPr algn="l">
              <a:lnSpc>
                <a:spcPct val="125000"/>
              </a:lnSpc>
            </a:pPr>
            <a:r>
              <a:rPr sz="1350" b="0" i="0">
                <a:solidFill>
                  <a:srgbClr val="6B6862"/>
                </a:solidFill>
                <a:latin typeface="Calibri"/>
              </a:rPr>
              <a:t>•  Practical Performance (PP) — three tasks, each with ONE screenshot from a lab (Lab 1 Hermes agent, Lab 4 multi-agent studio, Lab 7 Paperclip org chart) plus written analysis, 1 hour, open book.</a:t>
            </a:r>
          </a:p>
          <a:p>
            <a:pPr algn="l">
              <a:lnSpc>
                <a:spcPct val="125000"/>
              </a:lnSpc>
            </a:pPr>
            <a:r>
              <a:rPr sz="1350" b="0" i="0">
                <a:solidFill>
                  <a:srgbClr val="6B6862"/>
                </a:solidFill>
                <a:latin typeface="Calibri"/>
              </a:rPr>
              <a:t>•  Day 2, from 4:30 PM — open book</a:t>
            </a:r>
          </a:p>
          <a:p>
            <a:pPr algn="l">
              <a:lnSpc>
                <a:spcPct val="125000"/>
              </a:lnSpc>
            </a:pPr>
            <a:r>
              <a:rPr sz="1350" b="0" i="0">
                <a:solidFill>
                  <a:srgbClr val="6B6862"/>
                </a:solidFill>
                <a:latin typeface="Calibri"/>
              </a:rPr>
              <a:t>•  Allowed: slides, Learner Guide, approved materials</a:t>
            </a:r>
          </a:p>
          <a:p>
            <a:pPr algn="l">
              <a:lnSpc>
                <a:spcPct val="125000"/>
              </a:lnSpc>
            </a:pPr>
            <a:r>
              <a:rPr sz="1350" b="0" i="0">
                <a:solidFill>
                  <a:srgbClr val="6B6862"/>
                </a:solidFill>
                <a:latin typeface="Calibri"/>
              </a:rPr>
              <a:t>•  Appeal process available</a:t>
            </a:r>
          </a:p>
        </p:txBody>
      </p:sp>
      <p:sp>
        <p:nvSpPr>
          <p:cNvPr id="12" name="Rounded Rectangle 11"/>
          <p:cNvSpPr/>
          <p:nvPr/>
        </p:nvSpPr>
        <p:spPr>
          <a:xfrm>
            <a:off x="6263640" y="1783080"/>
            <a:ext cx="5349240" cy="4206240"/>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537960" y="205740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coins-FFFFFF.png"/>
          <p:cNvPicPr>
            <a:picLocks noChangeAspect="1"/>
          </p:cNvPicPr>
          <p:nvPr/>
        </p:nvPicPr>
        <p:blipFill>
          <a:blip r:embed="rId3"/>
          <a:stretch>
            <a:fillRect/>
          </a:stretch>
        </p:blipFill>
        <p:spPr>
          <a:xfrm>
            <a:off x="6669633" y="2189073"/>
            <a:ext cx="285292" cy="285292"/>
          </a:xfrm>
          <a:prstGeom prst="rect">
            <a:avLst/>
          </a:prstGeom>
        </p:spPr>
      </p:pic>
      <p:sp>
        <p:nvSpPr>
          <p:cNvPr id="15" name="TextBox 14"/>
          <p:cNvSpPr txBox="1"/>
          <p:nvPr/>
        </p:nvSpPr>
        <p:spPr>
          <a:xfrm>
            <a:off x="7223760" y="2103120"/>
            <a:ext cx="4206240" cy="457200"/>
          </a:xfrm>
          <a:prstGeom prst="rect">
            <a:avLst/>
          </a:prstGeom>
          <a:noFill/>
        </p:spPr>
        <p:txBody>
          <a:bodyPr wrap="square" lIns="36576" rIns="36576" tIns="18288" bIns="18288" anchor="t">
            <a:spAutoFit/>
          </a:bodyPr>
          <a:lstStyle/>
          <a:p>
            <a:pPr algn="l">
              <a:lnSpc>
                <a:spcPct val="112000"/>
              </a:lnSpc>
            </a:pPr>
            <a:r>
              <a:rPr sz="1900" b="1" i="0">
                <a:solidFill>
                  <a:srgbClr val="FFFFFF"/>
                </a:solidFill>
                <a:latin typeface="Cambria"/>
              </a:rPr>
              <a:t>Criteria for Funding</a:t>
            </a:r>
          </a:p>
        </p:txBody>
      </p:sp>
      <p:sp>
        <p:nvSpPr>
          <p:cNvPr id="16" name="TextBox 15"/>
          <p:cNvSpPr txBox="1"/>
          <p:nvPr/>
        </p:nvSpPr>
        <p:spPr>
          <a:xfrm>
            <a:off x="6583680" y="2880360"/>
            <a:ext cx="4846320" cy="2926080"/>
          </a:xfrm>
          <a:prstGeom prst="rect">
            <a:avLst/>
          </a:prstGeom>
          <a:noFill/>
        </p:spPr>
        <p:txBody>
          <a:bodyPr wrap="square" lIns="36576" rIns="36576" tIns="18288" bIns="18288" anchor="t">
            <a:spAutoFit/>
          </a:bodyPr>
          <a:lstStyle/>
          <a:p>
            <a:pPr algn="l">
              <a:lnSpc>
                <a:spcPct val="125000"/>
              </a:lnSpc>
            </a:pPr>
            <a:r>
              <a:rPr sz="1400" b="0" i="0">
                <a:solidFill>
                  <a:srgbClr val="C9C4B9"/>
                </a:solidFill>
                <a:latin typeface="Calibri"/>
              </a:rPr>
              <a:t>Minimum 75% attendance</a:t>
            </a:r>
          </a:p>
          <a:p>
            <a:pPr algn="l">
              <a:lnSpc>
                <a:spcPct val="125000"/>
              </a:lnSpc>
            </a:pPr>
            <a:r>
              <a:rPr sz="1400" b="0" i="0">
                <a:solidFill>
                  <a:srgbClr val="C9C4B9"/>
                </a:solidFill>
                <a:latin typeface="Calibri"/>
              </a:rPr>
              <a:t>Based on SSG digital attendance records.</a:t>
            </a:r>
          </a:p>
          <a:p>
            <a:pPr algn="l">
              <a:lnSpc>
                <a:spcPct val="125000"/>
              </a:lnSpc>
            </a:pPr>
          </a:p>
          <a:p>
            <a:pPr algn="l">
              <a:lnSpc>
                <a:spcPct val="125000"/>
              </a:lnSpc>
            </a:pPr>
            <a:r>
              <a:rPr sz="1400" b="0" i="0">
                <a:solidFill>
                  <a:srgbClr val="C9C4B9"/>
                </a:solidFill>
                <a:latin typeface="Calibri"/>
              </a:rPr>
              <a:t>Assessed as 'Competent'</a:t>
            </a:r>
          </a:p>
          <a:p>
            <a:pPr algn="l">
              <a:lnSpc>
                <a:spcPct val="125000"/>
              </a:lnSpc>
            </a:pPr>
            <a:r>
              <a:rPr sz="1400" b="0" i="0">
                <a:solidFill>
                  <a:srgbClr val="C9C4B9"/>
                </a:solidFill>
                <a:latin typeface="Calibri"/>
              </a:rPr>
              <a:t>Complete and pass both assessment components (WA and PP).</a:t>
            </a:r>
          </a:p>
        </p:txBody>
      </p:sp>
    </p:spTree>
  </p:cSld>
  <p:clrMapOvr>
    <a:masterClrMapping/>
  </p:clrMapOvr>
  <p:transition spd="med">
    <p:fade/>
  </p:transition>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ASSESSMENT</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Assessment Flow</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On assessment day, follow these five steps in order.</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19</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331720"/>
            <a:ext cx="1993392"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49808" y="2496312"/>
            <a:ext cx="1627632"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10" name="Oval 9"/>
          <p:cNvSpPr/>
          <p:nvPr/>
        </p:nvSpPr>
        <p:spPr>
          <a:xfrm>
            <a:off x="749808" y="2834639"/>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clipboard-FFFFFF.png"/>
          <p:cNvPicPr>
            <a:picLocks noChangeAspect="1"/>
          </p:cNvPicPr>
          <p:nvPr/>
        </p:nvPicPr>
        <p:blipFill>
          <a:blip r:embed="rId2"/>
          <a:stretch>
            <a:fillRect/>
          </a:stretch>
        </p:blipFill>
        <p:spPr>
          <a:xfrm>
            <a:off x="872703" y="2957535"/>
            <a:ext cx="266273" cy="266273"/>
          </a:xfrm>
          <a:prstGeom prst="rect">
            <a:avLst/>
          </a:prstGeom>
        </p:spPr>
      </p:pic>
      <p:sp>
        <p:nvSpPr>
          <p:cNvPr id="12" name="TextBox 11"/>
          <p:cNvSpPr txBox="1"/>
          <p:nvPr/>
        </p:nvSpPr>
        <p:spPr>
          <a:xfrm>
            <a:off x="749808" y="3474720"/>
            <a:ext cx="1627632"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TRAQOM</a:t>
            </a:r>
          </a:p>
        </p:txBody>
      </p:sp>
      <p:sp>
        <p:nvSpPr>
          <p:cNvPr id="13" name="TextBox 12"/>
          <p:cNvSpPr txBox="1"/>
          <p:nvPr/>
        </p:nvSpPr>
        <p:spPr>
          <a:xfrm>
            <a:off x="749808" y="3931920"/>
            <a:ext cx="1627632"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Scan the TRAQOM QR code on the LMS and complete the survey.</a:t>
            </a:r>
          </a:p>
        </p:txBody>
      </p:sp>
      <p:cxnSp>
        <p:nvCxnSpPr>
          <p:cNvPr id="14" name="Connector 13"/>
          <p:cNvCxnSpPr/>
          <p:nvPr/>
        </p:nvCxnSpPr>
        <p:spPr>
          <a:xfrm>
            <a:off x="2569464" y="3657600"/>
            <a:ext cx="219456" cy="0"/>
          </a:xfrm>
          <a:prstGeom prst="line">
            <a:avLst/>
          </a:prstGeom>
          <a:ln w="2540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2816352" y="2331720"/>
            <a:ext cx="1993392"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017520" y="2496312"/>
            <a:ext cx="1627632"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7" name="Oval 16"/>
          <p:cNvSpPr/>
          <p:nvPr/>
        </p:nvSpPr>
        <p:spPr>
          <a:xfrm>
            <a:off x="3017520" y="2834639"/>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phone-FFFFFF.png"/>
          <p:cNvPicPr>
            <a:picLocks noChangeAspect="1"/>
          </p:cNvPicPr>
          <p:nvPr/>
        </p:nvPicPr>
        <p:blipFill>
          <a:blip r:embed="rId3"/>
          <a:stretch>
            <a:fillRect/>
          </a:stretch>
        </p:blipFill>
        <p:spPr>
          <a:xfrm>
            <a:off x="3140415" y="2957535"/>
            <a:ext cx="266273" cy="266273"/>
          </a:xfrm>
          <a:prstGeom prst="rect">
            <a:avLst/>
          </a:prstGeom>
        </p:spPr>
      </p:pic>
      <p:sp>
        <p:nvSpPr>
          <p:cNvPr id="19" name="TextBox 18"/>
          <p:cNvSpPr txBox="1"/>
          <p:nvPr/>
        </p:nvSpPr>
        <p:spPr>
          <a:xfrm>
            <a:off x="3017520" y="3474720"/>
            <a:ext cx="1627632"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Attendance</a:t>
            </a:r>
          </a:p>
        </p:txBody>
      </p:sp>
      <p:sp>
        <p:nvSpPr>
          <p:cNvPr id="20" name="TextBox 19"/>
          <p:cNvSpPr txBox="1"/>
          <p:nvPr/>
        </p:nvSpPr>
        <p:spPr>
          <a:xfrm>
            <a:off x="3017520" y="3931920"/>
            <a:ext cx="1627632"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Take the Assessment digital attendance (SSG QR).</a:t>
            </a:r>
          </a:p>
        </p:txBody>
      </p:sp>
      <p:cxnSp>
        <p:nvCxnSpPr>
          <p:cNvPr id="21" name="Connector 20"/>
          <p:cNvCxnSpPr/>
          <p:nvPr/>
        </p:nvCxnSpPr>
        <p:spPr>
          <a:xfrm>
            <a:off x="4837176" y="3657600"/>
            <a:ext cx="219455" cy="0"/>
          </a:xfrm>
          <a:prstGeom prst="line">
            <a:avLst/>
          </a:prstGeom>
          <a:ln w="2540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5084064" y="2331720"/>
            <a:ext cx="1993392"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5285231" y="2496312"/>
            <a:ext cx="1627632"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4" name="Oval 23"/>
          <p:cNvSpPr/>
          <p:nvPr/>
        </p:nvSpPr>
        <p:spPr>
          <a:xfrm>
            <a:off x="5285231" y="2834639"/>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Picture 24" descr="pen-FFFFFF.png"/>
          <p:cNvPicPr>
            <a:picLocks noChangeAspect="1"/>
          </p:cNvPicPr>
          <p:nvPr/>
        </p:nvPicPr>
        <p:blipFill>
          <a:blip r:embed="rId4"/>
          <a:stretch>
            <a:fillRect/>
          </a:stretch>
        </p:blipFill>
        <p:spPr>
          <a:xfrm>
            <a:off x="5408127" y="2957535"/>
            <a:ext cx="266273" cy="266273"/>
          </a:xfrm>
          <a:prstGeom prst="rect">
            <a:avLst/>
          </a:prstGeom>
        </p:spPr>
      </p:pic>
      <p:sp>
        <p:nvSpPr>
          <p:cNvPr id="26" name="TextBox 25"/>
          <p:cNvSpPr txBox="1"/>
          <p:nvPr/>
        </p:nvSpPr>
        <p:spPr>
          <a:xfrm>
            <a:off x="5285231" y="3474720"/>
            <a:ext cx="1627632"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Assessment</a:t>
            </a:r>
          </a:p>
        </p:txBody>
      </p:sp>
      <p:sp>
        <p:nvSpPr>
          <p:cNvPr id="27" name="TextBox 26"/>
          <p:cNvSpPr txBox="1"/>
          <p:nvPr/>
        </p:nvSpPr>
        <p:spPr>
          <a:xfrm>
            <a:off x="5285231" y="3931920"/>
            <a:ext cx="1627632"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Sit the WA (SAQ), then the PP — open book.</a:t>
            </a:r>
          </a:p>
        </p:txBody>
      </p:sp>
      <p:cxnSp>
        <p:nvCxnSpPr>
          <p:cNvPr id="28" name="Connector 27"/>
          <p:cNvCxnSpPr/>
          <p:nvPr/>
        </p:nvCxnSpPr>
        <p:spPr>
          <a:xfrm>
            <a:off x="7104888" y="3657600"/>
            <a:ext cx="219456" cy="0"/>
          </a:xfrm>
          <a:prstGeom prst="line">
            <a:avLst/>
          </a:prstGeom>
          <a:ln w="2540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7351775" y="2331720"/>
            <a:ext cx="1993392"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7552944" y="2496312"/>
            <a:ext cx="1627632"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31" name="Oval 30"/>
          <p:cNvSpPr/>
          <p:nvPr/>
        </p:nvSpPr>
        <p:spPr>
          <a:xfrm>
            <a:off x="7552944" y="2834639"/>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2" name="Picture 31" descr="send-FFFFFF.png"/>
          <p:cNvPicPr>
            <a:picLocks noChangeAspect="1"/>
          </p:cNvPicPr>
          <p:nvPr/>
        </p:nvPicPr>
        <p:blipFill>
          <a:blip r:embed="rId5"/>
          <a:stretch>
            <a:fillRect/>
          </a:stretch>
        </p:blipFill>
        <p:spPr>
          <a:xfrm>
            <a:off x="7675839" y="2957535"/>
            <a:ext cx="266273" cy="266273"/>
          </a:xfrm>
          <a:prstGeom prst="rect">
            <a:avLst/>
          </a:prstGeom>
        </p:spPr>
      </p:pic>
      <p:sp>
        <p:nvSpPr>
          <p:cNvPr id="33" name="TextBox 32"/>
          <p:cNvSpPr txBox="1"/>
          <p:nvPr/>
        </p:nvSpPr>
        <p:spPr>
          <a:xfrm>
            <a:off x="7552944" y="3474720"/>
            <a:ext cx="1627632"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Submit</a:t>
            </a:r>
          </a:p>
        </p:txBody>
      </p:sp>
      <p:sp>
        <p:nvSpPr>
          <p:cNvPr id="34" name="TextBox 33"/>
          <p:cNvSpPr txBox="1"/>
          <p:nvPr/>
        </p:nvSpPr>
        <p:spPr>
          <a:xfrm>
            <a:off x="7552944" y="3931920"/>
            <a:ext cx="1627632"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Upload your answers on the LMS.</a:t>
            </a:r>
          </a:p>
        </p:txBody>
      </p:sp>
      <p:cxnSp>
        <p:nvCxnSpPr>
          <p:cNvPr id="35" name="Connector 34"/>
          <p:cNvCxnSpPr/>
          <p:nvPr/>
        </p:nvCxnSpPr>
        <p:spPr>
          <a:xfrm>
            <a:off x="9372599" y="3657600"/>
            <a:ext cx="219457" cy="0"/>
          </a:xfrm>
          <a:prstGeom prst="line">
            <a:avLst/>
          </a:prstGeom>
          <a:ln w="2540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9619488" y="2331720"/>
            <a:ext cx="1993392"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9820656" y="2496312"/>
            <a:ext cx="1627632"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5</a:t>
            </a:r>
          </a:p>
        </p:txBody>
      </p:sp>
      <p:sp>
        <p:nvSpPr>
          <p:cNvPr id="38" name="Oval 37"/>
          <p:cNvSpPr/>
          <p:nvPr/>
        </p:nvSpPr>
        <p:spPr>
          <a:xfrm>
            <a:off x="9820656" y="2834639"/>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9" name="Picture 38" descr="check-FFFFFF.png"/>
          <p:cNvPicPr>
            <a:picLocks noChangeAspect="1"/>
          </p:cNvPicPr>
          <p:nvPr/>
        </p:nvPicPr>
        <p:blipFill>
          <a:blip r:embed="rId6"/>
          <a:stretch>
            <a:fillRect/>
          </a:stretch>
        </p:blipFill>
        <p:spPr>
          <a:xfrm>
            <a:off x="9943551" y="2957535"/>
            <a:ext cx="266273" cy="266273"/>
          </a:xfrm>
          <a:prstGeom prst="rect">
            <a:avLst/>
          </a:prstGeom>
        </p:spPr>
      </p:pic>
      <p:sp>
        <p:nvSpPr>
          <p:cNvPr id="40" name="TextBox 39"/>
          <p:cNvSpPr txBox="1"/>
          <p:nvPr/>
        </p:nvSpPr>
        <p:spPr>
          <a:xfrm>
            <a:off x="9820656" y="3474720"/>
            <a:ext cx="1627632"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Sign the record</a:t>
            </a:r>
          </a:p>
        </p:txBody>
      </p:sp>
      <p:sp>
        <p:nvSpPr>
          <p:cNvPr id="41" name="TextBox 40"/>
          <p:cNvSpPr txBox="1"/>
          <p:nvPr/>
        </p:nvSpPr>
        <p:spPr>
          <a:xfrm>
            <a:off x="9820656" y="3931920"/>
            <a:ext cx="1627632"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Sign the Assessment Summary Record.</a:t>
            </a:r>
          </a:p>
        </p:txBody>
      </p:sp>
    </p:spTree>
  </p:cSld>
  <p:clrMapOvr>
    <a:masterClrMapping/>
  </p:clrMapOvr>
  <p:transition spd="med">
    <p:fade/>
  </p:transition>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Oval 1"/>
          <p:cNvSpPr/>
          <p:nvPr/>
        </p:nvSpPr>
        <p:spPr>
          <a:xfrm>
            <a:off x="-1554480" y="4572000"/>
            <a:ext cx="4023360" cy="402336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822960" y="1828800"/>
            <a:ext cx="6949440" cy="457200"/>
          </a:xfrm>
          <a:prstGeom prst="rect">
            <a:avLst/>
          </a:prstGeom>
          <a:noFill/>
        </p:spPr>
        <p:txBody>
          <a:bodyPr wrap="square" lIns="36576" rIns="36576" tIns="18288" bIns="18288" anchor="t">
            <a:spAutoFit/>
          </a:bodyPr>
          <a:lstStyle/>
          <a:p>
            <a:pPr algn="l">
              <a:lnSpc>
                <a:spcPct val="112000"/>
              </a:lnSpc>
            </a:pPr>
            <a:r>
              <a:rPr sz="1800" b="1" i="0">
                <a:solidFill>
                  <a:srgbClr val="D97757"/>
                </a:solidFill>
                <a:latin typeface="Calibri"/>
              </a:rPr>
              <a:t>TOPIC 1</a:t>
            </a:r>
          </a:p>
        </p:txBody>
      </p:sp>
      <p:sp>
        <p:nvSpPr>
          <p:cNvPr id="4" name="TextBox 3"/>
          <p:cNvSpPr txBox="1"/>
          <p:nvPr/>
        </p:nvSpPr>
        <p:spPr>
          <a:xfrm>
            <a:off x="777240" y="2331720"/>
            <a:ext cx="7223760" cy="2011680"/>
          </a:xfrm>
          <a:prstGeom prst="rect">
            <a:avLst/>
          </a:prstGeom>
          <a:noFill/>
        </p:spPr>
        <p:txBody>
          <a:bodyPr wrap="square" lIns="36576" rIns="36576" tIns="18288" bIns="18288" anchor="t">
            <a:spAutoFit/>
          </a:bodyPr>
          <a:lstStyle/>
          <a:p>
            <a:pPr algn="l">
              <a:lnSpc>
                <a:spcPct val="104000"/>
              </a:lnSpc>
            </a:pPr>
            <a:r>
              <a:rPr sz="4000" b="1" i="0">
                <a:solidFill>
                  <a:srgbClr val="FFFFFF"/>
                </a:solidFill>
                <a:latin typeface="Cambria"/>
              </a:rPr>
              <a:t>Foundations of Autonomous AI Agents &amp; the Human–AI Workforce</a:t>
            </a:r>
          </a:p>
        </p:txBody>
      </p:sp>
      <p:sp>
        <p:nvSpPr>
          <p:cNvPr id="5" name="Rounded Rectangle 4"/>
          <p:cNvSpPr/>
          <p:nvPr/>
        </p:nvSpPr>
        <p:spPr>
          <a:xfrm>
            <a:off x="8183879" y="1504187"/>
            <a:ext cx="3520440" cy="3483864"/>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366760" y="1732787"/>
            <a:ext cx="457200" cy="384048"/>
          </a:xfrm>
          <a:prstGeom prst="rect">
            <a:avLst/>
          </a:prstGeom>
          <a:noFill/>
        </p:spPr>
        <p:txBody>
          <a:bodyPr wrap="square" lIns="36576" rIns="36576" tIns="18288" bIns="18288" anchor="t">
            <a:spAutoFit/>
          </a:bodyPr>
          <a:lstStyle/>
          <a:p>
            <a:pPr algn="l">
              <a:lnSpc>
                <a:spcPct val="112000"/>
              </a:lnSpc>
            </a:pPr>
            <a:r>
              <a:rPr sz="1700" b="1" i="0">
                <a:solidFill>
                  <a:srgbClr val="D97757"/>
                </a:solidFill>
                <a:latin typeface="Cambria"/>
              </a:rPr>
              <a:t>1</a:t>
            </a:r>
          </a:p>
        </p:txBody>
      </p:sp>
      <p:sp>
        <p:nvSpPr>
          <p:cNvPr id="7" name="TextBox 6"/>
          <p:cNvSpPr txBox="1"/>
          <p:nvPr/>
        </p:nvSpPr>
        <p:spPr>
          <a:xfrm>
            <a:off x="8823960" y="1732787"/>
            <a:ext cx="2743200" cy="512064"/>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A brief history of AI</a:t>
            </a:r>
          </a:p>
        </p:txBody>
      </p:sp>
      <p:sp>
        <p:nvSpPr>
          <p:cNvPr id="8" name="TextBox 7"/>
          <p:cNvSpPr txBox="1"/>
          <p:nvPr/>
        </p:nvSpPr>
        <p:spPr>
          <a:xfrm>
            <a:off x="8366760" y="2244852"/>
            <a:ext cx="457200" cy="384048"/>
          </a:xfrm>
          <a:prstGeom prst="rect">
            <a:avLst/>
          </a:prstGeom>
          <a:noFill/>
        </p:spPr>
        <p:txBody>
          <a:bodyPr wrap="square" lIns="36576" rIns="36576" tIns="18288" bIns="18288" anchor="t">
            <a:spAutoFit/>
          </a:bodyPr>
          <a:lstStyle/>
          <a:p>
            <a:pPr algn="l">
              <a:lnSpc>
                <a:spcPct val="112000"/>
              </a:lnSpc>
            </a:pPr>
            <a:r>
              <a:rPr sz="1700" b="1" i="0">
                <a:solidFill>
                  <a:srgbClr val="D97757"/>
                </a:solidFill>
                <a:latin typeface="Cambria"/>
              </a:rPr>
              <a:t>2</a:t>
            </a:r>
          </a:p>
        </p:txBody>
      </p:sp>
      <p:sp>
        <p:nvSpPr>
          <p:cNvPr id="9" name="TextBox 8"/>
          <p:cNvSpPr txBox="1"/>
          <p:nvPr/>
        </p:nvSpPr>
        <p:spPr>
          <a:xfrm>
            <a:off x="8823960" y="2244852"/>
            <a:ext cx="2743200" cy="512064"/>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AI agents vs agentic AI</a:t>
            </a:r>
          </a:p>
        </p:txBody>
      </p:sp>
      <p:sp>
        <p:nvSpPr>
          <p:cNvPr id="10" name="TextBox 9"/>
          <p:cNvSpPr txBox="1"/>
          <p:nvPr/>
        </p:nvSpPr>
        <p:spPr>
          <a:xfrm>
            <a:off x="8366760" y="2756915"/>
            <a:ext cx="457200" cy="384048"/>
          </a:xfrm>
          <a:prstGeom prst="rect">
            <a:avLst/>
          </a:prstGeom>
          <a:noFill/>
        </p:spPr>
        <p:txBody>
          <a:bodyPr wrap="square" lIns="36576" rIns="36576" tIns="18288" bIns="18288" anchor="t">
            <a:spAutoFit/>
          </a:bodyPr>
          <a:lstStyle/>
          <a:p>
            <a:pPr algn="l">
              <a:lnSpc>
                <a:spcPct val="112000"/>
              </a:lnSpc>
            </a:pPr>
            <a:r>
              <a:rPr sz="1700" b="1" i="0">
                <a:solidFill>
                  <a:srgbClr val="D97757"/>
                </a:solidFill>
                <a:latin typeface="Cambria"/>
              </a:rPr>
              <a:t>3</a:t>
            </a:r>
          </a:p>
        </p:txBody>
      </p:sp>
      <p:sp>
        <p:nvSpPr>
          <p:cNvPr id="11" name="TextBox 10"/>
          <p:cNvSpPr txBox="1"/>
          <p:nvPr/>
        </p:nvSpPr>
        <p:spPr>
          <a:xfrm>
            <a:off x="8823960" y="2756915"/>
            <a:ext cx="2743200" cy="512064"/>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The agentic loop &amp; harness engineering</a:t>
            </a:r>
          </a:p>
        </p:txBody>
      </p:sp>
      <p:sp>
        <p:nvSpPr>
          <p:cNvPr id="12" name="TextBox 11"/>
          <p:cNvSpPr txBox="1"/>
          <p:nvPr/>
        </p:nvSpPr>
        <p:spPr>
          <a:xfrm>
            <a:off x="8366760" y="3268980"/>
            <a:ext cx="457200" cy="384048"/>
          </a:xfrm>
          <a:prstGeom prst="rect">
            <a:avLst/>
          </a:prstGeom>
          <a:noFill/>
        </p:spPr>
        <p:txBody>
          <a:bodyPr wrap="square" lIns="36576" rIns="36576" tIns="18288" bIns="18288" anchor="t">
            <a:spAutoFit/>
          </a:bodyPr>
          <a:lstStyle/>
          <a:p>
            <a:pPr algn="l">
              <a:lnSpc>
                <a:spcPct val="112000"/>
              </a:lnSpc>
            </a:pPr>
            <a:r>
              <a:rPr sz="1700" b="1" i="0">
                <a:solidFill>
                  <a:srgbClr val="D97757"/>
                </a:solidFill>
                <a:latin typeface="Cambria"/>
              </a:rPr>
              <a:t>4</a:t>
            </a:r>
          </a:p>
        </p:txBody>
      </p:sp>
      <p:sp>
        <p:nvSpPr>
          <p:cNvPr id="13" name="TextBox 12"/>
          <p:cNvSpPr txBox="1"/>
          <p:nvPr/>
        </p:nvSpPr>
        <p:spPr>
          <a:xfrm>
            <a:off x="8823960" y="3268980"/>
            <a:ext cx="2743200" cy="512064"/>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Brain · perception · action, memory &amp; world models</a:t>
            </a:r>
          </a:p>
        </p:txBody>
      </p:sp>
      <p:sp>
        <p:nvSpPr>
          <p:cNvPr id="14" name="TextBox 13"/>
          <p:cNvSpPr txBox="1"/>
          <p:nvPr/>
        </p:nvSpPr>
        <p:spPr>
          <a:xfrm>
            <a:off x="8366760" y="3781044"/>
            <a:ext cx="457200" cy="384048"/>
          </a:xfrm>
          <a:prstGeom prst="rect">
            <a:avLst/>
          </a:prstGeom>
          <a:noFill/>
        </p:spPr>
        <p:txBody>
          <a:bodyPr wrap="square" lIns="36576" rIns="36576" tIns="18288" bIns="18288" anchor="t">
            <a:spAutoFit/>
          </a:bodyPr>
          <a:lstStyle/>
          <a:p>
            <a:pPr algn="l">
              <a:lnSpc>
                <a:spcPct val="112000"/>
              </a:lnSpc>
            </a:pPr>
            <a:r>
              <a:rPr sz="1700" b="1" i="0">
                <a:solidFill>
                  <a:srgbClr val="D97757"/>
                </a:solidFill>
                <a:latin typeface="Cambria"/>
              </a:rPr>
              <a:t>5</a:t>
            </a:r>
          </a:p>
        </p:txBody>
      </p:sp>
      <p:sp>
        <p:nvSpPr>
          <p:cNvPr id="15" name="TextBox 14"/>
          <p:cNvSpPr txBox="1"/>
          <p:nvPr/>
        </p:nvSpPr>
        <p:spPr>
          <a:xfrm>
            <a:off x="8823960" y="3781044"/>
            <a:ext cx="2743200" cy="512064"/>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From single agent to human–AI collaboration</a:t>
            </a:r>
          </a:p>
        </p:txBody>
      </p:sp>
      <p:sp>
        <p:nvSpPr>
          <p:cNvPr id="16" name="TextBox 15"/>
          <p:cNvSpPr txBox="1"/>
          <p:nvPr/>
        </p:nvSpPr>
        <p:spPr>
          <a:xfrm>
            <a:off x="8366760" y="4293108"/>
            <a:ext cx="457200" cy="384048"/>
          </a:xfrm>
          <a:prstGeom prst="rect">
            <a:avLst/>
          </a:prstGeom>
          <a:noFill/>
        </p:spPr>
        <p:txBody>
          <a:bodyPr wrap="square" lIns="36576" rIns="36576" tIns="18288" bIns="18288" anchor="t">
            <a:spAutoFit/>
          </a:bodyPr>
          <a:lstStyle/>
          <a:p>
            <a:pPr algn="l">
              <a:lnSpc>
                <a:spcPct val="112000"/>
              </a:lnSpc>
            </a:pPr>
            <a:r>
              <a:rPr sz="1700" b="1" i="0">
                <a:solidFill>
                  <a:srgbClr val="D97757"/>
                </a:solidFill>
                <a:latin typeface="Cambria"/>
              </a:rPr>
              <a:t>6</a:t>
            </a:r>
          </a:p>
        </p:txBody>
      </p:sp>
      <p:sp>
        <p:nvSpPr>
          <p:cNvPr id="17" name="TextBox 16"/>
          <p:cNvSpPr txBox="1"/>
          <p:nvPr/>
        </p:nvSpPr>
        <p:spPr>
          <a:xfrm>
            <a:off x="8823960" y="4293108"/>
            <a:ext cx="2743200" cy="512064"/>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The 2026 agent market, use cases &amp; governance</a:t>
            </a:r>
          </a:p>
        </p:txBody>
      </p:sp>
      <p:sp>
        <p:nvSpPr>
          <p:cNvPr id="18" name="TextBox 17"/>
          <p:cNvSpPr txBox="1"/>
          <p:nvPr/>
        </p:nvSpPr>
        <p:spPr>
          <a:xfrm>
            <a:off x="5852160" y="6473952"/>
            <a:ext cx="58521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 Tertiary Infotech Academy Pte Ltd  ·  TGS-2024043854</a:t>
            </a:r>
          </a:p>
        </p:txBody>
      </p:sp>
    </p:spTree>
  </p:cSld>
  <p:clrMapOvr>
    <a:masterClrMapping/>
  </p:clrMapOvr>
  <p:transition spd="med">
    <p:fade/>
  </p:transition>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HISTORY OF AI</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A Brief History of AI — From Rules to Learning</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21</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cxnSp>
        <p:nvCxnSpPr>
          <p:cNvPr id="7" name="Connector 6"/>
          <p:cNvCxnSpPr/>
          <p:nvPr/>
        </p:nvCxnSpPr>
        <p:spPr>
          <a:xfrm>
            <a:off x="1338942" y="3429000"/>
            <a:ext cx="9483635" cy="0"/>
          </a:xfrm>
          <a:prstGeom prst="line">
            <a:avLst/>
          </a:prstGeom>
          <a:ln w="25400">
            <a:solidFill>
              <a:srgbClr val="6B6862"/>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76072" y="2103120"/>
            <a:ext cx="1525741" cy="868680"/>
          </a:xfrm>
          <a:prstGeom prst="rect">
            <a:avLst/>
          </a:prstGeom>
          <a:noFill/>
        </p:spPr>
        <p:txBody>
          <a:bodyPr wrap="square" lIns="36576" rIns="36576" tIns="18288" bIns="18288" anchor="b">
            <a:spAutoFit/>
          </a:bodyPr>
          <a:lstStyle/>
          <a:p>
            <a:pPr algn="ctr">
              <a:lnSpc>
                <a:spcPct val="112000"/>
              </a:lnSpc>
            </a:pPr>
            <a:r>
              <a:rPr sz="1250" b="1" i="0">
                <a:solidFill>
                  <a:srgbClr val="D97757"/>
                </a:solidFill>
                <a:latin typeface="Cambria"/>
              </a:rPr>
              <a:t>Turing test</a:t>
            </a:r>
          </a:p>
        </p:txBody>
      </p:sp>
      <p:sp>
        <p:nvSpPr>
          <p:cNvPr id="9" name="Oval 8"/>
          <p:cNvSpPr/>
          <p:nvPr/>
        </p:nvSpPr>
        <p:spPr>
          <a:xfrm>
            <a:off x="1000614" y="3090672"/>
            <a:ext cx="676656" cy="676656"/>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0614" y="3090672"/>
            <a:ext cx="676656" cy="676656"/>
          </a:xfrm>
          <a:prstGeom prst="rect">
            <a:avLst/>
          </a:prstGeom>
          <a:noFill/>
        </p:spPr>
        <p:txBody>
          <a:bodyPr wrap="square" lIns="36576" rIns="36576" tIns="18288" bIns="18288" anchor="ctr">
            <a:spAutoFit/>
          </a:bodyPr>
          <a:lstStyle/>
          <a:p>
            <a:pPr algn="ctr">
              <a:lnSpc>
                <a:spcPct val="112000"/>
              </a:lnSpc>
            </a:pPr>
            <a:r>
              <a:rPr sz="1150" b="1" i="0">
                <a:solidFill>
                  <a:srgbClr val="FFFFFF"/>
                </a:solidFill>
                <a:latin typeface="Cambria"/>
              </a:rPr>
              <a:t>1950</a:t>
            </a:r>
          </a:p>
        </p:txBody>
      </p:sp>
      <p:sp>
        <p:nvSpPr>
          <p:cNvPr id="11" name="TextBox 10"/>
          <p:cNvSpPr txBox="1"/>
          <p:nvPr/>
        </p:nvSpPr>
        <p:spPr>
          <a:xfrm>
            <a:off x="576072" y="3904488"/>
            <a:ext cx="1525741" cy="1600200"/>
          </a:xfrm>
          <a:prstGeom prst="rect">
            <a:avLst/>
          </a:prstGeom>
          <a:noFill/>
        </p:spPr>
        <p:txBody>
          <a:bodyPr wrap="square" lIns="36576" rIns="36576" tIns="18288" bIns="18288" anchor="t">
            <a:spAutoFit/>
          </a:bodyPr>
          <a:lstStyle/>
          <a:p>
            <a:pPr algn="ctr">
              <a:lnSpc>
                <a:spcPct val="112000"/>
              </a:lnSpc>
            </a:pPr>
            <a:r>
              <a:rPr sz="1050" b="0" i="0">
                <a:solidFill>
                  <a:srgbClr val="C9C4B9"/>
                </a:solidFill>
                <a:latin typeface="Calibri"/>
              </a:rPr>
              <a:t>Turing asks "Can machines think?" and proposes the imitation game.</a:t>
            </a:r>
          </a:p>
        </p:txBody>
      </p:sp>
      <p:sp>
        <p:nvSpPr>
          <p:cNvPr id="12" name="TextBox 11"/>
          <p:cNvSpPr txBox="1"/>
          <p:nvPr/>
        </p:nvSpPr>
        <p:spPr>
          <a:xfrm>
            <a:off x="2156677" y="2103120"/>
            <a:ext cx="1525741" cy="868680"/>
          </a:xfrm>
          <a:prstGeom prst="rect">
            <a:avLst/>
          </a:prstGeom>
          <a:noFill/>
        </p:spPr>
        <p:txBody>
          <a:bodyPr wrap="square" lIns="36576" rIns="36576" tIns="18288" bIns="18288" anchor="b">
            <a:spAutoFit/>
          </a:bodyPr>
          <a:lstStyle/>
          <a:p>
            <a:pPr algn="ctr">
              <a:lnSpc>
                <a:spcPct val="112000"/>
              </a:lnSpc>
            </a:pPr>
            <a:r>
              <a:rPr sz="1250" b="1" i="0">
                <a:solidFill>
                  <a:srgbClr val="D97757"/>
                </a:solidFill>
                <a:latin typeface="Cambria"/>
              </a:rPr>
              <a:t>AI is named</a:t>
            </a:r>
          </a:p>
        </p:txBody>
      </p:sp>
      <p:sp>
        <p:nvSpPr>
          <p:cNvPr id="13" name="Oval 12"/>
          <p:cNvSpPr/>
          <p:nvPr/>
        </p:nvSpPr>
        <p:spPr>
          <a:xfrm>
            <a:off x="2581220" y="3090672"/>
            <a:ext cx="676656" cy="676656"/>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2581220" y="3090672"/>
            <a:ext cx="676656" cy="676656"/>
          </a:xfrm>
          <a:prstGeom prst="rect">
            <a:avLst/>
          </a:prstGeom>
          <a:noFill/>
        </p:spPr>
        <p:txBody>
          <a:bodyPr wrap="square" lIns="36576" rIns="36576" tIns="18288" bIns="18288" anchor="ctr">
            <a:spAutoFit/>
          </a:bodyPr>
          <a:lstStyle/>
          <a:p>
            <a:pPr algn="ctr">
              <a:lnSpc>
                <a:spcPct val="112000"/>
              </a:lnSpc>
            </a:pPr>
            <a:r>
              <a:rPr sz="1150" b="1" i="0">
                <a:solidFill>
                  <a:srgbClr val="FFFFFF"/>
                </a:solidFill>
                <a:latin typeface="Cambria"/>
              </a:rPr>
              <a:t>1956</a:t>
            </a:r>
          </a:p>
        </p:txBody>
      </p:sp>
      <p:sp>
        <p:nvSpPr>
          <p:cNvPr id="15" name="TextBox 14"/>
          <p:cNvSpPr txBox="1"/>
          <p:nvPr/>
        </p:nvSpPr>
        <p:spPr>
          <a:xfrm>
            <a:off x="2156677" y="3904488"/>
            <a:ext cx="1525741" cy="1600200"/>
          </a:xfrm>
          <a:prstGeom prst="rect">
            <a:avLst/>
          </a:prstGeom>
          <a:noFill/>
        </p:spPr>
        <p:txBody>
          <a:bodyPr wrap="square" lIns="36576" rIns="36576" tIns="18288" bIns="18288" anchor="t">
            <a:spAutoFit/>
          </a:bodyPr>
          <a:lstStyle/>
          <a:p>
            <a:pPr algn="ctr">
              <a:lnSpc>
                <a:spcPct val="112000"/>
              </a:lnSpc>
            </a:pPr>
            <a:r>
              <a:rPr sz="1050" b="0" i="0">
                <a:solidFill>
                  <a:srgbClr val="C9C4B9"/>
                </a:solidFill>
                <a:latin typeface="Calibri"/>
              </a:rPr>
              <a:t>Dartmouth workshop coins "artificial intelligence".</a:t>
            </a:r>
          </a:p>
        </p:txBody>
      </p:sp>
      <p:sp>
        <p:nvSpPr>
          <p:cNvPr id="16" name="TextBox 15"/>
          <p:cNvSpPr txBox="1"/>
          <p:nvPr/>
        </p:nvSpPr>
        <p:spPr>
          <a:xfrm>
            <a:off x="3737283" y="2103120"/>
            <a:ext cx="1525741" cy="868680"/>
          </a:xfrm>
          <a:prstGeom prst="rect">
            <a:avLst/>
          </a:prstGeom>
          <a:noFill/>
        </p:spPr>
        <p:txBody>
          <a:bodyPr wrap="square" lIns="36576" rIns="36576" tIns="18288" bIns="18288" anchor="b">
            <a:spAutoFit/>
          </a:bodyPr>
          <a:lstStyle/>
          <a:p>
            <a:pPr algn="ctr">
              <a:lnSpc>
                <a:spcPct val="112000"/>
              </a:lnSpc>
            </a:pPr>
            <a:r>
              <a:rPr sz="1250" b="1" i="0">
                <a:solidFill>
                  <a:srgbClr val="D97757"/>
                </a:solidFill>
                <a:latin typeface="Cambria"/>
              </a:rPr>
              <a:t>Expert systems</a:t>
            </a:r>
          </a:p>
        </p:txBody>
      </p:sp>
      <p:sp>
        <p:nvSpPr>
          <p:cNvPr id="17" name="Oval 16"/>
          <p:cNvSpPr/>
          <p:nvPr/>
        </p:nvSpPr>
        <p:spPr>
          <a:xfrm>
            <a:off x="4161826" y="3090672"/>
            <a:ext cx="676656" cy="676656"/>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4161826" y="3090672"/>
            <a:ext cx="676656" cy="676656"/>
          </a:xfrm>
          <a:prstGeom prst="rect">
            <a:avLst/>
          </a:prstGeom>
          <a:noFill/>
        </p:spPr>
        <p:txBody>
          <a:bodyPr wrap="square" lIns="36576" rIns="36576" tIns="18288" bIns="18288" anchor="ctr">
            <a:spAutoFit/>
          </a:bodyPr>
          <a:lstStyle/>
          <a:p>
            <a:pPr algn="ctr">
              <a:lnSpc>
                <a:spcPct val="112000"/>
              </a:lnSpc>
            </a:pPr>
            <a:r>
              <a:rPr sz="1150" b="1" i="0">
                <a:solidFill>
                  <a:srgbClr val="FFFFFF"/>
                </a:solidFill>
                <a:latin typeface="Cambria"/>
              </a:rPr>
              <a:t>1970s</a:t>
            </a:r>
          </a:p>
        </p:txBody>
      </p:sp>
      <p:sp>
        <p:nvSpPr>
          <p:cNvPr id="19" name="TextBox 18"/>
          <p:cNvSpPr txBox="1"/>
          <p:nvPr/>
        </p:nvSpPr>
        <p:spPr>
          <a:xfrm>
            <a:off x="3737283" y="3904488"/>
            <a:ext cx="1525741" cy="1600200"/>
          </a:xfrm>
          <a:prstGeom prst="rect">
            <a:avLst/>
          </a:prstGeom>
          <a:noFill/>
        </p:spPr>
        <p:txBody>
          <a:bodyPr wrap="square" lIns="36576" rIns="36576" tIns="18288" bIns="18288" anchor="t">
            <a:spAutoFit/>
          </a:bodyPr>
          <a:lstStyle/>
          <a:p>
            <a:pPr algn="ctr">
              <a:lnSpc>
                <a:spcPct val="112000"/>
              </a:lnSpc>
            </a:pPr>
            <a:r>
              <a:rPr sz="1050" b="0" i="0">
                <a:solidFill>
                  <a:srgbClr val="C9C4B9"/>
                </a:solidFill>
                <a:latin typeface="Calibri"/>
              </a:rPr>
              <a:t>Hand-written rules (MYCIN, XCON) — brittle, costly to update.</a:t>
            </a:r>
          </a:p>
        </p:txBody>
      </p:sp>
      <p:sp>
        <p:nvSpPr>
          <p:cNvPr id="20" name="TextBox 19"/>
          <p:cNvSpPr txBox="1"/>
          <p:nvPr/>
        </p:nvSpPr>
        <p:spPr>
          <a:xfrm>
            <a:off x="5317889" y="2103120"/>
            <a:ext cx="1525741" cy="868680"/>
          </a:xfrm>
          <a:prstGeom prst="rect">
            <a:avLst/>
          </a:prstGeom>
          <a:noFill/>
        </p:spPr>
        <p:txBody>
          <a:bodyPr wrap="square" lIns="36576" rIns="36576" tIns="18288" bIns="18288" anchor="b">
            <a:spAutoFit/>
          </a:bodyPr>
          <a:lstStyle/>
          <a:p>
            <a:pPr algn="ctr">
              <a:lnSpc>
                <a:spcPct val="112000"/>
              </a:lnSpc>
            </a:pPr>
            <a:r>
              <a:rPr sz="1250" b="1" i="0">
                <a:solidFill>
                  <a:srgbClr val="D97757"/>
                </a:solidFill>
                <a:latin typeface="Cambria"/>
              </a:rPr>
              <a:t>Deep Blue</a:t>
            </a:r>
          </a:p>
        </p:txBody>
      </p:sp>
      <p:sp>
        <p:nvSpPr>
          <p:cNvPr id="21" name="Oval 20"/>
          <p:cNvSpPr/>
          <p:nvPr/>
        </p:nvSpPr>
        <p:spPr>
          <a:xfrm>
            <a:off x="5742431" y="3090672"/>
            <a:ext cx="676656" cy="676656"/>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5742431" y="3090672"/>
            <a:ext cx="676656" cy="676656"/>
          </a:xfrm>
          <a:prstGeom prst="rect">
            <a:avLst/>
          </a:prstGeom>
          <a:noFill/>
        </p:spPr>
        <p:txBody>
          <a:bodyPr wrap="square" lIns="36576" rIns="36576" tIns="18288" bIns="18288" anchor="ctr">
            <a:spAutoFit/>
          </a:bodyPr>
          <a:lstStyle/>
          <a:p>
            <a:pPr algn="ctr">
              <a:lnSpc>
                <a:spcPct val="112000"/>
              </a:lnSpc>
            </a:pPr>
            <a:r>
              <a:rPr sz="1150" b="1" i="0">
                <a:solidFill>
                  <a:srgbClr val="FFFFFF"/>
                </a:solidFill>
                <a:latin typeface="Cambria"/>
              </a:rPr>
              <a:t>1997</a:t>
            </a:r>
          </a:p>
        </p:txBody>
      </p:sp>
      <p:sp>
        <p:nvSpPr>
          <p:cNvPr id="23" name="TextBox 22"/>
          <p:cNvSpPr txBox="1"/>
          <p:nvPr/>
        </p:nvSpPr>
        <p:spPr>
          <a:xfrm>
            <a:off x="5317889" y="3904488"/>
            <a:ext cx="1525741" cy="1600200"/>
          </a:xfrm>
          <a:prstGeom prst="rect">
            <a:avLst/>
          </a:prstGeom>
          <a:noFill/>
        </p:spPr>
        <p:txBody>
          <a:bodyPr wrap="square" lIns="36576" rIns="36576" tIns="18288" bIns="18288" anchor="t">
            <a:spAutoFit/>
          </a:bodyPr>
          <a:lstStyle/>
          <a:p>
            <a:pPr algn="ctr">
              <a:lnSpc>
                <a:spcPct val="112000"/>
              </a:lnSpc>
            </a:pPr>
            <a:r>
              <a:rPr sz="1050" b="0" i="0">
                <a:solidFill>
                  <a:srgbClr val="C9C4B9"/>
                </a:solidFill>
                <a:latin typeface="Calibri"/>
              </a:rPr>
              <a:t>IBM beats Kasparov at chess with brute-force search.</a:t>
            </a:r>
          </a:p>
        </p:txBody>
      </p:sp>
      <p:sp>
        <p:nvSpPr>
          <p:cNvPr id="24" name="TextBox 23"/>
          <p:cNvSpPr txBox="1"/>
          <p:nvPr/>
        </p:nvSpPr>
        <p:spPr>
          <a:xfrm>
            <a:off x="6898494" y="2103120"/>
            <a:ext cx="1525741" cy="868680"/>
          </a:xfrm>
          <a:prstGeom prst="rect">
            <a:avLst/>
          </a:prstGeom>
          <a:noFill/>
        </p:spPr>
        <p:txBody>
          <a:bodyPr wrap="square" lIns="36576" rIns="36576" tIns="18288" bIns="18288" anchor="b">
            <a:spAutoFit/>
          </a:bodyPr>
          <a:lstStyle/>
          <a:p>
            <a:pPr algn="ctr">
              <a:lnSpc>
                <a:spcPct val="112000"/>
              </a:lnSpc>
            </a:pPr>
            <a:r>
              <a:rPr sz="1250" b="1" i="0">
                <a:solidFill>
                  <a:srgbClr val="D97757"/>
                </a:solidFill>
                <a:latin typeface="Cambria"/>
              </a:rPr>
              <a:t>Deep learning</a:t>
            </a:r>
          </a:p>
        </p:txBody>
      </p:sp>
      <p:sp>
        <p:nvSpPr>
          <p:cNvPr id="25" name="Oval 24"/>
          <p:cNvSpPr/>
          <p:nvPr/>
        </p:nvSpPr>
        <p:spPr>
          <a:xfrm>
            <a:off x="7323037" y="3090672"/>
            <a:ext cx="676656" cy="676656"/>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7323037" y="3090672"/>
            <a:ext cx="676656" cy="676656"/>
          </a:xfrm>
          <a:prstGeom prst="rect">
            <a:avLst/>
          </a:prstGeom>
          <a:noFill/>
        </p:spPr>
        <p:txBody>
          <a:bodyPr wrap="square" lIns="36576" rIns="36576" tIns="18288" bIns="18288" anchor="ctr">
            <a:spAutoFit/>
          </a:bodyPr>
          <a:lstStyle/>
          <a:p>
            <a:pPr algn="ctr">
              <a:lnSpc>
                <a:spcPct val="112000"/>
              </a:lnSpc>
            </a:pPr>
            <a:r>
              <a:rPr sz="1150" b="1" i="0">
                <a:solidFill>
                  <a:srgbClr val="FFFFFF"/>
                </a:solidFill>
                <a:latin typeface="Cambria"/>
              </a:rPr>
              <a:t>2012</a:t>
            </a:r>
          </a:p>
        </p:txBody>
      </p:sp>
      <p:sp>
        <p:nvSpPr>
          <p:cNvPr id="27" name="TextBox 26"/>
          <p:cNvSpPr txBox="1"/>
          <p:nvPr/>
        </p:nvSpPr>
        <p:spPr>
          <a:xfrm>
            <a:off x="6898494" y="3904488"/>
            <a:ext cx="1525741" cy="1600200"/>
          </a:xfrm>
          <a:prstGeom prst="rect">
            <a:avLst/>
          </a:prstGeom>
          <a:noFill/>
        </p:spPr>
        <p:txBody>
          <a:bodyPr wrap="square" lIns="36576" rIns="36576" tIns="18288" bIns="18288" anchor="t">
            <a:spAutoFit/>
          </a:bodyPr>
          <a:lstStyle/>
          <a:p>
            <a:pPr algn="ctr">
              <a:lnSpc>
                <a:spcPct val="112000"/>
              </a:lnSpc>
            </a:pPr>
            <a:r>
              <a:rPr sz="1050" b="0" i="0">
                <a:solidFill>
                  <a:srgbClr val="C9C4B9"/>
                </a:solidFill>
                <a:latin typeface="Calibri"/>
              </a:rPr>
              <a:t>AlexNet wins ImageNet — GPUs + big data.</a:t>
            </a:r>
          </a:p>
        </p:txBody>
      </p:sp>
      <p:sp>
        <p:nvSpPr>
          <p:cNvPr id="28" name="TextBox 27"/>
          <p:cNvSpPr txBox="1"/>
          <p:nvPr/>
        </p:nvSpPr>
        <p:spPr>
          <a:xfrm>
            <a:off x="8479100" y="2103120"/>
            <a:ext cx="1525741" cy="868680"/>
          </a:xfrm>
          <a:prstGeom prst="rect">
            <a:avLst/>
          </a:prstGeom>
          <a:noFill/>
        </p:spPr>
        <p:txBody>
          <a:bodyPr wrap="square" lIns="36576" rIns="36576" tIns="18288" bIns="18288" anchor="b">
            <a:spAutoFit/>
          </a:bodyPr>
          <a:lstStyle/>
          <a:p>
            <a:pPr algn="ctr">
              <a:lnSpc>
                <a:spcPct val="112000"/>
              </a:lnSpc>
            </a:pPr>
            <a:r>
              <a:rPr sz="1250" b="1" i="0">
                <a:solidFill>
                  <a:srgbClr val="D97757"/>
                </a:solidFill>
                <a:latin typeface="Cambria"/>
              </a:rPr>
              <a:t>AlphaGo</a:t>
            </a:r>
          </a:p>
        </p:txBody>
      </p:sp>
      <p:sp>
        <p:nvSpPr>
          <p:cNvPr id="29" name="Oval 28"/>
          <p:cNvSpPr/>
          <p:nvPr/>
        </p:nvSpPr>
        <p:spPr>
          <a:xfrm>
            <a:off x="8903643" y="3090672"/>
            <a:ext cx="676656" cy="676656"/>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903643" y="3090672"/>
            <a:ext cx="676656" cy="676656"/>
          </a:xfrm>
          <a:prstGeom prst="rect">
            <a:avLst/>
          </a:prstGeom>
          <a:noFill/>
        </p:spPr>
        <p:txBody>
          <a:bodyPr wrap="square" lIns="36576" rIns="36576" tIns="18288" bIns="18288" anchor="ctr">
            <a:spAutoFit/>
          </a:bodyPr>
          <a:lstStyle/>
          <a:p>
            <a:pPr algn="ctr">
              <a:lnSpc>
                <a:spcPct val="112000"/>
              </a:lnSpc>
            </a:pPr>
            <a:r>
              <a:rPr sz="1150" b="1" i="0">
                <a:solidFill>
                  <a:srgbClr val="FFFFFF"/>
                </a:solidFill>
                <a:latin typeface="Cambria"/>
              </a:rPr>
              <a:t>2016</a:t>
            </a:r>
          </a:p>
        </p:txBody>
      </p:sp>
      <p:sp>
        <p:nvSpPr>
          <p:cNvPr id="31" name="TextBox 30"/>
          <p:cNvSpPr txBox="1"/>
          <p:nvPr/>
        </p:nvSpPr>
        <p:spPr>
          <a:xfrm>
            <a:off x="8479100" y="3904488"/>
            <a:ext cx="1525741" cy="1600200"/>
          </a:xfrm>
          <a:prstGeom prst="rect">
            <a:avLst/>
          </a:prstGeom>
          <a:noFill/>
        </p:spPr>
        <p:txBody>
          <a:bodyPr wrap="square" lIns="36576" rIns="36576" tIns="18288" bIns="18288" anchor="t">
            <a:spAutoFit/>
          </a:bodyPr>
          <a:lstStyle/>
          <a:p>
            <a:pPr algn="ctr">
              <a:lnSpc>
                <a:spcPct val="112000"/>
              </a:lnSpc>
            </a:pPr>
            <a:r>
              <a:rPr sz="1050" b="0" i="0">
                <a:solidFill>
                  <a:srgbClr val="C9C4B9"/>
                </a:solidFill>
                <a:latin typeface="Calibri"/>
              </a:rPr>
              <a:t>Deep + reinforcement learning beats Lee Sedol 4–1.</a:t>
            </a:r>
          </a:p>
        </p:txBody>
      </p:sp>
      <p:sp>
        <p:nvSpPr>
          <p:cNvPr id="32" name="TextBox 31"/>
          <p:cNvSpPr txBox="1"/>
          <p:nvPr/>
        </p:nvSpPr>
        <p:spPr>
          <a:xfrm>
            <a:off x="10059706" y="2103120"/>
            <a:ext cx="1525741" cy="868680"/>
          </a:xfrm>
          <a:prstGeom prst="rect">
            <a:avLst/>
          </a:prstGeom>
          <a:noFill/>
        </p:spPr>
        <p:txBody>
          <a:bodyPr wrap="square" lIns="36576" rIns="36576" tIns="18288" bIns="18288" anchor="b">
            <a:spAutoFit/>
          </a:bodyPr>
          <a:lstStyle/>
          <a:p>
            <a:pPr algn="ctr">
              <a:lnSpc>
                <a:spcPct val="112000"/>
              </a:lnSpc>
            </a:pPr>
            <a:r>
              <a:rPr sz="1250" b="1" i="0">
                <a:solidFill>
                  <a:srgbClr val="D97757"/>
                </a:solidFill>
                <a:latin typeface="Cambria"/>
              </a:rPr>
              <a:t>Transformer</a:t>
            </a:r>
          </a:p>
        </p:txBody>
      </p:sp>
      <p:sp>
        <p:nvSpPr>
          <p:cNvPr id="33" name="Oval 32"/>
          <p:cNvSpPr/>
          <p:nvPr/>
        </p:nvSpPr>
        <p:spPr>
          <a:xfrm>
            <a:off x="10484249" y="3090672"/>
            <a:ext cx="676656" cy="676656"/>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10484249" y="3090672"/>
            <a:ext cx="676656" cy="676656"/>
          </a:xfrm>
          <a:prstGeom prst="rect">
            <a:avLst/>
          </a:prstGeom>
          <a:noFill/>
        </p:spPr>
        <p:txBody>
          <a:bodyPr wrap="square" lIns="36576" rIns="36576" tIns="18288" bIns="18288" anchor="ctr">
            <a:spAutoFit/>
          </a:bodyPr>
          <a:lstStyle/>
          <a:p>
            <a:pPr algn="ctr">
              <a:lnSpc>
                <a:spcPct val="112000"/>
              </a:lnSpc>
            </a:pPr>
            <a:r>
              <a:rPr sz="1150" b="1" i="0">
                <a:solidFill>
                  <a:srgbClr val="FFFFFF"/>
                </a:solidFill>
                <a:latin typeface="Cambria"/>
              </a:rPr>
              <a:t>2017</a:t>
            </a:r>
          </a:p>
        </p:txBody>
      </p:sp>
      <p:sp>
        <p:nvSpPr>
          <p:cNvPr id="35" name="TextBox 34"/>
          <p:cNvSpPr txBox="1"/>
          <p:nvPr/>
        </p:nvSpPr>
        <p:spPr>
          <a:xfrm>
            <a:off x="10059706" y="3904488"/>
            <a:ext cx="1525741" cy="1600200"/>
          </a:xfrm>
          <a:prstGeom prst="rect">
            <a:avLst/>
          </a:prstGeom>
          <a:noFill/>
        </p:spPr>
        <p:txBody>
          <a:bodyPr wrap="square" lIns="36576" rIns="36576" tIns="18288" bIns="18288" anchor="t">
            <a:spAutoFit/>
          </a:bodyPr>
          <a:lstStyle/>
          <a:p>
            <a:pPr algn="ctr">
              <a:lnSpc>
                <a:spcPct val="112000"/>
              </a:lnSpc>
            </a:pPr>
            <a:r>
              <a:rPr sz="1050" b="0" i="0">
                <a:solidFill>
                  <a:srgbClr val="C9C4B9"/>
                </a:solidFill>
                <a:latin typeface="Calibri"/>
              </a:rPr>
              <a:t>"Attention Is All You Need" — the architecture behind every LLM.</a:t>
            </a:r>
          </a:p>
        </p:txBody>
      </p:sp>
      <p:sp>
        <p:nvSpPr>
          <p:cNvPr id="36" name="TextBox 35"/>
          <p:cNvSpPr txBox="1"/>
          <p:nvPr/>
        </p:nvSpPr>
        <p:spPr>
          <a:xfrm>
            <a:off x="548640" y="5897880"/>
            <a:ext cx="11064240" cy="384048"/>
          </a:xfrm>
          <a:prstGeom prst="rect">
            <a:avLst/>
          </a:prstGeom>
          <a:noFill/>
        </p:spPr>
        <p:txBody>
          <a:bodyPr wrap="square" lIns="36576" rIns="36576" tIns="18288" bIns="18288" anchor="t">
            <a:spAutoFit/>
          </a:bodyPr>
          <a:lstStyle/>
          <a:p>
            <a:pPr algn="ctr">
              <a:lnSpc>
                <a:spcPct val="112000"/>
              </a:lnSpc>
            </a:pPr>
            <a:r>
              <a:rPr sz="1300" b="0" i="0">
                <a:solidFill>
                  <a:srgbClr val="D97757"/>
                </a:solidFill>
                <a:latin typeface="Calibri"/>
              </a:rPr>
              <a:t>Rules → Search → Learning → Language: each era moved more of the 'how' from humans into the machine.</a:t>
            </a:r>
          </a:p>
        </p:txBody>
      </p:sp>
    </p:spTree>
  </p:cSld>
  <p:clrMapOvr>
    <a:masterClrMapping/>
  </p:clrMapOvr>
  <p:transition spd="med">
    <p:fade/>
  </p:transition>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HISTORY OF AI</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A Brief History of AI, 2022–2026 — From Chat to Agents</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22</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cxnSp>
        <p:nvCxnSpPr>
          <p:cNvPr id="7" name="Connector 6"/>
          <p:cNvCxnSpPr/>
          <p:nvPr/>
        </p:nvCxnSpPr>
        <p:spPr>
          <a:xfrm>
            <a:off x="1470660" y="3429000"/>
            <a:ext cx="9220200" cy="0"/>
          </a:xfrm>
          <a:prstGeom prst="line">
            <a:avLst/>
          </a:prstGeom>
          <a:ln w="25400">
            <a:solidFill>
              <a:srgbClr val="6B6862"/>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76072" y="2103120"/>
            <a:ext cx="1789176" cy="868680"/>
          </a:xfrm>
          <a:prstGeom prst="rect">
            <a:avLst/>
          </a:prstGeom>
          <a:noFill/>
        </p:spPr>
        <p:txBody>
          <a:bodyPr wrap="square" lIns="36576" rIns="36576" tIns="18288" bIns="18288" anchor="b">
            <a:spAutoFit/>
          </a:bodyPr>
          <a:lstStyle/>
          <a:p>
            <a:pPr algn="ctr">
              <a:lnSpc>
                <a:spcPct val="112000"/>
              </a:lnSpc>
            </a:pPr>
            <a:r>
              <a:rPr sz="1250" b="1" i="0">
                <a:solidFill>
                  <a:srgbClr val="D97757"/>
                </a:solidFill>
                <a:latin typeface="Cambria"/>
              </a:rPr>
              <a:t>ChatGPT</a:t>
            </a:r>
          </a:p>
        </p:txBody>
      </p:sp>
      <p:sp>
        <p:nvSpPr>
          <p:cNvPr id="9" name="Oval 8"/>
          <p:cNvSpPr/>
          <p:nvPr/>
        </p:nvSpPr>
        <p:spPr>
          <a:xfrm>
            <a:off x="1132332" y="3090672"/>
            <a:ext cx="676656" cy="676656"/>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132332" y="3090672"/>
            <a:ext cx="676656" cy="676656"/>
          </a:xfrm>
          <a:prstGeom prst="rect">
            <a:avLst/>
          </a:prstGeom>
          <a:noFill/>
        </p:spPr>
        <p:txBody>
          <a:bodyPr wrap="square" lIns="36576" rIns="36576" tIns="18288" bIns="18288" anchor="ctr">
            <a:spAutoFit/>
          </a:bodyPr>
          <a:lstStyle/>
          <a:p>
            <a:pPr algn="ctr">
              <a:lnSpc>
                <a:spcPct val="112000"/>
              </a:lnSpc>
            </a:pPr>
            <a:r>
              <a:rPr sz="1400" b="1" i="0">
                <a:solidFill>
                  <a:srgbClr val="FFFFFF"/>
                </a:solidFill>
                <a:latin typeface="Cambria"/>
              </a:rPr>
              <a:t>2022</a:t>
            </a:r>
          </a:p>
        </p:txBody>
      </p:sp>
      <p:sp>
        <p:nvSpPr>
          <p:cNvPr id="11" name="TextBox 10"/>
          <p:cNvSpPr txBox="1"/>
          <p:nvPr/>
        </p:nvSpPr>
        <p:spPr>
          <a:xfrm>
            <a:off x="576072" y="3904488"/>
            <a:ext cx="1789176" cy="1600200"/>
          </a:xfrm>
          <a:prstGeom prst="rect">
            <a:avLst/>
          </a:prstGeom>
          <a:noFill/>
        </p:spPr>
        <p:txBody>
          <a:bodyPr wrap="square" lIns="36576" rIns="36576" tIns="18288" bIns="18288" anchor="t">
            <a:spAutoFit/>
          </a:bodyPr>
          <a:lstStyle/>
          <a:p>
            <a:pPr algn="ctr">
              <a:lnSpc>
                <a:spcPct val="112000"/>
              </a:lnSpc>
            </a:pPr>
            <a:r>
              <a:rPr sz="1200" b="0" i="0">
                <a:solidFill>
                  <a:srgbClr val="C9C4B9"/>
                </a:solidFill>
                <a:latin typeface="Calibri"/>
              </a:rPr>
              <a:t>Launches 30 Nov 2022 — LLMs go mainstream. ReAct shows LLMs can reason and act.</a:t>
            </a:r>
          </a:p>
        </p:txBody>
      </p:sp>
      <p:sp>
        <p:nvSpPr>
          <p:cNvPr id="12" name="TextBox 11"/>
          <p:cNvSpPr txBox="1"/>
          <p:nvPr/>
        </p:nvSpPr>
        <p:spPr>
          <a:xfrm>
            <a:off x="2420112" y="2103120"/>
            <a:ext cx="1789176" cy="868680"/>
          </a:xfrm>
          <a:prstGeom prst="rect">
            <a:avLst/>
          </a:prstGeom>
          <a:noFill/>
        </p:spPr>
        <p:txBody>
          <a:bodyPr wrap="square" lIns="36576" rIns="36576" tIns="18288" bIns="18288" anchor="b">
            <a:spAutoFit/>
          </a:bodyPr>
          <a:lstStyle/>
          <a:p>
            <a:pPr algn="ctr">
              <a:lnSpc>
                <a:spcPct val="112000"/>
              </a:lnSpc>
            </a:pPr>
            <a:r>
              <a:rPr sz="1250" b="1" i="0">
                <a:solidFill>
                  <a:srgbClr val="D97757"/>
                </a:solidFill>
                <a:latin typeface="Cambria"/>
              </a:rPr>
              <a:t>Prompt Engineering</a:t>
            </a:r>
          </a:p>
        </p:txBody>
      </p:sp>
      <p:sp>
        <p:nvSpPr>
          <p:cNvPr id="13" name="Oval 12"/>
          <p:cNvSpPr/>
          <p:nvPr/>
        </p:nvSpPr>
        <p:spPr>
          <a:xfrm>
            <a:off x="2976372" y="3090672"/>
            <a:ext cx="676656" cy="676656"/>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2976372" y="3090672"/>
            <a:ext cx="676656" cy="676656"/>
          </a:xfrm>
          <a:prstGeom prst="rect">
            <a:avLst/>
          </a:prstGeom>
          <a:noFill/>
        </p:spPr>
        <p:txBody>
          <a:bodyPr wrap="square" lIns="36576" rIns="36576" tIns="18288" bIns="18288" anchor="ctr">
            <a:spAutoFit/>
          </a:bodyPr>
          <a:lstStyle/>
          <a:p>
            <a:pPr algn="ctr">
              <a:lnSpc>
                <a:spcPct val="112000"/>
              </a:lnSpc>
            </a:pPr>
            <a:r>
              <a:rPr sz="1400" b="1" i="0">
                <a:solidFill>
                  <a:srgbClr val="FFFFFF"/>
                </a:solidFill>
                <a:latin typeface="Cambria"/>
              </a:rPr>
              <a:t>2023</a:t>
            </a:r>
          </a:p>
        </p:txBody>
      </p:sp>
      <p:sp>
        <p:nvSpPr>
          <p:cNvPr id="15" name="TextBox 14"/>
          <p:cNvSpPr txBox="1"/>
          <p:nvPr/>
        </p:nvSpPr>
        <p:spPr>
          <a:xfrm>
            <a:off x="2420112" y="3904488"/>
            <a:ext cx="1789176" cy="1600200"/>
          </a:xfrm>
          <a:prstGeom prst="rect">
            <a:avLst/>
          </a:prstGeom>
          <a:noFill/>
        </p:spPr>
        <p:txBody>
          <a:bodyPr wrap="square" lIns="36576" rIns="36576" tIns="18288" bIns="18288" anchor="t">
            <a:spAutoFit/>
          </a:bodyPr>
          <a:lstStyle/>
          <a:p>
            <a:pPr algn="ctr">
              <a:lnSpc>
                <a:spcPct val="112000"/>
              </a:lnSpc>
            </a:pPr>
            <a:r>
              <a:rPr sz="1200" b="0" i="0">
                <a:solidFill>
                  <a:srgbClr val="C9C4B9"/>
                </a:solidFill>
                <a:latin typeface="Calibri"/>
              </a:rPr>
              <a:t>GPT-4 (Mar 2023); results depend on how you word the prompt.</a:t>
            </a:r>
          </a:p>
        </p:txBody>
      </p:sp>
      <p:sp>
        <p:nvSpPr>
          <p:cNvPr id="16" name="TextBox 15"/>
          <p:cNvSpPr txBox="1"/>
          <p:nvPr/>
        </p:nvSpPr>
        <p:spPr>
          <a:xfrm>
            <a:off x="4264152" y="2103120"/>
            <a:ext cx="1789176" cy="868680"/>
          </a:xfrm>
          <a:prstGeom prst="rect">
            <a:avLst/>
          </a:prstGeom>
          <a:noFill/>
        </p:spPr>
        <p:txBody>
          <a:bodyPr wrap="square" lIns="36576" rIns="36576" tIns="18288" bIns="18288" anchor="b">
            <a:spAutoFit/>
          </a:bodyPr>
          <a:lstStyle/>
          <a:p>
            <a:pPr algn="ctr">
              <a:lnSpc>
                <a:spcPct val="112000"/>
              </a:lnSpc>
            </a:pPr>
            <a:r>
              <a:rPr sz="1250" b="1" i="0">
                <a:solidFill>
                  <a:srgbClr val="D97757"/>
                </a:solidFill>
                <a:latin typeface="Cambria"/>
              </a:rPr>
              <a:t>Tools &amp; MCP</a:t>
            </a:r>
          </a:p>
        </p:txBody>
      </p:sp>
      <p:sp>
        <p:nvSpPr>
          <p:cNvPr id="17" name="Oval 16"/>
          <p:cNvSpPr/>
          <p:nvPr/>
        </p:nvSpPr>
        <p:spPr>
          <a:xfrm>
            <a:off x="4820411" y="3090672"/>
            <a:ext cx="676656" cy="676656"/>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4820411" y="3090672"/>
            <a:ext cx="676656" cy="676656"/>
          </a:xfrm>
          <a:prstGeom prst="rect">
            <a:avLst/>
          </a:prstGeom>
          <a:noFill/>
        </p:spPr>
        <p:txBody>
          <a:bodyPr wrap="square" lIns="36576" rIns="36576" tIns="18288" bIns="18288" anchor="ctr">
            <a:spAutoFit/>
          </a:bodyPr>
          <a:lstStyle/>
          <a:p>
            <a:pPr algn="ctr">
              <a:lnSpc>
                <a:spcPct val="112000"/>
              </a:lnSpc>
            </a:pPr>
            <a:r>
              <a:rPr sz="1400" b="1" i="0">
                <a:solidFill>
                  <a:srgbClr val="FFFFFF"/>
                </a:solidFill>
                <a:latin typeface="Cambria"/>
              </a:rPr>
              <a:t>2024</a:t>
            </a:r>
          </a:p>
        </p:txBody>
      </p:sp>
      <p:sp>
        <p:nvSpPr>
          <p:cNvPr id="19" name="TextBox 18"/>
          <p:cNvSpPr txBox="1"/>
          <p:nvPr/>
        </p:nvSpPr>
        <p:spPr>
          <a:xfrm>
            <a:off x="4264152" y="3904488"/>
            <a:ext cx="1789176" cy="1600200"/>
          </a:xfrm>
          <a:prstGeom prst="rect">
            <a:avLst/>
          </a:prstGeom>
          <a:noFill/>
        </p:spPr>
        <p:txBody>
          <a:bodyPr wrap="square" lIns="36576" rIns="36576" tIns="18288" bIns="18288" anchor="t">
            <a:spAutoFit/>
          </a:bodyPr>
          <a:lstStyle/>
          <a:p>
            <a:pPr algn="ctr">
              <a:lnSpc>
                <a:spcPct val="112000"/>
              </a:lnSpc>
            </a:pPr>
            <a:r>
              <a:rPr sz="1200" b="0" i="0">
                <a:solidFill>
                  <a:srgbClr val="C9C4B9"/>
                </a:solidFill>
                <a:latin typeface="Calibri"/>
              </a:rPr>
              <a:t>Model Context Protocol (Nov 2024) standardises how agents reach tools and data.</a:t>
            </a:r>
          </a:p>
        </p:txBody>
      </p:sp>
      <p:sp>
        <p:nvSpPr>
          <p:cNvPr id="20" name="TextBox 19"/>
          <p:cNvSpPr txBox="1"/>
          <p:nvPr/>
        </p:nvSpPr>
        <p:spPr>
          <a:xfrm>
            <a:off x="6108192" y="2103120"/>
            <a:ext cx="1789176" cy="868680"/>
          </a:xfrm>
          <a:prstGeom prst="rect">
            <a:avLst/>
          </a:prstGeom>
          <a:noFill/>
        </p:spPr>
        <p:txBody>
          <a:bodyPr wrap="square" lIns="36576" rIns="36576" tIns="18288" bIns="18288" anchor="b">
            <a:spAutoFit/>
          </a:bodyPr>
          <a:lstStyle/>
          <a:p>
            <a:pPr algn="ctr">
              <a:lnSpc>
                <a:spcPct val="112000"/>
              </a:lnSpc>
            </a:pPr>
            <a:r>
              <a:rPr sz="1250" b="1" i="0">
                <a:solidFill>
                  <a:srgbClr val="D97757"/>
                </a:solidFill>
                <a:latin typeface="Cambria"/>
              </a:rPr>
              <a:t>Context Engineering</a:t>
            </a:r>
          </a:p>
        </p:txBody>
      </p:sp>
      <p:sp>
        <p:nvSpPr>
          <p:cNvPr id="21" name="Oval 20"/>
          <p:cNvSpPr/>
          <p:nvPr/>
        </p:nvSpPr>
        <p:spPr>
          <a:xfrm>
            <a:off x="6664452" y="3090672"/>
            <a:ext cx="676656" cy="676656"/>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664452" y="3090672"/>
            <a:ext cx="676656" cy="676656"/>
          </a:xfrm>
          <a:prstGeom prst="rect">
            <a:avLst/>
          </a:prstGeom>
          <a:noFill/>
        </p:spPr>
        <p:txBody>
          <a:bodyPr wrap="square" lIns="36576" rIns="36576" tIns="18288" bIns="18288" anchor="ctr">
            <a:spAutoFit/>
          </a:bodyPr>
          <a:lstStyle/>
          <a:p>
            <a:pPr algn="ctr">
              <a:lnSpc>
                <a:spcPct val="112000"/>
              </a:lnSpc>
            </a:pPr>
            <a:r>
              <a:rPr sz="1400" b="1" i="0">
                <a:solidFill>
                  <a:srgbClr val="FFFFFF"/>
                </a:solidFill>
                <a:latin typeface="Cambria"/>
              </a:rPr>
              <a:t>2025</a:t>
            </a:r>
          </a:p>
        </p:txBody>
      </p:sp>
      <p:sp>
        <p:nvSpPr>
          <p:cNvPr id="23" name="TextBox 22"/>
          <p:cNvSpPr txBox="1"/>
          <p:nvPr/>
        </p:nvSpPr>
        <p:spPr>
          <a:xfrm>
            <a:off x="6108192" y="3904488"/>
            <a:ext cx="1789176" cy="1600200"/>
          </a:xfrm>
          <a:prstGeom prst="rect">
            <a:avLst/>
          </a:prstGeom>
          <a:noFill/>
        </p:spPr>
        <p:txBody>
          <a:bodyPr wrap="square" lIns="36576" rIns="36576" tIns="18288" bIns="18288" anchor="t">
            <a:spAutoFit/>
          </a:bodyPr>
          <a:lstStyle/>
          <a:p>
            <a:pPr algn="ctr">
              <a:lnSpc>
                <a:spcPct val="112000"/>
              </a:lnSpc>
            </a:pPr>
            <a:r>
              <a:rPr sz="1200" b="0" i="0">
                <a:solidFill>
                  <a:srgbClr val="C9C4B9"/>
                </a:solidFill>
                <a:latin typeface="Calibri"/>
              </a:rPr>
              <a:t>Claude Code &amp; Codex coding agents; results depend on the context you curate.</a:t>
            </a:r>
          </a:p>
        </p:txBody>
      </p:sp>
      <p:sp>
        <p:nvSpPr>
          <p:cNvPr id="24" name="TextBox 23"/>
          <p:cNvSpPr txBox="1"/>
          <p:nvPr/>
        </p:nvSpPr>
        <p:spPr>
          <a:xfrm>
            <a:off x="7952231" y="2103120"/>
            <a:ext cx="1789176" cy="868680"/>
          </a:xfrm>
          <a:prstGeom prst="rect">
            <a:avLst/>
          </a:prstGeom>
          <a:noFill/>
        </p:spPr>
        <p:txBody>
          <a:bodyPr wrap="square" lIns="36576" rIns="36576" tIns="18288" bIns="18288" anchor="b">
            <a:spAutoFit/>
          </a:bodyPr>
          <a:lstStyle/>
          <a:p>
            <a:pPr algn="ctr">
              <a:lnSpc>
                <a:spcPct val="112000"/>
              </a:lnSpc>
            </a:pPr>
            <a:r>
              <a:rPr sz="1250" b="1" i="0">
                <a:solidFill>
                  <a:srgbClr val="D97757"/>
                </a:solidFill>
                <a:latin typeface="Cambria"/>
              </a:rPr>
              <a:t>Harness Engineering</a:t>
            </a:r>
          </a:p>
        </p:txBody>
      </p:sp>
      <p:sp>
        <p:nvSpPr>
          <p:cNvPr id="25" name="Oval 24"/>
          <p:cNvSpPr/>
          <p:nvPr/>
        </p:nvSpPr>
        <p:spPr>
          <a:xfrm>
            <a:off x="8508492" y="3090672"/>
            <a:ext cx="676656" cy="676656"/>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508492" y="3090672"/>
            <a:ext cx="676656" cy="676656"/>
          </a:xfrm>
          <a:prstGeom prst="rect">
            <a:avLst/>
          </a:prstGeom>
          <a:noFill/>
        </p:spPr>
        <p:txBody>
          <a:bodyPr wrap="square" lIns="36576" rIns="36576" tIns="18288" bIns="18288" anchor="ctr">
            <a:spAutoFit/>
          </a:bodyPr>
          <a:lstStyle/>
          <a:p>
            <a:pPr algn="ctr">
              <a:lnSpc>
                <a:spcPct val="112000"/>
              </a:lnSpc>
            </a:pPr>
            <a:r>
              <a:rPr sz="1400" b="1" i="0">
                <a:solidFill>
                  <a:srgbClr val="FFFFFF"/>
                </a:solidFill>
                <a:latin typeface="Cambria"/>
              </a:rPr>
              <a:t>2026</a:t>
            </a:r>
          </a:p>
        </p:txBody>
      </p:sp>
      <p:sp>
        <p:nvSpPr>
          <p:cNvPr id="27" name="TextBox 26"/>
          <p:cNvSpPr txBox="1"/>
          <p:nvPr/>
        </p:nvSpPr>
        <p:spPr>
          <a:xfrm>
            <a:off x="7952231" y="3904488"/>
            <a:ext cx="1789176" cy="1600200"/>
          </a:xfrm>
          <a:prstGeom prst="rect">
            <a:avLst/>
          </a:prstGeom>
          <a:noFill/>
        </p:spPr>
        <p:txBody>
          <a:bodyPr wrap="square" lIns="36576" rIns="36576" tIns="18288" bIns="18288" anchor="t">
            <a:spAutoFit/>
          </a:bodyPr>
          <a:lstStyle/>
          <a:p>
            <a:pPr algn="ctr">
              <a:lnSpc>
                <a:spcPct val="112000"/>
              </a:lnSpc>
            </a:pPr>
            <a:r>
              <a:rPr sz="1200" b="0" i="0">
                <a:solidFill>
                  <a:srgbClr val="C9C4B9"/>
                </a:solidFill>
                <a:latin typeface="Calibri"/>
              </a:rPr>
              <a:t>The environment around the model is engineered: loop, tools, memory, checks, guardrails.</a:t>
            </a:r>
          </a:p>
        </p:txBody>
      </p:sp>
      <p:sp>
        <p:nvSpPr>
          <p:cNvPr id="28" name="TextBox 27"/>
          <p:cNvSpPr txBox="1"/>
          <p:nvPr/>
        </p:nvSpPr>
        <p:spPr>
          <a:xfrm>
            <a:off x="9796271" y="2103120"/>
            <a:ext cx="1789176" cy="868680"/>
          </a:xfrm>
          <a:prstGeom prst="rect">
            <a:avLst/>
          </a:prstGeom>
          <a:noFill/>
        </p:spPr>
        <p:txBody>
          <a:bodyPr wrap="square" lIns="36576" rIns="36576" tIns="18288" bIns="18288" anchor="b">
            <a:spAutoFit/>
          </a:bodyPr>
          <a:lstStyle/>
          <a:p>
            <a:pPr algn="ctr">
              <a:lnSpc>
                <a:spcPct val="112000"/>
              </a:lnSpc>
            </a:pPr>
            <a:r>
              <a:rPr sz="1250" b="1" i="0">
                <a:solidFill>
                  <a:srgbClr val="D97757"/>
                </a:solidFill>
                <a:latin typeface="Cambria"/>
              </a:rPr>
              <a:t>AI Agents</a:t>
            </a:r>
          </a:p>
        </p:txBody>
      </p:sp>
      <p:sp>
        <p:nvSpPr>
          <p:cNvPr id="29" name="Oval 28"/>
          <p:cNvSpPr/>
          <p:nvPr/>
        </p:nvSpPr>
        <p:spPr>
          <a:xfrm>
            <a:off x="10352531" y="3090672"/>
            <a:ext cx="676656" cy="676656"/>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10352531" y="3090672"/>
            <a:ext cx="676656" cy="676656"/>
          </a:xfrm>
          <a:prstGeom prst="rect">
            <a:avLst/>
          </a:prstGeom>
          <a:noFill/>
        </p:spPr>
        <p:txBody>
          <a:bodyPr wrap="square" lIns="36576" rIns="36576" tIns="18288" bIns="18288" anchor="ctr">
            <a:spAutoFit/>
          </a:bodyPr>
          <a:lstStyle/>
          <a:p>
            <a:pPr algn="ctr">
              <a:lnSpc>
                <a:spcPct val="112000"/>
              </a:lnSpc>
            </a:pPr>
            <a:r>
              <a:rPr sz="1400" b="1" i="0">
                <a:solidFill>
                  <a:srgbClr val="FFFFFF"/>
                </a:solidFill>
                <a:latin typeface="Cambria"/>
              </a:rPr>
              <a:t>2026</a:t>
            </a:r>
          </a:p>
        </p:txBody>
      </p:sp>
      <p:sp>
        <p:nvSpPr>
          <p:cNvPr id="31" name="TextBox 30"/>
          <p:cNvSpPr txBox="1"/>
          <p:nvPr/>
        </p:nvSpPr>
        <p:spPr>
          <a:xfrm>
            <a:off x="9796271" y="3904488"/>
            <a:ext cx="1789176" cy="1600200"/>
          </a:xfrm>
          <a:prstGeom prst="rect">
            <a:avLst/>
          </a:prstGeom>
          <a:noFill/>
        </p:spPr>
        <p:txBody>
          <a:bodyPr wrap="square" lIns="36576" rIns="36576" tIns="18288" bIns="18288" anchor="t">
            <a:spAutoFit/>
          </a:bodyPr>
          <a:lstStyle/>
          <a:p>
            <a:pPr algn="ctr">
              <a:lnSpc>
                <a:spcPct val="112000"/>
              </a:lnSpc>
            </a:pPr>
            <a:r>
              <a:rPr sz="1200" b="0" i="0">
                <a:solidFill>
                  <a:srgbClr val="C9C4B9"/>
                </a:solidFill>
                <a:latin typeface="Calibri"/>
              </a:rPr>
              <a:t>Always-on agents work 24/7 — OpenClaw, Hermes Agent, Paperclip, Dots, Muse.</a:t>
            </a:r>
          </a:p>
        </p:txBody>
      </p:sp>
      <p:sp>
        <p:nvSpPr>
          <p:cNvPr id="32" name="TextBox 31"/>
          <p:cNvSpPr txBox="1"/>
          <p:nvPr/>
        </p:nvSpPr>
        <p:spPr>
          <a:xfrm>
            <a:off x="548640" y="5897880"/>
            <a:ext cx="11064240" cy="384048"/>
          </a:xfrm>
          <a:prstGeom prst="rect">
            <a:avLst/>
          </a:prstGeom>
          <a:noFill/>
        </p:spPr>
        <p:txBody>
          <a:bodyPr wrap="square" lIns="36576" rIns="36576" tIns="18288" bIns="18288" anchor="t">
            <a:spAutoFit/>
          </a:bodyPr>
          <a:lstStyle/>
          <a:p>
            <a:pPr algn="ctr">
              <a:lnSpc>
                <a:spcPct val="112000"/>
              </a:lnSpc>
            </a:pPr>
            <a:r>
              <a:rPr sz="1300" b="0" i="0">
                <a:solidFill>
                  <a:srgbClr val="D97757"/>
                </a:solidFill>
                <a:latin typeface="Calibri"/>
              </a:rPr>
              <a:t>From wording one prompt → curating context → engineering the harness → agents that work around the clock.</a:t>
            </a:r>
          </a:p>
        </p:txBody>
      </p:sp>
    </p:spTree>
  </p:cSld>
  <p:clrMapOvr>
    <a:masterClrMapping/>
  </p:clrMapOvr>
  <p:transition spd="med">
    <p:fade/>
  </p:transition>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HISTORY OF AI</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Prompt, Context &amp; Harness Engineering</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Each layer contains the one before it.</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23</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240280"/>
            <a:ext cx="3566160" cy="352043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77240" y="242316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pen-FFFFFF.png"/>
          <p:cNvPicPr>
            <a:picLocks noChangeAspect="1"/>
          </p:cNvPicPr>
          <p:nvPr/>
        </p:nvPicPr>
        <p:blipFill>
          <a:blip r:embed="rId2"/>
          <a:stretch>
            <a:fillRect/>
          </a:stretch>
        </p:blipFill>
        <p:spPr>
          <a:xfrm>
            <a:off x="900135" y="2546055"/>
            <a:ext cx="266273" cy="266273"/>
          </a:xfrm>
          <a:prstGeom prst="rect">
            <a:avLst/>
          </a:prstGeom>
        </p:spPr>
      </p:pic>
      <p:sp>
        <p:nvSpPr>
          <p:cNvPr id="11" name="TextBox 10"/>
          <p:cNvSpPr txBox="1"/>
          <p:nvPr/>
        </p:nvSpPr>
        <p:spPr>
          <a:xfrm>
            <a:off x="777240" y="3063240"/>
            <a:ext cx="3108960" cy="384048"/>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Prompt engineering</a:t>
            </a:r>
          </a:p>
        </p:txBody>
      </p:sp>
      <p:sp>
        <p:nvSpPr>
          <p:cNvPr id="12" name="TextBox 11"/>
          <p:cNvSpPr txBox="1"/>
          <p:nvPr/>
        </p:nvSpPr>
        <p:spPr>
          <a:xfrm>
            <a:off x="777240" y="3483864"/>
            <a:ext cx="3108960" cy="216712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Craft the instruction. One request, one answer. Quality depends on wording.</a:t>
            </a:r>
          </a:p>
          <a:p>
            <a:pPr algn="l">
              <a:lnSpc>
                <a:spcPct val="112000"/>
              </a:lnSpc>
            </a:pPr>
            <a:r>
              <a:rPr sz="1300" b="0" i="0">
                <a:solidFill>
                  <a:srgbClr val="6B6862"/>
                </a:solidFill>
                <a:latin typeface="Calibri"/>
              </a:rPr>
              <a:t>Example: "Write a caption for our new drink."</a:t>
            </a:r>
          </a:p>
        </p:txBody>
      </p:sp>
      <p:sp>
        <p:nvSpPr>
          <p:cNvPr id="13" name="Rounded Rectangle 12"/>
          <p:cNvSpPr/>
          <p:nvPr/>
        </p:nvSpPr>
        <p:spPr>
          <a:xfrm>
            <a:off x="4297679" y="2240280"/>
            <a:ext cx="3566160" cy="352043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4526279" y="242316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Picture 14" descr="layers-FFFFFF.png"/>
          <p:cNvPicPr>
            <a:picLocks noChangeAspect="1"/>
          </p:cNvPicPr>
          <p:nvPr/>
        </p:nvPicPr>
        <p:blipFill>
          <a:blip r:embed="rId3"/>
          <a:stretch>
            <a:fillRect/>
          </a:stretch>
        </p:blipFill>
        <p:spPr>
          <a:xfrm>
            <a:off x="4649175" y="2546055"/>
            <a:ext cx="266273" cy="266273"/>
          </a:xfrm>
          <a:prstGeom prst="rect">
            <a:avLst/>
          </a:prstGeom>
        </p:spPr>
      </p:pic>
      <p:sp>
        <p:nvSpPr>
          <p:cNvPr id="16" name="TextBox 15"/>
          <p:cNvSpPr txBox="1"/>
          <p:nvPr/>
        </p:nvSpPr>
        <p:spPr>
          <a:xfrm>
            <a:off x="4526279" y="3063240"/>
            <a:ext cx="3108960" cy="384048"/>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Context engineering</a:t>
            </a:r>
          </a:p>
        </p:txBody>
      </p:sp>
      <p:sp>
        <p:nvSpPr>
          <p:cNvPr id="17" name="TextBox 16"/>
          <p:cNvSpPr txBox="1"/>
          <p:nvPr/>
        </p:nvSpPr>
        <p:spPr>
          <a:xfrm>
            <a:off x="4526279" y="3483864"/>
            <a:ext cx="3108960" cy="216712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Curate what the model sees: brand guide, brief, data, memory, tool results — and nothing that wastes the window.</a:t>
            </a:r>
          </a:p>
          <a:p>
            <a:pPr algn="l">
              <a:lnSpc>
                <a:spcPct val="112000"/>
              </a:lnSpc>
            </a:pPr>
            <a:r>
              <a:rPr sz="1300" b="0" i="0">
                <a:solidFill>
                  <a:srgbClr val="6B6862"/>
                </a:solidFill>
                <a:latin typeface="Calibri"/>
              </a:rPr>
              <a:t>Example: AGENTS.md + campaign-brief.md loaded every session.</a:t>
            </a:r>
          </a:p>
        </p:txBody>
      </p:sp>
      <p:sp>
        <p:nvSpPr>
          <p:cNvPr id="18" name="Rounded Rectangle 17"/>
          <p:cNvSpPr/>
          <p:nvPr/>
        </p:nvSpPr>
        <p:spPr>
          <a:xfrm>
            <a:off x="8046719" y="2240280"/>
            <a:ext cx="3566160" cy="3520439"/>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8275319" y="242316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gear-FFFFFF.png"/>
          <p:cNvPicPr>
            <a:picLocks noChangeAspect="1"/>
          </p:cNvPicPr>
          <p:nvPr/>
        </p:nvPicPr>
        <p:blipFill>
          <a:blip r:embed="rId4"/>
          <a:stretch>
            <a:fillRect/>
          </a:stretch>
        </p:blipFill>
        <p:spPr>
          <a:xfrm>
            <a:off x="8398215" y="2546055"/>
            <a:ext cx="266273" cy="266273"/>
          </a:xfrm>
          <a:prstGeom prst="rect">
            <a:avLst/>
          </a:prstGeom>
        </p:spPr>
      </p:pic>
      <p:sp>
        <p:nvSpPr>
          <p:cNvPr id="21" name="TextBox 20"/>
          <p:cNvSpPr txBox="1"/>
          <p:nvPr/>
        </p:nvSpPr>
        <p:spPr>
          <a:xfrm>
            <a:off x="8275319" y="3063240"/>
            <a:ext cx="3108960" cy="384048"/>
          </a:xfrm>
          <a:prstGeom prst="rect">
            <a:avLst/>
          </a:prstGeom>
          <a:noFill/>
        </p:spPr>
        <p:txBody>
          <a:bodyPr wrap="square" lIns="36576" rIns="36576" tIns="18288" bIns="18288" anchor="t">
            <a:spAutoFit/>
          </a:bodyPr>
          <a:lstStyle/>
          <a:p>
            <a:pPr algn="l">
              <a:lnSpc>
                <a:spcPct val="112000"/>
              </a:lnSpc>
            </a:pPr>
            <a:r>
              <a:rPr sz="1500" b="1" i="0">
                <a:solidFill>
                  <a:srgbClr val="FFFFFF"/>
                </a:solidFill>
                <a:latin typeface="Cambria"/>
              </a:rPr>
              <a:t>Harness engineering</a:t>
            </a:r>
          </a:p>
        </p:txBody>
      </p:sp>
      <p:sp>
        <p:nvSpPr>
          <p:cNvPr id="22" name="TextBox 21"/>
          <p:cNvSpPr txBox="1"/>
          <p:nvPr/>
        </p:nvSpPr>
        <p:spPr>
          <a:xfrm>
            <a:off x="8275319" y="3483864"/>
            <a:ext cx="3108960" cy="2167127"/>
          </a:xfrm>
          <a:prstGeom prst="rect">
            <a:avLst/>
          </a:prstGeom>
          <a:noFill/>
        </p:spPr>
        <p:txBody>
          <a:bodyPr wrap="square" lIns="36576" rIns="36576" tIns="18288" bIns="18288" anchor="t">
            <a:spAutoFit/>
          </a:bodyPr>
          <a:lstStyle/>
          <a:p>
            <a:pPr algn="l">
              <a:lnSpc>
                <a:spcPct val="112000"/>
              </a:lnSpc>
            </a:pPr>
            <a:r>
              <a:rPr sz="1300" b="0" i="0">
                <a:solidFill>
                  <a:srgbClr val="C9C4B9"/>
                </a:solidFill>
                <a:latin typeface="Calibri"/>
              </a:rPr>
              <a:t>Design the whole environment: the loop, tools, memory, skills, verification, guardrails and human gates — so the agent does reliable long-running work.</a:t>
            </a:r>
          </a:p>
          <a:p>
            <a:pPr algn="l">
              <a:lnSpc>
                <a:spcPct val="112000"/>
              </a:lnSpc>
            </a:pPr>
            <a:r>
              <a:rPr sz="1300" b="0" i="0">
                <a:solidFill>
                  <a:srgbClr val="C9C4B9"/>
                </a:solidFill>
                <a:latin typeface="Calibri"/>
              </a:rPr>
              <a:t>Example: Lab 4's five-agent studio with an auditor and an approval gate.</a:t>
            </a:r>
          </a:p>
        </p:txBody>
      </p:sp>
    </p:spTree>
  </p:cSld>
  <p:clrMapOvr>
    <a:masterClrMapping/>
  </p:clrMapOvr>
  <p:transition spd="med">
    <p:fade/>
  </p:transition>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HISTORY OF AI</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The Range of AI Applications Today</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Every industry uses several of these together — agents increasingly orchestrate the others.</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24</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240280"/>
            <a:ext cx="3566160" cy="166877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77240" y="242316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chat-FFFFFF.png"/>
          <p:cNvPicPr>
            <a:picLocks noChangeAspect="1"/>
          </p:cNvPicPr>
          <p:nvPr/>
        </p:nvPicPr>
        <p:blipFill>
          <a:blip r:embed="rId2"/>
          <a:stretch>
            <a:fillRect/>
          </a:stretch>
        </p:blipFill>
        <p:spPr>
          <a:xfrm>
            <a:off x="900135" y="2546055"/>
            <a:ext cx="266273" cy="266273"/>
          </a:xfrm>
          <a:prstGeom prst="rect">
            <a:avLst/>
          </a:prstGeom>
        </p:spPr>
      </p:pic>
      <p:sp>
        <p:nvSpPr>
          <p:cNvPr id="11" name="TextBox 10"/>
          <p:cNvSpPr txBox="1"/>
          <p:nvPr/>
        </p:nvSpPr>
        <p:spPr>
          <a:xfrm>
            <a:off x="1426464" y="2404872"/>
            <a:ext cx="245973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Generative AI / LLMs</a:t>
            </a:r>
          </a:p>
        </p:txBody>
      </p:sp>
      <p:sp>
        <p:nvSpPr>
          <p:cNvPr id="12" name="TextBox 11"/>
          <p:cNvSpPr txBox="1"/>
          <p:nvPr/>
        </p:nvSpPr>
        <p:spPr>
          <a:xfrm>
            <a:off x="777240" y="3008376"/>
            <a:ext cx="3108960" cy="827531"/>
          </a:xfrm>
          <a:prstGeom prst="rect">
            <a:avLst/>
          </a:prstGeom>
          <a:noFill/>
        </p:spPr>
        <p:txBody>
          <a:bodyPr wrap="square" lIns="36576" rIns="36576" tIns="18288" bIns="18288" anchor="t">
            <a:spAutoFit/>
          </a:bodyPr>
          <a:lstStyle/>
          <a:p>
            <a:pPr algn="l">
              <a:lnSpc>
                <a:spcPct val="112000"/>
              </a:lnSpc>
            </a:pPr>
            <a:r>
              <a:rPr sz="1250" b="0" i="0">
                <a:solidFill>
                  <a:srgbClr val="6B6862"/>
                </a:solidFill>
                <a:latin typeface="Calibri"/>
              </a:rPr>
              <a:t>Chatbots, writing, coding and summarising. Capability: understand and generate natural language, code and images.</a:t>
            </a:r>
          </a:p>
        </p:txBody>
      </p:sp>
      <p:sp>
        <p:nvSpPr>
          <p:cNvPr id="13" name="Rounded Rectangle 12"/>
          <p:cNvSpPr/>
          <p:nvPr/>
        </p:nvSpPr>
        <p:spPr>
          <a:xfrm>
            <a:off x="4297679" y="2240280"/>
            <a:ext cx="3566160" cy="166877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4526279" y="242316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Picture 14" descr="camera-FFFFFF.png"/>
          <p:cNvPicPr>
            <a:picLocks noChangeAspect="1"/>
          </p:cNvPicPr>
          <p:nvPr/>
        </p:nvPicPr>
        <p:blipFill>
          <a:blip r:embed="rId3"/>
          <a:stretch>
            <a:fillRect/>
          </a:stretch>
        </p:blipFill>
        <p:spPr>
          <a:xfrm>
            <a:off x="4649175" y="2546055"/>
            <a:ext cx="266273" cy="266273"/>
          </a:xfrm>
          <a:prstGeom prst="rect">
            <a:avLst/>
          </a:prstGeom>
        </p:spPr>
      </p:pic>
      <p:sp>
        <p:nvSpPr>
          <p:cNvPr id="16" name="TextBox 15"/>
          <p:cNvSpPr txBox="1"/>
          <p:nvPr/>
        </p:nvSpPr>
        <p:spPr>
          <a:xfrm>
            <a:off x="5175504" y="2404872"/>
            <a:ext cx="245973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Computer vision</a:t>
            </a:r>
          </a:p>
        </p:txBody>
      </p:sp>
      <p:sp>
        <p:nvSpPr>
          <p:cNvPr id="17" name="TextBox 16"/>
          <p:cNvSpPr txBox="1"/>
          <p:nvPr/>
        </p:nvSpPr>
        <p:spPr>
          <a:xfrm>
            <a:off x="4526279" y="3008376"/>
            <a:ext cx="3108960" cy="827531"/>
          </a:xfrm>
          <a:prstGeom prst="rect">
            <a:avLst/>
          </a:prstGeom>
          <a:noFill/>
        </p:spPr>
        <p:txBody>
          <a:bodyPr wrap="square" lIns="36576" rIns="36576" tIns="18288" bIns="18288" anchor="t">
            <a:spAutoFit/>
          </a:bodyPr>
          <a:lstStyle/>
          <a:p>
            <a:pPr algn="l">
              <a:lnSpc>
                <a:spcPct val="112000"/>
              </a:lnSpc>
            </a:pPr>
            <a:r>
              <a:rPr sz="1250" b="0" i="0">
                <a:solidFill>
                  <a:srgbClr val="6B6862"/>
                </a:solidFill>
                <a:latin typeface="Calibri"/>
              </a:rPr>
              <a:t>Defect detection, medical imaging, product search. Capability: recognise and classify what is in images and video.</a:t>
            </a:r>
          </a:p>
        </p:txBody>
      </p:sp>
      <p:sp>
        <p:nvSpPr>
          <p:cNvPr id="18" name="Rounded Rectangle 17"/>
          <p:cNvSpPr/>
          <p:nvPr/>
        </p:nvSpPr>
        <p:spPr>
          <a:xfrm>
            <a:off x="8046719" y="2240280"/>
            <a:ext cx="3566160" cy="166877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8275319" y="242316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trend-FFFFFF.png"/>
          <p:cNvPicPr>
            <a:picLocks noChangeAspect="1"/>
          </p:cNvPicPr>
          <p:nvPr/>
        </p:nvPicPr>
        <p:blipFill>
          <a:blip r:embed="rId4"/>
          <a:stretch>
            <a:fillRect/>
          </a:stretch>
        </p:blipFill>
        <p:spPr>
          <a:xfrm>
            <a:off x="8398215" y="2546055"/>
            <a:ext cx="266273" cy="266273"/>
          </a:xfrm>
          <a:prstGeom prst="rect">
            <a:avLst/>
          </a:prstGeom>
        </p:spPr>
      </p:pic>
      <p:sp>
        <p:nvSpPr>
          <p:cNvPr id="21" name="TextBox 20"/>
          <p:cNvSpPr txBox="1"/>
          <p:nvPr/>
        </p:nvSpPr>
        <p:spPr>
          <a:xfrm>
            <a:off x="8924544" y="2404872"/>
            <a:ext cx="245973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Predictive analytics &amp; ML</a:t>
            </a:r>
          </a:p>
        </p:txBody>
      </p:sp>
      <p:sp>
        <p:nvSpPr>
          <p:cNvPr id="22" name="TextBox 21"/>
          <p:cNvSpPr txBox="1"/>
          <p:nvPr/>
        </p:nvSpPr>
        <p:spPr>
          <a:xfrm>
            <a:off x="8275319" y="3008376"/>
            <a:ext cx="3108960" cy="827531"/>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Demand forecasting, fraud scoring, recommendations. Capability: learn patterns in data to predict outcomes.</a:t>
            </a:r>
          </a:p>
        </p:txBody>
      </p:sp>
      <p:sp>
        <p:nvSpPr>
          <p:cNvPr id="23" name="Rounded Rectangle 22"/>
          <p:cNvSpPr/>
          <p:nvPr/>
        </p:nvSpPr>
        <p:spPr>
          <a:xfrm>
            <a:off x="548640" y="4091939"/>
            <a:ext cx="3566160" cy="166877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777240" y="42748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Picture 24" descr="phone-FFFFFF.png"/>
          <p:cNvPicPr>
            <a:picLocks noChangeAspect="1"/>
          </p:cNvPicPr>
          <p:nvPr/>
        </p:nvPicPr>
        <p:blipFill>
          <a:blip r:embed="rId5"/>
          <a:stretch>
            <a:fillRect/>
          </a:stretch>
        </p:blipFill>
        <p:spPr>
          <a:xfrm>
            <a:off x="900135" y="4397715"/>
            <a:ext cx="266273" cy="266273"/>
          </a:xfrm>
          <a:prstGeom prst="rect">
            <a:avLst/>
          </a:prstGeom>
        </p:spPr>
      </p:pic>
      <p:sp>
        <p:nvSpPr>
          <p:cNvPr id="26" name="TextBox 25"/>
          <p:cNvSpPr txBox="1"/>
          <p:nvPr/>
        </p:nvSpPr>
        <p:spPr>
          <a:xfrm>
            <a:off x="1426464" y="4256532"/>
            <a:ext cx="245973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Speech &amp; multimodal</a:t>
            </a:r>
          </a:p>
        </p:txBody>
      </p:sp>
      <p:sp>
        <p:nvSpPr>
          <p:cNvPr id="27" name="TextBox 26"/>
          <p:cNvSpPr txBox="1"/>
          <p:nvPr/>
        </p:nvSpPr>
        <p:spPr>
          <a:xfrm>
            <a:off x="777240" y="4860036"/>
            <a:ext cx="3108960" cy="827531"/>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Voice assistants, transcription, text-to-speech. Capability: convert between speech, text and other media.</a:t>
            </a:r>
          </a:p>
        </p:txBody>
      </p:sp>
      <p:sp>
        <p:nvSpPr>
          <p:cNvPr id="28" name="Rounded Rectangle 27"/>
          <p:cNvSpPr/>
          <p:nvPr/>
        </p:nvSpPr>
        <p:spPr>
          <a:xfrm>
            <a:off x="4297679" y="4091939"/>
            <a:ext cx="3566160" cy="166877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4526279" y="42748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0" name="Picture 29" descr="flask-FFFFFF.png"/>
          <p:cNvPicPr>
            <a:picLocks noChangeAspect="1"/>
          </p:cNvPicPr>
          <p:nvPr/>
        </p:nvPicPr>
        <p:blipFill>
          <a:blip r:embed="rId6"/>
          <a:stretch>
            <a:fillRect/>
          </a:stretch>
        </p:blipFill>
        <p:spPr>
          <a:xfrm>
            <a:off x="4649175" y="4397715"/>
            <a:ext cx="266273" cy="266273"/>
          </a:xfrm>
          <a:prstGeom prst="rect">
            <a:avLst/>
          </a:prstGeom>
        </p:spPr>
      </p:pic>
      <p:sp>
        <p:nvSpPr>
          <p:cNvPr id="31" name="TextBox 30"/>
          <p:cNvSpPr txBox="1"/>
          <p:nvPr/>
        </p:nvSpPr>
        <p:spPr>
          <a:xfrm>
            <a:off x="5175504" y="4256532"/>
            <a:ext cx="245973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Scientific discovery</a:t>
            </a:r>
          </a:p>
        </p:txBody>
      </p:sp>
      <p:sp>
        <p:nvSpPr>
          <p:cNvPr id="32" name="TextBox 31"/>
          <p:cNvSpPr txBox="1"/>
          <p:nvPr/>
        </p:nvSpPr>
        <p:spPr>
          <a:xfrm>
            <a:off x="4526279" y="4860036"/>
            <a:ext cx="3108960" cy="827531"/>
          </a:xfrm>
          <a:prstGeom prst="rect">
            <a:avLst/>
          </a:prstGeom>
          <a:noFill/>
        </p:spPr>
        <p:txBody>
          <a:bodyPr wrap="square" lIns="36576" rIns="36576" tIns="18288" bIns="18288" anchor="t">
            <a:spAutoFit/>
          </a:bodyPr>
          <a:lstStyle/>
          <a:p>
            <a:pPr algn="l">
              <a:lnSpc>
                <a:spcPct val="112000"/>
              </a:lnSpc>
            </a:pPr>
            <a:r>
              <a:rPr sz="1250" b="0" i="0">
                <a:solidFill>
                  <a:srgbClr val="6B6862"/>
                </a:solidFill>
                <a:latin typeface="Calibri"/>
              </a:rPr>
              <a:t>AlphaFold, AI co-scientist, AlphaEvolve. Capability: generate and rank hypotheses and designs for experts to test.</a:t>
            </a:r>
          </a:p>
        </p:txBody>
      </p:sp>
      <p:sp>
        <p:nvSpPr>
          <p:cNvPr id="33" name="Rounded Rectangle 32"/>
          <p:cNvSpPr/>
          <p:nvPr/>
        </p:nvSpPr>
        <p:spPr>
          <a:xfrm>
            <a:off x="8046719" y="4091939"/>
            <a:ext cx="3566160" cy="166877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Oval 33"/>
          <p:cNvSpPr/>
          <p:nvPr/>
        </p:nvSpPr>
        <p:spPr>
          <a:xfrm>
            <a:off x="8275319" y="42748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5" name="Picture 34" descr="robot-FFFFFF.png"/>
          <p:cNvPicPr>
            <a:picLocks noChangeAspect="1"/>
          </p:cNvPicPr>
          <p:nvPr/>
        </p:nvPicPr>
        <p:blipFill>
          <a:blip r:embed="rId7"/>
          <a:stretch>
            <a:fillRect/>
          </a:stretch>
        </p:blipFill>
        <p:spPr>
          <a:xfrm>
            <a:off x="8398215" y="4397715"/>
            <a:ext cx="266273" cy="266273"/>
          </a:xfrm>
          <a:prstGeom prst="rect">
            <a:avLst/>
          </a:prstGeom>
        </p:spPr>
      </p:pic>
      <p:sp>
        <p:nvSpPr>
          <p:cNvPr id="36" name="TextBox 35"/>
          <p:cNvSpPr txBox="1"/>
          <p:nvPr/>
        </p:nvSpPr>
        <p:spPr>
          <a:xfrm>
            <a:off x="8924544" y="4256532"/>
            <a:ext cx="245973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Autonomous AI agents</a:t>
            </a:r>
          </a:p>
        </p:txBody>
      </p:sp>
      <p:sp>
        <p:nvSpPr>
          <p:cNvPr id="37" name="TextBox 36"/>
          <p:cNvSpPr txBox="1"/>
          <p:nvPr/>
        </p:nvSpPr>
        <p:spPr>
          <a:xfrm>
            <a:off x="8275319" y="4860036"/>
            <a:ext cx="3108960" cy="827531"/>
          </a:xfrm>
          <a:prstGeom prst="rect">
            <a:avLst/>
          </a:prstGeom>
          <a:noFill/>
        </p:spPr>
        <p:txBody>
          <a:bodyPr wrap="square" lIns="36576" rIns="36576" tIns="18288" bIns="18288" anchor="t">
            <a:spAutoFit/>
          </a:bodyPr>
          <a:lstStyle/>
          <a:p>
            <a:pPr algn="l">
              <a:lnSpc>
                <a:spcPct val="112000"/>
              </a:lnSpc>
            </a:pPr>
            <a:r>
              <a:rPr sz="1250" b="0" i="0">
                <a:solidFill>
                  <a:srgbClr val="6B6862"/>
                </a:solidFill>
                <a:latin typeface="Calibri"/>
              </a:rPr>
              <a:t>Hermes, Paperclip, OpenAI Dots, AgentSea. Capability: pursue a goal with tools, memory and planning — with humans in the loop.</a:t>
            </a:r>
          </a:p>
        </p:txBody>
      </p:sp>
    </p:spTree>
  </p:cSld>
  <p:clrMapOvr>
    <a:masterClrMapping/>
  </p:clrMapOvr>
  <p:transition spd="med">
    <p:fade/>
  </p:transition>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AI AGENTS VS AGENTIC AI</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What Is an AI Agent?</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"Autonomous software entities engineered for goal-directed task execution within bounded digital environments" — Sapkota et al., 2025</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25</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240280"/>
            <a:ext cx="3566160" cy="166877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77240" y="242316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target-FFFFFF.png"/>
          <p:cNvPicPr>
            <a:picLocks noChangeAspect="1"/>
          </p:cNvPicPr>
          <p:nvPr/>
        </p:nvPicPr>
        <p:blipFill>
          <a:blip r:embed="rId2"/>
          <a:stretch>
            <a:fillRect/>
          </a:stretch>
        </p:blipFill>
        <p:spPr>
          <a:xfrm>
            <a:off x="900135" y="2546055"/>
            <a:ext cx="266273" cy="266273"/>
          </a:xfrm>
          <a:prstGeom prst="rect">
            <a:avLst/>
          </a:prstGeom>
        </p:spPr>
      </p:pic>
      <p:sp>
        <p:nvSpPr>
          <p:cNvPr id="11" name="TextBox 10"/>
          <p:cNvSpPr txBox="1"/>
          <p:nvPr/>
        </p:nvSpPr>
        <p:spPr>
          <a:xfrm>
            <a:off x="1426464" y="2404872"/>
            <a:ext cx="245973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Goal-directed</a:t>
            </a:r>
          </a:p>
        </p:txBody>
      </p:sp>
      <p:sp>
        <p:nvSpPr>
          <p:cNvPr id="12" name="TextBox 11"/>
          <p:cNvSpPr txBox="1"/>
          <p:nvPr/>
        </p:nvSpPr>
        <p:spPr>
          <a:xfrm>
            <a:off x="777240" y="3008376"/>
            <a:ext cx="3108960" cy="827531"/>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Given a goal, it decides the steps itself instead of waiting for each instruction.</a:t>
            </a:r>
          </a:p>
        </p:txBody>
      </p:sp>
      <p:sp>
        <p:nvSpPr>
          <p:cNvPr id="13" name="Rounded Rectangle 12"/>
          <p:cNvSpPr/>
          <p:nvPr/>
        </p:nvSpPr>
        <p:spPr>
          <a:xfrm>
            <a:off x="4297679" y="2240280"/>
            <a:ext cx="3566160" cy="166877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4526279" y="242316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Picture 14" descr="tool-FFFFFF.png"/>
          <p:cNvPicPr>
            <a:picLocks noChangeAspect="1"/>
          </p:cNvPicPr>
          <p:nvPr/>
        </p:nvPicPr>
        <p:blipFill>
          <a:blip r:embed="rId3"/>
          <a:stretch>
            <a:fillRect/>
          </a:stretch>
        </p:blipFill>
        <p:spPr>
          <a:xfrm>
            <a:off x="4649175" y="2546055"/>
            <a:ext cx="266273" cy="266273"/>
          </a:xfrm>
          <a:prstGeom prst="rect">
            <a:avLst/>
          </a:prstGeom>
        </p:spPr>
      </p:pic>
      <p:sp>
        <p:nvSpPr>
          <p:cNvPr id="16" name="TextBox 15"/>
          <p:cNvSpPr txBox="1"/>
          <p:nvPr/>
        </p:nvSpPr>
        <p:spPr>
          <a:xfrm>
            <a:off x="5175504" y="2404872"/>
            <a:ext cx="245973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Uses tools</a:t>
            </a:r>
          </a:p>
        </p:txBody>
      </p:sp>
      <p:sp>
        <p:nvSpPr>
          <p:cNvPr id="17" name="TextBox 16"/>
          <p:cNvSpPr txBox="1"/>
          <p:nvPr/>
        </p:nvSpPr>
        <p:spPr>
          <a:xfrm>
            <a:off x="4526279" y="3008376"/>
            <a:ext cx="3108960" cy="827531"/>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Searches the web, reads files, writes documents, calls APIs and MCP servers.</a:t>
            </a:r>
          </a:p>
        </p:txBody>
      </p:sp>
      <p:sp>
        <p:nvSpPr>
          <p:cNvPr id="18" name="Rounded Rectangle 17"/>
          <p:cNvSpPr/>
          <p:nvPr/>
        </p:nvSpPr>
        <p:spPr>
          <a:xfrm>
            <a:off x="8046719" y="2240280"/>
            <a:ext cx="3566160" cy="166877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8275319" y="242316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loop-FFFFFF.png"/>
          <p:cNvPicPr>
            <a:picLocks noChangeAspect="1"/>
          </p:cNvPicPr>
          <p:nvPr/>
        </p:nvPicPr>
        <p:blipFill>
          <a:blip r:embed="rId4"/>
          <a:stretch>
            <a:fillRect/>
          </a:stretch>
        </p:blipFill>
        <p:spPr>
          <a:xfrm>
            <a:off x="8398215" y="2546055"/>
            <a:ext cx="266273" cy="266273"/>
          </a:xfrm>
          <a:prstGeom prst="rect">
            <a:avLst/>
          </a:prstGeom>
        </p:spPr>
      </p:pic>
      <p:sp>
        <p:nvSpPr>
          <p:cNvPr id="21" name="TextBox 20"/>
          <p:cNvSpPr txBox="1"/>
          <p:nvPr/>
        </p:nvSpPr>
        <p:spPr>
          <a:xfrm>
            <a:off x="8924544" y="2404872"/>
            <a:ext cx="245973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Loops until done</a:t>
            </a:r>
          </a:p>
        </p:txBody>
      </p:sp>
      <p:sp>
        <p:nvSpPr>
          <p:cNvPr id="22" name="TextBox 21"/>
          <p:cNvSpPr txBox="1"/>
          <p:nvPr/>
        </p:nvSpPr>
        <p:spPr>
          <a:xfrm>
            <a:off x="8275319" y="3008376"/>
            <a:ext cx="3108960" cy="827531"/>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Acts, observes the result, checks it, and tries again.</a:t>
            </a:r>
          </a:p>
        </p:txBody>
      </p:sp>
      <p:sp>
        <p:nvSpPr>
          <p:cNvPr id="23" name="Rounded Rectangle 22"/>
          <p:cNvSpPr/>
          <p:nvPr/>
        </p:nvSpPr>
        <p:spPr>
          <a:xfrm>
            <a:off x="548640" y="4091939"/>
            <a:ext cx="3566160" cy="166877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777240" y="42748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Picture 24" descr="memory-FFFFFF.png"/>
          <p:cNvPicPr>
            <a:picLocks noChangeAspect="1"/>
          </p:cNvPicPr>
          <p:nvPr/>
        </p:nvPicPr>
        <p:blipFill>
          <a:blip r:embed="rId5"/>
          <a:stretch>
            <a:fillRect/>
          </a:stretch>
        </p:blipFill>
        <p:spPr>
          <a:xfrm>
            <a:off x="900135" y="4397715"/>
            <a:ext cx="266273" cy="266273"/>
          </a:xfrm>
          <a:prstGeom prst="rect">
            <a:avLst/>
          </a:prstGeom>
        </p:spPr>
      </p:pic>
      <p:sp>
        <p:nvSpPr>
          <p:cNvPr id="26" name="TextBox 25"/>
          <p:cNvSpPr txBox="1"/>
          <p:nvPr/>
        </p:nvSpPr>
        <p:spPr>
          <a:xfrm>
            <a:off x="1426464" y="4256532"/>
            <a:ext cx="245973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Remembers</a:t>
            </a:r>
          </a:p>
        </p:txBody>
      </p:sp>
      <p:sp>
        <p:nvSpPr>
          <p:cNvPr id="27" name="TextBox 26"/>
          <p:cNvSpPr txBox="1"/>
          <p:nvPr/>
        </p:nvSpPr>
        <p:spPr>
          <a:xfrm>
            <a:off x="777240" y="4860036"/>
            <a:ext cx="3108960" cy="827531"/>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Keeps context in the session and long-term memory across sessions.</a:t>
            </a:r>
          </a:p>
        </p:txBody>
      </p:sp>
      <p:sp>
        <p:nvSpPr>
          <p:cNvPr id="28" name="Rounded Rectangle 27"/>
          <p:cNvSpPr/>
          <p:nvPr/>
        </p:nvSpPr>
        <p:spPr>
          <a:xfrm>
            <a:off x="4297679" y="4091939"/>
            <a:ext cx="3566160" cy="166877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4526279" y="42748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0" name="Picture 29" descr="shield-FFFFFF.png"/>
          <p:cNvPicPr>
            <a:picLocks noChangeAspect="1"/>
          </p:cNvPicPr>
          <p:nvPr/>
        </p:nvPicPr>
        <p:blipFill>
          <a:blip r:embed="rId6"/>
          <a:stretch>
            <a:fillRect/>
          </a:stretch>
        </p:blipFill>
        <p:spPr>
          <a:xfrm>
            <a:off x="4649175" y="4397715"/>
            <a:ext cx="266273" cy="266273"/>
          </a:xfrm>
          <a:prstGeom prst="rect">
            <a:avLst/>
          </a:prstGeom>
        </p:spPr>
      </p:pic>
      <p:sp>
        <p:nvSpPr>
          <p:cNvPr id="31" name="TextBox 30"/>
          <p:cNvSpPr txBox="1"/>
          <p:nvPr/>
        </p:nvSpPr>
        <p:spPr>
          <a:xfrm>
            <a:off x="5175504" y="4256532"/>
            <a:ext cx="245973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Bounded</a:t>
            </a:r>
          </a:p>
        </p:txBody>
      </p:sp>
      <p:sp>
        <p:nvSpPr>
          <p:cNvPr id="32" name="TextBox 31"/>
          <p:cNvSpPr txBox="1"/>
          <p:nvPr/>
        </p:nvSpPr>
        <p:spPr>
          <a:xfrm>
            <a:off x="4526279" y="4860036"/>
            <a:ext cx="3108960" cy="827531"/>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Works inside permissions, budgets and approval gates set by humans.</a:t>
            </a:r>
          </a:p>
        </p:txBody>
      </p:sp>
      <p:sp>
        <p:nvSpPr>
          <p:cNvPr id="33" name="Rounded Rectangle 32"/>
          <p:cNvSpPr/>
          <p:nvPr/>
        </p:nvSpPr>
        <p:spPr>
          <a:xfrm>
            <a:off x="8046719" y="4091939"/>
            <a:ext cx="3566160" cy="166877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Oval 33"/>
          <p:cNvSpPr/>
          <p:nvPr/>
        </p:nvSpPr>
        <p:spPr>
          <a:xfrm>
            <a:off x="8275319" y="42748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5" name="Picture 34" descr="user-FFFFFF.png"/>
          <p:cNvPicPr>
            <a:picLocks noChangeAspect="1"/>
          </p:cNvPicPr>
          <p:nvPr/>
        </p:nvPicPr>
        <p:blipFill>
          <a:blip r:embed="rId7"/>
          <a:stretch>
            <a:fillRect/>
          </a:stretch>
        </p:blipFill>
        <p:spPr>
          <a:xfrm>
            <a:off x="8398215" y="4397715"/>
            <a:ext cx="266273" cy="266273"/>
          </a:xfrm>
          <a:prstGeom prst="rect">
            <a:avLst/>
          </a:prstGeom>
        </p:spPr>
      </p:pic>
      <p:sp>
        <p:nvSpPr>
          <p:cNvPr id="36" name="TextBox 35"/>
          <p:cNvSpPr txBox="1"/>
          <p:nvPr/>
        </p:nvSpPr>
        <p:spPr>
          <a:xfrm>
            <a:off x="8924544" y="4256532"/>
            <a:ext cx="245973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Accountable human</a:t>
            </a:r>
          </a:p>
        </p:txBody>
      </p:sp>
      <p:sp>
        <p:nvSpPr>
          <p:cNvPr id="37" name="TextBox 36"/>
          <p:cNvSpPr txBox="1"/>
          <p:nvPr/>
        </p:nvSpPr>
        <p:spPr>
          <a:xfrm>
            <a:off x="8275319" y="4860036"/>
            <a:ext cx="3108960" cy="827531"/>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A person owns the outcome — the agent recommends or acts on their behalf.</a:t>
            </a:r>
          </a:p>
        </p:txBody>
      </p:sp>
    </p:spTree>
  </p:cSld>
  <p:clrMapOvr>
    <a:masterClrMapping/>
  </p:clrMapOvr>
  <p:transition spd="med">
    <p:fade/>
  </p:transition>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AI AGENTS VS AGENTIC AI</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AI Agents vs Agentic AI</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Source: Sapkota, Roumeliotis &amp; Karkee, "AI Agents vs. Agentic AI", Information Fusion 2025 (arXiv 2505.10468).</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26</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graphicFrame>
        <p:nvGraphicFramePr>
          <p:cNvPr id="8" name="Table 7"/>
          <p:cNvGraphicFramePr>
            <a:graphicFrameLocks noGrp="1"/>
          </p:cNvGraphicFramePr>
          <p:nvPr/>
        </p:nvGraphicFramePr>
        <p:xfrm>
          <a:off x="548640" y="2194560"/>
          <a:ext cx="11064240" cy="3977631"/>
        </p:xfrm>
        <a:graphic>
          <a:graphicData uri="http://schemas.openxmlformats.org/drawingml/2006/table">
            <a:tbl>
              <a:tblPr firstRow="0" bandRow="0">
                <a:tableStyleId>{5C22544A-7EE6-4342-B048-85BDC9FD1C3A}</a:tableStyleId>
              </a:tblPr>
              <a:tblGrid>
                <a:gridCol w="1828800"/>
                <a:gridCol w="4572000"/>
                <a:gridCol w="4663440"/>
              </a:tblGrid>
              <a:tr h="441959">
                <a:tc>
                  <a:txBody>
                    <a:bodyPr wrap="square"/>
                    <a:lstStyle/>
                    <a:p>
                      <a:r>
                        <a:rPr b="1" sz="1450">
                          <a:solidFill>
                            <a:srgbClr val="FFFFFF"/>
                          </a:solidFill>
                          <a:latin typeface="Cambria"/>
                        </a:rPr>
                        <a:t>Dimension</a:t>
                      </a:r>
                    </a:p>
                  </a:txBody>
                  <a:tcPr marL="64008" marR="64008" marT="27432" marB="27432" anchor="ctr">
                    <a:solidFill>
                      <a:srgbClr val="21201C"/>
                    </a:solidFill>
                  </a:tcPr>
                </a:tc>
                <a:tc>
                  <a:txBody>
                    <a:bodyPr wrap="square"/>
                    <a:lstStyle/>
                    <a:p>
                      <a:r>
                        <a:rPr b="1" sz="1450">
                          <a:solidFill>
                            <a:srgbClr val="FFFFFF"/>
                          </a:solidFill>
                          <a:latin typeface="Cambria"/>
                        </a:rPr>
                        <a:t>AI Agent</a:t>
                      </a:r>
                    </a:p>
                  </a:txBody>
                  <a:tcPr marL="64008" marR="64008" marT="27432" marB="27432" anchor="ctr">
                    <a:solidFill>
                      <a:srgbClr val="21201C"/>
                    </a:solidFill>
                  </a:tcPr>
                </a:tc>
                <a:tc>
                  <a:txBody>
                    <a:bodyPr wrap="square"/>
                    <a:lstStyle/>
                    <a:p>
                      <a:r>
                        <a:rPr b="1" sz="1450">
                          <a:solidFill>
                            <a:srgbClr val="FFFFFF"/>
                          </a:solidFill>
                          <a:latin typeface="Cambria"/>
                        </a:rPr>
                        <a:t>Agentic AI</a:t>
                      </a:r>
                    </a:p>
                  </a:txBody>
                  <a:tcPr marL="64008" marR="64008" marT="27432" marB="27432" anchor="ctr">
                    <a:solidFill>
                      <a:srgbClr val="21201C"/>
                    </a:solidFill>
                  </a:tcPr>
                </a:tc>
              </a:tr>
              <a:tr h="441959">
                <a:tc>
                  <a:txBody>
                    <a:bodyPr wrap="square"/>
                    <a:lstStyle/>
                    <a:p>
                      <a:r>
                        <a:rPr b="1" sz="1400">
                          <a:solidFill>
                            <a:srgbClr val="21201C"/>
                          </a:solidFill>
                          <a:latin typeface="Cambria"/>
                        </a:rPr>
                        <a:t>Scope</a:t>
                      </a:r>
                    </a:p>
                  </a:txBody>
                  <a:tcPr marL="64008" marR="64008" marT="27432" marB="27432" anchor="ctr">
                    <a:solidFill>
                      <a:srgbClr val="FFFFFF"/>
                    </a:solidFill>
                  </a:tcPr>
                </a:tc>
                <a:tc>
                  <a:txBody>
                    <a:bodyPr wrap="square"/>
                    <a:lstStyle/>
                    <a:p>
                      <a:r>
                        <a:rPr b="0" sz="1400">
                          <a:solidFill>
                            <a:srgbClr val="6B6862"/>
                          </a:solidFill>
                          <a:latin typeface="Calibri"/>
                        </a:rPr>
                        <a:t>One specific, well-defined task</a:t>
                      </a:r>
                    </a:p>
                  </a:txBody>
                  <a:tcPr marL="64008" marR="64008" marT="27432" marB="27432" anchor="ctr">
                    <a:solidFill>
                      <a:srgbClr val="FFFFFF"/>
                    </a:solidFill>
                  </a:tcPr>
                </a:tc>
                <a:tc>
                  <a:txBody>
                    <a:bodyPr wrap="square"/>
                    <a:lstStyle/>
                    <a:p>
                      <a:r>
                        <a:rPr b="0" sz="1400">
                          <a:solidFill>
                            <a:srgbClr val="6B6862"/>
                          </a:solidFill>
                          <a:latin typeface="Calibri"/>
                        </a:rPr>
                        <a:t>A complex, multi-step goal or workflow</a:t>
                      </a:r>
                    </a:p>
                  </a:txBody>
                  <a:tcPr marL="64008" marR="64008" marT="27432" marB="27432" anchor="ctr">
                    <a:solidFill>
                      <a:srgbClr val="F6E7DF"/>
                    </a:solidFill>
                  </a:tcPr>
                </a:tc>
              </a:tr>
              <a:tr h="441959">
                <a:tc>
                  <a:txBody>
                    <a:bodyPr wrap="square"/>
                    <a:lstStyle/>
                    <a:p>
                      <a:r>
                        <a:rPr b="1" sz="1400">
                          <a:solidFill>
                            <a:srgbClr val="21201C"/>
                          </a:solidFill>
                          <a:latin typeface="Cambria"/>
                        </a:rPr>
                        <a:t>Architecture</a:t>
                      </a:r>
                    </a:p>
                  </a:txBody>
                  <a:tcPr marL="64008" marR="64008" marT="27432" marB="27432" anchor="ctr">
                    <a:solidFill>
                      <a:srgbClr val="F3F1EB"/>
                    </a:solidFill>
                  </a:tcPr>
                </a:tc>
                <a:tc>
                  <a:txBody>
                    <a:bodyPr wrap="square"/>
                    <a:lstStyle/>
                    <a:p>
                      <a:r>
                        <a:rPr b="0" sz="1400">
                          <a:solidFill>
                            <a:srgbClr val="6B6862"/>
                          </a:solidFill>
                          <a:latin typeface="Calibri"/>
                        </a:rPr>
                        <a:t>One LLM + tools: perceive → reason → act</a:t>
                      </a:r>
                    </a:p>
                  </a:txBody>
                  <a:tcPr marL="64008" marR="64008" marT="27432" marB="27432" anchor="ctr">
                    <a:solidFill>
                      <a:srgbClr val="F3F1EB"/>
                    </a:solidFill>
                  </a:tcPr>
                </a:tc>
                <a:tc>
                  <a:txBody>
                    <a:bodyPr wrap="square"/>
                    <a:lstStyle/>
                    <a:p>
                      <a:r>
                        <a:rPr b="0" sz="1400">
                          <a:solidFill>
                            <a:srgbClr val="6B6862"/>
                          </a:solidFill>
                          <a:latin typeface="Calibri"/>
                        </a:rPr>
                        <a:t>Several specialised agents + an orchestrator</a:t>
                      </a:r>
                    </a:p>
                  </a:txBody>
                  <a:tcPr marL="64008" marR="64008" marT="27432" marB="27432" anchor="ctr">
                    <a:solidFill>
                      <a:srgbClr val="F6E7DF"/>
                    </a:solidFill>
                  </a:tcPr>
                </a:tc>
              </a:tr>
              <a:tr h="441959">
                <a:tc>
                  <a:txBody>
                    <a:bodyPr wrap="square"/>
                    <a:lstStyle/>
                    <a:p>
                      <a:r>
                        <a:rPr b="1" sz="1400">
                          <a:solidFill>
                            <a:srgbClr val="21201C"/>
                          </a:solidFill>
                          <a:latin typeface="Cambria"/>
                        </a:rPr>
                        <a:t>Flow</a:t>
                      </a:r>
                    </a:p>
                  </a:txBody>
                  <a:tcPr marL="64008" marR="64008" marT="27432" marB="27432" anchor="ctr">
                    <a:solidFill>
                      <a:srgbClr val="FFFFFF"/>
                    </a:solidFill>
                  </a:tcPr>
                </a:tc>
                <a:tc>
                  <a:txBody>
                    <a:bodyPr wrap="square"/>
                    <a:lstStyle/>
                    <a:p>
                      <a:r>
                        <a:rPr b="0" sz="1400">
                          <a:solidFill>
                            <a:srgbClr val="6B6862"/>
                          </a:solidFill>
                          <a:latin typeface="Calibri"/>
                        </a:rPr>
                        <a:t>User → Agent → Tool</a:t>
                      </a:r>
                    </a:p>
                  </a:txBody>
                  <a:tcPr marL="64008" marR="64008" marT="27432" marB="27432" anchor="ctr">
                    <a:solidFill>
                      <a:srgbClr val="FFFFFF"/>
                    </a:solidFill>
                  </a:tcPr>
                </a:tc>
                <a:tc>
                  <a:txBody>
                    <a:bodyPr wrap="square"/>
                    <a:lstStyle/>
                    <a:p>
                      <a:r>
                        <a:rPr b="0" sz="1400">
                          <a:solidFill>
                            <a:srgbClr val="6B6862"/>
                          </a:solidFill>
                          <a:latin typeface="Calibri"/>
                        </a:rPr>
                        <a:t>User → System → Agent 1 → Agent 2 → …</a:t>
                      </a:r>
                    </a:p>
                  </a:txBody>
                  <a:tcPr marL="64008" marR="64008" marT="27432" marB="27432" anchor="ctr">
                    <a:solidFill>
                      <a:srgbClr val="F6E7DF"/>
                    </a:solidFill>
                  </a:tcPr>
                </a:tc>
              </a:tr>
              <a:tr h="441959">
                <a:tc>
                  <a:txBody>
                    <a:bodyPr wrap="square"/>
                    <a:lstStyle/>
                    <a:p>
                      <a:r>
                        <a:rPr b="1" sz="1400">
                          <a:solidFill>
                            <a:srgbClr val="21201C"/>
                          </a:solidFill>
                          <a:latin typeface="Cambria"/>
                        </a:rPr>
                        <a:t>Memory</a:t>
                      </a:r>
                    </a:p>
                  </a:txBody>
                  <a:tcPr marL="64008" marR="64008" marT="27432" marB="27432" anchor="ctr">
                    <a:solidFill>
                      <a:srgbClr val="F3F1EB"/>
                    </a:solidFill>
                  </a:tcPr>
                </a:tc>
                <a:tc>
                  <a:txBody>
                    <a:bodyPr wrap="square"/>
                    <a:lstStyle/>
                    <a:p>
                      <a:r>
                        <a:rPr b="0" sz="1400">
                          <a:solidFill>
                            <a:srgbClr val="6B6862"/>
                          </a:solidFill>
                          <a:latin typeface="Calibri"/>
                        </a:rPr>
                        <a:t>Session context, optional cache</a:t>
                      </a:r>
                    </a:p>
                  </a:txBody>
                  <a:tcPr marL="64008" marR="64008" marT="27432" marB="27432" anchor="ctr">
                    <a:solidFill>
                      <a:srgbClr val="F3F1EB"/>
                    </a:solidFill>
                  </a:tcPr>
                </a:tc>
                <a:tc>
                  <a:txBody>
                    <a:bodyPr wrap="square"/>
                    <a:lstStyle/>
                    <a:p>
                      <a:r>
                        <a:rPr b="0" sz="1400">
                          <a:solidFill>
                            <a:srgbClr val="6B6862"/>
                          </a:solidFill>
                          <a:latin typeface="Calibri"/>
                        </a:rPr>
                        <a:t>Shared, persistent memory across stages</a:t>
                      </a:r>
                    </a:p>
                  </a:txBody>
                  <a:tcPr marL="64008" marR="64008" marT="27432" marB="27432" anchor="ctr">
                    <a:solidFill>
                      <a:srgbClr val="F6E7DF"/>
                    </a:solidFill>
                  </a:tcPr>
                </a:tc>
              </a:tr>
              <a:tr h="441959">
                <a:tc>
                  <a:txBody>
                    <a:bodyPr wrap="square"/>
                    <a:lstStyle/>
                    <a:p>
                      <a:r>
                        <a:rPr b="1" sz="1400">
                          <a:solidFill>
                            <a:srgbClr val="21201C"/>
                          </a:solidFill>
                          <a:latin typeface="Cambria"/>
                        </a:rPr>
                        <a:t>Planning</a:t>
                      </a:r>
                    </a:p>
                  </a:txBody>
                  <a:tcPr marL="64008" marR="64008" marT="27432" marB="27432" anchor="ctr">
                    <a:solidFill>
                      <a:srgbClr val="FFFFFF"/>
                    </a:solidFill>
                  </a:tcPr>
                </a:tc>
                <a:tc>
                  <a:txBody>
                    <a:bodyPr wrap="square"/>
                    <a:lstStyle/>
                    <a:p>
                      <a:r>
                        <a:rPr b="0" sz="1400">
                          <a:solidFill>
                            <a:srgbClr val="6B6862"/>
                          </a:solidFill>
                          <a:latin typeface="Calibri"/>
                        </a:rPr>
                        <a:t>Single-step, reactive</a:t>
                      </a:r>
                    </a:p>
                  </a:txBody>
                  <a:tcPr marL="64008" marR="64008" marT="27432" marB="27432" anchor="ctr">
                    <a:solidFill>
                      <a:srgbClr val="FFFFFF"/>
                    </a:solidFill>
                  </a:tcPr>
                </a:tc>
                <a:tc>
                  <a:txBody>
                    <a:bodyPr wrap="square"/>
                    <a:lstStyle/>
                    <a:p>
                      <a:r>
                        <a:rPr b="0" sz="1400">
                          <a:solidFill>
                            <a:srgbClr val="6B6862"/>
                          </a:solidFill>
                          <a:latin typeface="Calibri"/>
                        </a:rPr>
                        <a:t>Multi-step, proactive goal decomposition</a:t>
                      </a:r>
                    </a:p>
                  </a:txBody>
                  <a:tcPr marL="64008" marR="64008" marT="27432" marB="27432" anchor="ctr">
                    <a:solidFill>
                      <a:srgbClr val="F6E7DF"/>
                    </a:solidFill>
                  </a:tcPr>
                </a:tc>
              </a:tr>
              <a:tr h="441959">
                <a:tc>
                  <a:txBody>
                    <a:bodyPr wrap="square"/>
                    <a:lstStyle/>
                    <a:p>
                      <a:r>
                        <a:rPr b="1" sz="1400">
                          <a:solidFill>
                            <a:srgbClr val="21201C"/>
                          </a:solidFill>
                          <a:latin typeface="Cambria"/>
                        </a:rPr>
                        <a:t>Coordination</a:t>
                      </a:r>
                    </a:p>
                  </a:txBody>
                  <a:tcPr marL="64008" marR="64008" marT="27432" marB="27432" anchor="ctr">
                    <a:solidFill>
                      <a:srgbClr val="F3F1EB"/>
                    </a:solidFill>
                  </a:tcPr>
                </a:tc>
                <a:tc>
                  <a:txBody>
                    <a:bodyPr wrap="square"/>
                    <a:lstStyle/>
                    <a:p>
                      <a:r>
                        <a:rPr b="0" sz="1400">
                          <a:solidFill>
                            <a:srgbClr val="6B6862"/>
                          </a:solidFill>
                          <a:latin typeface="Calibri"/>
                        </a:rPr>
                        <a:t>Works alone</a:t>
                      </a:r>
                    </a:p>
                  </a:txBody>
                  <a:tcPr marL="64008" marR="64008" marT="27432" marB="27432" anchor="ctr">
                    <a:solidFill>
                      <a:srgbClr val="F3F1EB"/>
                    </a:solidFill>
                  </a:tcPr>
                </a:tc>
                <a:tc>
                  <a:txBody>
                    <a:bodyPr wrap="square"/>
                    <a:lstStyle/>
                    <a:p>
                      <a:r>
                        <a:rPr b="0" sz="1400">
                          <a:solidFill>
                            <a:srgbClr val="6B6862"/>
                          </a:solidFill>
                          <a:latin typeface="Calibri"/>
                        </a:rPr>
                        <a:t>Hierarchical or decentralised hand-offs</a:t>
                      </a:r>
                    </a:p>
                  </a:txBody>
                  <a:tcPr marL="64008" marR="64008" marT="27432" marB="27432" anchor="ctr">
                    <a:solidFill>
                      <a:srgbClr val="F6E7DF"/>
                    </a:solidFill>
                  </a:tcPr>
                </a:tc>
              </a:tr>
              <a:tr h="441959">
                <a:tc>
                  <a:txBody>
                    <a:bodyPr wrap="square"/>
                    <a:lstStyle/>
                    <a:p>
                      <a:r>
                        <a:rPr b="1" sz="1400">
                          <a:solidFill>
                            <a:srgbClr val="21201C"/>
                          </a:solidFill>
                          <a:latin typeface="Cambria"/>
                        </a:rPr>
                        <a:t>Examples</a:t>
                      </a:r>
                    </a:p>
                  </a:txBody>
                  <a:tcPr marL="64008" marR="64008" marT="27432" marB="27432" anchor="ctr">
                    <a:solidFill>
                      <a:srgbClr val="FFFFFF"/>
                    </a:solidFill>
                  </a:tcPr>
                </a:tc>
                <a:tc>
                  <a:txBody>
                    <a:bodyPr wrap="square"/>
                    <a:lstStyle/>
                    <a:p>
                      <a:r>
                        <a:rPr b="0" sz="1400">
                          <a:solidFill>
                            <a:srgbClr val="6B6862"/>
                          </a:solidFill>
                          <a:latin typeface="Calibri"/>
                        </a:rPr>
                        <a:t>Support bot, email triage, research agent (Lab 1)</a:t>
                      </a:r>
                    </a:p>
                  </a:txBody>
                  <a:tcPr marL="64008" marR="64008" marT="27432" marB="27432" anchor="ctr">
                    <a:solidFill>
                      <a:srgbClr val="FFFFFF"/>
                    </a:solidFill>
                  </a:tcPr>
                </a:tc>
                <a:tc>
                  <a:txBody>
                    <a:bodyPr wrap="square"/>
                    <a:lstStyle/>
                    <a:p>
                      <a:r>
                        <a:rPr b="0" sz="1400">
                          <a:solidFill>
                            <a:srgbClr val="6B6862"/>
                          </a:solidFill>
                          <a:latin typeface="Calibri"/>
                        </a:rPr>
                        <a:t>Video studio (Lab 4), AI company (Labs 6–10)</a:t>
                      </a:r>
                    </a:p>
                  </a:txBody>
                  <a:tcPr marL="64008" marR="64008" marT="27432" marB="27432" anchor="ctr">
                    <a:solidFill>
                      <a:srgbClr val="F6E7DF"/>
                    </a:solidFill>
                  </a:tcPr>
                </a:tc>
              </a:tr>
              <a:tr h="441959">
                <a:tc>
                  <a:txBody>
                    <a:bodyPr wrap="square"/>
                    <a:lstStyle/>
                    <a:p>
                      <a:r>
                        <a:rPr b="1" sz="1400">
                          <a:solidFill>
                            <a:srgbClr val="21201C"/>
                          </a:solidFill>
                          <a:latin typeface="Cambria"/>
                        </a:rPr>
                        <a:t>Main risks</a:t>
                      </a:r>
                    </a:p>
                  </a:txBody>
                  <a:tcPr marL="64008" marR="64008" marT="27432" marB="27432" anchor="ctr">
                    <a:solidFill>
                      <a:srgbClr val="F3F1EB"/>
                    </a:solidFill>
                  </a:tcPr>
                </a:tc>
                <a:tc>
                  <a:txBody>
                    <a:bodyPr wrap="square"/>
                    <a:lstStyle/>
                    <a:p>
                      <a:r>
                        <a:rPr b="0" sz="1400">
                          <a:solidFill>
                            <a:srgbClr val="6B6862"/>
                          </a:solidFill>
                          <a:latin typeface="Calibri"/>
                        </a:rPr>
                        <a:t>Hallucination, brittle prompts</a:t>
                      </a:r>
                    </a:p>
                  </a:txBody>
                  <a:tcPr marL="64008" marR="64008" marT="27432" marB="27432" anchor="ctr">
                    <a:solidFill>
                      <a:srgbClr val="F3F1EB"/>
                    </a:solidFill>
                  </a:tcPr>
                </a:tc>
                <a:tc>
                  <a:txBody>
                    <a:bodyPr wrap="square"/>
                    <a:lstStyle/>
                    <a:p>
                      <a:r>
                        <a:rPr b="0" sz="1400">
                          <a:solidFill>
                            <a:srgbClr val="6B6862"/>
                          </a:solidFill>
                          <a:latin typeface="Calibri"/>
                        </a:rPr>
                        <a:t>Error propagation, misalignment, governance</a:t>
                      </a:r>
                    </a:p>
                  </a:txBody>
                  <a:tcPr marL="64008" marR="64008" marT="27432" marB="27432" anchor="ctr">
                    <a:solidFill>
                      <a:srgbClr val="F6E7DF"/>
                    </a:solidFill>
                  </a:tcPr>
                </a:tc>
              </a:tr>
            </a:tbl>
          </a:graphicData>
        </a:graphic>
      </p:graphicFrame>
    </p:spTree>
  </p:cSld>
  <p:clrMapOvr>
    <a:masterClrMapping/>
  </p:clrMapOvr>
  <p:transition spd="med">
    <p:fade/>
  </p:transition>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AI AGENTS VS AGENTIC AI</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An Analogy: the Smart Home</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27</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83080"/>
            <a:ext cx="5440680" cy="384048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22959" y="205740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gauge-FFFFFF.png"/>
          <p:cNvPicPr>
            <a:picLocks noChangeAspect="1"/>
          </p:cNvPicPr>
          <p:nvPr/>
        </p:nvPicPr>
        <p:blipFill>
          <a:blip r:embed="rId2"/>
          <a:stretch>
            <a:fillRect/>
          </a:stretch>
        </p:blipFill>
        <p:spPr>
          <a:xfrm>
            <a:off x="954633" y="2189073"/>
            <a:ext cx="285292" cy="285292"/>
          </a:xfrm>
          <a:prstGeom prst="rect">
            <a:avLst/>
          </a:prstGeom>
        </p:spPr>
      </p:pic>
      <p:sp>
        <p:nvSpPr>
          <p:cNvPr id="10" name="TextBox 9"/>
          <p:cNvSpPr txBox="1"/>
          <p:nvPr/>
        </p:nvSpPr>
        <p:spPr>
          <a:xfrm>
            <a:off x="1508760" y="2075688"/>
            <a:ext cx="4297680" cy="512064"/>
          </a:xfrm>
          <a:prstGeom prst="rect">
            <a:avLst/>
          </a:prstGeom>
          <a:noFill/>
        </p:spPr>
        <p:txBody>
          <a:bodyPr wrap="square" lIns="36576" rIns="36576" tIns="18288" bIns="18288" anchor="ctr">
            <a:spAutoFit/>
          </a:bodyPr>
          <a:lstStyle/>
          <a:p>
            <a:pPr algn="l">
              <a:lnSpc>
                <a:spcPct val="112000"/>
              </a:lnSpc>
            </a:pPr>
            <a:r>
              <a:rPr sz="1900" b="1" i="0">
                <a:solidFill>
                  <a:srgbClr val="21201C"/>
                </a:solidFill>
                <a:latin typeface="Cambria"/>
              </a:rPr>
              <a:t>AI Agent — a smart thermostat</a:t>
            </a:r>
          </a:p>
        </p:txBody>
      </p:sp>
      <p:sp>
        <p:nvSpPr>
          <p:cNvPr id="11" name="TextBox 10"/>
          <p:cNvSpPr txBox="1"/>
          <p:nvPr/>
        </p:nvSpPr>
        <p:spPr>
          <a:xfrm>
            <a:off x="868680" y="2834639"/>
            <a:ext cx="4846320" cy="2651760"/>
          </a:xfrm>
          <a:prstGeom prst="rect">
            <a:avLst/>
          </a:prstGeom>
          <a:noFill/>
        </p:spPr>
        <p:txBody>
          <a:bodyPr wrap="square" lIns="36576" rIns="36576" tIns="18288" bIns="18288" anchor="t">
            <a:spAutoFit/>
          </a:bodyPr>
          <a:lstStyle/>
          <a:p>
            <a:pPr algn="l">
              <a:lnSpc>
                <a:spcPct val="120000"/>
              </a:lnSpc>
            </a:pPr>
            <a:r>
              <a:rPr sz="1650" b="0" i="0">
                <a:solidFill>
                  <a:srgbClr val="6B6862"/>
                </a:solidFill>
                <a:latin typeface="Calibri"/>
              </a:rPr>
              <a:t>•  Holds the room at 21°C</a:t>
            </a:r>
          </a:p>
          <a:p>
            <a:pPr algn="l">
              <a:lnSpc>
                <a:spcPct val="120000"/>
              </a:lnSpc>
            </a:pPr>
            <a:r>
              <a:rPr sz="1650" b="0" i="0">
                <a:solidFill>
                  <a:srgbClr val="6B6862"/>
                </a:solidFill>
                <a:latin typeface="Calibri"/>
              </a:rPr>
              <a:t>•  One goal, one device, clear rules</a:t>
            </a:r>
          </a:p>
          <a:p>
            <a:pPr algn="l">
              <a:lnSpc>
                <a:spcPct val="120000"/>
              </a:lnSpc>
            </a:pPr>
            <a:r>
              <a:rPr sz="1650" b="0" i="0">
                <a:solidFill>
                  <a:srgbClr val="6B6862"/>
                </a:solidFill>
                <a:latin typeface="Calibri"/>
              </a:rPr>
              <a:t>•  Reacts to the temperature it senses</a:t>
            </a:r>
          </a:p>
          <a:p>
            <a:pPr algn="l">
              <a:lnSpc>
                <a:spcPct val="120000"/>
              </a:lnSpc>
            </a:pPr>
            <a:r>
              <a:rPr sz="1650" b="0" i="0">
                <a:solidFill>
                  <a:srgbClr val="6B6862"/>
                </a:solidFill>
                <a:latin typeface="Calibri"/>
              </a:rPr>
              <a:t>•  Kopi Kaki: Mia writes a research brief (Lab 1)</a:t>
            </a:r>
          </a:p>
        </p:txBody>
      </p:sp>
      <p:sp>
        <p:nvSpPr>
          <p:cNvPr id="12" name="Rounded Rectangle 11"/>
          <p:cNvSpPr/>
          <p:nvPr/>
        </p:nvSpPr>
        <p:spPr>
          <a:xfrm>
            <a:off x="6172200" y="1783080"/>
            <a:ext cx="5440680" cy="3840480"/>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46520" y="205740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network-FFFFFF.png"/>
          <p:cNvPicPr>
            <a:picLocks noChangeAspect="1"/>
          </p:cNvPicPr>
          <p:nvPr/>
        </p:nvPicPr>
        <p:blipFill>
          <a:blip r:embed="rId3"/>
          <a:stretch>
            <a:fillRect/>
          </a:stretch>
        </p:blipFill>
        <p:spPr>
          <a:xfrm>
            <a:off x="6578193" y="2189073"/>
            <a:ext cx="285292" cy="285292"/>
          </a:xfrm>
          <a:prstGeom prst="rect">
            <a:avLst/>
          </a:prstGeom>
        </p:spPr>
      </p:pic>
      <p:sp>
        <p:nvSpPr>
          <p:cNvPr id="15" name="TextBox 14"/>
          <p:cNvSpPr txBox="1"/>
          <p:nvPr/>
        </p:nvSpPr>
        <p:spPr>
          <a:xfrm>
            <a:off x="7132320" y="2075688"/>
            <a:ext cx="4297680" cy="512064"/>
          </a:xfrm>
          <a:prstGeom prst="rect">
            <a:avLst/>
          </a:prstGeom>
          <a:noFill/>
        </p:spPr>
        <p:txBody>
          <a:bodyPr wrap="square" lIns="36576" rIns="36576" tIns="18288" bIns="18288" anchor="ctr">
            <a:spAutoFit/>
          </a:bodyPr>
          <a:lstStyle/>
          <a:p>
            <a:pPr algn="l">
              <a:lnSpc>
                <a:spcPct val="112000"/>
              </a:lnSpc>
            </a:pPr>
            <a:r>
              <a:rPr sz="1900" b="1" i="0">
                <a:solidFill>
                  <a:srgbClr val="FFFFFF"/>
                </a:solidFill>
                <a:latin typeface="Cambria"/>
              </a:rPr>
              <a:t>Agentic AI — the coordinated home</a:t>
            </a:r>
          </a:p>
        </p:txBody>
      </p:sp>
      <p:sp>
        <p:nvSpPr>
          <p:cNvPr id="16" name="TextBox 15"/>
          <p:cNvSpPr txBox="1"/>
          <p:nvPr/>
        </p:nvSpPr>
        <p:spPr>
          <a:xfrm>
            <a:off x="6492240" y="2834639"/>
            <a:ext cx="4846320" cy="2651760"/>
          </a:xfrm>
          <a:prstGeom prst="rect">
            <a:avLst/>
          </a:prstGeom>
          <a:noFill/>
        </p:spPr>
        <p:txBody>
          <a:bodyPr wrap="square" lIns="36576" rIns="36576" tIns="18288" bIns="18288" anchor="t">
            <a:spAutoFit/>
          </a:bodyPr>
          <a:lstStyle/>
          <a:p>
            <a:pPr algn="l">
              <a:lnSpc>
                <a:spcPct val="120000"/>
              </a:lnSpc>
            </a:pPr>
            <a:r>
              <a:rPr sz="1650" b="0" i="0">
                <a:solidFill>
                  <a:srgbClr val="C9C4B9"/>
                </a:solidFill>
                <a:latin typeface="Calibri"/>
              </a:rPr>
              <a:t>•  Weather, energy-price, schedule, appliance and security agents work together</a:t>
            </a:r>
          </a:p>
          <a:p>
            <a:pPr algn="l">
              <a:lnSpc>
                <a:spcPct val="120000"/>
              </a:lnSpc>
            </a:pPr>
            <a:r>
              <a:rPr sz="1650" b="0" i="0">
                <a:solidFill>
                  <a:srgbClr val="C9C4B9"/>
                </a:solidFill>
                <a:latin typeface="Calibri"/>
              </a:rPr>
              <a:t>•  Pre-cools with solar before a heatwave hits at peak price</a:t>
            </a:r>
          </a:p>
          <a:p>
            <a:pPr algn="l">
              <a:lnSpc>
                <a:spcPct val="120000"/>
              </a:lnSpc>
            </a:pPr>
            <a:r>
              <a:rPr sz="1650" b="0" i="0">
                <a:solidFill>
                  <a:srgbClr val="C9C4B9"/>
                </a:solidFill>
                <a:latin typeface="Calibri"/>
              </a:rPr>
              <a:t>•  Plans ahead, hands off, adapts the goal</a:t>
            </a:r>
          </a:p>
          <a:p>
            <a:pPr algn="l">
              <a:lnSpc>
                <a:spcPct val="120000"/>
              </a:lnSpc>
            </a:pPr>
            <a:r>
              <a:rPr sz="1650" b="0" i="0">
                <a:solidFill>
                  <a:srgbClr val="C9C4B9"/>
                </a:solidFill>
                <a:latin typeface="Calibri"/>
              </a:rPr>
              <a:t>•  Kopi Kaki: a 5-agent studio ships a video (Lab 4)</a:t>
            </a:r>
          </a:p>
        </p:txBody>
      </p:sp>
      <p:sp>
        <p:nvSpPr>
          <p:cNvPr id="17" name="TextBox 16"/>
          <p:cNvSpPr txBox="1"/>
          <p:nvPr/>
        </p:nvSpPr>
        <p:spPr>
          <a:xfrm>
            <a:off x="548640" y="5760720"/>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Same LLMs underneath — the difference is orchestration, memory and coordination.</a:t>
            </a:r>
          </a:p>
        </p:txBody>
      </p:sp>
    </p:spTree>
  </p:cSld>
  <p:clrMapOvr>
    <a:masterClrMapping/>
  </p:clrMapOvr>
  <p:transition spd="med">
    <p:fade/>
  </p:transition>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THE AGENTIC LOOP</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The Agentic Loop</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Every agent task runs the same repeating cycle. ReAct (2022) calls it Thought → Action → Observation.</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28</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377440"/>
            <a:ext cx="2546604" cy="283464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804672" y="2633472"/>
            <a:ext cx="548640" cy="548640"/>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search-FFFFFF.png"/>
          <p:cNvPicPr>
            <a:picLocks noChangeAspect="1"/>
          </p:cNvPicPr>
          <p:nvPr/>
        </p:nvPicPr>
        <p:blipFill>
          <a:blip r:embed="rId2"/>
          <a:stretch>
            <a:fillRect/>
          </a:stretch>
        </p:blipFill>
        <p:spPr>
          <a:xfrm>
            <a:off x="936345" y="2765145"/>
            <a:ext cx="285292" cy="285292"/>
          </a:xfrm>
          <a:prstGeom prst="rect">
            <a:avLst/>
          </a:prstGeom>
        </p:spPr>
      </p:pic>
      <p:sp>
        <p:nvSpPr>
          <p:cNvPr id="11" name="TextBox 10"/>
          <p:cNvSpPr txBox="1"/>
          <p:nvPr/>
        </p:nvSpPr>
        <p:spPr>
          <a:xfrm>
            <a:off x="804672" y="3291840"/>
            <a:ext cx="2089404" cy="566928"/>
          </a:xfrm>
          <a:prstGeom prst="rect">
            <a:avLst/>
          </a:prstGeom>
          <a:noFill/>
        </p:spPr>
        <p:txBody>
          <a:bodyPr wrap="square" lIns="36576" rIns="36576" tIns="18288" bIns="18288" anchor="t">
            <a:spAutoFit/>
          </a:bodyPr>
          <a:lstStyle/>
          <a:p>
            <a:pPr algn="l">
              <a:lnSpc>
                <a:spcPct val="112000"/>
              </a:lnSpc>
            </a:pPr>
            <a:r>
              <a:rPr sz="1600" b="1" i="0">
                <a:solidFill>
                  <a:srgbClr val="21201C"/>
                </a:solidFill>
                <a:latin typeface="Cambria"/>
              </a:rPr>
              <a:t>1. Gather context</a:t>
            </a:r>
          </a:p>
        </p:txBody>
      </p:sp>
      <p:sp>
        <p:nvSpPr>
          <p:cNvPr id="12" name="TextBox 11"/>
          <p:cNvSpPr txBox="1"/>
          <p:nvPr/>
        </p:nvSpPr>
        <p:spPr>
          <a:xfrm>
            <a:off x="804672" y="3858768"/>
            <a:ext cx="2089404" cy="1261872"/>
          </a:xfrm>
          <a:prstGeom prst="rect">
            <a:avLst/>
          </a:prstGeom>
          <a:noFill/>
        </p:spPr>
        <p:txBody>
          <a:bodyPr wrap="square" lIns="36576" rIns="36576" tIns="18288" bIns="18288" anchor="t">
            <a:spAutoFit/>
          </a:bodyPr>
          <a:lstStyle/>
          <a:p>
            <a:pPr algn="l">
              <a:lnSpc>
                <a:spcPct val="112000"/>
              </a:lnSpc>
            </a:pPr>
            <a:r>
              <a:rPr sz="1250" b="0" i="0">
                <a:solidFill>
                  <a:srgbClr val="6B6862"/>
                </a:solidFill>
                <a:latin typeface="Calibri"/>
              </a:rPr>
              <a:t>Read files and memory, search the web, call tools to understand the task.</a:t>
            </a:r>
          </a:p>
        </p:txBody>
      </p:sp>
      <p:cxnSp>
        <p:nvCxnSpPr>
          <p:cNvPr id="13" name="Connector 12"/>
          <p:cNvCxnSpPr/>
          <p:nvPr/>
        </p:nvCxnSpPr>
        <p:spPr>
          <a:xfrm>
            <a:off x="3131820" y="3794760"/>
            <a:ext cx="219456" cy="0"/>
          </a:xfrm>
          <a:prstGeom prst="line">
            <a:avLst/>
          </a:prstGeom>
          <a:ln w="2540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3387852" y="2377440"/>
            <a:ext cx="2546604" cy="2834640"/>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3643884" y="263347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bolt-FFFFFF.png"/>
          <p:cNvPicPr>
            <a:picLocks noChangeAspect="1"/>
          </p:cNvPicPr>
          <p:nvPr/>
        </p:nvPicPr>
        <p:blipFill>
          <a:blip r:embed="rId3"/>
          <a:stretch>
            <a:fillRect/>
          </a:stretch>
        </p:blipFill>
        <p:spPr>
          <a:xfrm>
            <a:off x="3775557" y="2765145"/>
            <a:ext cx="285292" cy="285292"/>
          </a:xfrm>
          <a:prstGeom prst="rect">
            <a:avLst/>
          </a:prstGeom>
        </p:spPr>
      </p:pic>
      <p:sp>
        <p:nvSpPr>
          <p:cNvPr id="17" name="TextBox 16"/>
          <p:cNvSpPr txBox="1"/>
          <p:nvPr/>
        </p:nvSpPr>
        <p:spPr>
          <a:xfrm>
            <a:off x="3643884" y="3291840"/>
            <a:ext cx="2089404" cy="566928"/>
          </a:xfrm>
          <a:prstGeom prst="rect">
            <a:avLst/>
          </a:prstGeom>
          <a:noFill/>
        </p:spPr>
        <p:txBody>
          <a:bodyPr wrap="square" lIns="36576" rIns="36576" tIns="18288" bIns="18288" anchor="t">
            <a:spAutoFit/>
          </a:bodyPr>
          <a:lstStyle/>
          <a:p>
            <a:pPr algn="l">
              <a:lnSpc>
                <a:spcPct val="112000"/>
              </a:lnSpc>
            </a:pPr>
            <a:r>
              <a:rPr sz="1600" b="1" i="0">
                <a:solidFill>
                  <a:srgbClr val="FFFFFF"/>
                </a:solidFill>
                <a:latin typeface="Cambria"/>
              </a:rPr>
              <a:t>2. Take action</a:t>
            </a:r>
          </a:p>
        </p:txBody>
      </p:sp>
      <p:sp>
        <p:nvSpPr>
          <p:cNvPr id="18" name="TextBox 17"/>
          <p:cNvSpPr txBox="1"/>
          <p:nvPr/>
        </p:nvSpPr>
        <p:spPr>
          <a:xfrm>
            <a:off x="3643884" y="3858768"/>
            <a:ext cx="2089404" cy="1261872"/>
          </a:xfrm>
          <a:prstGeom prst="rect">
            <a:avLst/>
          </a:prstGeom>
          <a:noFill/>
        </p:spPr>
        <p:txBody>
          <a:bodyPr wrap="square" lIns="36576" rIns="36576" tIns="18288" bIns="18288" anchor="t">
            <a:spAutoFit/>
          </a:bodyPr>
          <a:lstStyle/>
          <a:p>
            <a:pPr algn="l">
              <a:lnSpc>
                <a:spcPct val="112000"/>
              </a:lnSpc>
            </a:pPr>
            <a:r>
              <a:rPr sz="1250" b="0" i="0">
                <a:solidFill>
                  <a:srgbClr val="C9C4B9"/>
                </a:solidFill>
                <a:latin typeface="Calibri"/>
              </a:rPr>
              <a:t>Write files, run commands, call MCP tools and APIs to make progress.</a:t>
            </a:r>
          </a:p>
        </p:txBody>
      </p:sp>
      <p:cxnSp>
        <p:nvCxnSpPr>
          <p:cNvPr id="19" name="Connector 18"/>
          <p:cNvCxnSpPr/>
          <p:nvPr/>
        </p:nvCxnSpPr>
        <p:spPr>
          <a:xfrm>
            <a:off x="5971032" y="3794760"/>
            <a:ext cx="219456" cy="0"/>
          </a:xfrm>
          <a:prstGeom prst="line">
            <a:avLst/>
          </a:prstGeom>
          <a:ln w="2540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6227064" y="2377440"/>
            <a:ext cx="2546604" cy="283464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6483096" y="2633472"/>
            <a:ext cx="548640" cy="548640"/>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check-FFFFFF.png"/>
          <p:cNvPicPr>
            <a:picLocks noChangeAspect="1"/>
          </p:cNvPicPr>
          <p:nvPr/>
        </p:nvPicPr>
        <p:blipFill>
          <a:blip r:embed="rId4"/>
          <a:stretch>
            <a:fillRect/>
          </a:stretch>
        </p:blipFill>
        <p:spPr>
          <a:xfrm>
            <a:off x="6614769" y="2765145"/>
            <a:ext cx="285292" cy="285292"/>
          </a:xfrm>
          <a:prstGeom prst="rect">
            <a:avLst/>
          </a:prstGeom>
        </p:spPr>
      </p:pic>
      <p:sp>
        <p:nvSpPr>
          <p:cNvPr id="23" name="TextBox 22"/>
          <p:cNvSpPr txBox="1"/>
          <p:nvPr/>
        </p:nvSpPr>
        <p:spPr>
          <a:xfrm>
            <a:off x="6483096" y="3291840"/>
            <a:ext cx="2089404" cy="566928"/>
          </a:xfrm>
          <a:prstGeom prst="rect">
            <a:avLst/>
          </a:prstGeom>
          <a:noFill/>
        </p:spPr>
        <p:txBody>
          <a:bodyPr wrap="square" lIns="36576" rIns="36576" tIns="18288" bIns="18288" anchor="t">
            <a:spAutoFit/>
          </a:bodyPr>
          <a:lstStyle/>
          <a:p>
            <a:pPr algn="l">
              <a:lnSpc>
                <a:spcPct val="112000"/>
              </a:lnSpc>
            </a:pPr>
            <a:r>
              <a:rPr sz="1600" b="1" i="0">
                <a:solidFill>
                  <a:srgbClr val="21201C"/>
                </a:solidFill>
                <a:latin typeface="Cambria"/>
              </a:rPr>
              <a:t>3. Verify work</a:t>
            </a:r>
          </a:p>
        </p:txBody>
      </p:sp>
      <p:sp>
        <p:nvSpPr>
          <p:cNvPr id="24" name="TextBox 23"/>
          <p:cNvSpPr txBox="1"/>
          <p:nvPr/>
        </p:nvSpPr>
        <p:spPr>
          <a:xfrm>
            <a:off x="6483096" y="3858768"/>
            <a:ext cx="2089404" cy="1261872"/>
          </a:xfrm>
          <a:prstGeom prst="rect">
            <a:avLst/>
          </a:prstGeom>
          <a:noFill/>
        </p:spPr>
        <p:txBody>
          <a:bodyPr wrap="square" lIns="36576" rIns="36576" tIns="18288" bIns="18288" anchor="t">
            <a:spAutoFit/>
          </a:bodyPr>
          <a:lstStyle/>
          <a:p>
            <a:pPr algn="l">
              <a:lnSpc>
                <a:spcPct val="112000"/>
              </a:lnSpc>
            </a:pPr>
            <a:r>
              <a:rPr sz="1250" b="0" i="0">
                <a:solidFill>
                  <a:srgbClr val="6B6862"/>
                </a:solidFill>
                <a:latin typeface="Calibri"/>
              </a:rPr>
              <a:t>Check the result — tests, a checklist, a screenshot, a second agent.</a:t>
            </a:r>
          </a:p>
        </p:txBody>
      </p:sp>
      <p:cxnSp>
        <p:nvCxnSpPr>
          <p:cNvPr id="25" name="Connector 24"/>
          <p:cNvCxnSpPr/>
          <p:nvPr/>
        </p:nvCxnSpPr>
        <p:spPr>
          <a:xfrm>
            <a:off x="8810243" y="3794760"/>
            <a:ext cx="219457" cy="0"/>
          </a:xfrm>
          <a:prstGeom prst="line">
            <a:avLst/>
          </a:prstGeom>
          <a:ln w="2540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9066276" y="2377440"/>
            <a:ext cx="2546604" cy="2834640"/>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9322307" y="263347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loop-FFFFFF.png"/>
          <p:cNvPicPr>
            <a:picLocks noChangeAspect="1"/>
          </p:cNvPicPr>
          <p:nvPr/>
        </p:nvPicPr>
        <p:blipFill>
          <a:blip r:embed="rId5"/>
          <a:stretch>
            <a:fillRect/>
          </a:stretch>
        </p:blipFill>
        <p:spPr>
          <a:xfrm>
            <a:off x="9453981" y="2765145"/>
            <a:ext cx="285292" cy="285292"/>
          </a:xfrm>
          <a:prstGeom prst="rect">
            <a:avLst/>
          </a:prstGeom>
        </p:spPr>
      </p:pic>
      <p:sp>
        <p:nvSpPr>
          <p:cNvPr id="29" name="TextBox 28"/>
          <p:cNvSpPr txBox="1"/>
          <p:nvPr/>
        </p:nvSpPr>
        <p:spPr>
          <a:xfrm>
            <a:off x="9322307" y="3291840"/>
            <a:ext cx="2089404" cy="566928"/>
          </a:xfrm>
          <a:prstGeom prst="rect">
            <a:avLst/>
          </a:prstGeom>
          <a:noFill/>
        </p:spPr>
        <p:txBody>
          <a:bodyPr wrap="square" lIns="36576" rIns="36576" tIns="18288" bIns="18288" anchor="t">
            <a:spAutoFit/>
          </a:bodyPr>
          <a:lstStyle/>
          <a:p>
            <a:pPr algn="l">
              <a:lnSpc>
                <a:spcPct val="112000"/>
              </a:lnSpc>
            </a:pPr>
            <a:r>
              <a:rPr sz="1600" b="1" i="0">
                <a:solidFill>
                  <a:srgbClr val="FFFFFF"/>
                </a:solidFill>
                <a:latin typeface="Cambria"/>
              </a:rPr>
              <a:t>4. Repeat</a:t>
            </a:r>
          </a:p>
        </p:txBody>
      </p:sp>
      <p:sp>
        <p:nvSpPr>
          <p:cNvPr id="30" name="TextBox 29"/>
          <p:cNvSpPr txBox="1"/>
          <p:nvPr/>
        </p:nvSpPr>
        <p:spPr>
          <a:xfrm>
            <a:off x="9322307" y="3858768"/>
            <a:ext cx="2089404" cy="1261872"/>
          </a:xfrm>
          <a:prstGeom prst="rect">
            <a:avLst/>
          </a:prstGeom>
          <a:noFill/>
        </p:spPr>
        <p:txBody>
          <a:bodyPr wrap="square" lIns="36576" rIns="36576" tIns="18288" bIns="18288" anchor="t">
            <a:spAutoFit/>
          </a:bodyPr>
          <a:lstStyle/>
          <a:p>
            <a:pPr algn="l">
              <a:lnSpc>
                <a:spcPct val="112000"/>
              </a:lnSpc>
            </a:pPr>
            <a:r>
              <a:rPr sz="1250" b="0" i="0">
                <a:solidFill>
                  <a:srgbClr val="C9C4B9"/>
                </a:solidFill>
                <a:latin typeface="Calibri"/>
              </a:rPr>
              <a:t>Feed results back as new context and loop until the goal is met.</a:t>
            </a:r>
          </a:p>
        </p:txBody>
      </p:sp>
      <p:sp>
        <p:nvSpPr>
          <p:cNvPr id="31" name="TextBox 30"/>
          <p:cNvSpPr txBox="1"/>
          <p:nvPr/>
        </p:nvSpPr>
        <p:spPr>
          <a:xfrm>
            <a:off x="548640" y="5486400"/>
            <a:ext cx="11064240" cy="384048"/>
          </a:xfrm>
          <a:prstGeom prst="rect">
            <a:avLst/>
          </a:prstGeom>
          <a:noFill/>
        </p:spPr>
        <p:txBody>
          <a:bodyPr wrap="square" lIns="36576" rIns="36576" tIns="18288" bIns="18288" anchor="t">
            <a:spAutoFit/>
          </a:bodyPr>
          <a:lstStyle/>
          <a:p>
            <a:pPr algn="ctr">
              <a:lnSpc>
                <a:spcPct val="112000"/>
              </a:lnSpc>
            </a:pPr>
            <a:r>
              <a:rPr sz="1400" b="0" i="0">
                <a:solidFill>
                  <a:srgbClr val="C2603F"/>
                </a:solidFill>
                <a:latin typeface="Calibri"/>
              </a:rPr>
              <a:t>Goal in → context → action → verification → repeat → goal met</a:t>
            </a:r>
          </a:p>
        </p:txBody>
      </p:sp>
    </p:spTree>
  </p:cSld>
  <p:clrMapOvr>
    <a:masterClrMapping/>
  </p:clrMapOvr>
  <p:transition spd="med">
    <p:fade/>
  </p:transition>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THE AGENTIC LOOP</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The Loop in Action — Mia's Research Brief (Lab 1)</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29</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target-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600" b="1" i="0">
                <a:solidFill>
                  <a:srgbClr val="FFFFFF"/>
                </a:solidFill>
                <a:latin typeface="Cambria"/>
              </a:rPr>
              <a:t>Goal</a:t>
            </a:r>
          </a:p>
        </p:txBody>
      </p:sp>
      <p:sp>
        <p:nvSpPr>
          <p:cNvPr id="10" name="TextBox 9"/>
          <p:cNvSpPr txBox="1"/>
          <p:nvPr/>
        </p:nvSpPr>
        <p:spPr>
          <a:xfrm>
            <a:off x="1371600" y="2084831"/>
            <a:ext cx="10241280" cy="370331"/>
          </a:xfrm>
          <a:prstGeom prst="rect">
            <a:avLst/>
          </a:prstGeom>
          <a:noFill/>
        </p:spPr>
        <p:txBody>
          <a:bodyPr wrap="square" lIns="36576" rIns="36576" tIns="18288" bIns="18288" anchor="t">
            <a:spAutoFit/>
          </a:bodyPr>
          <a:lstStyle/>
          <a:p>
            <a:pPr algn="l">
              <a:lnSpc>
                <a:spcPct val="112000"/>
              </a:lnSpc>
            </a:pPr>
            <a:r>
              <a:rPr sz="1250" b="0" i="0">
                <a:solidFill>
                  <a:srgbClr val="C9C4B9"/>
                </a:solidFill>
                <a:latin typeface="Calibri"/>
              </a:rPr>
              <a:t>"Write a research brief with three evidence-backed campaign angles."</a:t>
            </a:r>
          </a:p>
        </p:txBody>
      </p:sp>
      <p:sp>
        <p:nvSpPr>
          <p:cNvPr id="11" name="Oval 10"/>
          <p:cNvSpPr/>
          <p:nvPr/>
        </p:nvSpPr>
        <p:spPr>
          <a:xfrm>
            <a:off x="640080" y="2528315"/>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search-FFFFFF.png"/>
          <p:cNvPicPr>
            <a:picLocks noChangeAspect="1"/>
          </p:cNvPicPr>
          <p:nvPr/>
        </p:nvPicPr>
        <p:blipFill>
          <a:blip r:embed="rId3"/>
          <a:stretch>
            <a:fillRect/>
          </a:stretch>
        </p:blipFill>
        <p:spPr>
          <a:xfrm>
            <a:off x="771753" y="2659989"/>
            <a:ext cx="285292" cy="285292"/>
          </a:xfrm>
          <a:prstGeom prst="rect">
            <a:avLst/>
          </a:prstGeom>
        </p:spPr>
      </p:pic>
      <p:sp>
        <p:nvSpPr>
          <p:cNvPr id="13" name="TextBox 12"/>
          <p:cNvSpPr txBox="1"/>
          <p:nvPr/>
        </p:nvSpPr>
        <p:spPr>
          <a:xfrm>
            <a:off x="1371600" y="2473451"/>
            <a:ext cx="10241280" cy="384048"/>
          </a:xfrm>
          <a:prstGeom prst="rect">
            <a:avLst/>
          </a:prstGeom>
          <a:noFill/>
        </p:spPr>
        <p:txBody>
          <a:bodyPr wrap="square" lIns="36576" rIns="36576" tIns="18288" bIns="18288" anchor="t">
            <a:spAutoFit/>
          </a:bodyPr>
          <a:lstStyle/>
          <a:p>
            <a:pPr algn="l">
              <a:lnSpc>
                <a:spcPct val="112000"/>
              </a:lnSpc>
            </a:pPr>
            <a:r>
              <a:rPr sz="1600" b="1" i="0">
                <a:solidFill>
                  <a:srgbClr val="FFFFFF"/>
                </a:solidFill>
                <a:latin typeface="Cambria"/>
              </a:rPr>
              <a:t>Gather context</a:t>
            </a:r>
          </a:p>
        </p:txBody>
      </p:sp>
      <p:sp>
        <p:nvSpPr>
          <p:cNvPr id="14" name="TextBox 13"/>
          <p:cNvSpPr txBox="1"/>
          <p:nvPr/>
        </p:nvSpPr>
        <p:spPr>
          <a:xfrm>
            <a:off x="1371600" y="2839211"/>
            <a:ext cx="10241280" cy="370331"/>
          </a:xfrm>
          <a:prstGeom prst="rect">
            <a:avLst/>
          </a:prstGeom>
          <a:noFill/>
        </p:spPr>
        <p:txBody>
          <a:bodyPr wrap="square" lIns="36576" rIns="36576" tIns="18288" bIns="18288" anchor="t">
            <a:spAutoFit/>
          </a:bodyPr>
          <a:lstStyle/>
          <a:p>
            <a:pPr algn="l">
              <a:lnSpc>
                <a:spcPct val="112000"/>
              </a:lnSpc>
            </a:pPr>
            <a:r>
              <a:rPr sz="1250" b="0" i="0">
                <a:solidFill>
                  <a:srgbClr val="C9C4B9"/>
                </a:solidFill>
                <a:latin typeface="Calibri"/>
              </a:rPr>
              <a:t>Loads AGENTS.md and memory, reads 60 reviews, searches 2026 cold-brew trends.</a:t>
            </a:r>
          </a:p>
        </p:txBody>
      </p:sp>
      <p:sp>
        <p:nvSpPr>
          <p:cNvPr id="15" name="Oval 14"/>
          <p:cNvSpPr/>
          <p:nvPr/>
        </p:nvSpPr>
        <p:spPr>
          <a:xfrm>
            <a:off x="640080" y="328269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brain-FFFFFF.png"/>
          <p:cNvPicPr>
            <a:picLocks noChangeAspect="1"/>
          </p:cNvPicPr>
          <p:nvPr/>
        </p:nvPicPr>
        <p:blipFill>
          <a:blip r:embed="rId4"/>
          <a:stretch>
            <a:fillRect/>
          </a:stretch>
        </p:blipFill>
        <p:spPr>
          <a:xfrm>
            <a:off x="771753" y="3414369"/>
            <a:ext cx="285292" cy="285292"/>
          </a:xfrm>
          <a:prstGeom prst="rect">
            <a:avLst/>
          </a:prstGeom>
        </p:spPr>
      </p:pic>
      <p:sp>
        <p:nvSpPr>
          <p:cNvPr id="17" name="TextBox 16"/>
          <p:cNvSpPr txBox="1"/>
          <p:nvPr/>
        </p:nvSpPr>
        <p:spPr>
          <a:xfrm>
            <a:off x="1371600" y="3227832"/>
            <a:ext cx="10241280" cy="384048"/>
          </a:xfrm>
          <a:prstGeom prst="rect">
            <a:avLst/>
          </a:prstGeom>
          <a:noFill/>
        </p:spPr>
        <p:txBody>
          <a:bodyPr wrap="square" lIns="36576" rIns="36576" tIns="18288" bIns="18288" anchor="t">
            <a:spAutoFit/>
          </a:bodyPr>
          <a:lstStyle/>
          <a:p>
            <a:pPr algn="l">
              <a:lnSpc>
                <a:spcPct val="112000"/>
              </a:lnSpc>
            </a:pPr>
            <a:r>
              <a:rPr sz="1600" b="1" i="0">
                <a:solidFill>
                  <a:srgbClr val="FFFFFF"/>
                </a:solidFill>
                <a:latin typeface="Cambria"/>
              </a:rPr>
              <a:t>Reason &amp; plan</a:t>
            </a:r>
          </a:p>
        </p:txBody>
      </p:sp>
      <p:sp>
        <p:nvSpPr>
          <p:cNvPr id="18" name="TextBox 17"/>
          <p:cNvSpPr txBox="1"/>
          <p:nvPr/>
        </p:nvSpPr>
        <p:spPr>
          <a:xfrm>
            <a:off x="1371600" y="3593591"/>
            <a:ext cx="10241280" cy="370331"/>
          </a:xfrm>
          <a:prstGeom prst="rect">
            <a:avLst/>
          </a:prstGeom>
          <a:noFill/>
        </p:spPr>
        <p:txBody>
          <a:bodyPr wrap="square" lIns="36576" rIns="36576" tIns="18288" bIns="18288" anchor="t">
            <a:spAutoFit/>
          </a:bodyPr>
          <a:lstStyle/>
          <a:p>
            <a:pPr algn="l">
              <a:lnSpc>
                <a:spcPct val="112000"/>
              </a:lnSpc>
            </a:pPr>
            <a:r>
              <a:rPr sz="1250" b="0" i="0">
                <a:solidFill>
                  <a:srgbClr val="C9C4B9"/>
                </a:solidFill>
                <a:latin typeface="Calibri"/>
              </a:rPr>
              <a:t>Groups reviews into themes, compares competitors, drafts three angles.</a:t>
            </a:r>
          </a:p>
        </p:txBody>
      </p:sp>
      <p:sp>
        <p:nvSpPr>
          <p:cNvPr id="19" name="Oval 18"/>
          <p:cNvSpPr/>
          <p:nvPr/>
        </p:nvSpPr>
        <p:spPr>
          <a:xfrm>
            <a:off x="640080" y="403707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bolt-FFFFFF.png"/>
          <p:cNvPicPr>
            <a:picLocks noChangeAspect="1"/>
          </p:cNvPicPr>
          <p:nvPr/>
        </p:nvPicPr>
        <p:blipFill>
          <a:blip r:embed="rId5"/>
          <a:stretch>
            <a:fillRect/>
          </a:stretch>
        </p:blipFill>
        <p:spPr>
          <a:xfrm>
            <a:off x="771753" y="4168749"/>
            <a:ext cx="285292" cy="285292"/>
          </a:xfrm>
          <a:prstGeom prst="rect">
            <a:avLst/>
          </a:prstGeom>
        </p:spPr>
      </p:pic>
      <p:sp>
        <p:nvSpPr>
          <p:cNvPr id="21" name="TextBox 20"/>
          <p:cNvSpPr txBox="1"/>
          <p:nvPr/>
        </p:nvSpPr>
        <p:spPr>
          <a:xfrm>
            <a:off x="1371600" y="3982212"/>
            <a:ext cx="10241280" cy="384048"/>
          </a:xfrm>
          <a:prstGeom prst="rect">
            <a:avLst/>
          </a:prstGeom>
          <a:noFill/>
        </p:spPr>
        <p:txBody>
          <a:bodyPr wrap="square" lIns="36576" rIns="36576" tIns="18288" bIns="18288" anchor="t">
            <a:spAutoFit/>
          </a:bodyPr>
          <a:lstStyle/>
          <a:p>
            <a:pPr algn="l">
              <a:lnSpc>
                <a:spcPct val="112000"/>
              </a:lnSpc>
            </a:pPr>
            <a:r>
              <a:rPr sz="1600" b="1" i="0">
                <a:solidFill>
                  <a:srgbClr val="FFFFFF"/>
                </a:solidFill>
                <a:latin typeface="Cambria"/>
              </a:rPr>
              <a:t>Act</a:t>
            </a:r>
          </a:p>
        </p:txBody>
      </p:sp>
      <p:sp>
        <p:nvSpPr>
          <p:cNvPr id="22" name="TextBox 21"/>
          <p:cNvSpPr txBox="1"/>
          <p:nvPr/>
        </p:nvSpPr>
        <p:spPr>
          <a:xfrm>
            <a:off x="1371600" y="4347972"/>
            <a:ext cx="10241280" cy="370331"/>
          </a:xfrm>
          <a:prstGeom prst="rect">
            <a:avLst/>
          </a:prstGeom>
          <a:noFill/>
        </p:spPr>
        <p:txBody>
          <a:bodyPr wrap="square" lIns="36576" rIns="36576" tIns="18288" bIns="18288" anchor="t">
            <a:spAutoFit/>
          </a:bodyPr>
          <a:lstStyle/>
          <a:p>
            <a:pPr algn="l">
              <a:lnSpc>
                <a:spcPct val="112000"/>
              </a:lnSpc>
            </a:pPr>
            <a:r>
              <a:rPr sz="1250" b="0" i="0">
                <a:solidFill>
                  <a:srgbClr val="C9C4B9"/>
                </a:solidFill>
                <a:latin typeface="Calibri"/>
              </a:rPr>
              <a:t>Writes review-insights.md and research-brief.md with citations.</a:t>
            </a:r>
          </a:p>
        </p:txBody>
      </p:sp>
      <p:sp>
        <p:nvSpPr>
          <p:cNvPr id="23" name="Oval 22"/>
          <p:cNvSpPr/>
          <p:nvPr/>
        </p:nvSpPr>
        <p:spPr>
          <a:xfrm>
            <a:off x="640080" y="4791455"/>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check-FFFFFF.png"/>
          <p:cNvPicPr>
            <a:picLocks noChangeAspect="1"/>
          </p:cNvPicPr>
          <p:nvPr/>
        </p:nvPicPr>
        <p:blipFill>
          <a:blip r:embed="rId6"/>
          <a:stretch>
            <a:fillRect/>
          </a:stretch>
        </p:blipFill>
        <p:spPr>
          <a:xfrm>
            <a:off x="771753" y="4923129"/>
            <a:ext cx="285292" cy="285292"/>
          </a:xfrm>
          <a:prstGeom prst="rect">
            <a:avLst/>
          </a:prstGeom>
        </p:spPr>
      </p:pic>
      <p:sp>
        <p:nvSpPr>
          <p:cNvPr id="25" name="TextBox 24"/>
          <p:cNvSpPr txBox="1"/>
          <p:nvPr/>
        </p:nvSpPr>
        <p:spPr>
          <a:xfrm>
            <a:off x="1371600" y="4736592"/>
            <a:ext cx="10241280" cy="384048"/>
          </a:xfrm>
          <a:prstGeom prst="rect">
            <a:avLst/>
          </a:prstGeom>
          <a:noFill/>
        </p:spPr>
        <p:txBody>
          <a:bodyPr wrap="square" lIns="36576" rIns="36576" tIns="18288" bIns="18288" anchor="t">
            <a:spAutoFit/>
          </a:bodyPr>
          <a:lstStyle/>
          <a:p>
            <a:pPr algn="l">
              <a:lnSpc>
                <a:spcPct val="112000"/>
              </a:lnSpc>
            </a:pPr>
            <a:r>
              <a:rPr sz="1600" b="1" i="0">
                <a:solidFill>
                  <a:srgbClr val="FFFFFF"/>
                </a:solidFill>
                <a:latin typeface="Cambria"/>
              </a:rPr>
              <a:t>Verify</a:t>
            </a:r>
          </a:p>
        </p:txBody>
      </p:sp>
      <p:sp>
        <p:nvSpPr>
          <p:cNvPr id="26" name="TextBox 25"/>
          <p:cNvSpPr txBox="1"/>
          <p:nvPr/>
        </p:nvSpPr>
        <p:spPr>
          <a:xfrm>
            <a:off x="1371600" y="5102351"/>
            <a:ext cx="10241280" cy="370331"/>
          </a:xfrm>
          <a:prstGeom prst="rect">
            <a:avLst/>
          </a:prstGeom>
          <a:noFill/>
        </p:spPr>
        <p:txBody>
          <a:bodyPr wrap="square" lIns="36576" rIns="36576" tIns="18288" bIns="18288" anchor="t">
            <a:spAutoFit/>
          </a:bodyPr>
          <a:lstStyle/>
          <a:p>
            <a:pPr algn="l">
              <a:lnSpc>
                <a:spcPct val="112000"/>
              </a:lnSpc>
            </a:pPr>
            <a:r>
              <a:rPr sz="1250" b="0" i="0">
                <a:solidFill>
                  <a:srgbClr val="C9C4B9"/>
                </a:solidFill>
                <a:latin typeface="Calibri"/>
              </a:rPr>
              <a:t>Checks each claim has a review ID or URL; flags anything unverified.</a:t>
            </a:r>
          </a:p>
        </p:txBody>
      </p:sp>
      <p:sp>
        <p:nvSpPr>
          <p:cNvPr id="27" name="Oval 26"/>
          <p:cNvSpPr/>
          <p:nvPr/>
        </p:nvSpPr>
        <p:spPr>
          <a:xfrm>
            <a:off x="640080" y="5545835"/>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user-FFFFFF.png"/>
          <p:cNvPicPr>
            <a:picLocks noChangeAspect="1"/>
          </p:cNvPicPr>
          <p:nvPr/>
        </p:nvPicPr>
        <p:blipFill>
          <a:blip r:embed="rId7"/>
          <a:stretch>
            <a:fillRect/>
          </a:stretch>
        </p:blipFill>
        <p:spPr>
          <a:xfrm>
            <a:off x="771753" y="5677509"/>
            <a:ext cx="285292" cy="285292"/>
          </a:xfrm>
          <a:prstGeom prst="rect">
            <a:avLst/>
          </a:prstGeom>
        </p:spPr>
      </p:pic>
      <p:sp>
        <p:nvSpPr>
          <p:cNvPr id="29" name="TextBox 28"/>
          <p:cNvSpPr txBox="1"/>
          <p:nvPr/>
        </p:nvSpPr>
        <p:spPr>
          <a:xfrm>
            <a:off x="1371600" y="5490971"/>
            <a:ext cx="10241280" cy="384048"/>
          </a:xfrm>
          <a:prstGeom prst="rect">
            <a:avLst/>
          </a:prstGeom>
          <a:noFill/>
        </p:spPr>
        <p:txBody>
          <a:bodyPr wrap="square" lIns="36576" rIns="36576" tIns="18288" bIns="18288" anchor="t">
            <a:spAutoFit/>
          </a:bodyPr>
          <a:lstStyle/>
          <a:p>
            <a:pPr algn="l">
              <a:lnSpc>
                <a:spcPct val="112000"/>
              </a:lnSpc>
            </a:pPr>
            <a:r>
              <a:rPr sz="1600" b="1" i="0">
                <a:solidFill>
                  <a:srgbClr val="FFFFFF"/>
                </a:solidFill>
                <a:latin typeface="Cambria"/>
              </a:rPr>
              <a:t>Human checkpoint</a:t>
            </a:r>
          </a:p>
        </p:txBody>
      </p:sp>
      <p:sp>
        <p:nvSpPr>
          <p:cNvPr id="30" name="TextBox 29"/>
          <p:cNvSpPr txBox="1"/>
          <p:nvPr/>
        </p:nvSpPr>
        <p:spPr>
          <a:xfrm>
            <a:off x="1371600" y="5856731"/>
            <a:ext cx="10241280" cy="370331"/>
          </a:xfrm>
          <a:prstGeom prst="rect">
            <a:avLst/>
          </a:prstGeom>
          <a:noFill/>
        </p:spPr>
        <p:txBody>
          <a:bodyPr wrap="square" lIns="36576" rIns="36576" tIns="18288" bIns="18288" anchor="t">
            <a:spAutoFit/>
          </a:bodyPr>
          <a:lstStyle/>
          <a:p>
            <a:pPr algn="l">
              <a:lnSpc>
                <a:spcPct val="112000"/>
              </a:lnSpc>
            </a:pPr>
            <a:r>
              <a:rPr sz="1250" b="0" i="0">
                <a:solidFill>
                  <a:srgbClr val="C9C4B9"/>
                </a:solidFill>
                <a:latin typeface="Calibri"/>
              </a:rPr>
              <a:t>You challenge a claim and choose the angle — Mia saves it to long-term memory.</a:t>
            </a:r>
          </a:p>
        </p:txBody>
      </p:sp>
    </p:spTree>
  </p:cSld>
  <p:clrMapOvr>
    <a:masterClrMapping/>
  </p:clrMapOvr>
  <p:transition spd="med">
    <p:fade/>
  </p:transition>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THE AGENTIC LOOP</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Why the Loop Matters</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30</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target-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Give direction, not micro-steps</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State the goal, constraints and definition of done; let the loop find the steps.</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check-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Verification is everything</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An agent is only as good as its ability to check its own work — checklists, auditors, tests.</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hand-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Steer mid-loop</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Review plans and drafts early; send work back with specific feedback rather than waiting for a wrong final answer.</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layers-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Context is the fuel</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What the agent can see decides what it can do — that is why we give it AGENTS.md, skills and memory.</a:t>
            </a:r>
          </a:p>
        </p:txBody>
      </p:sp>
    </p:spTree>
  </p:cSld>
  <p:clrMapOvr>
    <a:masterClrMapping/>
  </p:clrMapOvr>
  <p:transition spd="med">
    <p:fade/>
  </p:transition>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HARNESS ENGINEERING</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What Is Harness Engineering?</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Agent = Model + Harness. The harness is everything around the model that turns it into a dependable worker.</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31</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286000"/>
            <a:ext cx="5852160" cy="388620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22960" y="2468880"/>
            <a:ext cx="5394960" cy="411480"/>
          </a:xfrm>
          <a:prstGeom prst="rect">
            <a:avLst/>
          </a:prstGeom>
          <a:noFill/>
        </p:spPr>
        <p:txBody>
          <a:bodyPr wrap="square" lIns="36576" rIns="36576" tIns="18288" bIns="18288" anchor="t">
            <a:spAutoFit/>
          </a:bodyPr>
          <a:lstStyle/>
          <a:p>
            <a:pPr algn="l">
              <a:lnSpc>
                <a:spcPct val="112000"/>
              </a:lnSpc>
            </a:pPr>
            <a:r>
              <a:rPr sz="1700" b="1" i="0">
                <a:solidFill>
                  <a:srgbClr val="21201C"/>
                </a:solidFill>
                <a:latin typeface="Cambria"/>
              </a:rPr>
              <a:t>A harness provides</a:t>
            </a:r>
          </a:p>
        </p:txBody>
      </p:sp>
      <p:sp>
        <p:nvSpPr>
          <p:cNvPr id="10" name="TextBox 9"/>
          <p:cNvSpPr txBox="1"/>
          <p:nvPr/>
        </p:nvSpPr>
        <p:spPr>
          <a:xfrm>
            <a:off x="822960" y="2971800"/>
            <a:ext cx="5394960" cy="3108960"/>
          </a:xfrm>
          <a:prstGeom prst="rect">
            <a:avLst/>
          </a:prstGeom>
          <a:noFill/>
        </p:spPr>
        <p:txBody>
          <a:bodyPr wrap="square" lIns="36576" rIns="36576" tIns="18288" bIns="18288" anchor="t">
            <a:spAutoFit/>
          </a:bodyPr>
          <a:lstStyle/>
          <a:p>
            <a:pPr algn="l">
              <a:lnSpc>
                <a:spcPct val="122000"/>
              </a:lnSpc>
            </a:pPr>
            <a:r>
              <a:rPr sz="1350" b="0" i="0">
                <a:solidFill>
                  <a:srgbClr val="6B6862"/>
                </a:solidFill>
                <a:latin typeface="Calibri"/>
              </a:rPr>
              <a:t>•  The agentic loop (gather → act → verify → repeat)</a:t>
            </a:r>
          </a:p>
          <a:p>
            <a:pPr algn="l">
              <a:lnSpc>
                <a:spcPct val="122000"/>
              </a:lnSpc>
            </a:pPr>
            <a:r>
              <a:rPr sz="1350" b="0" i="0">
                <a:solidFill>
                  <a:srgbClr val="6B6862"/>
                </a:solidFill>
                <a:latin typeface="Calibri"/>
              </a:rPr>
              <a:t>•  Tools and MCP connections</a:t>
            </a:r>
          </a:p>
          <a:p>
            <a:pPr algn="l">
              <a:lnSpc>
                <a:spcPct val="122000"/>
              </a:lnSpc>
            </a:pPr>
            <a:r>
              <a:rPr sz="1350" b="0" i="0">
                <a:solidFill>
                  <a:srgbClr val="6B6862"/>
                </a:solidFill>
                <a:latin typeface="Calibri"/>
              </a:rPr>
              <a:t>•  Context &amp; memory management</a:t>
            </a:r>
          </a:p>
          <a:p>
            <a:pPr algn="l">
              <a:lnSpc>
                <a:spcPct val="122000"/>
              </a:lnSpc>
            </a:pPr>
            <a:r>
              <a:rPr sz="1350" b="0" i="0">
                <a:solidFill>
                  <a:srgbClr val="6B6862"/>
                </a:solidFill>
                <a:latin typeface="Calibri"/>
              </a:rPr>
              <a:t>•  Skills (procedural know-how)</a:t>
            </a:r>
          </a:p>
          <a:p>
            <a:pPr algn="l">
              <a:lnSpc>
                <a:spcPct val="122000"/>
              </a:lnSpc>
            </a:pPr>
            <a:r>
              <a:rPr sz="1350" b="0" i="0">
                <a:solidFill>
                  <a:srgbClr val="6B6862"/>
                </a:solidFill>
                <a:latin typeface="Calibri"/>
              </a:rPr>
              <a:t>•  Verification — checklists, tests, auditor agents</a:t>
            </a:r>
          </a:p>
          <a:p>
            <a:pPr algn="l">
              <a:lnSpc>
                <a:spcPct val="122000"/>
              </a:lnSpc>
            </a:pPr>
            <a:r>
              <a:rPr sz="1350" b="0" i="0">
                <a:solidFill>
                  <a:srgbClr val="6B6862"/>
                </a:solidFill>
                <a:latin typeface="Calibri"/>
              </a:rPr>
              <a:t>•  Guardrails — permissions, budgets, approval gates</a:t>
            </a:r>
          </a:p>
          <a:p>
            <a:pPr algn="l">
              <a:lnSpc>
                <a:spcPct val="122000"/>
              </a:lnSpc>
            </a:pPr>
            <a:r>
              <a:rPr sz="1350" b="0" i="0">
                <a:solidFill>
                  <a:srgbClr val="6B6862"/>
                </a:solidFill>
                <a:latin typeface="Calibri"/>
              </a:rPr>
              <a:t>•  Sub-agents and orchestration</a:t>
            </a:r>
          </a:p>
          <a:p>
            <a:pPr algn="l">
              <a:lnSpc>
                <a:spcPct val="122000"/>
              </a:lnSpc>
            </a:pPr>
            <a:r>
              <a:rPr sz="1350" b="0" i="0">
                <a:solidFill>
                  <a:srgbClr val="6B6862"/>
                </a:solidFill>
                <a:latin typeface="Calibri"/>
              </a:rPr>
              <a:t>•  Observability — logs, costs, audit trail</a:t>
            </a:r>
          </a:p>
        </p:txBody>
      </p:sp>
      <p:sp>
        <p:nvSpPr>
          <p:cNvPr id="11" name="Rounded Rectangle 10"/>
          <p:cNvSpPr/>
          <p:nvPr/>
        </p:nvSpPr>
        <p:spPr>
          <a:xfrm>
            <a:off x="6583680" y="2286000"/>
            <a:ext cx="5029200" cy="3886200"/>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858000" y="2468880"/>
            <a:ext cx="4572000" cy="411480"/>
          </a:xfrm>
          <a:prstGeom prst="rect">
            <a:avLst/>
          </a:prstGeom>
          <a:noFill/>
        </p:spPr>
        <p:txBody>
          <a:bodyPr wrap="square" lIns="36576" rIns="36576" tIns="18288" bIns="18288" anchor="t">
            <a:spAutoFit/>
          </a:bodyPr>
          <a:lstStyle/>
          <a:p>
            <a:pPr algn="l">
              <a:lnSpc>
                <a:spcPct val="112000"/>
              </a:lnSpc>
            </a:pPr>
            <a:r>
              <a:rPr sz="1700" b="1" i="0">
                <a:solidFill>
                  <a:srgbClr val="FFFFFF"/>
                </a:solidFill>
                <a:latin typeface="Cambria"/>
              </a:rPr>
              <a:t>Who named it</a:t>
            </a:r>
          </a:p>
        </p:txBody>
      </p:sp>
      <p:sp>
        <p:nvSpPr>
          <p:cNvPr id="13" name="TextBox 12"/>
          <p:cNvSpPr txBox="1"/>
          <p:nvPr/>
        </p:nvSpPr>
        <p:spPr>
          <a:xfrm>
            <a:off x="6858000" y="2971800"/>
            <a:ext cx="4526280" cy="3108960"/>
          </a:xfrm>
          <a:prstGeom prst="rect">
            <a:avLst/>
          </a:prstGeom>
          <a:noFill/>
        </p:spPr>
        <p:txBody>
          <a:bodyPr wrap="square" lIns="36576" rIns="36576" tIns="18288" bIns="18288" anchor="t">
            <a:spAutoFit/>
          </a:bodyPr>
          <a:lstStyle/>
          <a:p>
            <a:pPr algn="l">
              <a:lnSpc>
                <a:spcPct val="120000"/>
              </a:lnSpc>
            </a:pPr>
            <a:r>
              <a:rPr sz="1250" b="0" i="0">
                <a:solidFill>
                  <a:srgbClr val="C9C4B9"/>
                </a:solidFill>
                <a:latin typeface="Calibri"/>
              </a:rPr>
              <a:t>Nov 2025 — Anthropic: "Effective harnesses for long-running agents".</a:t>
            </a:r>
          </a:p>
          <a:p>
            <a:pPr algn="l">
              <a:lnSpc>
                <a:spcPct val="120000"/>
              </a:lnSpc>
            </a:pPr>
          </a:p>
          <a:p>
            <a:pPr algn="l">
              <a:lnSpc>
                <a:spcPct val="120000"/>
              </a:lnSpc>
            </a:pPr>
            <a:r>
              <a:rPr sz="1250" b="0" i="0">
                <a:solidFill>
                  <a:srgbClr val="C9C4B9"/>
                </a:solidFill>
                <a:latin typeface="Calibri"/>
              </a:rPr>
              <a:t>Feb 2026 — Mitchell Hashimoto: "Engineer the harness" — every time an agent makes a mistake, fix the environment so it never happens again.</a:t>
            </a:r>
          </a:p>
          <a:p>
            <a:pPr algn="l">
              <a:lnSpc>
                <a:spcPct val="120000"/>
              </a:lnSpc>
            </a:pPr>
          </a:p>
          <a:p>
            <a:pPr algn="l">
              <a:lnSpc>
                <a:spcPct val="120000"/>
              </a:lnSpc>
            </a:pPr>
            <a:r>
              <a:rPr sz="1250" b="0" i="0">
                <a:solidFill>
                  <a:srgbClr val="C9C4B9"/>
                </a:solidFill>
                <a:latin typeface="Calibri"/>
              </a:rPr>
              <a:t>Feb 2026 — OpenAI Codex team: ~1M lines of code, ~1,500 PRs, no hand-written code. "Humans steer. Agents execute."</a:t>
            </a:r>
          </a:p>
        </p:txBody>
      </p:sp>
    </p:spTree>
  </p:cSld>
  <p:clrMapOvr>
    <a:masterClrMapping/>
  </p:clrMapOvr>
  <p:transition spd="med">
    <p:fade/>
  </p:transition>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HARNESS ENGINEERING</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The Harness in This Course</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32</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691640"/>
            <a:ext cx="2628900" cy="194309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77240" y="18745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file-FFFFFF.png"/>
          <p:cNvPicPr>
            <a:picLocks noChangeAspect="1"/>
          </p:cNvPicPr>
          <p:nvPr/>
        </p:nvPicPr>
        <p:blipFill>
          <a:blip r:embed="rId2"/>
          <a:stretch>
            <a:fillRect/>
          </a:stretch>
        </p:blipFill>
        <p:spPr>
          <a:xfrm>
            <a:off x="900135" y="1997415"/>
            <a:ext cx="266273" cy="266273"/>
          </a:xfrm>
          <a:prstGeom prst="rect">
            <a:avLst/>
          </a:prstGeom>
        </p:spPr>
      </p:pic>
      <p:sp>
        <p:nvSpPr>
          <p:cNvPr id="10" name="TextBox 9"/>
          <p:cNvSpPr txBox="1"/>
          <p:nvPr/>
        </p:nvSpPr>
        <p:spPr>
          <a:xfrm>
            <a:off x="1426464" y="1856232"/>
            <a:ext cx="152247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Context: AGENTS.md</a:t>
            </a:r>
          </a:p>
        </p:txBody>
      </p:sp>
      <p:sp>
        <p:nvSpPr>
          <p:cNvPr id="11" name="TextBox 10"/>
          <p:cNvSpPr txBox="1"/>
          <p:nvPr/>
        </p:nvSpPr>
        <p:spPr>
          <a:xfrm>
            <a:off x="777240" y="2459736"/>
            <a:ext cx="2171700" cy="1101851"/>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Company facts and rules loaded every session (Lab 1).</a:t>
            </a:r>
          </a:p>
        </p:txBody>
      </p:sp>
      <p:sp>
        <p:nvSpPr>
          <p:cNvPr id="12" name="Rounded Rectangle 11"/>
          <p:cNvSpPr/>
          <p:nvPr/>
        </p:nvSpPr>
        <p:spPr>
          <a:xfrm>
            <a:off x="3360420" y="1691640"/>
            <a:ext cx="2628900" cy="194309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3589020" y="18745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memory-FFFFFF.png"/>
          <p:cNvPicPr>
            <a:picLocks noChangeAspect="1"/>
          </p:cNvPicPr>
          <p:nvPr/>
        </p:nvPicPr>
        <p:blipFill>
          <a:blip r:embed="rId3"/>
          <a:stretch>
            <a:fillRect/>
          </a:stretch>
        </p:blipFill>
        <p:spPr>
          <a:xfrm>
            <a:off x="3711915" y="1997415"/>
            <a:ext cx="266273" cy="266273"/>
          </a:xfrm>
          <a:prstGeom prst="rect">
            <a:avLst/>
          </a:prstGeom>
        </p:spPr>
      </p:pic>
      <p:sp>
        <p:nvSpPr>
          <p:cNvPr id="15" name="TextBox 14"/>
          <p:cNvSpPr txBox="1"/>
          <p:nvPr/>
        </p:nvSpPr>
        <p:spPr>
          <a:xfrm>
            <a:off x="4238244" y="1856232"/>
            <a:ext cx="152247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Memory</a:t>
            </a:r>
          </a:p>
        </p:txBody>
      </p:sp>
      <p:sp>
        <p:nvSpPr>
          <p:cNvPr id="16" name="TextBox 15"/>
          <p:cNvSpPr txBox="1"/>
          <p:nvPr/>
        </p:nvSpPr>
        <p:spPr>
          <a:xfrm>
            <a:off x="3589020" y="2459736"/>
            <a:ext cx="2171700" cy="1101851"/>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MEMORY.md / USER.md recall decisions across sessions (Lab 1).</a:t>
            </a:r>
          </a:p>
        </p:txBody>
      </p:sp>
      <p:sp>
        <p:nvSpPr>
          <p:cNvPr id="17" name="Rounded Rectangle 16"/>
          <p:cNvSpPr/>
          <p:nvPr/>
        </p:nvSpPr>
        <p:spPr>
          <a:xfrm>
            <a:off x="6172200" y="1691640"/>
            <a:ext cx="2628900" cy="194309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6400800" y="18745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 name="Picture 18" descr="puzzle-FFFFFF.png"/>
          <p:cNvPicPr>
            <a:picLocks noChangeAspect="1"/>
          </p:cNvPicPr>
          <p:nvPr/>
        </p:nvPicPr>
        <p:blipFill>
          <a:blip r:embed="rId4"/>
          <a:stretch>
            <a:fillRect/>
          </a:stretch>
        </p:blipFill>
        <p:spPr>
          <a:xfrm>
            <a:off x="6523695" y="1997415"/>
            <a:ext cx="266273" cy="266273"/>
          </a:xfrm>
          <a:prstGeom prst="rect">
            <a:avLst/>
          </a:prstGeom>
        </p:spPr>
      </p:pic>
      <p:sp>
        <p:nvSpPr>
          <p:cNvPr id="20" name="TextBox 19"/>
          <p:cNvSpPr txBox="1"/>
          <p:nvPr/>
        </p:nvSpPr>
        <p:spPr>
          <a:xfrm>
            <a:off x="7050024" y="1856232"/>
            <a:ext cx="152247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Skills</a:t>
            </a:r>
          </a:p>
        </p:txBody>
      </p:sp>
      <p:sp>
        <p:nvSpPr>
          <p:cNvPr id="21" name="TextBox 20"/>
          <p:cNvSpPr txBox="1"/>
          <p:nvPr/>
        </p:nvSpPr>
        <p:spPr>
          <a:xfrm>
            <a:off x="6400800" y="2459736"/>
            <a:ext cx="2171700" cy="1101851"/>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kopi-brand-voice, campaign planner, compliance audit (Labs 2, 4).</a:t>
            </a:r>
          </a:p>
        </p:txBody>
      </p:sp>
      <p:sp>
        <p:nvSpPr>
          <p:cNvPr id="22" name="Rounded Rectangle 21"/>
          <p:cNvSpPr/>
          <p:nvPr/>
        </p:nvSpPr>
        <p:spPr>
          <a:xfrm>
            <a:off x="8983980" y="1691640"/>
            <a:ext cx="2628900" cy="194309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9212580" y="18745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eyecheck-FFFFFF.png"/>
          <p:cNvPicPr>
            <a:picLocks noChangeAspect="1"/>
          </p:cNvPicPr>
          <p:nvPr/>
        </p:nvPicPr>
        <p:blipFill>
          <a:blip r:embed="rId5"/>
          <a:stretch>
            <a:fillRect/>
          </a:stretch>
        </p:blipFill>
        <p:spPr>
          <a:xfrm>
            <a:off x="9335475" y="1997415"/>
            <a:ext cx="266273" cy="266273"/>
          </a:xfrm>
          <a:prstGeom prst="rect">
            <a:avLst/>
          </a:prstGeom>
        </p:spPr>
      </p:pic>
      <p:sp>
        <p:nvSpPr>
          <p:cNvPr id="25" name="TextBox 24"/>
          <p:cNvSpPr txBox="1"/>
          <p:nvPr/>
        </p:nvSpPr>
        <p:spPr>
          <a:xfrm>
            <a:off x="9861804" y="1856232"/>
            <a:ext cx="152247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Verification</a:t>
            </a:r>
          </a:p>
        </p:txBody>
      </p:sp>
      <p:sp>
        <p:nvSpPr>
          <p:cNvPr id="26" name="TextBox 25"/>
          <p:cNvSpPr txBox="1"/>
          <p:nvPr/>
        </p:nvSpPr>
        <p:spPr>
          <a:xfrm>
            <a:off x="9212580" y="2459736"/>
            <a:ext cx="2171700" cy="1101851"/>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Self-check tables, auditor agent, verifier in the swarm (Labs 2, 4, 5).</a:t>
            </a:r>
          </a:p>
        </p:txBody>
      </p:sp>
      <p:sp>
        <p:nvSpPr>
          <p:cNvPr id="27" name="Rounded Rectangle 26"/>
          <p:cNvSpPr/>
          <p:nvPr/>
        </p:nvSpPr>
        <p:spPr>
          <a:xfrm>
            <a:off x="548640" y="3817620"/>
            <a:ext cx="2628900" cy="194309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777240" y="40005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9" name="Picture 28" descr="shield-FFFFFF.png"/>
          <p:cNvPicPr>
            <a:picLocks noChangeAspect="1"/>
          </p:cNvPicPr>
          <p:nvPr/>
        </p:nvPicPr>
        <p:blipFill>
          <a:blip r:embed="rId6"/>
          <a:stretch>
            <a:fillRect/>
          </a:stretch>
        </p:blipFill>
        <p:spPr>
          <a:xfrm>
            <a:off x="900135" y="4123395"/>
            <a:ext cx="266273" cy="266273"/>
          </a:xfrm>
          <a:prstGeom prst="rect">
            <a:avLst/>
          </a:prstGeom>
        </p:spPr>
      </p:pic>
      <p:sp>
        <p:nvSpPr>
          <p:cNvPr id="30" name="TextBox 29"/>
          <p:cNvSpPr txBox="1"/>
          <p:nvPr/>
        </p:nvSpPr>
        <p:spPr>
          <a:xfrm>
            <a:off x="1426464" y="3982212"/>
            <a:ext cx="152247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Guardrails</a:t>
            </a:r>
          </a:p>
        </p:txBody>
      </p:sp>
      <p:sp>
        <p:nvSpPr>
          <p:cNvPr id="31" name="TextBox 30"/>
          <p:cNvSpPr txBox="1"/>
          <p:nvPr/>
        </p:nvSpPr>
        <p:spPr>
          <a:xfrm>
            <a:off x="777240" y="4585716"/>
            <a:ext cx="2171700" cy="1101851"/>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APPROVE on Telegram, blocked publish task, Board gates (Labs 3, 4, 7–9).</a:t>
            </a:r>
          </a:p>
        </p:txBody>
      </p:sp>
      <p:sp>
        <p:nvSpPr>
          <p:cNvPr id="32" name="Rounded Rectangle 31"/>
          <p:cNvSpPr/>
          <p:nvPr/>
        </p:nvSpPr>
        <p:spPr>
          <a:xfrm>
            <a:off x="3360420" y="3817620"/>
            <a:ext cx="2628900" cy="194309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3589020" y="40005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4" name="Picture 33" descr="org-FFFFFF.png"/>
          <p:cNvPicPr>
            <a:picLocks noChangeAspect="1"/>
          </p:cNvPicPr>
          <p:nvPr/>
        </p:nvPicPr>
        <p:blipFill>
          <a:blip r:embed="rId7"/>
          <a:stretch>
            <a:fillRect/>
          </a:stretch>
        </p:blipFill>
        <p:spPr>
          <a:xfrm>
            <a:off x="3711915" y="4123395"/>
            <a:ext cx="266273" cy="266273"/>
          </a:xfrm>
          <a:prstGeom prst="rect">
            <a:avLst/>
          </a:prstGeom>
        </p:spPr>
      </p:pic>
      <p:sp>
        <p:nvSpPr>
          <p:cNvPr id="35" name="TextBox 34"/>
          <p:cNvSpPr txBox="1"/>
          <p:nvPr/>
        </p:nvSpPr>
        <p:spPr>
          <a:xfrm>
            <a:off x="4238244" y="3982212"/>
            <a:ext cx="152247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Orchestration</a:t>
            </a:r>
          </a:p>
        </p:txBody>
      </p:sp>
      <p:sp>
        <p:nvSpPr>
          <p:cNvPr id="36" name="TextBox 35"/>
          <p:cNvSpPr txBox="1"/>
          <p:nvPr/>
        </p:nvSpPr>
        <p:spPr>
          <a:xfrm>
            <a:off x="3589020" y="4585716"/>
            <a:ext cx="2171700" cy="1101851"/>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Profiles + Kanban, swarms, Paperclip org chart (Labs 4–10).</a:t>
            </a:r>
          </a:p>
        </p:txBody>
      </p:sp>
      <p:sp>
        <p:nvSpPr>
          <p:cNvPr id="37" name="Rounded Rectangle 36"/>
          <p:cNvSpPr/>
          <p:nvPr/>
        </p:nvSpPr>
        <p:spPr>
          <a:xfrm>
            <a:off x="6172200" y="3817620"/>
            <a:ext cx="2628900" cy="194309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Oval 37"/>
          <p:cNvSpPr/>
          <p:nvPr/>
        </p:nvSpPr>
        <p:spPr>
          <a:xfrm>
            <a:off x="6400800" y="40005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9" name="Picture 38" descr="clock-FFFFFF.png"/>
          <p:cNvPicPr>
            <a:picLocks noChangeAspect="1"/>
          </p:cNvPicPr>
          <p:nvPr/>
        </p:nvPicPr>
        <p:blipFill>
          <a:blip r:embed="rId8"/>
          <a:stretch>
            <a:fillRect/>
          </a:stretch>
        </p:blipFill>
        <p:spPr>
          <a:xfrm>
            <a:off x="6523695" y="4123395"/>
            <a:ext cx="266273" cy="266273"/>
          </a:xfrm>
          <a:prstGeom prst="rect">
            <a:avLst/>
          </a:prstGeom>
        </p:spPr>
      </p:pic>
      <p:sp>
        <p:nvSpPr>
          <p:cNvPr id="40" name="TextBox 39"/>
          <p:cNvSpPr txBox="1"/>
          <p:nvPr/>
        </p:nvSpPr>
        <p:spPr>
          <a:xfrm>
            <a:off x="7050024" y="3982212"/>
            <a:ext cx="152247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Scheduling</a:t>
            </a:r>
          </a:p>
        </p:txBody>
      </p:sp>
      <p:sp>
        <p:nvSpPr>
          <p:cNvPr id="41" name="TextBox 40"/>
          <p:cNvSpPr txBox="1"/>
          <p:nvPr/>
        </p:nvSpPr>
        <p:spPr>
          <a:xfrm>
            <a:off x="6400800" y="4585716"/>
            <a:ext cx="2171700" cy="1101851"/>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Cron jobs and Paperclip routines (Labs 3, 5, 9).</a:t>
            </a:r>
          </a:p>
        </p:txBody>
      </p:sp>
      <p:sp>
        <p:nvSpPr>
          <p:cNvPr id="42" name="Rounded Rectangle 41"/>
          <p:cNvSpPr/>
          <p:nvPr/>
        </p:nvSpPr>
        <p:spPr>
          <a:xfrm>
            <a:off x="8983980" y="3817620"/>
            <a:ext cx="2628900" cy="194309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Oval 42"/>
          <p:cNvSpPr/>
          <p:nvPr/>
        </p:nvSpPr>
        <p:spPr>
          <a:xfrm>
            <a:off x="9212580" y="40005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4" name="Picture 43" descr="history-FFFFFF.png"/>
          <p:cNvPicPr>
            <a:picLocks noChangeAspect="1"/>
          </p:cNvPicPr>
          <p:nvPr/>
        </p:nvPicPr>
        <p:blipFill>
          <a:blip r:embed="rId9"/>
          <a:stretch>
            <a:fillRect/>
          </a:stretch>
        </p:blipFill>
        <p:spPr>
          <a:xfrm>
            <a:off x="9335475" y="4123395"/>
            <a:ext cx="266273" cy="266273"/>
          </a:xfrm>
          <a:prstGeom prst="rect">
            <a:avLst/>
          </a:prstGeom>
        </p:spPr>
      </p:pic>
      <p:sp>
        <p:nvSpPr>
          <p:cNvPr id="45" name="TextBox 44"/>
          <p:cNvSpPr txBox="1"/>
          <p:nvPr/>
        </p:nvSpPr>
        <p:spPr>
          <a:xfrm>
            <a:off x="9861804" y="3982212"/>
            <a:ext cx="152247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Observability</a:t>
            </a:r>
          </a:p>
        </p:txBody>
      </p:sp>
      <p:sp>
        <p:nvSpPr>
          <p:cNvPr id="46" name="TextBox 45"/>
          <p:cNvSpPr txBox="1"/>
          <p:nvPr/>
        </p:nvSpPr>
        <p:spPr>
          <a:xfrm>
            <a:off x="9212580" y="4585716"/>
            <a:ext cx="2171700" cy="1101851"/>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Kanban history, costs and the audit log (Labs 5, 10).</a:t>
            </a:r>
          </a:p>
        </p:txBody>
      </p:sp>
      <p:sp>
        <p:nvSpPr>
          <p:cNvPr id="47" name="TextBox 46"/>
          <p:cNvSpPr txBox="1"/>
          <p:nvPr/>
        </p:nvSpPr>
        <p:spPr>
          <a:xfrm>
            <a:off x="548640" y="5870448"/>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When an agent gets it wrong, improve the harness (instructions, skills, gates) — don't just re-prompt.</a:t>
            </a:r>
          </a:p>
        </p:txBody>
      </p:sp>
    </p:spTree>
  </p:cSld>
  <p:clrMapOvr>
    <a:masterClrMapping/>
  </p:clrMapOvr>
  <p:transition spd="med">
    <p:fade/>
  </p:transition>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HOW AN AGENT WORKS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The Agent Framework: Perception · Brain · Action</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From the survey "The Rise and Potential of LLM-Based Agents" (Xi et al., Fudan University, arXiv 2309.07864).</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33</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240280"/>
            <a:ext cx="3520440" cy="397763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77240" y="2423160"/>
            <a:ext cx="603504" cy="603504"/>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eye-FFFFFF.png"/>
          <p:cNvPicPr>
            <a:picLocks noChangeAspect="1"/>
          </p:cNvPicPr>
          <p:nvPr/>
        </p:nvPicPr>
        <p:blipFill>
          <a:blip r:embed="rId2"/>
          <a:stretch>
            <a:fillRect/>
          </a:stretch>
        </p:blipFill>
        <p:spPr>
          <a:xfrm>
            <a:off x="922080" y="2568000"/>
            <a:ext cx="313822" cy="313822"/>
          </a:xfrm>
          <a:prstGeom prst="rect">
            <a:avLst/>
          </a:prstGeom>
        </p:spPr>
      </p:pic>
      <p:sp>
        <p:nvSpPr>
          <p:cNvPr id="11" name="TextBox 10"/>
          <p:cNvSpPr txBox="1"/>
          <p:nvPr/>
        </p:nvSpPr>
        <p:spPr>
          <a:xfrm>
            <a:off x="1508760" y="2395728"/>
            <a:ext cx="2468880" cy="411480"/>
          </a:xfrm>
          <a:prstGeom prst="rect">
            <a:avLst/>
          </a:prstGeom>
          <a:noFill/>
        </p:spPr>
        <p:txBody>
          <a:bodyPr wrap="square" lIns="36576" rIns="36576" tIns="18288" bIns="18288" anchor="t">
            <a:spAutoFit/>
          </a:bodyPr>
          <a:lstStyle/>
          <a:p>
            <a:pPr algn="l">
              <a:lnSpc>
                <a:spcPct val="112000"/>
              </a:lnSpc>
            </a:pPr>
            <a:r>
              <a:rPr sz="2000" b="1" i="0">
                <a:solidFill>
                  <a:srgbClr val="21201C"/>
                </a:solidFill>
                <a:latin typeface="Cambria"/>
              </a:rPr>
              <a:t>Perception</a:t>
            </a:r>
          </a:p>
        </p:txBody>
      </p:sp>
      <p:sp>
        <p:nvSpPr>
          <p:cNvPr id="12" name="TextBox 11"/>
          <p:cNvSpPr txBox="1"/>
          <p:nvPr/>
        </p:nvSpPr>
        <p:spPr>
          <a:xfrm>
            <a:off x="1508760" y="2788920"/>
            <a:ext cx="2468880" cy="320040"/>
          </a:xfrm>
          <a:prstGeom prst="rect">
            <a:avLst/>
          </a:prstGeom>
          <a:noFill/>
        </p:spPr>
        <p:txBody>
          <a:bodyPr wrap="square" lIns="36576" rIns="36576" tIns="18288" bIns="18288" anchor="t">
            <a:spAutoFit/>
          </a:bodyPr>
          <a:lstStyle/>
          <a:p>
            <a:pPr algn="l">
              <a:lnSpc>
                <a:spcPct val="112000"/>
              </a:lnSpc>
            </a:pPr>
            <a:r>
              <a:rPr sz="1150" b="0" i="0">
                <a:solidFill>
                  <a:srgbClr val="6B6862"/>
                </a:solidFill>
                <a:latin typeface="Calibri"/>
              </a:rPr>
              <a:t>Sense the world</a:t>
            </a:r>
          </a:p>
        </p:txBody>
      </p:sp>
      <p:sp>
        <p:nvSpPr>
          <p:cNvPr id="13" name="TextBox 12"/>
          <p:cNvSpPr txBox="1"/>
          <p:nvPr/>
        </p:nvSpPr>
        <p:spPr>
          <a:xfrm>
            <a:off x="822959" y="3291840"/>
            <a:ext cx="3017520" cy="2286000"/>
          </a:xfrm>
          <a:prstGeom prst="rect">
            <a:avLst/>
          </a:prstGeom>
          <a:noFill/>
        </p:spPr>
        <p:txBody>
          <a:bodyPr wrap="square" lIns="36576" rIns="36576" tIns="18288" bIns="18288" anchor="t">
            <a:spAutoFit/>
          </a:bodyPr>
          <a:lstStyle/>
          <a:p>
            <a:pPr algn="l">
              <a:lnSpc>
                <a:spcPct val="125000"/>
              </a:lnSpc>
            </a:pPr>
            <a:r>
              <a:rPr sz="1250" b="0" i="0">
                <a:solidFill>
                  <a:srgbClr val="6B6862"/>
                </a:solidFill>
                <a:latin typeface="Calibri"/>
              </a:rPr>
              <a:t>•  Multimodal input — text, image, audio, video</a:t>
            </a:r>
          </a:p>
          <a:p>
            <a:pPr algn="l">
              <a:lnSpc>
                <a:spcPct val="125000"/>
              </a:lnSpc>
            </a:pPr>
            <a:r>
              <a:rPr sz="1250" b="0" i="0">
                <a:solidFill>
                  <a:srgbClr val="6B6862"/>
                </a:solidFill>
                <a:latin typeface="Calibri"/>
              </a:rPr>
              <a:t>•  Environment interaction — tools, web, files</a:t>
            </a:r>
          </a:p>
          <a:p>
            <a:pPr algn="l">
              <a:lnSpc>
                <a:spcPct val="125000"/>
              </a:lnSpc>
            </a:pPr>
            <a:r>
              <a:rPr sz="1250" b="0" i="0">
                <a:solidFill>
                  <a:srgbClr val="6B6862"/>
                </a:solidFill>
                <a:latin typeface="Calibri"/>
              </a:rPr>
              <a:t>•  Information retrieval — search, RAG, memory</a:t>
            </a:r>
          </a:p>
        </p:txBody>
      </p:sp>
      <p:sp>
        <p:nvSpPr>
          <p:cNvPr id="14" name="Rounded Rectangle 13"/>
          <p:cNvSpPr/>
          <p:nvPr/>
        </p:nvSpPr>
        <p:spPr>
          <a:xfrm>
            <a:off x="777240" y="5669280"/>
            <a:ext cx="3063240" cy="384048"/>
          </a:xfrm>
          <a:prstGeom prst="roundRect">
            <a:avLst>
              <a:gd name="adj" fmla="val 20000"/>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777240" y="5669280"/>
            <a:ext cx="3063240" cy="384048"/>
          </a:xfrm>
          <a:prstGeom prst="rect">
            <a:avLst/>
          </a:prstGeom>
          <a:noFill/>
        </p:spPr>
        <p:txBody>
          <a:bodyPr wrap="square" lIns="36576" rIns="36576" tIns="18288" bIns="18288" anchor="ctr">
            <a:spAutoFit/>
          </a:bodyPr>
          <a:lstStyle/>
          <a:p>
            <a:pPr algn="ctr">
              <a:lnSpc>
                <a:spcPct val="112000"/>
              </a:lnSpc>
            </a:pPr>
            <a:r>
              <a:rPr sz="1200" b="1" i="0">
                <a:solidFill>
                  <a:srgbClr val="FFFFFF"/>
                </a:solidFill>
                <a:latin typeface="Calibri"/>
              </a:rPr>
              <a:t>From data to information</a:t>
            </a:r>
          </a:p>
        </p:txBody>
      </p:sp>
      <p:sp>
        <p:nvSpPr>
          <p:cNvPr id="16" name="Rounded Rectangle 15"/>
          <p:cNvSpPr/>
          <p:nvPr/>
        </p:nvSpPr>
        <p:spPr>
          <a:xfrm>
            <a:off x="4343400" y="2240280"/>
            <a:ext cx="3520440" cy="397763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4572000" y="2423160"/>
            <a:ext cx="603504" cy="603504"/>
          </a:xfrm>
          <a:prstGeom prst="ellipse">
            <a:avLst/>
          </a:prstGeom>
          <a:solidFill>
            <a:srgbClr val="6D2E4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brain-FFFFFF.png"/>
          <p:cNvPicPr>
            <a:picLocks noChangeAspect="1"/>
          </p:cNvPicPr>
          <p:nvPr/>
        </p:nvPicPr>
        <p:blipFill>
          <a:blip r:embed="rId3"/>
          <a:stretch>
            <a:fillRect/>
          </a:stretch>
        </p:blipFill>
        <p:spPr>
          <a:xfrm>
            <a:off x="4716840" y="2568000"/>
            <a:ext cx="313822" cy="313822"/>
          </a:xfrm>
          <a:prstGeom prst="rect">
            <a:avLst/>
          </a:prstGeom>
        </p:spPr>
      </p:pic>
      <p:sp>
        <p:nvSpPr>
          <p:cNvPr id="19" name="TextBox 18"/>
          <p:cNvSpPr txBox="1"/>
          <p:nvPr/>
        </p:nvSpPr>
        <p:spPr>
          <a:xfrm>
            <a:off x="5303520" y="2395728"/>
            <a:ext cx="2468880" cy="411480"/>
          </a:xfrm>
          <a:prstGeom prst="rect">
            <a:avLst/>
          </a:prstGeom>
          <a:noFill/>
        </p:spPr>
        <p:txBody>
          <a:bodyPr wrap="square" lIns="36576" rIns="36576" tIns="18288" bIns="18288" anchor="t">
            <a:spAutoFit/>
          </a:bodyPr>
          <a:lstStyle/>
          <a:p>
            <a:pPr algn="l">
              <a:lnSpc>
                <a:spcPct val="112000"/>
              </a:lnSpc>
            </a:pPr>
            <a:r>
              <a:rPr sz="2000" b="1" i="0">
                <a:solidFill>
                  <a:srgbClr val="21201C"/>
                </a:solidFill>
                <a:latin typeface="Cambria"/>
              </a:rPr>
              <a:t>Brain</a:t>
            </a:r>
          </a:p>
        </p:txBody>
      </p:sp>
      <p:sp>
        <p:nvSpPr>
          <p:cNvPr id="20" name="TextBox 19"/>
          <p:cNvSpPr txBox="1"/>
          <p:nvPr/>
        </p:nvSpPr>
        <p:spPr>
          <a:xfrm>
            <a:off x="5303520" y="2788920"/>
            <a:ext cx="2468880" cy="320040"/>
          </a:xfrm>
          <a:prstGeom prst="rect">
            <a:avLst/>
          </a:prstGeom>
          <a:noFill/>
        </p:spPr>
        <p:txBody>
          <a:bodyPr wrap="square" lIns="36576" rIns="36576" tIns="18288" bIns="18288" anchor="t">
            <a:spAutoFit/>
          </a:bodyPr>
          <a:lstStyle/>
          <a:p>
            <a:pPr algn="l">
              <a:lnSpc>
                <a:spcPct val="112000"/>
              </a:lnSpc>
            </a:pPr>
            <a:r>
              <a:rPr sz="1150" b="0" i="0">
                <a:solidFill>
                  <a:srgbClr val="6B6862"/>
                </a:solidFill>
                <a:latin typeface="Calibri"/>
              </a:rPr>
              <a:t>Core cognition &amp; decisions</a:t>
            </a:r>
          </a:p>
        </p:txBody>
      </p:sp>
      <p:sp>
        <p:nvSpPr>
          <p:cNvPr id="21" name="TextBox 20"/>
          <p:cNvSpPr txBox="1"/>
          <p:nvPr/>
        </p:nvSpPr>
        <p:spPr>
          <a:xfrm>
            <a:off x="4617720" y="3291840"/>
            <a:ext cx="3017520" cy="2286000"/>
          </a:xfrm>
          <a:prstGeom prst="rect">
            <a:avLst/>
          </a:prstGeom>
          <a:noFill/>
        </p:spPr>
        <p:txBody>
          <a:bodyPr wrap="square" lIns="36576" rIns="36576" tIns="18288" bIns="18288" anchor="t">
            <a:spAutoFit/>
          </a:bodyPr>
          <a:lstStyle/>
          <a:p>
            <a:pPr algn="l">
              <a:lnSpc>
                <a:spcPct val="125000"/>
              </a:lnSpc>
            </a:pPr>
            <a:r>
              <a:rPr sz="1250" b="0" i="0">
                <a:solidFill>
                  <a:srgbClr val="6B6862"/>
                </a:solidFill>
                <a:latin typeface="Calibri"/>
              </a:rPr>
              <a:t>•  Knowledge — pre-trained, domain, common sense</a:t>
            </a:r>
          </a:p>
          <a:p>
            <a:pPr algn="l">
              <a:lnSpc>
                <a:spcPct val="125000"/>
              </a:lnSpc>
            </a:pPr>
            <a:r>
              <a:rPr sz="1250" b="0" i="0">
                <a:solidFill>
                  <a:srgbClr val="6B6862"/>
                </a:solidFill>
                <a:latin typeface="Calibri"/>
              </a:rPr>
              <a:t>•  Memory — short-term &amp; long-term</a:t>
            </a:r>
          </a:p>
          <a:p>
            <a:pPr algn="l">
              <a:lnSpc>
                <a:spcPct val="125000"/>
              </a:lnSpc>
            </a:pPr>
            <a:r>
              <a:rPr sz="1250" b="0" i="0">
                <a:solidFill>
                  <a:srgbClr val="6B6862"/>
                </a:solidFill>
                <a:latin typeface="Calibri"/>
              </a:rPr>
              <a:t>•  Reasoning — logic, reflection, self-correction</a:t>
            </a:r>
          </a:p>
          <a:p>
            <a:pPr algn="l">
              <a:lnSpc>
                <a:spcPct val="125000"/>
              </a:lnSpc>
            </a:pPr>
            <a:r>
              <a:rPr sz="1250" b="0" i="0">
                <a:solidFill>
                  <a:srgbClr val="6B6862"/>
                </a:solidFill>
                <a:latin typeface="Calibri"/>
              </a:rPr>
              <a:t>•  Planning — decompose, set goals, adapt</a:t>
            </a:r>
          </a:p>
        </p:txBody>
      </p:sp>
      <p:sp>
        <p:nvSpPr>
          <p:cNvPr id="22" name="Rounded Rectangle 21"/>
          <p:cNvSpPr/>
          <p:nvPr/>
        </p:nvSpPr>
        <p:spPr>
          <a:xfrm>
            <a:off x="4572000" y="5669280"/>
            <a:ext cx="3063240" cy="384048"/>
          </a:xfrm>
          <a:prstGeom prst="roundRect">
            <a:avLst>
              <a:gd name="adj" fmla="val 20000"/>
            </a:avLst>
          </a:prstGeom>
          <a:solidFill>
            <a:srgbClr val="6D2E4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4572000" y="5669280"/>
            <a:ext cx="3063240" cy="384048"/>
          </a:xfrm>
          <a:prstGeom prst="rect">
            <a:avLst/>
          </a:prstGeom>
          <a:noFill/>
        </p:spPr>
        <p:txBody>
          <a:bodyPr wrap="square" lIns="36576" rIns="36576" tIns="18288" bIns="18288" anchor="ctr">
            <a:spAutoFit/>
          </a:bodyPr>
          <a:lstStyle/>
          <a:p>
            <a:pPr algn="ctr">
              <a:lnSpc>
                <a:spcPct val="112000"/>
              </a:lnSpc>
            </a:pPr>
            <a:r>
              <a:rPr sz="1200" b="1" i="0">
                <a:solidFill>
                  <a:srgbClr val="FFFFFF"/>
                </a:solidFill>
                <a:latin typeface="Calibri"/>
              </a:rPr>
              <a:t>From understanding to decisions</a:t>
            </a:r>
          </a:p>
        </p:txBody>
      </p:sp>
      <p:sp>
        <p:nvSpPr>
          <p:cNvPr id="24" name="Rounded Rectangle 23"/>
          <p:cNvSpPr/>
          <p:nvPr/>
        </p:nvSpPr>
        <p:spPr>
          <a:xfrm>
            <a:off x="8138160" y="2240280"/>
            <a:ext cx="3520440" cy="397763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Oval 24"/>
          <p:cNvSpPr/>
          <p:nvPr/>
        </p:nvSpPr>
        <p:spPr>
          <a:xfrm>
            <a:off x="8366760" y="2423160"/>
            <a:ext cx="603504" cy="603504"/>
          </a:xfrm>
          <a:prstGeom prst="ellipse">
            <a:avLst/>
          </a:prstGeom>
          <a:solidFill>
            <a:srgbClr val="C2603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6" name="Picture 25" descr="hand-FFFFFF.png"/>
          <p:cNvPicPr>
            <a:picLocks noChangeAspect="1"/>
          </p:cNvPicPr>
          <p:nvPr/>
        </p:nvPicPr>
        <p:blipFill>
          <a:blip r:embed="rId4"/>
          <a:stretch>
            <a:fillRect/>
          </a:stretch>
        </p:blipFill>
        <p:spPr>
          <a:xfrm>
            <a:off x="8511600" y="2568000"/>
            <a:ext cx="313822" cy="313822"/>
          </a:xfrm>
          <a:prstGeom prst="rect">
            <a:avLst/>
          </a:prstGeom>
        </p:spPr>
      </p:pic>
      <p:sp>
        <p:nvSpPr>
          <p:cNvPr id="27" name="TextBox 26"/>
          <p:cNvSpPr txBox="1"/>
          <p:nvPr/>
        </p:nvSpPr>
        <p:spPr>
          <a:xfrm>
            <a:off x="9098280" y="2395728"/>
            <a:ext cx="2468880" cy="411480"/>
          </a:xfrm>
          <a:prstGeom prst="rect">
            <a:avLst/>
          </a:prstGeom>
          <a:noFill/>
        </p:spPr>
        <p:txBody>
          <a:bodyPr wrap="square" lIns="36576" rIns="36576" tIns="18288" bIns="18288" anchor="t">
            <a:spAutoFit/>
          </a:bodyPr>
          <a:lstStyle/>
          <a:p>
            <a:pPr algn="l">
              <a:lnSpc>
                <a:spcPct val="112000"/>
              </a:lnSpc>
            </a:pPr>
            <a:r>
              <a:rPr sz="2000" b="1" i="0">
                <a:solidFill>
                  <a:srgbClr val="21201C"/>
                </a:solidFill>
                <a:latin typeface="Cambria"/>
              </a:rPr>
              <a:t>Action</a:t>
            </a:r>
          </a:p>
        </p:txBody>
      </p:sp>
      <p:sp>
        <p:nvSpPr>
          <p:cNvPr id="28" name="TextBox 27"/>
          <p:cNvSpPr txBox="1"/>
          <p:nvPr/>
        </p:nvSpPr>
        <p:spPr>
          <a:xfrm>
            <a:off x="9098280" y="2788920"/>
            <a:ext cx="2468880" cy="320040"/>
          </a:xfrm>
          <a:prstGeom prst="rect">
            <a:avLst/>
          </a:prstGeom>
          <a:noFill/>
        </p:spPr>
        <p:txBody>
          <a:bodyPr wrap="square" lIns="36576" rIns="36576" tIns="18288" bIns="18288" anchor="t">
            <a:spAutoFit/>
          </a:bodyPr>
          <a:lstStyle/>
          <a:p>
            <a:pPr algn="l">
              <a:lnSpc>
                <a:spcPct val="112000"/>
              </a:lnSpc>
            </a:pPr>
            <a:r>
              <a:rPr sz="1150" b="0" i="0">
                <a:solidFill>
                  <a:srgbClr val="6B6862"/>
                </a:solidFill>
                <a:latin typeface="Calibri"/>
              </a:rPr>
              <a:t>Change the world</a:t>
            </a:r>
          </a:p>
        </p:txBody>
      </p:sp>
      <p:sp>
        <p:nvSpPr>
          <p:cNvPr id="29" name="TextBox 28"/>
          <p:cNvSpPr txBox="1"/>
          <p:nvPr/>
        </p:nvSpPr>
        <p:spPr>
          <a:xfrm>
            <a:off x="8412480" y="3291840"/>
            <a:ext cx="3017520" cy="2286000"/>
          </a:xfrm>
          <a:prstGeom prst="rect">
            <a:avLst/>
          </a:prstGeom>
          <a:noFill/>
        </p:spPr>
        <p:txBody>
          <a:bodyPr wrap="square" lIns="36576" rIns="36576" tIns="18288" bIns="18288" anchor="t">
            <a:spAutoFit/>
          </a:bodyPr>
          <a:lstStyle/>
          <a:p>
            <a:pPr algn="l">
              <a:lnSpc>
                <a:spcPct val="125000"/>
              </a:lnSpc>
            </a:pPr>
            <a:r>
              <a:rPr sz="1250" b="0" i="0">
                <a:solidFill>
                  <a:srgbClr val="6B6862"/>
                </a:solidFill>
                <a:latin typeface="Calibri"/>
              </a:rPr>
              <a:t>•  Task execution — code, tools, operations</a:t>
            </a:r>
          </a:p>
          <a:p>
            <a:pPr algn="l">
              <a:lnSpc>
                <a:spcPct val="125000"/>
              </a:lnSpc>
            </a:pPr>
            <a:r>
              <a:rPr sz="1250" b="0" i="0">
                <a:solidFill>
                  <a:srgbClr val="6B6862"/>
                </a:solidFill>
                <a:latin typeface="Calibri"/>
              </a:rPr>
              <a:t>•  Environment feedback — results, rewards</a:t>
            </a:r>
          </a:p>
          <a:p>
            <a:pPr algn="l">
              <a:lnSpc>
                <a:spcPct val="125000"/>
              </a:lnSpc>
            </a:pPr>
            <a:r>
              <a:rPr sz="1250" b="0" i="0">
                <a:solidFill>
                  <a:srgbClr val="6B6862"/>
                </a:solidFill>
                <a:latin typeface="Calibri"/>
              </a:rPr>
              <a:t>•  Behaviour optimisation — learn and evolve</a:t>
            </a:r>
          </a:p>
        </p:txBody>
      </p:sp>
      <p:sp>
        <p:nvSpPr>
          <p:cNvPr id="30" name="Rounded Rectangle 29"/>
          <p:cNvSpPr/>
          <p:nvPr/>
        </p:nvSpPr>
        <p:spPr>
          <a:xfrm>
            <a:off x="8366760" y="5669280"/>
            <a:ext cx="3063240" cy="384048"/>
          </a:xfrm>
          <a:prstGeom prst="roundRect">
            <a:avLst>
              <a:gd name="adj" fmla="val 20000"/>
            </a:avLst>
          </a:prstGeom>
          <a:solidFill>
            <a:srgbClr val="C2603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8366760" y="5669280"/>
            <a:ext cx="3063240" cy="384048"/>
          </a:xfrm>
          <a:prstGeom prst="rect">
            <a:avLst/>
          </a:prstGeom>
          <a:noFill/>
        </p:spPr>
        <p:txBody>
          <a:bodyPr wrap="square" lIns="36576" rIns="36576" tIns="18288" bIns="18288" anchor="ctr">
            <a:spAutoFit/>
          </a:bodyPr>
          <a:lstStyle/>
          <a:p>
            <a:pPr algn="ctr">
              <a:lnSpc>
                <a:spcPct val="112000"/>
              </a:lnSpc>
            </a:pPr>
            <a:r>
              <a:rPr sz="1200" b="1" i="0">
                <a:solidFill>
                  <a:srgbClr val="FFFFFF"/>
                </a:solidFill>
                <a:latin typeface="Calibri"/>
              </a:rPr>
              <a:t>From decisions to action</a:t>
            </a:r>
          </a:p>
        </p:txBody>
      </p:sp>
      <p:cxnSp>
        <p:nvCxnSpPr>
          <p:cNvPr id="32" name="Connector 31"/>
          <p:cNvCxnSpPr/>
          <p:nvPr/>
        </p:nvCxnSpPr>
        <p:spPr>
          <a:xfrm>
            <a:off x="4087368" y="4206240"/>
            <a:ext cx="228600" cy="0"/>
          </a:xfrm>
          <a:prstGeom prst="line">
            <a:avLst/>
          </a:prstGeom>
          <a:ln w="3175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7882127" y="4206240"/>
            <a:ext cx="228600" cy="0"/>
          </a:xfrm>
          <a:prstGeom prst="line">
            <a:avLst/>
          </a:prstGeom>
          <a:ln w="3175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Tree>
  </p:cSld>
  <p:clrMapOvr>
    <a:masterClrMapping/>
  </p:clrMapOvr>
  <p:transition spd="med">
    <p:fade/>
  </p:transition>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HOW AN AGENT WORKS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Inside the Brain</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The LLM is the control centre: it turns what the agent perceives into decisions.</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34</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240280"/>
            <a:ext cx="2628900" cy="352043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77240" y="242316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book-FFFFFF.png"/>
          <p:cNvPicPr>
            <a:picLocks noChangeAspect="1"/>
          </p:cNvPicPr>
          <p:nvPr/>
        </p:nvPicPr>
        <p:blipFill>
          <a:blip r:embed="rId2"/>
          <a:stretch>
            <a:fillRect/>
          </a:stretch>
        </p:blipFill>
        <p:spPr>
          <a:xfrm>
            <a:off x="900135" y="2546055"/>
            <a:ext cx="266273" cy="266273"/>
          </a:xfrm>
          <a:prstGeom prst="rect">
            <a:avLst/>
          </a:prstGeom>
        </p:spPr>
      </p:pic>
      <p:sp>
        <p:nvSpPr>
          <p:cNvPr id="11" name="TextBox 10"/>
          <p:cNvSpPr txBox="1"/>
          <p:nvPr/>
        </p:nvSpPr>
        <p:spPr>
          <a:xfrm>
            <a:off x="777240" y="3063240"/>
            <a:ext cx="2171700" cy="384048"/>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Knowledge</a:t>
            </a:r>
          </a:p>
        </p:txBody>
      </p:sp>
      <p:sp>
        <p:nvSpPr>
          <p:cNvPr id="12" name="TextBox 11"/>
          <p:cNvSpPr txBox="1"/>
          <p:nvPr/>
        </p:nvSpPr>
        <p:spPr>
          <a:xfrm>
            <a:off x="777240" y="3483864"/>
            <a:ext cx="2171700" cy="2167127"/>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Pre-trained and domain knowledge, common sense and self-knowledge. Can be stale → ground it with RAG.</a:t>
            </a:r>
          </a:p>
        </p:txBody>
      </p:sp>
      <p:sp>
        <p:nvSpPr>
          <p:cNvPr id="13" name="Rounded Rectangle 12"/>
          <p:cNvSpPr/>
          <p:nvPr/>
        </p:nvSpPr>
        <p:spPr>
          <a:xfrm>
            <a:off x="3360420" y="2240280"/>
            <a:ext cx="2628900" cy="352043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89020" y="242316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Picture 14" descr="memory-FFFFFF.png"/>
          <p:cNvPicPr>
            <a:picLocks noChangeAspect="1"/>
          </p:cNvPicPr>
          <p:nvPr/>
        </p:nvPicPr>
        <p:blipFill>
          <a:blip r:embed="rId3"/>
          <a:stretch>
            <a:fillRect/>
          </a:stretch>
        </p:blipFill>
        <p:spPr>
          <a:xfrm>
            <a:off x="3711915" y="2546055"/>
            <a:ext cx="266273" cy="266273"/>
          </a:xfrm>
          <a:prstGeom prst="rect">
            <a:avLst/>
          </a:prstGeom>
        </p:spPr>
      </p:pic>
      <p:sp>
        <p:nvSpPr>
          <p:cNvPr id="16" name="TextBox 15"/>
          <p:cNvSpPr txBox="1"/>
          <p:nvPr/>
        </p:nvSpPr>
        <p:spPr>
          <a:xfrm>
            <a:off x="3589020" y="3063240"/>
            <a:ext cx="2171700" cy="384048"/>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Memory</a:t>
            </a:r>
          </a:p>
        </p:txBody>
      </p:sp>
      <p:sp>
        <p:nvSpPr>
          <p:cNvPr id="17" name="TextBox 16"/>
          <p:cNvSpPr txBox="1"/>
          <p:nvPr/>
        </p:nvSpPr>
        <p:spPr>
          <a:xfrm>
            <a:off x="3589020" y="3483864"/>
            <a:ext cx="2171700" cy="2167127"/>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Short-term (the context window) and long-term (notes, history, skills). Retrieved when relevant.</a:t>
            </a:r>
          </a:p>
        </p:txBody>
      </p:sp>
      <p:sp>
        <p:nvSpPr>
          <p:cNvPr id="18" name="Rounded Rectangle 17"/>
          <p:cNvSpPr/>
          <p:nvPr/>
        </p:nvSpPr>
        <p:spPr>
          <a:xfrm>
            <a:off x="6172200" y="2240280"/>
            <a:ext cx="2628900" cy="352043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6400800" y="242316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brain-FFFFFF.png"/>
          <p:cNvPicPr>
            <a:picLocks noChangeAspect="1"/>
          </p:cNvPicPr>
          <p:nvPr/>
        </p:nvPicPr>
        <p:blipFill>
          <a:blip r:embed="rId4"/>
          <a:stretch>
            <a:fillRect/>
          </a:stretch>
        </p:blipFill>
        <p:spPr>
          <a:xfrm>
            <a:off x="6523695" y="2546055"/>
            <a:ext cx="266273" cy="266273"/>
          </a:xfrm>
          <a:prstGeom prst="rect">
            <a:avLst/>
          </a:prstGeom>
        </p:spPr>
      </p:pic>
      <p:sp>
        <p:nvSpPr>
          <p:cNvPr id="21" name="TextBox 20"/>
          <p:cNvSpPr txBox="1"/>
          <p:nvPr/>
        </p:nvSpPr>
        <p:spPr>
          <a:xfrm>
            <a:off x="6400800" y="3063240"/>
            <a:ext cx="2171700" cy="384048"/>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Reasoning</a:t>
            </a:r>
          </a:p>
        </p:txBody>
      </p:sp>
      <p:sp>
        <p:nvSpPr>
          <p:cNvPr id="22" name="TextBox 21"/>
          <p:cNvSpPr txBox="1"/>
          <p:nvPr/>
        </p:nvSpPr>
        <p:spPr>
          <a:xfrm>
            <a:off x="6400800" y="3483864"/>
            <a:ext cx="2171700" cy="2167127"/>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Logical and step-by-step reasoning, reflection and self-correction on complex problems.</a:t>
            </a:r>
          </a:p>
        </p:txBody>
      </p:sp>
      <p:sp>
        <p:nvSpPr>
          <p:cNvPr id="23" name="Rounded Rectangle 22"/>
          <p:cNvSpPr/>
          <p:nvPr/>
        </p:nvSpPr>
        <p:spPr>
          <a:xfrm>
            <a:off x="8983980" y="2240280"/>
            <a:ext cx="2628900" cy="352043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9212580" y="242316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Picture 24" descr="list-FFFFFF.png"/>
          <p:cNvPicPr>
            <a:picLocks noChangeAspect="1"/>
          </p:cNvPicPr>
          <p:nvPr/>
        </p:nvPicPr>
        <p:blipFill>
          <a:blip r:embed="rId5"/>
          <a:stretch>
            <a:fillRect/>
          </a:stretch>
        </p:blipFill>
        <p:spPr>
          <a:xfrm>
            <a:off x="9335475" y="2546055"/>
            <a:ext cx="266273" cy="266273"/>
          </a:xfrm>
          <a:prstGeom prst="rect">
            <a:avLst/>
          </a:prstGeom>
        </p:spPr>
      </p:pic>
      <p:sp>
        <p:nvSpPr>
          <p:cNvPr id="26" name="TextBox 25"/>
          <p:cNvSpPr txBox="1"/>
          <p:nvPr/>
        </p:nvSpPr>
        <p:spPr>
          <a:xfrm>
            <a:off x="9212580" y="3063240"/>
            <a:ext cx="2171700" cy="384048"/>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Planning</a:t>
            </a:r>
          </a:p>
        </p:txBody>
      </p:sp>
      <p:sp>
        <p:nvSpPr>
          <p:cNvPr id="27" name="TextBox 26"/>
          <p:cNvSpPr txBox="1"/>
          <p:nvPr/>
        </p:nvSpPr>
        <p:spPr>
          <a:xfrm>
            <a:off x="9212580" y="3483864"/>
            <a:ext cx="2171700" cy="2167127"/>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Break tasks into sub-goals, set targets, revise the plan after feedback, improve over time.</a:t>
            </a:r>
          </a:p>
        </p:txBody>
      </p:sp>
      <p:sp>
        <p:nvSpPr>
          <p:cNvPr id="28" name="TextBox 27"/>
          <p:cNvSpPr txBox="1"/>
          <p:nvPr/>
        </p:nvSpPr>
        <p:spPr>
          <a:xfrm>
            <a:off x="548640" y="5870448"/>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Hermes adds natural-language interaction and transfer: one agent, every channel, new skills learned on the job.</a:t>
            </a:r>
          </a:p>
        </p:txBody>
      </p:sp>
    </p:spTree>
  </p:cSld>
  <p:clrMapOvr>
    <a:masterClrMapping/>
  </p:clrMapOvr>
  <p:transition spd="med">
    <p:fade/>
  </p:transition>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HOW AN AGENT WORKS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Perception </a:t>
            </a:r>
            <a:r>
              <a:rPr sz="3000" b="1" i="0">
                <a:solidFill>
                  <a:srgbClr val="FFFFFF"/>
                </a:solidFill>
                <a:latin typeface="Calibri"/>
              </a:rPr>
              <a:t>→</a:t>
            </a:r>
            <a:r>
              <a:rPr sz="3000" b="1" i="0">
                <a:solidFill>
                  <a:srgbClr val="FFFFFF"/>
                </a:solidFill>
                <a:latin typeface="Cambria"/>
              </a:rPr>
              <a:t> Decision </a:t>
            </a:r>
            <a:r>
              <a:rPr sz="3000" b="1" i="0">
                <a:solidFill>
                  <a:srgbClr val="FFFFFF"/>
                </a:solidFill>
                <a:latin typeface="Calibri"/>
              </a:rPr>
              <a:t>→</a:t>
            </a:r>
            <a:r>
              <a:rPr sz="3000" b="1" i="0">
                <a:solidFill>
                  <a:srgbClr val="FFFFFF"/>
                </a:solidFill>
                <a:latin typeface="Cambria"/>
              </a:rPr>
              <a:t> Action: a Closed Loop</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35</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sp>
        <p:nvSpPr>
          <p:cNvPr id="7" name="Rounded Rectangle 6"/>
          <p:cNvSpPr/>
          <p:nvPr/>
        </p:nvSpPr>
        <p:spPr>
          <a:xfrm>
            <a:off x="548640" y="1783080"/>
            <a:ext cx="4480560" cy="40233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7132320" y="1783080"/>
            <a:ext cx="4480560" cy="40233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22960" y="1920240"/>
            <a:ext cx="3931920" cy="411480"/>
          </a:xfrm>
          <a:prstGeom prst="rect">
            <a:avLst/>
          </a:prstGeom>
          <a:noFill/>
        </p:spPr>
        <p:txBody>
          <a:bodyPr wrap="square" lIns="36576" rIns="36576" tIns="18288" bIns="18288" anchor="t">
            <a:spAutoFit/>
          </a:bodyPr>
          <a:lstStyle/>
          <a:p>
            <a:pPr algn="l">
              <a:lnSpc>
                <a:spcPct val="112000"/>
              </a:lnSpc>
            </a:pPr>
            <a:r>
              <a:rPr sz="1800" b="1" i="0">
                <a:solidFill>
                  <a:srgbClr val="D97757"/>
                </a:solidFill>
                <a:latin typeface="Cambria"/>
              </a:rPr>
              <a:t>Perception</a:t>
            </a:r>
          </a:p>
        </p:txBody>
      </p:sp>
      <p:sp>
        <p:nvSpPr>
          <p:cNvPr id="10" name="TextBox 9"/>
          <p:cNvSpPr txBox="1"/>
          <p:nvPr/>
        </p:nvSpPr>
        <p:spPr>
          <a:xfrm>
            <a:off x="7406640" y="1920240"/>
            <a:ext cx="3931920" cy="411480"/>
          </a:xfrm>
          <a:prstGeom prst="rect">
            <a:avLst/>
          </a:prstGeom>
          <a:noFill/>
        </p:spPr>
        <p:txBody>
          <a:bodyPr wrap="square" lIns="36576" rIns="36576" tIns="18288" bIns="18288" anchor="t">
            <a:spAutoFit/>
          </a:bodyPr>
          <a:lstStyle/>
          <a:p>
            <a:pPr algn="l">
              <a:lnSpc>
                <a:spcPct val="112000"/>
              </a:lnSpc>
            </a:pPr>
            <a:r>
              <a:rPr sz="1800" b="1" i="0">
                <a:solidFill>
                  <a:srgbClr val="D97757"/>
                </a:solidFill>
                <a:latin typeface="Cambria"/>
              </a:rPr>
              <a:t>Action</a:t>
            </a:r>
          </a:p>
        </p:txBody>
      </p:sp>
      <p:sp>
        <p:nvSpPr>
          <p:cNvPr id="11" name="Oval 10"/>
          <p:cNvSpPr/>
          <p:nvPr/>
        </p:nvSpPr>
        <p:spPr>
          <a:xfrm>
            <a:off x="868680" y="2514600"/>
            <a:ext cx="457200" cy="457200"/>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eye-FFFFFF.png"/>
          <p:cNvPicPr>
            <a:picLocks noChangeAspect="1"/>
          </p:cNvPicPr>
          <p:nvPr/>
        </p:nvPicPr>
        <p:blipFill>
          <a:blip r:embed="rId2"/>
          <a:stretch>
            <a:fillRect/>
          </a:stretch>
        </p:blipFill>
        <p:spPr>
          <a:xfrm>
            <a:off x="978407" y="2624328"/>
            <a:ext cx="237744" cy="237744"/>
          </a:xfrm>
          <a:prstGeom prst="rect">
            <a:avLst/>
          </a:prstGeom>
        </p:spPr>
      </p:pic>
      <p:sp>
        <p:nvSpPr>
          <p:cNvPr id="13" name="TextBox 12"/>
          <p:cNvSpPr txBox="1"/>
          <p:nvPr/>
        </p:nvSpPr>
        <p:spPr>
          <a:xfrm>
            <a:off x="1463040" y="2560320"/>
            <a:ext cx="3383280" cy="384048"/>
          </a:xfrm>
          <a:prstGeom prst="rect">
            <a:avLst/>
          </a:prstGeom>
          <a:noFill/>
        </p:spPr>
        <p:txBody>
          <a:bodyPr wrap="square" lIns="36576" rIns="36576" tIns="18288" bIns="18288" anchor="t">
            <a:spAutoFit/>
          </a:bodyPr>
          <a:lstStyle/>
          <a:p>
            <a:pPr algn="l">
              <a:lnSpc>
                <a:spcPct val="112000"/>
              </a:lnSpc>
            </a:pPr>
            <a:r>
              <a:rPr sz="1500" b="1" i="0">
                <a:solidFill>
                  <a:srgbClr val="FFFFFF"/>
                </a:solidFill>
                <a:latin typeface="Cambria"/>
              </a:rPr>
              <a:t>Multimodal perception</a:t>
            </a:r>
          </a:p>
        </p:txBody>
      </p:sp>
      <p:sp>
        <p:nvSpPr>
          <p:cNvPr id="14" name="Oval 13"/>
          <p:cNvSpPr/>
          <p:nvPr/>
        </p:nvSpPr>
        <p:spPr>
          <a:xfrm>
            <a:off x="7452360" y="2514600"/>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Picture 14" descr="tool-FFFFFF.png"/>
          <p:cNvPicPr>
            <a:picLocks noChangeAspect="1"/>
          </p:cNvPicPr>
          <p:nvPr/>
        </p:nvPicPr>
        <p:blipFill>
          <a:blip r:embed="rId3"/>
          <a:stretch>
            <a:fillRect/>
          </a:stretch>
        </p:blipFill>
        <p:spPr>
          <a:xfrm>
            <a:off x="7562088" y="2624328"/>
            <a:ext cx="237744" cy="237744"/>
          </a:xfrm>
          <a:prstGeom prst="rect">
            <a:avLst/>
          </a:prstGeom>
        </p:spPr>
      </p:pic>
      <p:sp>
        <p:nvSpPr>
          <p:cNvPr id="16" name="TextBox 15"/>
          <p:cNvSpPr txBox="1"/>
          <p:nvPr/>
        </p:nvSpPr>
        <p:spPr>
          <a:xfrm>
            <a:off x="8046720" y="2560320"/>
            <a:ext cx="3383280" cy="384048"/>
          </a:xfrm>
          <a:prstGeom prst="rect">
            <a:avLst/>
          </a:prstGeom>
          <a:noFill/>
        </p:spPr>
        <p:txBody>
          <a:bodyPr wrap="square" lIns="36576" rIns="36576" tIns="18288" bIns="18288" anchor="t">
            <a:spAutoFit/>
          </a:bodyPr>
          <a:lstStyle/>
          <a:p>
            <a:pPr algn="l">
              <a:lnSpc>
                <a:spcPct val="112000"/>
              </a:lnSpc>
            </a:pPr>
            <a:r>
              <a:rPr sz="1500" b="1" i="0">
                <a:solidFill>
                  <a:srgbClr val="FFFFFF"/>
                </a:solidFill>
                <a:latin typeface="Cambria"/>
              </a:rPr>
              <a:t>Task execution</a:t>
            </a:r>
          </a:p>
        </p:txBody>
      </p:sp>
      <p:cxnSp>
        <p:nvCxnSpPr>
          <p:cNvPr id="17" name="Connector 16"/>
          <p:cNvCxnSpPr/>
          <p:nvPr/>
        </p:nvCxnSpPr>
        <p:spPr>
          <a:xfrm>
            <a:off x="5120640" y="2743200"/>
            <a:ext cx="1920240"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Oval 17"/>
          <p:cNvSpPr/>
          <p:nvPr/>
        </p:nvSpPr>
        <p:spPr>
          <a:xfrm>
            <a:off x="868680" y="3300984"/>
            <a:ext cx="457200" cy="457200"/>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 name="Picture 18" descr="globe-FFFFFF.png"/>
          <p:cNvPicPr>
            <a:picLocks noChangeAspect="1"/>
          </p:cNvPicPr>
          <p:nvPr/>
        </p:nvPicPr>
        <p:blipFill>
          <a:blip r:embed="rId4"/>
          <a:stretch>
            <a:fillRect/>
          </a:stretch>
        </p:blipFill>
        <p:spPr>
          <a:xfrm>
            <a:off x="978407" y="3410712"/>
            <a:ext cx="237744" cy="237744"/>
          </a:xfrm>
          <a:prstGeom prst="rect">
            <a:avLst/>
          </a:prstGeom>
        </p:spPr>
      </p:pic>
      <p:sp>
        <p:nvSpPr>
          <p:cNvPr id="20" name="TextBox 19"/>
          <p:cNvSpPr txBox="1"/>
          <p:nvPr/>
        </p:nvSpPr>
        <p:spPr>
          <a:xfrm>
            <a:off x="1463040" y="3346703"/>
            <a:ext cx="3383280" cy="384048"/>
          </a:xfrm>
          <a:prstGeom prst="rect">
            <a:avLst/>
          </a:prstGeom>
          <a:noFill/>
        </p:spPr>
        <p:txBody>
          <a:bodyPr wrap="square" lIns="36576" rIns="36576" tIns="18288" bIns="18288" anchor="t">
            <a:spAutoFit/>
          </a:bodyPr>
          <a:lstStyle/>
          <a:p>
            <a:pPr algn="l">
              <a:lnSpc>
                <a:spcPct val="112000"/>
              </a:lnSpc>
            </a:pPr>
            <a:r>
              <a:rPr sz="1500" b="1" i="0">
                <a:solidFill>
                  <a:srgbClr val="FFFFFF"/>
                </a:solidFill>
                <a:latin typeface="Cambria"/>
              </a:rPr>
              <a:t>Environment interaction</a:t>
            </a:r>
          </a:p>
        </p:txBody>
      </p:sp>
      <p:sp>
        <p:nvSpPr>
          <p:cNvPr id="21" name="Oval 20"/>
          <p:cNvSpPr/>
          <p:nvPr/>
        </p:nvSpPr>
        <p:spPr>
          <a:xfrm>
            <a:off x="7452360" y="3300984"/>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loop-FFFFFF.png"/>
          <p:cNvPicPr>
            <a:picLocks noChangeAspect="1"/>
          </p:cNvPicPr>
          <p:nvPr/>
        </p:nvPicPr>
        <p:blipFill>
          <a:blip r:embed="rId5"/>
          <a:stretch>
            <a:fillRect/>
          </a:stretch>
        </p:blipFill>
        <p:spPr>
          <a:xfrm>
            <a:off x="7562088" y="3410712"/>
            <a:ext cx="237744" cy="237744"/>
          </a:xfrm>
          <a:prstGeom prst="rect">
            <a:avLst/>
          </a:prstGeom>
        </p:spPr>
      </p:pic>
      <p:sp>
        <p:nvSpPr>
          <p:cNvPr id="23" name="TextBox 22"/>
          <p:cNvSpPr txBox="1"/>
          <p:nvPr/>
        </p:nvSpPr>
        <p:spPr>
          <a:xfrm>
            <a:off x="8046720" y="3346703"/>
            <a:ext cx="3383280" cy="384048"/>
          </a:xfrm>
          <a:prstGeom prst="rect">
            <a:avLst/>
          </a:prstGeom>
          <a:noFill/>
        </p:spPr>
        <p:txBody>
          <a:bodyPr wrap="square" lIns="36576" rIns="36576" tIns="18288" bIns="18288" anchor="t">
            <a:spAutoFit/>
          </a:bodyPr>
          <a:lstStyle/>
          <a:p>
            <a:pPr algn="l">
              <a:lnSpc>
                <a:spcPct val="112000"/>
              </a:lnSpc>
            </a:pPr>
            <a:r>
              <a:rPr sz="1500" b="1" i="0">
                <a:solidFill>
                  <a:srgbClr val="FFFFFF"/>
                </a:solidFill>
                <a:latin typeface="Cambria"/>
              </a:rPr>
              <a:t>Environment feedback</a:t>
            </a:r>
          </a:p>
        </p:txBody>
      </p:sp>
      <p:cxnSp>
        <p:nvCxnSpPr>
          <p:cNvPr id="24" name="Connector 23"/>
          <p:cNvCxnSpPr/>
          <p:nvPr/>
        </p:nvCxnSpPr>
        <p:spPr>
          <a:xfrm>
            <a:off x="5120640" y="3529584"/>
            <a:ext cx="1920240"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Oval 24"/>
          <p:cNvSpPr/>
          <p:nvPr/>
        </p:nvSpPr>
        <p:spPr>
          <a:xfrm>
            <a:off x="868680" y="4087368"/>
            <a:ext cx="457200" cy="457200"/>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6" name="Picture 25" descr="memory-FFFFFF.png"/>
          <p:cNvPicPr>
            <a:picLocks noChangeAspect="1"/>
          </p:cNvPicPr>
          <p:nvPr/>
        </p:nvPicPr>
        <p:blipFill>
          <a:blip r:embed="rId6"/>
          <a:stretch>
            <a:fillRect/>
          </a:stretch>
        </p:blipFill>
        <p:spPr>
          <a:xfrm>
            <a:off x="978407" y="4197096"/>
            <a:ext cx="237744" cy="237744"/>
          </a:xfrm>
          <a:prstGeom prst="rect">
            <a:avLst/>
          </a:prstGeom>
        </p:spPr>
      </p:pic>
      <p:sp>
        <p:nvSpPr>
          <p:cNvPr id="27" name="TextBox 26"/>
          <p:cNvSpPr txBox="1"/>
          <p:nvPr/>
        </p:nvSpPr>
        <p:spPr>
          <a:xfrm>
            <a:off x="1463040" y="4133087"/>
            <a:ext cx="3383280" cy="384048"/>
          </a:xfrm>
          <a:prstGeom prst="rect">
            <a:avLst/>
          </a:prstGeom>
          <a:noFill/>
        </p:spPr>
        <p:txBody>
          <a:bodyPr wrap="square" lIns="36576" rIns="36576" tIns="18288" bIns="18288" anchor="t">
            <a:spAutoFit/>
          </a:bodyPr>
          <a:lstStyle/>
          <a:p>
            <a:pPr algn="l">
              <a:lnSpc>
                <a:spcPct val="112000"/>
              </a:lnSpc>
            </a:pPr>
            <a:r>
              <a:rPr sz="1500" b="1" i="0">
                <a:solidFill>
                  <a:srgbClr val="FFFFFF"/>
                </a:solidFill>
                <a:latin typeface="Cambria"/>
              </a:rPr>
              <a:t>Information retrieval</a:t>
            </a:r>
          </a:p>
        </p:txBody>
      </p:sp>
      <p:sp>
        <p:nvSpPr>
          <p:cNvPr id="28" name="Oval 27"/>
          <p:cNvSpPr/>
          <p:nvPr/>
        </p:nvSpPr>
        <p:spPr>
          <a:xfrm>
            <a:off x="7452360" y="4087368"/>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9" name="Picture 28" descr="trend-FFFFFF.png"/>
          <p:cNvPicPr>
            <a:picLocks noChangeAspect="1"/>
          </p:cNvPicPr>
          <p:nvPr/>
        </p:nvPicPr>
        <p:blipFill>
          <a:blip r:embed="rId7"/>
          <a:stretch>
            <a:fillRect/>
          </a:stretch>
        </p:blipFill>
        <p:spPr>
          <a:xfrm>
            <a:off x="7562088" y="4197096"/>
            <a:ext cx="237744" cy="237744"/>
          </a:xfrm>
          <a:prstGeom prst="rect">
            <a:avLst/>
          </a:prstGeom>
        </p:spPr>
      </p:pic>
      <p:sp>
        <p:nvSpPr>
          <p:cNvPr id="30" name="TextBox 29"/>
          <p:cNvSpPr txBox="1"/>
          <p:nvPr/>
        </p:nvSpPr>
        <p:spPr>
          <a:xfrm>
            <a:off x="8046720" y="4133087"/>
            <a:ext cx="3383280" cy="384048"/>
          </a:xfrm>
          <a:prstGeom prst="rect">
            <a:avLst/>
          </a:prstGeom>
          <a:noFill/>
        </p:spPr>
        <p:txBody>
          <a:bodyPr wrap="square" lIns="36576" rIns="36576" tIns="18288" bIns="18288" anchor="t">
            <a:spAutoFit/>
          </a:bodyPr>
          <a:lstStyle/>
          <a:p>
            <a:pPr algn="l">
              <a:lnSpc>
                <a:spcPct val="112000"/>
              </a:lnSpc>
            </a:pPr>
            <a:r>
              <a:rPr sz="1500" b="1" i="0">
                <a:solidFill>
                  <a:srgbClr val="FFFFFF"/>
                </a:solidFill>
                <a:latin typeface="Cambria"/>
              </a:rPr>
              <a:t>Behaviour optimisation</a:t>
            </a:r>
          </a:p>
        </p:txBody>
      </p:sp>
      <p:cxnSp>
        <p:nvCxnSpPr>
          <p:cNvPr id="31" name="Connector 30"/>
          <p:cNvCxnSpPr/>
          <p:nvPr/>
        </p:nvCxnSpPr>
        <p:spPr>
          <a:xfrm>
            <a:off x="5120640" y="4315968"/>
            <a:ext cx="1920240"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32" name="Oval 31"/>
          <p:cNvSpPr/>
          <p:nvPr/>
        </p:nvSpPr>
        <p:spPr>
          <a:xfrm>
            <a:off x="868680" y="4873752"/>
            <a:ext cx="457200" cy="457200"/>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3" name="Picture 32" descr="map-FFFFFF.png"/>
          <p:cNvPicPr>
            <a:picLocks noChangeAspect="1"/>
          </p:cNvPicPr>
          <p:nvPr/>
        </p:nvPicPr>
        <p:blipFill>
          <a:blip r:embed="rId8"/>
          <a:stretch>
            <a:fillRect/>
          </a:stretch>
        </p:blipFill>
        <p:spPr>
          <a:xfrm>
            <a:off x="978407" y="4983480"/>
            <a:ext cx="237744" cy="237744"/>
          </a:xfrm>
          <a:prstGeom prst="rect">
            <a:avLst/>
          </a:prstGeom>
        </p:spPr>
      </p:pic>
      <p:sp>
        <p:nvSpPr>
          <p:cNvPr id="34" name="TextBox 33"/>
          <p:cNvSpPr txBox="1"/>
          <p:nvPr/>
        </p:nvSpPr>
        <p:spPr>
          <a:xfrm>
            <a:off x="1463040" y="4919472"/>
            <a:ext cx="3383280" cy="384048"/>
          </a:xfrm>
          <a:prstGeom prst="rect">
            <a:avLst/>
          </a:prstGeom>
          <a:noFill/>
        </p:spPr>
        <p:txBody>
          <a:bodyPr wrap="square" lIns="36576" rIns="36576" tIns="18288" bIns="18288" anchor="t">
            <a:spAutoFit/>
          </a:bodyPr>
          <a:lstStyle/>
          <a:p>
            <a:pPr algn="l">
              <a:lnSpc>
                <a:spcPct val="112000"/>
              </a:lnSpc>
            </a:pPr>
            <a:r>
              <a:rPr sz="1500" b="1" i="0">
                <a:solidFill>
                  <a:srgbClr val="FFFFFF"/>
                </a:solidFill>
                <a:latin typeface="Cambria"/>
              </a:rPr>
              <a:t>World modelling</a:t>
            </a:r>
          </a:p>
        </p:txBody>
      </p:sp>
      <p:sp>
        <p:nvSpPr>
          <p:cNvPr id="35" name="Oval 34"/>
          <p:cNvSpPr/>
          <p:nvPr/>
        </p:nvSpPr>
        <p:spPr>
          <a:xfrm>
            <a:off x="7452360" y="4873752"/>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6" name="Picture 35" descr="sparkles-FFFFFF.png"/>
          <p:cNvPicPr>
            <a:picLocks noChangeAspect="1"/>
          </p:cNvPicPr>
          <p:nvPr/>
        </p:nvPicPr>
        <p:blipFill>
          <a:blip r:embed="rId9"/>
          <a:stretch>
            <a:fillRect/>
          </a:stretch>
        </p:blipFill>
        <p:spPr>
          <a:xfrm>
            <a:off x="7562088" y="4983480"/>
            <a:ext cx="237744" cy="237744"/>
          </a:xfrm>
          <a:prstGeom prst="rect">
            <a:avLst/>
          </a:prstGeom>
        </p:spPr>
      </p:pic>
      <p:sp>
        <p:nvSpPr>
          <p:cNvPr id="37" name="TextBox 36"/>
          <p:cNvSpPr txBox="1"/>
          <p:nvPr/>
        </p:nvSpPr>
        <p:spPr>
          <a:xfrm>
            <a:off x="8046720" y="4919472"/>
            <a:ext cx="3383280" cy="384048"/>
          </a:xfrm>
          <a:prstGeom prst="rect">
            <a:avLst/>
          </a:prstGeom>
          <a:noFill/>
        </p:spPr>
        <p:txBody>
          <a:bodyPr wrap="square" lIns="36576" rIns="36576" tIns="18288" bIns="18288" anchor="t">
            <a:spAutoFit/>
          </a:bodyPr>
          <a:lstStyle/>
          <a:p>
            <a:pPr algn="l">
              <a:lnSpc>
                <a:spcPct val="112000"/>
              </a:lnSpc>
            </a:pPr>
            <a:r>
              <a:rPr sz="1500" b="1" i="0">
                <a:solidFill>
                  <a:srgbClr val="FFFFFF"/>
                </a:solidFill>
                <a:latin typeface="Cambria"/>
              </a:rPr>
              <a:t>Autonomous evolution</a:t>
            </a:r>
          </a:p>
        </p:txBody>
      </p:sp>
      <p:cxnSp>
        <p:nvCxnSpPr>
          <p:cNvPr id="38" name="Connector 37"/>
          <p:cNvCxnSpPr/>
          <p:nvPr/>
        </p:nvCxnSpPr>
        <p:spPr>
          <a:xfrm>
            <a:off x="5120640" y="5102352"/>
            <a:ext cx="1920240"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39" name="Oval 38"/>
          <p:cNvSpPr/>
          <p:nvPr/>
        </p:nvSpPr>
        <p:spPr>
          <a:xfrm>
            <a:off x="5349240" y="2971800"/>
            <a:ext cx="1463040" cy="1463040"/>
          </a:xfrm>
          <a:prstGeom prst="ellipse">
            <a:avLst/>
          </a:prstGeom>
          <a:solidFill>
            <a:srgbClr val="6D2E4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5349240" y="2971800"/>
            <a:ext cx="1463040" cy="1463040"/>
          </a:xfrm>
          <a:prstGeom prst="rect">
            <a:avLst/>
          </a:prstGeom>
          <a:noFill/>
        </p:spPr>
        <p:txBody>
          <a:bodyPr wrap="square" lIns="36576" rIns="36576" tIns="18288" bIns="18288" anchor="ctr">
            <a:spAutoFit/>
          </a:bodyPr>
          <a:lstStyle/>
          <a:p>
            <a:pPr algn="ctr">
              <a:lnSpc>
                <a:spcPct val="112000"/>
              </a:lnSpc>
            </a:pPr>
            <a:r>
              <a:rPr sz="1500" b="1" i="0">
                <a:solidFill>
                  <a:srgbClr val="FFFFFF"/>
                </a:solidFill>
                <a:latin typeface="Cambria"/>
              </a:rPr>
              <a:t>Brain</a:t>
            </a:r>
          </a:p>
          <a:p>
            <a:pPr algn="ctr">
              <a:lnSpc>
                <a:spcPct val="112000"/>
              </a:lnSpc>
            </a:pPr>
            <a:r>
              <a:rPr sz="1500" b="1" i="0">
                <a:solidFill>
                  <a:srgbClr val="FFFFFF"/>
                </a:solidFill>
                <a:latin typeface="Cambria"/>
              </a:rPr>
              <a:t>decides</a:t>
            </a:r>
          </a:p>
        </p:txBody>
      </p:sp>
      <p:sp>
        <p:nvSpPr>
          <p:cNvPr id="41" name="TextBox 40"/>
          <p:cNvSpPr txBox="1"/>
          <p:nvPr/>
        </p:nvSpPr>
        <p:spPr>
          <a:xfrm>
            <a:off x="548640" y="5943600"/>
            <a:ext cx="11064240" cy="384048"/>
          </a:xfrm>
          <a:prstGeom prst="rect">
            <a:avLst/>
          </a:prstGeom>
          <a:noFill/>
        </p:spPr>
        <p:txBody>
          <a:bodyPr wrap="square" lIns="36576" rIns="36576" tIns="18288" bIns="18288" anchor="t">
            <a:spAutoFit/>
          </a:bodyPr>
          <a:lstStyle/>
          <a:p>
            <a:pPr algn="ctr">
              <a:lnSpc>
                <a:spcPct val="112000"/>
              </a:lnSpc>
            </a:pPr>
            <a:r>
              <a:rPr sz="1300" b="0" i="0">
                <a:solidFill>
                  <a:srgbClr val="C9C4B9"/>
                </a:solidFill>
                <a:latin typeface="Calibri"/>
              </a:rPr>
              <a:t>Perception → decision → action → feedback → new perception. In Lab 3 the feedback is your Telegram reply.</a:t>
            </a:r>
          </a:p>
        </p:txBody>
      </p:sp>
    </p:spTree>
  </p:cSld>
  <p:clrMapOvr>
    <a:masterClrMapping/>
  </p:clrMapOvr>
  <p:transition spd="med">
    <p:fade/>
  </p:transition>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MEMORY</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Memory: Short-Term and Long-Term</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Framework: CoALA (Sumers et al., 2023). Short-term memory is limited and resets; long-term memory persists and is retrieved when relevant.</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36</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graphicFrame>
        <p:nvGraphicFramePr>
          <p:cNvPr id="8" name="Table 7"/>
          <p:cNvGraphicFramePr>
            <a:graphicFrameLocks noGrp="1"/>
          </p:cNvGraphicFramePr>
          <p:nvPr/>
        </p:nvGraphicFramePr>
        <p:xfrm>
          <a:off x="548640" y="2194560"/>
          <a:ext cx="11064240" cy="3236976"/>
        </p:xfrm>
        <a:graphic>
          <a:graphicData uri="http://schemas.openxmlformats.org/drawingml/2006/table">
            <a:tbl>
              <a:tblPr firstRow="0" bandRow="0">
                <a:tableStyleId>{5C22544A-7EE6-4342-B048-85BDC9FD1C3A}</a:tableStyleId>
              </a:tblPr>
              <a:tblGrid>
                <a:gridCol w="2103120"/>
                <a:gridCol w="2194560"/>
                <a:gridCol w="3657600"/>
                <a:gridCol w="3108960"/>
              </a:tblGrid>
              <a:tr h="457200">
                <a:tc>
                  <a:txBody>
                    <a:bodyPr wrap="square"/>
                    <a:lstStyle/>
                    <a:p>
                      <a:r>
                        <a:rPr b="1" sz="1550">
                          <a:solidFill>
                            <a:srgbClr val="FFFFFF"/>
                          </a:solidFill>
                          <a:latin typeface="Cambria"/>
                        </a:rPr>
                        <a:t>Memory type</a:t>
                      </a:r>
                    </a:p>
                  </a:txBody>
                  <a:tcPr marL="64008" marR="64008" marT="27432" marB="27432" anchor="ctr">
                    <a:solidFill>
                      <a:srgbClr val="21201C"/>
                    </a:solidFill>
                  </a:tcPr>
                </a:tc>
                <a:tc>
                  <a:txBody>
                    <a:bodyPr wrap="square"/>
                    <a:lstStyle/>
                    <a:p>
                      <a:r>
                        <a:rPr b="1" sz="1550">
                          <a:solidFill>
                            <a:srgbClr val="FFFFFF"/>
                          </a:solidFill>
                          <a:latin typeface="Cambria"/>
                        </a:rPr>
                        <a:t>Human analogy</a:t>
                      </a:r>
                    </a:p>
                  </a:txBody>
                  <a:tcPr marL="64008" marR="64008" marT="27432" marB="27432" anchor="ctr">
                    <a:solidFill>
                      <a:srgbClr val="21201C"/>
                    </a:solidFill>
                  </a:tcPr>
                </a:tc>
                <a:tc>
                  <a:txBody>
                    <a:bodyPr wrap="square"/>
                    <a:lstStyle/>
                    <a:p>
                      <a:r>
                        <a:rPr b="1" sz="1550">
                          <a:solidFill>
                            <a:srgbClr val="FFFFFF"/>
                          </a:solidFill>
                          <a:latin typeface="Cambria"/>
                        </a:rPr>
                        <a:t>What the agent keeps</a:t>
                      </a:r>
                    </a:p>
                  </a:txBody>
                  <a:tcPr marL="64008" marR="64008" marT="27432" marB="27432" anchor="ctr">
                    <a:solidFill>
                      <a:srgbClr val="21201C"/>
                    </a:solidFill>
                  </a:tcPr>
                </a:tc>
                <a:tc>
                  <a:txBody>
                    <a:bodyPr wrap="square"/>
                    <a:lstStyle/>
                    <a:p>
                      <a:r>
                        <a:rPr b="1" sz="1550">
                          <a:solidFill>
                            <a:srgbClr val="FFFFFF"/>
                          </a:solidFill>
                          <a:latin typeface="Cambria"/>
                        </a:rPr>
                        <a:t>Where you will see it</a:t>
                      </a:r>
                    </a:p>
                  </a:txBody>
                  <a:tcPr marL="64008" marR="64008" marT="27432" marB="27432" anchor="ctr">
                    <a:solidFill>
                      <a:srgbClr val="21201C"/>
                    </a:solidFill>
                  </a:tcPr>
                </a:tc>
              </a:tr>
              <a:tr h="694944">
                <a:tc>
                  <a:txBody>
                    <a:bodyPr wrap="square"/>
                    <a:lstStyle/>
                    <a:p>
                      <a:r>
                        <a:rPr b="1" sz="1500">
                          <a:solidFill>
                            <a:srgbClr val="21201C"/>
                          </a:solidFill>
                          <a:latin typeface="Cambria"/>
                        </a:rPr>
                        <a:t>Short-term / working</a:t>
                      </a:r>
                    </a:p>
                  </a:txBody>
                  <a:tcPr marL="64008" marR="64008" marT="27432" marB="27432" anchor="ctr">
                    <a:solidFill>
                      <a:srgbClr val="FFFFFF"/>
                    </a:solidFill>
                  </a:tcPr>
                </a:tc>
                <a:tc>
                  <a:txBody>
                    <a:bodyPr wrap="square"/>
                    <a:lstStyle/>
                    <a:p>
                      <a:r>
                        <a:rPr b="0" sz="1500">
                          <a:solidFill>
                            <a:srgbClr val="6B6862"/>
                          </a:solidFill>
                          <a:latin typeface="Calibri"/>
                        </a:rPr>
                        <a:t>What you're thinking about now</a:t>
                      </a:r>
                    </a:p>
                  </a:txBody>
                  <a:tcPr marL="64008" marR="64008" marT="27432" marB="27432" anchor="ctr">
                    <a:solidFill>
                      <a:srgbClr val="FFFFFF"/>
                    </a:solidFill>
                  </a:tcPr>
                </a:tc>
                <a:tc>
                  <a:txBody>
                    <a:bodyPr wrap="square"/>
                    <a:lstStyle/>
                    <a:p>
                      <a:r>
                        <a:rPr b="0" sz="1500">
                          <a:solidFill>
                            <a:srgbClr val="6B6862"/>
                          </a:solidFill>
                          <a:latin typeface="Calibri"/>
                        </a:rPr>
                        <a:t>The context window: instructions, chat, tool results, current plan</a:t>
                      </a:r>
                    </a:p>
                  </a:txBody>
                  <a:tcPr marL="64008" marR="64008" marT="27432" marB="27432" anchor="ctr">
                    <a:solidFill>
                      <a:srgbClr val="FFFFFF"/>
                    </a:solidFill>
                  </a:tcPr>
                </a:tc>
                <a:tc>
                  <a:txBody>
                    <a:bodyPr wrap="square"/>
                    <a:lstStyle/>
                    <a:p>
                      <a:r>
                        <a:rPr b="0" sz="1500">
                          <a:solidFill>
                            <a:srgbClr val="6B6862"/>
                          </a:solidFill>
                          <a:latin typeface="Calibri"/>
                        </a:rPr>
                        <a:t>Every Hermes session; compaction when it fills</a:t>
                      </a:r>
                    </a:p>
                  </a:txBody>
                  <a:tcPr marL="64008" marR="64008" marT="27432" marB="27432" anchor="ctr">
                    <a:solidFill>
                      <a:srgbClr val="FFFFFF"/>
                    </a:solidFill>
                  </a:tcPr>
                </a:tc>
              </a:tr>
              <a:tr h="694944">
                <a:tc>
                  <a:txBody>
                    <a:bodyPr wrap="square"/>
                    <a:lstStyle/>
                    <a:p>
                      <a:r>
                        <a:rPr b="1" sz="1500">
                          <a:solidFill>
                            <a:srgbClr val="21201C"/>
                          </a:solidFill>
                          <a:latin typeface="Cambria"/>
                        </a:rPr>
                        <a:t>Episodic (long-term)</a:t>
                      </a:r>
                    </a:p>
                  </a:txBody>
                  <a:tcPr marL="64008" marR="64008" marT="27432" marB="27432" anchor="ctr">
                    <a:solidFill>
                      <a:srgbClr val="F3F1EB"/>
                    </a:solidFill>
                  </a:tcPr>
                </a:tc>
                <a:tc>
                  <a:txBody>
                    <a:bodyPr wrap="square"/>
                    <a:lstStyle/>
                    <a:p>
                      <a:r>
                        <a:rPr b="0" sz="1500">
                          <a:solidFill>
                            <a:srgbClr val="6B6862"/>
                          </a:solidFill>
                          <a:latin typeface="Calibri"/>
                        </a:rPr>
                        <a:t>"What happened"</a:t>
                      </a:r>
                    </a:p>
                  </a:txBody>
                  <a:tcPr marL="64008" marR="64008" marT="27432" marB="27432" anchor="ctr">
                    <a:solidFill>
                      <a:srgbClr val="F3F1EB"/>
                    </a:solidFill>
                  </a:tcPr>
                </a:tc>
                <a:tc>
                  <a:txBody>
                    <a:bodyPr wrap="square"/>
                    <a:lstStyle/>
                    <a:p>
                      <a:r>
                        <a:rPr b="0" sz="1500">
                          <a:solidFill>
                            <a:srgbClr val="6B6862"/>
                          </a:solidFill>
                          <a:latin typeface="Calibri"/>
                        </a:rPr>
                        <a:t>Past sessions, actions and outcomes</a:t>
                      </a:r>
                    </a:p>
                  </a:txBody>
                  <a:tcPr marL="64008" marR="64008" marT="27432" marB="27432" anchor="ctr">
                    <a:solidFill>
                      <a:srgbClr val="F3F1EB"/>
                    </a:solidFill>
                  </a:tcPr>
                </a:tc>
                <a:tc>
                  <a:txBody>
                    <a:bodyPr wrap="square"/>
                    <a:lstStyle/>
                    <a:p>
                      <a:r>
                        <a:rPr b="0" sz="1500">
                          <a:solidFill>
                            <a:srgbClr val="6B6862"/>
                          </a:solidFill>
                          <a:latin typeface="Calibri"/>
                        </a:rPr>
                        <a:t>Hermes session search; Kanban &amp; Paperclip history</a:t>
                      </a:r>
                    </a:p>
                  </a:txBody>
                  <a:tcPr marL="64008" marR="64008" marT="27432" marB="27432" anchor="ctr">
                    <a:solidFill>
                      <a:srgbClr val="F3F1EB"/>
                    </a:solidFill>
                  </a:tcPr>
                </a:tc>
              </a:tr>
              <a:tr h="694944">
                <a:tc>
                  <a:txBody>
                    <a:bodyPr wrap="square"/>
                    <a:lstStyle/>
                    <a:p>
                      <a:r>
                        <a:rPr b="1" sz="1500">
                          <a:solidFill>
                            <a:srgbClr val="21201C"/>
                          </a:solidFill>
                          <a:latin typeface="Cambria"/>
                        </a:rPr>
                        <a:t>Semantic (long-term)</a:t>
                      </a:r>
                    </a:p>
                  </a:txBody>
                  <a:tcPr marL="64008" marR="64008" marT="27432" marB="27432" anchor="ctr">
                    <a:solidFill>
                      <a:srgbClr val="FFFFFF"/>
                    </a:solidFill>
                  </a:tcPr>
                </a:tc>
                <a:tc>
                  <a:txBody>
                    <a:bodyPr wrap="square"/>
                    <a:lstStyle/>
                    <a:p>
                      <a:r>
                        <a:rPr b="0" sz="1500">
                          <a:solidFill>
                            <a:srgbClr val="6B6862"/>
                          </a:solidFill>
                          <a:latin typeface="Calibri"/>
                        </a:rPr>
                        <a:t>"Facts I know"</a:t>
                      </a:r>
                    </a:p>
                  </a:txBody>
                  <a:tcPr marL="64008" marR="64008" marT="27432" marB="27432" anchor="ctr">
                    <a:solidFill>
                      <a:srgbClr val="FFFFFF"/>
                    </a:solidFill>
                  </a:tcPr>
                </a:tc>
                <a:tc>
                  <a:txBody>
                    <a:bodyPr wrap="square"/>
                    <a:lstStyle/>
                    <a:p>
                      <a:r>
                        <a:rPr b="0" sz="1500">
                          <a:solidFill>
                            <a:srgbClr val="6B6862"/>
                          </a:solidFill>
                          <a:latin typeface="Calibri"/>
                        </a:rPr>
                        <a:t>Facts about the company and user; knowledge bases (RAG)</a:t>
                      </a:r>
                    </a:p>
                  </a:txBody>
                  <a:tcPr marL="64008" marR="64008" marT="27432" marB="27432" anchor="ctr">
                    <a:solidFill>
                      <a:srgbClr val="FFFFFF"/>
                    </a:solidFill>
                  </a:tcPr>
                </a:tc>
                <a:tc>
                  <a:txBody>
                    <a:bodyPr wrap="square"/>
                    <a:lstStyle/>
                    <a:p>
                      <a:r>
                        <a:rPr b="0" sz="1500">
                          <a:solidFill>
                            <a:srgbClr val="6B6862"/>
                          </a:solidFill>
                          <a:latin typeface="Calibri"/>
                        </a:rPr>
                        <a:t>MEMORY.md / USER.md; brand guide in company knowledge</a:t>
                      </a:r>
                    </a:p>
                  </a:txBody>
                  <a:tcPr marL="64008" marR="64008" marT="27432" marB="27432" anchor="ctr">
                    <a:solidFill>
                      <a:srgbClr val="FFFFFF"/>
                    </a:solidFill>
                  </a:tcPr>
                </a:tc>
              </a:tr>
              <a:tr h="694944">
                <a:tc>
                  <a:txBody>
                    <a:bodyPr wrap="square"/>
                    <a:lstStyle/>
                    <a:p>
                      <a:r>
                        <a:rPr b="1" sz="1500">
                          <a:solidFill>
                            <a:srgbClr val="21201C"/>
                          </a:solidFill>
                          <a:latin typeface="Cambria"/>
                        </a:rPr>
                        <a:t>Procedural (long-term)</a:t>
                      </a:r>
                    </a:p>
                  </a:txBody>
                  <a:tcPr marL="64008" marR="64008" marT="27432" marB="27432" anchor="ctr">
                    <a:solidFill>
                      <a:srgbClr val="F3F1EB"/>
                    </a:solidFill>
                  </a:tcPr>
                </a:tc>
                <a:tc>
                  <a:txBody>
                    <a:bodyPr wrap="square"/>
                    <a:lstStyle/>
                    <a:p>
                      <a:r>
                        <a:rPr b="0" sz="1500">
                          <a:solidFill>
                            <a:srgbClr val="6B6862"/>
                          </a:solidFill>
                          <a:latin typeface="Calibri"/>
                        </a:rPr>
                        <a:t>"How to do things"</a:t>
                      </a:r>
                    </a:p>
                  </a:txBody>
                  <a:tcPr marL="64008" marR="64008" marT="27432" marB="27432" anchor="ctr">
                    <a:solidFill>
                      <a:srgbClr val="F3F1EB"/>
                    </a:solidFill>
                  </a:tcPr>
                </a:tc>
                <a:tc>
                  <a:txBody>
                    <a:bodyPr wrap="square"/>
                    <a:lstStyle/>
                    <a:p>
                      <a:r>
                        <a:rPr b="0" sz="1500">
                          <a:solidFill>
                            <a:srgbClr val="6B6862"/>
                          </a:solidFill>
                          <a:latin typeface="Calibri"/>
                        </a:rPr>
                        <a:t>Skills, rules, workflows</a:t>
                      </a:r>
                    </a:p>
                  </a:txBody>
                  <a:tcPr marL="64008" marR="64008" marT="27432" marB="27432" anchor="ctr">
                    <a:solidFill>
                      <a:srgbClr val="F3F1EB"/>
                    </a:solidFill>
                  </a:tcPr>
                </a:tc>
                <a:tc>
                  <a:txBody>
                    <a:bodyPr wrap="square"/>
                    <a:lstStyle/>
                    <a:p>
                      <a:r>
                        <a:rPr b="0" sz="1500">
                          <a:solidFill>
                            <a:srgbClr val="6B6862"/>
                          </a:solidFill>
                          <a:latin typeface="Calibri"/>
                        </a:rPr>
                        <a:t>SKILL.md skills; AGENTS.md; agent instructions</a:t>
                      </a:r>
                    </a:p>
                  </a:txBody>
                  <a:tcPr marL="64008" marR="64008" marT="27432" marB="27432" anchor="ctr">
                    <a:solidFill>
                      <a:srgbClr val="F3F1EB"/>
                    </a:solidFill>
                  </a:tcPr>
                </a:tc>
              </a:tr>
            </a:tbl>
          </a:graphicData>
        </a:graphic>
      </p:graphicFrame>
      <p:sp>
        <p:nvSpPr>
          <p:cNvPr id="9" name="TextBox 8"/>
          <p:cNvSpPr txBox="1"/>
          <p:nvPr/>
        </p:nvSpPr>
        <p:spPr>
          <a:xfrm>
            <a:off x="548640" y="5760720"/>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Hermes loads memory at session start — after it saves something, start a new session (/new) to see it recalled.</a:t>
            </a:r>
          </a:p>
        </p:txBody>
      </p:sp>
    </p:spTree>
  </p:cSld>
  <p:clrMapOvr>
    <a:masterClrMapping/>
  </p:clrMapOvr>
  <p:transition spd="med">
    <p:fade/>
  </p:transition>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MEMORY</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How Agents Remember — Retrieval &amp; Reflection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37</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691640"/>
            <a:ext cx="5440680" cy="194309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77240" y="18745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search-FFFFFF.png"/>
          <p:cNvPicPr>
            <a:picLocks noChangeAspect="1"/>
          </p:cNvPicPr>
          <p:nvPr/>
        </p:nvPicPr>
        <p:blipFill>
          <a:blip r:embed="rId2"/>
          <a:stretch>
            <a:fillRect/>
          </a:stretch>
        </p:blipFill>
        <p:spPr>
          <a:xfrm>
            <a:off x="900135" y="1997415"/>
            <a:ext cx="266273" cy="266273"/>
          </a:xfrm>
          <a:prstGeom prst="rect">
            <a:avLst/>
          </a:prstGeom>
        </p:spPr>
      </p:pic>
      <p:sp>
        <p:nvSpPr>
          <p:cNvPr id="10" name="TextBox 9"/>
          <p:cNvSpPr txBox="1"/>
          <p:nvPr/>
        </p:nvSpPr>
        <p:spPr>
          <a:xfrm>
            <a:off x="1426464" y="1856232"/>
            <a:ext cx="433425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Retrieve by relevance</a:t>
            </a:r>
          </a:p>
        </p:txBody>
      </p:sp>
      <p:sp>
        <p:nvSpPr>
          <p:cNvPr id="11" name="TextBox 10"/>
          <p:cNvSpPr txBox="1"/>
          <p:nvPr/>
        </p:nvSpPr>
        <p:spPr>
          <a:xfrm>
            <a:off x="777240" y="2459736"/>
            <a:ext cx="4983480" cy="1101851"/>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Pull the memories that score highest for recency, importance and relevance (Generative Agents, 2023).</a:t>
            </a:r>
          </a:p>
        </p:txBody>
      </p:sp>
      <p:sp>
        <p:nvSpPr>
          <p:cNvPr id="12" name="Rounded Rectangle 11"/>
          <p:cNvSpPr/>
          <p:nvPr/>
        </p:nvSpPr>
        <p:spPr>
          <a:xfrm>
            <a:off x="6172200" y="1691640"/>
            <a:ext cx="5440680" cy="194309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00800" y="18745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book-FFFFFF.png"/>
          <p:cNvPicPr>
            <a:picLocks noChangeAspect="1"/>
          </p:cNvPicPr>
          <p:nvPr/>
        </p:nvPicPr>
        <p:blipFill>
          <a:blip r:embed="rId3"/>
          <a:stretch>
            <a:fillRect/>
          </a:stretch>
        </p:blipFill>
        <p:spPr>
          <a:xfrm>
            <a:off x="6523695" y="1997415"/>
            <a:ext cx="266273" cy="266273"/>
          </a:xfrm>
          <a:prstGeom prst="rect">
            <a:avLst/>
          </a:prstGeom>
        </p:spPr>
      </p:pic>
      <p:sp>
        <p:nvSpPr>
          <p:cNvPr id="15" name="TextBox 14"/>
          <p:cNvSpPr txBox="1"/>
          <p:nvPr/>
        </p:nvSpPr>
        <p:spPr>
          <a:xfrm>
            <a:off x="7050024" y="1856232"/>
            <a:ext cx="433425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RAG</a:t>
            </a:r>
          </a:p>
        </p:txBody>
      </p:sp>
      <p:sp>
        <p:nvSpPr>
          <p:cNvPr id="16" name="TextBox 15"/>
          <p:cNvSpPr txBox="1"/>
          <p:nvPr/>
        </p:nvSpPr>
        <p:spPr>
          <a:xfrm>
            <a:off x="6400800" y="2459736"/>
            <a:ext cx="4983480" cy="1101851"/>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Retrieve from a curated, current knowledge base before answering — grounded, auditable answers.</a:t>
            </a:r>
          </a:p>
        </p:txBody>
      </p:sp>
      <p:sp>
        <p:nvSpPr>
          <p:cNvPr id="17" name="Rounded Rectangle 16"/>
          <p:cNvSpPr/>
          <p:nvPr/>
        </p:nvSpPr>
        <p:spPr>
          <a:xfrm>
            <a:off x="548640" y="3817620"/>
            <a:ext cx="5440680" cy="194309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777240" y="40005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 name="Picture 18" descr="file-FFFFFF.png"/>
          <p:cNvPicPr>
            <a:picLocks noChangeAspect="1"/>
          </p:cNvPicPr>
          <p:nvPr/>
        </p:nvPicPr>
        <p:blipFill>
          <a:blip r:embed="rId4"/>
          <a:stretch>
            <a:fillRect/>
          </a:stretch>
        </p:blipFill>
        <p:spPr>
          <a:xfrm>
            <a:off x="900135" y="4123395"/>
            <a:ext cx="266273" cy="266273"/>
          </a:xfrm>
          <a:prstGeom prst="rect">
            <a:avLst/>
          </a:prstGeom>
        </p:spPr>
      </p:pic>
      <p:sp>
        <p:nvSpPr>
          <p:cNvPr id="20" name="TextBox 19"/>
          <p:cNvSpPr txBox="1"/>
          <p:nvPr/>
        </p:nvSpPr>
        <p:spPr>
          <a:xfrm>
            <a:off x="1426464" y="3982212"/>
            <a:ext cx="433425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Just-in-time context</a:t>
            </a:r>
          </a:p>
        </p:txBody>
      </p:sp>
      <p:sp>
        <p:nvSpPr>
          <p:cNvPr id="21" name="TextBox 20"/>
          <p:cNvSpPr txBox="1"/>
          <p:nvPr/>
        </p:nvSpPr>
        <p:spPr>
          <a:xfrm>
            <a:off x="777240" y="4585716"/>
            <a:ext cx="4983480" cy="1101851"/>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Keep pointers (file paths, links) and load the data only when needed — saves the window.</a:t>
            </a:r>
          </a:p>
        </p:txBody>
      </p:sp>
      <p:sp>
        <p:nvSpPr>
          <p:cNvPr id="22" name="Rounded Rectangle 21"/>
          <p:cNvSpPr/>
          <p:nvPr/>
        </p:nvSpPr>
        <p:spPr>
          <a:xfrm>
            <a:off x="6172200" y="3817620"/>
            <a:ext cx="5440680" cy="194309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00800" y="40005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lightbulb-FFFFFF.png"/>
          <p:cNvPicPr>
            <a:picLocks noChangeAspect="1"/>
          </p:cNvPicPr>
          <p:nvPr/>
        </p:nvPicPr>
        <p:blipFill>
          <a:blip r:embed="rId5"/>
          <a:stretch>
            <a:fillRect/>
          </a:stretch>
        </p:blipFill>
        <p:spPr>
          <a:xfrm>
            <a:off x="6523695" y="4123395"/>
            <a:ext cx="266273" cy="266273"/>
          </a:xfrm>
          <a:prstGeom prst="rect">
            <a:avLst/>
          </a:prstGeom>
        </p:spPr>
      </p:pic>
      <p:sp>
        <p:nvSpPr>
          <p:cNvPr id="25" name="TextBox 24"/>
          <p:cNvSpPr txBox="1"/>
          <p:nvPr/>
        </p:nvSpPr>
        <p:spPr>
          <a:xfrm>
            <a:off x="7050024" y="3982212"/>
            <a:ext cx="433425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Reflection</a:t>
            </a:r>
          </a:p>
        </p:txBody>
      </p:sp>
      <p:sp>
        <p:nvSpPr>
          <p:cNvPr id="26" name="TextBox 25"/>
          <p:cNvSpPr txBox="1"/>
          <p:nvPr/>
        </p:nvSpPr>
        <p:spPr>
          <a:xfrm>
            <a:off x="6400800" y="4585716"/>
            <a:ext cx="4983480" cy="1101851"/>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After a failure, write a lesson to memory and do better next time (Reflexion, 2023).</a:t>
            </a:r>
          </a:p>
        </p:txBody>
      </p:sp>
      <p:sp>
        <p:nvSpPr>
          <p:cNvPr id="27" name="TextBox 26"/>
          <p:cNvSpPr txBox="1"/>
          <p:nvPr/>
        </p:nvSpPr>
        <p:spPr>
          <a:xfrm>
            <a:off x="548640" y="5870448"/>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Lab 2 challenge: turn your review feedback into a permanent skill update — reflection by design.</a:t>
            </a:r>
          </a:p>
        </p:txBody>
      </p:sp>
    </p:spTree>
  </p:cSld>
  <p:clrMapOvr>
    <a:masterClrMapping/>
  </p:clrMapOvr>
  <p:transition spd="med">
    <p:fade/>
  </p:transition>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MEMORY</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RAG Agent vs a Standard LLM Assistant</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38</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83080"/>
            <a:ext cx="5440680" cy="384048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22959" y="205740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book-FFFFFF.png"/>
          <p:cNvPicPr>
            <a:picLocks noChangeAspect="1"/>
          </p:cNvPicPr>
          <p:nvPr/>
        </p:nvPicPr>
        <p:blipFill>
          <a:blip r:embed="rId2"/>
          <a:stretch>
            <a:fillRect/>
          </a:stretch>
        </p:blipFill>
        <p:spPr>
          <a:xfrm>
            <a:off x="954633" y="2189073"/>
            <a:ext cx="285292" cy="285292"/>
          </a:xfrm>
          <a:prstGeom prst="rect">
            <a:avLst/>
          </a:prstGeom>
        </p:spPr>
      </p:pic>
      <p:sp>
        <p:nvSpPr>
          <p:cNvPr id="10" name="TextBox 9"/>
          <p:cNvSpPr txBox="1"/>
          <p:nvPr/>
        </p:nvSpPr>
        <p:spPr>
          <a:xfrm>
            <a:off x="1508760" y="2075688"/>
            <a:ext cx="4297680" cy="512064"/>
          </a:xfrm>
          <a:prstGeom prst="rect">
            <a:avLst/>
          </a:prstGeom>
          <a:noFill/>
        </p:spPr>
        <p:txBody>
          <a:bodyPr wrap="square" lIns="36576" rIns="36576" tIns="18288" bIns="18288" anchor="ctr">
            <a:spAutoFit/>
          </a:bodyPr>
          <a:lstStyle/>
          <a:p>
            <a:pPr algn="l">
              <a:lnSpc>
                <a:spcPct val="112000"/>
              </a:lnSpc>
            </a:pPr>
            <a:r>
              <a:rPr sz="1900" b="1" i="0">
                <a:solidFill>
                  <a:srgbClr val="21201C"/>
                </a:solidFill>
                <a:latin typeface="Cambria"/>
              </a:rPr>
              <a:t>RAG agent</a:t>
            </a:r>
          </a:p>
        </p:txBody>
      </p:sp>
      <p:sp>
        <p:nvSpPr>
          <p:cNvPr id="11" name="TextBox 10"/>
          <p:cNvSpPr txBox="1"/>
          <p:nvPr/>
        </p:nvSpPr>
        <p:spPr>
          <a:xfrm>
            <a:off x="868680" y="2834639"/>
            <a:ext cx="4846320" cy="2651760"/>
          </a:xfrm>
          <a:prstGeom prst="rect">
            <a:avLst/>
          </a:prstGeom>
          <a:noFill/>
        </p:spPr>
        <p:txBody>
          <a:bodyPr wrap="square" lIns="36576" rIns="36576" tIns="18288" bIns="18288" anchor="t">
            <a:spAutoFit/>
          </a:bodyPr>
          <a:lstStyle/>
          <a:p>
            <a:pPr algn="l">
              <a:lnSpc>
                <a:spcPct val="120000"/>
              </a:lnSpc>
            </a:pPr>
            <a:r>
              <a:rPr sz="1650" b="0" i="0">
                <a:solidFill>
                  <a:srgbClr val="6B6862"/>
                </a:solidFill>
                <a:latin typeface="Calibri"/>
              </a:rPr>
              <a:t>•  Retrieves from a curated, current corpus before generating</a:t>
            </a:r>
          </a:p>
          <a:p>
            <a:pPr algn="l">
              <a:lnSpc>
                <a:spcPct val="120000"/>
              </a:lnSpc>
            </a:pPr>
            <a:r>
              <a:rPr sz="1650" b="0" i="0">
                <a:solidFill>
                  <a:srgbClr val="6B6862"/>
                </a:solidFill>
                <a:latin typeface="Calibri"/>
              </a:rPr>
              <a:t>•  Grounded answers with citations — less hallucination</a:t>
            </a:r>
          </a:p>
          <a:p>
            <a:pPr algn="l">
              <a:lnSpc>
                <a:spcPct val="120000"/>
              </a:lnSpc>
            </a:pPr>
            <a:r>
              <a:rPr sz="1650" b="0" i="0">
                <a:solidFill>
                  <a:srgbClr val="6B6862"/>
                </a:solidFill>
                <a:latin typeface="Calibri"/>
              </a:rPr>
              <a:t>•  Quality depends on corpus freshness, chunking and retrieval/memory configuration</a:t>
            </a:r>
          </a:p>
          <a:p>
            <a:pPr algn="l">
              <a:lnSpc>
                <a:spcPct val="120000"/>
              </a:lnSpc>
            </a:pPr>
            <a:r>
              <a:rPr sz="1650" b="0" i="0">
                <a:solidFill>
                  <a:srgbClr val="6B6862"/>
                </a:solidFill>
                <a:latin typeface="Calibri"/>
              </a:rPr>
              <a:t>•  Needs a maintenance process: re-index, review sources</a:t>
            </a:r>
          </a:p>
        </p:txBody>
      </p:sp>
      <p:sp>
        <p:nvSpPr>
          <p:cNvPr id="12" name="Rounded Rectangle 11"/>
          <p:cNvSpPr/>
          <p:nvPr/>
        </p:nvSpPr>
        <p:spPr>
          <a:xfrm>
            <a:off x="6172200" y="1783080"/>
            <a:ext cx="5440680" cy="3840480"/>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46520" y="205740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chat-FFFFFF.png"/>
          <p:cNvPicPr>
            <a:picLocks noChangeAspect="1"/>
          </p:cNvPicPr>
          <p:nvPr/>
        </p:nvPicPr>
        <p:blipFill>
          <a:blip r:embed="rId3"/>
          <a:stretch>
            <a:fillRect/>
          </a:stretch>
        </p:blipFill>
        <p:spPr>
          <a:xfrm>
            <a:off x="6578193" y="2189073"/>
            <a:ext cx="285292" cy="285292"/>
          </a:xfrm>
          <a:prstGeom prst="rect">
            <a:avLst/>
          </a:prstGeom>
        </p:spPr>
      </p:pic>
      <p:sp>
        <p:nvSpPr>
          <p:cNvPr id="15" name="TextBox 14"/>
          <p:cNvSpPr txBox="1"/>
          <p:nvPr/>
        </p:nvSpPr>
        <p:spPr>
          <a:xfrm>
            <a:off x="7132320" y="2075688"/>
            <a:ext cx="4297680" cy="512064"/>
          </a:xfrm>
          <a:prstGeom prst="rect">
            <a:avLst/>
          </a:prstGeom>
          <a:noFill/>
        </p:spPr>
        <p:txBody>
          <a:bodyPr wrap="square" lIns="36576" rIns="36576" tIns="18288" bIns="18288" anchor="ctr">
            <a:spAutoFit/>
          </a:bodyPr>
          <a:lstStyle/>
          <a:p>
            <a:pPr algn="l">
              <a:lnSpc>
                <a:spcPct val="112000"/>
              </a:lnSpc>
            </a:pPr>
            <a:r>
              <a:rPr sz="1900" b="1" i="0">
                <a:solidFill>
                  <a:srgbClr val="FFFFFF"/>
                </a:solidFill>
                <a:latin typeface="Cambria"/>
              </a:rPr>
              <a:t>Standard LLM assistant</a:t>
            </a:r>
          </a:p>
        </p:txBody>
      </p:sp>
      <p:sp>
        <p:nvSpPr>
          <p:cNvPr id="16" name="TextBox 15"/>
          <p:cNvSpPr txBox="1"/>
          <p:nvPr/>
        </p:nvSpPr>
        <p:spPr>
          <a:xfrm>
            <a:off x="6492240" y="2834639"/>
            <a:ext cx="4846320" cy="2651760"/>
          </a:xfrm>
          <a:prstGeom prst="rect">
            <a:avLst/>
          </a:prstGeom>
          <a:noFill/>
        </p:spPr>
        <p:txBody>
          <a:bodyPr wrap="square" lIns="36576" rIns="36576" tIns="18288" bIns="18288" anchor="t">
            <a:spAutoFit/>
          </a:bodyPr>
          <a:lstStyle/>
          <a:p>
            <a:pPr algn="l">
              <a:lnSpc>
                <a:spcPct val="120000"/>
              </a:lnSpc>
            </a:pPr>
            <a:r>
              <a:rPr sz="1650" b="0" i="0">
                <a:solidFill>
                  <a:srgbClr val="C9C4B9"/>
                </a:solidFill>
                <a:latin typeface="Calibri"/>
              </a:rPr>
              <a:t>•  Answers from training data alone — fastest to deploy</a:t>
            </a:r>
          </a:p>
          <a:p>
            <a:pPr algn="l">
              <a:lnSpc>
                <a:spcPct val="120000"/>
              </a:lnSpc>
            </a:pPr>
            <a:r>
              <a:rPr sz="1650" b="0" i="0">
                <a:solidFill>
                  <a:srgbClr val="C9C4B9"/>
                </a:solidFill>
                <a:latin typeface="Calibri"/>
              </a:rPr>
              <a:t>•  No live company data; knowledge can be stale</a:t>
            </a:r>
          </a:p>
          <a:p>
            <a:pPr algn="l">
              <a:lnSpc>
                <a:spcPct val="120000"/>
              </a:lnSpc>
            </a:pPr>
            <a:r>
              <a:rPr sz="1650" b="0" i="0">
                <a:solidFill>
                  <a:srgbClr val="C9C4B9"/>
                </a:solidFill>
                <a:latin typeface="Calibri"/>
              </a:rPr>
              <a:t>•  Harder to audit where an answer came from</a:t>
            </a:r>
          </a:p>
          <a:p>
            <a:pPr algn="l">
              <a:lnSpc>
                <a:spcPct val="120000"/>
              </a:lnSpc>
            </a:pPr>
            <a:r>
              <a:rPr sz="1650" b="0" i="0">
                <a:solidFill>
                  <a:srgbClr val="C9C4B9"/>
                </a:solidFill>
                <a:latin typeface="Calibri"/>
              </a:rPr>
              <a:t>•  Lower maintenance, higher risk on facts</a:t>
            </a:r>
          </a:p>
        </p:txBody>
      </p:sp>
      <p:sp>
        <p:nvSpPr>
          <p:cNvPr id="17" name="TextBox 16"/>
          <p:cNvSpPr txBox="1"/>
          <p:nvPr/>
        </p:nvSpPr>
        <p:spPr>
          <a:xfrm>
            <a:off x="548640" y="5760720"/>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Evaluate both on accuracy, relevance, latency, cost and maintenance effort.</a:t>
            </a:r>
          </a:p>
        </p:txBody>
      </p:sp>
    </p:spTree>
  </p:cSld>
  <p:clrMapOvr>
    <a:masterClrMapping/>
  </p:clrMapOvr>
  <p:transition spd="med">
    <p:fade/>
  </p:transition>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WORLD MODELS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World Models — Predicting the Next State of the World</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LLMs predict the next word; world models predict how the world changes after an action — so an agent can plan before it acts.</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39</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286000"/>
            <a:ext cx="4206240" cy="3886200"/>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22960" y="2468880"/>
            <a:ext cx="3657600" cy="411480"/>
          </a:xfrm>
          <a:prstGeom prst="rect">
            <a:avLst/>
          </a:prstGeom>
          <a:noFill/>
        </p:spPr>
        <p:txBody>
          <a:bodyPr wrap="square" lIns="36576" rIns="36576" tIns="18288" bIns="18288" anchor="t">
            <a:spAutoFit/>
          </a:bodyPr>
          <a:lstStyle/>
          <a:p>
            <a:pPr algn="l">
              <a:lnSpc>
                <a:spcPct val="112000"/>
              </a:lnSpc>
            </a:pPr>
            <a:r>
              <a:rPr sz="1700" b="1" i="0">
                <a:solidFill>
                  <a:srgbClr val="FFFFFF"/>
                </a:solidFill>
                <a:latin typeface="Cambria"/>
              </a:rPr>
              <a:t>Why they matter</a:t>
            </a:r>
          </a:p>
        </p:txBody>
      </p:sp>
      <p:sp>
        <p:nvSpPr>
          <p:cNvPr id="10" name="TextBox 9"/>
          <p:cNvSpPr txBox="1"/>
          <p:nvPr/>
        </p:nvSpPr>
        <p:spPr>
          <a:xfrm>
            <a:off x="822960" y="2971800"/>
            <a:ext cx="3703320" cy="3108960"/>
          </a:xfrm>
          <a:prstGeom prst="rect">
            <a:avLst/>
          </a:prstGeom>
          <a:noFill/>
        </p:spPr>
        <p:txBody>
          <a:bodyPr wrap="square" lIns="36576" rIns="36576" tIns="18288" bIns="18288" anchor="t">
            <a:spAutoFit/>
          </a:bodyPr>
          <a:lstStyle/>
          <a:p>
            <a:pPr algn="l">
              <a:lnSpc>
                <a:spcPct val="125000"/>
              </a:lnSpc>
            </a:pPr>
            <a:r>
              <a:rPr sz="1300" b="0" i="0">
                <a:solidFill>
                  <a:srgbClr val="C9C4B9"/>
                </a:solidFill>
                <a:latin typeface="Calibri"/>
              </a:rPr>
              <a:t>•  Plan and simulate "what if I do X?" before costly or irreversible actions</a:t>
            </a:r>
          </a:p>
          <a:p>
            <a:pPr algn="l">
              <a:lnSpc>
                <a:spcPct val="125000"/>
              </a:lnSpc>
            </a:pPr>
            <a:r>
              <a:rPr sz="1300" b="0" i="0">
                <a:solidFill>
                  <a:srgbClr val="C9C4B9"/>
                </a:solidFill>
                <a:latin typeface="Calibri"/>
              </a:rPr>
              <a:t>•  Physical AI — robots and vehicles need intuitive physics</a:t>
            </a:r>
          </a:p>
          <a:p>
            <a:pPr algn="l">
              <a:lnSpc>
                <a:spcPct val="125000"/>
              </a:lnSpc>
            </a:pPr>
            <a:r>
              <a:rPr sz="1300" b="0" i="0">
                <a:solidFill>
                  <a:srgbClr val="C9C4B9"/>
                </a:solidFill>
                <a:latin typeface="Calibri"/>
              </a:rPr>
              <a:t>•  Train agents safely in generated worlds</a:t>
            </a:r>
          </a:p>
          <a:p>
            <a:pPr algn="l">
              <a:lnSpc>
                <a:spcPct val="125000"/>
              </a:lnSpc>
            </a:pPr>
            <a:r>
              <a:rPr sz="1300" b="0" i="0">
                <a:solidFill>
                  <a:srgbClr val="C9C4B9"/>
                </a:solidFill>
                <a:latin typeface="Calibri"/>
              </a:rPr>
              <a:t>•  Ground the agent in how the world really behaves</a:t>
            </a:r>
          </a:p>
        </p:txBody>
      </p:sp>
      <p:sp>
        <p:nvSpPr>
          <p:cNvPr id="11" name="Rounded Rectangle 10"/>
          <p:cNvSpPr/>
          <p:nvPr/>
        </p:nvSpPr>
        <p:spPr>
          <a:xfrm>
            <a:off x="4983480" y="2286000"/>
            <a:ext cx="6629400" cy="694944"/>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5166360" y="2359152"/>
            <a:ext cx="2240280" cy="548640"/>
          </a:xfrm>
          <a:prstGeom prst="rect">
            <a:avLst/>
          </a:prstGeom>
          <a:noFill/>
        </p:spPr>
        <p:txBody>
          <a:bodyPr wrap="square" lIns="36576" rIns="36576" tIns="18288" bIns="18288" anchor="ctr">
            <a:spAutoFit/>
          </a:bodyPr>
          <a:lstStyle/>
          <a:p>
            <a:pPr algn="l">
              <a:lnSpc>
                <a:spcPct val="112000"/>
              </a:lnSpc>
            </a:pPr>
            <a:r>
              <a:rPr sz="1350" b="1" i="0">
                <a:solidFill>
                  <a:srgbClr val="21201C"/>
                </a:solidFill>
                <a:latin typeface="Cambria"/>
              </a:rPr>
              <a:t>NVIDIA Cosmos</a:t>
            </a:r>
          </a:p>
        </p:txBody>
      </p:sp>
      <p:sp>
        <p:nvSpPr>
          <p:cNvPr id="13" name="TextBox 12"/>
          <p:cNvSpPr txBox="1"/>
          <p:nvPr/>
        </p:nvSpPr>
        <p:spPr>
          <a:xfrm>
            <a:off x="7406640" y="2359152"/>
            <a:ext cx="1051560" cy="548640"/>
          </a:xfrm>
          <a:prstGeom prst="rect">
            <a:avLst/>
          </a:prstGeom>
          <a:noFill/>
        </p:spPr>
        <p:txBody>
          <a:bodyPr wrap="square" lIns="36576" rIns="36576" tIns="18288" bIns="18288" anchor="ctr">
            <a:spAutoFit/>
          </a:bodyPr>
          <a:lstStyle/>
          <a:p>
            <a:pPr algn="l">
              <a:lnSpc>
                <a:spcPct val="112000"/>
              </a:lnSpc>
            </a:pPr>
            <a:r>
              <a:rPr sz="1150" b="1" i="0">
                <a:solidFill>
                  <a:srgbClr val="D97757"/>
                </a:solidFill>
                <a:latin typeface="Calibri"/>
              </a:rPr>
              <a:t>Jan 2025</a:t>
            </a:r>
          </a:p>
        </p:txBody>
      </p:sp>
      <p:sp>
        <p:nvSpPr>
          <p:cNvPr id="14" name="TextBox 13"/>
          <p:cNvSpPr txBox="1"/>
          <p:nvPr/>
        </p:nvSpPr>
        <p:spPr>
          <a:xfrm>
            <a:off x="8458200" y="2359152"/>
            <a:ext cx="3017520" cy="566928"/>
          </a:xfrm>
          <a:prstGeom prst="rect">
            <a:avLst/>
          </a:prstGeom>
          <a:noFill/>
        </p:spPr>
        <p:txBody>
          <a:bodyPr wrap="square" lIns="36576" rIns="36576" tIns="18288" bIns="18288" anchor="ctr">
            <a:spAutoFit/>
          </a:bodyPr>
          <a:lstStyle/>
          <a:p>
            <a:pPr algn="l">
              <a:lnSpc>
                <a:spcPct val="112000"/>
              </a:lnSpc>
            </a:pPr>
            <a:r>
              <a:rPr sz="1100" b="0" i="0">
                <a:solidFill>
                  <a:srgbClr val="6B6862"/>
                </a:solidFill>
                <a:latin typeface="Calibri"/>
              </a:rPr>
              <a:t>World foundation models for robots and autonomous vehicles.</a:t>
            </a:r>
          </a:p>
        </p:txBody>
      </p:sp>
      <p:sp>
        <p:nvSpPr>
          <p:cNvPr id="15" name="Rounded Rectangle 14"/>
          <p:cNvSpPr/>
          <p:nvPr/>
        </p:nvSpPr>
        <p:spPr>
          <a:xfrm>
            <a:off x="4983480" y="3072384"/>
            <a:ext cx="6629400" cy="694944"/>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5166360" y="3145536"/>
            <a:ext cx="2240280" cy="548640"/>
          </a:xfrm>
          <a:prstGeom prst="rect">
            <a:avLst/>
          </a:prstGeom>
          <a:noFill/>
        </p:spPr>
        <p:txBody>
          <a:bodyPr wrap="square" lIns="36576" rIns="36576" tIns="18288" bIns="18288" anchor="ctr">
            <a:spAutoFit/>
          </a:bodyPr>
          <a:lstStyle/>
          <a:p>
            <a:pPr algn="l">
              <a:lnSpc>
                <a:spcPct val="112000"/>
              </a:lnSpc>
            </a:pPr>
            <a:r>
              <a:rPr sz="1350" b="1" i="0">
                <a:solidFill>
                  <a:srgbClr val="21201C"/>
                </a:solidFill>
                <a:latin typeface="Cambria"/>
              </a:rPr>
              <a:t>Meta V-JEPA 2</a:t>
            </a:r>
          </a:p>
        </p:txBody>
      </p:sp>
      <p:sp>
        <p:nvSpPr>
          <p:cNvPr id="17" name="TextBox 16"/>
          <p:cNvSpPr txBox="1"/>
          <p:nvPr/>
        </p:nvSpPr>
        <p:spPr>
          <a:xfrm>
            <a:off x="7406640" y="3145536"/>
            <a:ext cx="1051560" cy="548640"/>
          </a:xfrm>
          <a:prstGeom prst="rect">
            <a:avLst/>
          </a:prstGeom>
          <a:noFill/>
        </p:spPr>
        <p:txBody>
          <a:bodyPr wrap="square" lIns="36576" rIns="36576" tIns="18288" bIns="18288" anchor="ctr">
            <a:spAutoFit/>
          </a:bodyPr>
          <a:lstStyle/>
          <a:p>
            <a:pPr algn="l">
              <a:lnSpc>
                <a:spcPct val="112000"/>
              </a:lnSpc>
            </a:pPr>
            <a:r>
              <a:rPr sz="1150" b="1" i="0">
                <a:solidFill>
                  <a:srgbClr val="D97757"/>
                </a:solidFill>
                <a:latin typeface="Calibri"/>
              </a:rPr>
              <a:t>Jun 2025</a:t>
            </a:r>
          </a:p>
        </p:txBody>
      </p:sp>
      <p:sp>
        <p:nvSpPr>
          <p:cNvPr id="18" name="TextBox 17"/>
          <p:cNvSpPr txBox="1"/>
          <p:nvPr/>
        </p:nvSpPr>
        <p:spPr>
          <a:xfrm>
            <a:off x="8458200" y="3145536"/>
            <a:ext cx="3017520" cy="566928"/>
          </a:xfrm>
          <a:prstGeom prst="rect">
            <a:avLst/>
          </a:prstGeom>
          <a:noFill/>
        </p:spPr>
        <p:txBody>
          <a:bodyPr wrap="square" lIns="36576" rIns="36576" tIns="18288" bIns="18288" anchor="ctr">
            <a:spAutoFit/>
          </a:bodyPr>
          <a:lstStyle/>
          <a:p>
            <a:pPr algn="l">
              <a:lnSpc>
                <a:spcPct val="112000"/>
              </a:lnSpc>
            </a:pPr>
            <a:r>
              <a:rPr sz="1100" b="0" i="0">
                <a:solidFill>
                  <a:srgbClr val="6B6862"/>
                </a:solidFill>
                <a:latin typeface="Calibri"/>
              </a:rPr>
              <a:t>Video world model; zero-shot robot pick-and-place.</a:t>
            </a:r>
          </a:p>
        </p:txBody>
      </p:sp>
      <p:sp>
        <p:nvSpPr>
          <p:cNvPr id="19" name="Rounded Rectangle 18"/>
          <p:cNvSpPr/>
          <p:nvPr/>
        </p:nvSpPr>
        <p:spPr>
          <a:xfrm>
            <a:off x="4983480" y="3858768"/>
            <a:ext cx="6629400" cy="694944"/>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5166360" y="3931920"/>
            <a:ext cx="2240280" cy="548640"/>
          </a:xfrm>
          <a:prstGeom prst="rect">
            <a:avLst/>
          </a:prstGeom>
          <a:noFill/>
        </p:spPr>
        <p:txBody>
          <a:bodyPr wrap="square" lIns="36576" rIns="36576" tIns="18288" bIns="18288" anchor="ctr">
            <a:spAutoFit/>
          </a:bodyPr>
          <a:lstStyle/>
          <a:p>
            <a:pPr algn="l">
              <a:lnSpc>
                <a:spcPct val="112000"/>
              </a:lnSpc>
            </a:pPr>
            <a:r>
              <a:rPr sz="1350" b="1" i="0">
                <a:solidFill>
                  <a:srgbClr val="21201C"/>
                </a:solidFill>
                <a:latin typeface="Cambria"/>
              </a:rPr>
              <a:t>DeepMind Genie 3</a:t>
            </a:r>
          </a:p>
        </p:txBody>
      </p:sp>
      <p:sp>
        <p:nvSpPr>
          <p:cNvPr id="21" name="TextBox 20"/>
          <p:cNvSpPr txBox="1"/>
          <p:nvPr/>
        </p:nvSpPr>
        <p:spPr>
          <a:xfrm>
            <a:off x="7406640" y="3931920"/>
            <a:ext cx="1051560" cy="548640"/>
          </a:xfrm>
          <a:prstGeom prst="rect">
            <a:avLst/>
          </a:prstGeom>
          <a:noFill/>
        </p:spPr>
        <p:txBody>
          <a:bodyPr wrap="square" lIns="36576" rIns="36576" tIns="18288" bIns="18288" anchor="ctr">
            <a:spAutoFit/>
          </a:bodyPr>
          <a:lstStyle/>
          <a:p>
            <a:pPr algn="l">
              <a:lnSpc>
                <a:spcPct val="112000"/>
              </a:lnSpc>
            </a:pPr>
            <a:r>
              <a:rPr sz="1150" b="1" i="0">
                <a:solidFill>
                  <a:srgbClr val="D97757"/>
                </a:solidFill>
                <a:latin typeface="Calibri"/>
              </a:rPr>
              <a:t>Aug 2025</a:t>
            </a:r>
          </a:p>
        </p:txBody>
      </p:sp>
      <p:sp>
        <p:nvSpPr>
          <p:cNvPr id="22" name="TextBox 21"/>
          <p:cNvSpPr txBox="1"/>
          <p:nvPr/>
        </p:nvSpPr>
        <p:spPr>
          <a:xfrm>
            <a:off x="8458200" y="3931920"/>
            <a:ext cx="3017520" cy="566928"/>
          </a:xfrm>
          <a:prstGeom prst="rect">
            <a:avLst/>
          </a:prstGeom>
          <a:noFill/>
        </p:spPr>
        <p:txBody>
          <a:bodyPr wrap="square" lIns="36576" rIns="36576" tIns="18288" bIns="18288" anchor="ctr">
            <a:spAutoFit/>
          </a:bodyPr>
          <a:lstStyle/>
          <a:p>
            <a:pPr algn="l">
              <a:lnSpc>
                <a:spcPct val="112000"/>
              </a:lnSpc>
            </a:pPr>
            <a:r>
              <a:rPr sz="1100" b="0" i="0">
                <a:solidFill>
                  <a:srgbClr val="6B6862"/>
                </a:solidFill>
                <a:latin typeface="Calibri"/>
              </a:rPr>
              <a:t>Interactive worlds from text at 24 fps, 720p.</a:t>
            </a:r>
          </a:p>
        </p:txBody>
      </p:sp>
      <p:sp>
        <p:nvSpPr>
          <p:cNvPr id="23" name="Rounded Rectangle 22"/>
          <p:cNvSpPr/>
          <p:nvPr/>
        </p:nvSpPr>
        <p:spPr>
          <a:xfrm>
            <a:off x="4983480" y="4645152"/>
            <a:ext cx="6629400" cy="694944"/>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5166360" y="4718304"/>
            <a:ext cx="2240280" cy="548640"/>
          </a:xfrm>
          <a:prstGeom prst="rect">
            <a:avLst/>
          </a:prstGeom>
          <a:noFill/>
        </p:spPr>
        <p:txBody>
          <a:bodyPr wrap="square" lIns="36576" rIns="36576" tIns="18288" bIns="18288" anchor="ctr">
            <a:spAutoFit/>
          </a:bodyPr>
          <a:lstStyle/>
          <a:p>
            <a:pPr algn="l">
              <a:lnSpc>
                <a:spcPct val="112000"/>
              </a:lnSpc>
            </a:pPr>
            <a:r>
              <a:rPr sz="1350" b="1" i="0">
                <a:solidFill>
                  <a:srgbClr val="21201C"/>
                </a:solidFill>
                <a:latin typeface="Cambria"/>
              </a:rPr>
              <a:t>World Labs Marble</a:t>
            </a:r>
          </a:p>
        </p:txBody>
      </p:sp>
      <p:sp>
        <p:nvSpPr>
          <p:cNvPr id="25" name="TextBox 24"/>
          <p:cNvSpPr txBox="1"/>
          <p:nvPr/>
        </p:nvSpPr>
        <p:spPr>
          <a:xfrm>
            <a:off x="7406640" y="4718304"/>
            <a:ext cx="1051560" cy="548640"/>
          </a:xfrm>
          <a:prstGeom prst="rect">
            <a:avLst/>
          </a:prstGeom>
          <a:noFill/>
        </p:spPr>
        <p:txBody>
          <a:bodyPr wrap="square" lIns="36576" rIns="36576" tIns="18288" bIns="18288" anchor="ctr">
            <a:spAutoFit/>
          </a:bodyPr>
          <a:lstStyle/>
          <a:p>
            <a:pPr algn="l">
              <a:lnSpc>
                <a:spcPct val="112000"/>
              </a:lnSpc>
            </a:pPr>
            <a:r>
              <a:rPr sz="1150" b="1" i="0">
                <a:solidFill>
                  <a:srgbClr val="D97757"/>
                </a:solidFill>
                <a:latin typeface="Calibri"/>
              </a:rPr>
              <a:t>Nov 2025</a:t>
            </a:r>
          </a:p>
        </p:txBody>
      </p:sp>
      <p:sp>
        <p:nvSpPr>
          <p:cNvPr id="26" name="TextBox 25"/>
          <p:cNvSpPr txBox="1"/>
          <p:nvPr/>
        </p:nvSpPr>
        <p:spPr>
          <a:xfrm>
            <a:off x="8458200" y="4718304"/>
            <a:ext cx="3017520" cy="566928"/>
          </a:xfrm>
          <a:prstGeom prst="rect">
            <a:avLst/>
          </a:prstGeom>
          <a:noFill/>
        </p:spPr>
        <p:txBody>
          <a:bodyPr wrap="square" lIns="36576" rIns="36576" tIns="18288" bIns="18288" anchor="ctr">
            <a:spAutoFit/>
          </a:bodyPr>
          <a:lstStyle/>
          <a:p>
            <a:pPr algn="l">
              <a:lnSpc>
                <a:spcPct val="112000"/>
              </a:lnSpc>
            </a:pPr>
            <a:r>
              <a:rPr sz="1100" b="0" i="0">
                <a:solidFill>
                  <a:srgbClr val="6B6862"/>
                </a:solidFill>
                <a:latin typeface="Calibri"/>
              </a:rPr>
              <a:t>Persistent, editable 3D worlds from text or images.</a:t>
            </a:r>
          </a:p>
        </p:txBody>
      </p:sp>
      <p:sp>
        <p:nvSpPr>
          <p:cNvPr id="27" name="Rounded Rectangle 26"/>
          <p:cNvSpPr/>
          <p:nvPr/>
        </p:nvSpPr>
        <p:spPr>
          <a:xfrm>
            <a:off x="4983480" y="5431536"/>
            <a:ext cx="6629400" cy="694944"/>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5166360" y="5504688"/>
            <a:ext cx="2240280" cy="548640"/>
          </a:xfrm>
          <a:prstGeom prst="rect">
            <a:avLst/>
          </a:prstGeom>
          <a:noFill/>
        </p:spPr>
        <p:txBody>
          <a:bodyPr wrap="square" lIns="36576" rIns="36576" tIns="18288" bIns="18288" anchor="ctr">
            <a:spAutoFit/>
          </a:bodyPr>
          <a:lstStyle/>
          <a:p>
            <a:pPr algn="l">
              <a:lnSpc>
                <a:spcPct val="112000"/>
              </a:lnSpc>
            </a:pPr>
            <a:r>
              <a:rPr sz="1350" b="1" i="0">
                <a:solidFill>
                  <a:srgbClr val="21201C"/>
                </a:solidFill>
                <a:latin typeface="Cambria"/>
              </a:rPr>
              <a:t>AMI Labs (LeCun)</a:t>
            </a:r>
          </a:p>
        </p:txBody>
      </p:sp>
      <p:sp>
        <p:nvSpPr>
          <p:cNvPr id="29" name="TextBox 28"/>
          <p:cNvSpPr txBox="1"/>
          <p:nvPr/>
        </p:nvSpPr>
        <p:spPr>
          <a:xfrm>
            <a:off x="7406640" y="5504688"/>
            <a:ext cx="1051560" cy="548640"/>
          </a:xfrm>
          <a:prstGeom prst="rect">
            <a:avLst/>
          </a:prstGeom>
          <a:noFill/>
        </p:spPr>
        <p:txBody>
          <a:bodyPr wrap="square" lIns="36576" rIns="36576" tIns="18288" bIns="18288" anchor="ctr">
            <a:spAutoFit/>
          </a:bodyPr>
          <a:lstStyle/>
          <a:p>
            <a:pPr algn="l">
              <a:lnSpc>
                <a:spcPct val="112000"/>
              </a:lnSpc>
            </a:pPr>
            <a:r>
              <a:rPr sz="1150" b="1" i="0">
                <a:solidFill>
                  <a:srgbClr val="D97757"/>
                </a:solidFill>
                <a:latin typeface="Calibri"/>
              </a:rPr>
              <a:t>Mar 2026</a:t>
            </a:r>
          </a:p>
        </p:txBody>
      </p:sp>
      <p:sp>
        <p:nvSpPr>
          <p:cNvPr id="30" name="TextBox 29"/>
          <p:cNvSpPr txBox="1"/>
          <p:nvPr/>
        </p:nvSpPr>
        <p:spPr>
          <a:xfrm>
            <a:off x="8458200" y="5504688"/>
            <a:ext cx="3017520" cy="566928"/>
          </a:xfrm>
          <a:prstGeom prst="rect">
            <a:avLst/>
          </a:prstGeom>
          <a:noFill/>
        </p:spPr>
        <p:txBody>
          <a:bodyPr wrap="square" lIns="36576" rIns="36576" tIns="18288" bIns="18288" anchor="ctr">
            <a:spAutoFit/>
          </a:bodyPr>
          <a:lstStyle/>
          <a:p>
            <a:pPr algn="l">
              <a:lnSpc>
                <a:spcPct val="112000"/>
              </a:lnSpc>
            </a:pPr>
            <a:r>
              <a:rPr sz="1100" b="0" i="0">
                <a:solidFill>
                  <a:srgbClr val="6B6862"/>
                </a:solidFill>
                <a:latin typeface="Calibri"/>
              </a:rPr>
              <a:t>US$1.03B raised to build JEPA-based world models.</a:t>
            </a:r>
          </a:p>
        </p:txBody>
      </p:sp>
    </p:spTree>
  </p:cSld>
  <p:clrMapOvr>
    <a:masterClrMapping/>
  </p:clrMapOvr>
  <p:transition spd="med">
    <p:fade/>
  </p:transition>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PARADIGMS</a:t>
            </a:r>
          </a:p>
        </p:txBody>
      </p:sp>
      <p:sp>
        <p:nvSpPr>
          <p:cNvPr id="3" name="TextBox 2"/>
          <p:cNvSpPr txBox="1"/>
          <p:nvPr/>
        </p:nvSpPr>
        <p:spPr>
          <a:xfrm>
            <a:off x="548640" y="621792"/>
            <a:ext cx="11064240" cy="932688"/>
          </a:xfrm>
          <a:prstGeom prst="rect">
            <a:avLst/>
          </a:prstGeom>
          <a:noFill/>
        </p:spPr>
        <p:txBody>
          <a:bodyPr wrap="square" lIns="36576" rIns="36576" tIns="18288" bIns="18288" anchor="t">
            <a:spAutoFit/>
          </a:bodyPr>
          <a:lstStyle/>
          <a:p>
            <a:pPr algn="l">
              <a:lnSpc>
                <a:spcPct val="100000"/>
              </a:lnSpc>
            </a:pPr>
            <a:r>
              <a:rPr sz="2400" b="1" i="0">
                <a:solidFill>
                  <a:srgbClr val="21201C"/>
                </a:solidFill>
                <a:latin typeface="Cambria"/>
              </a:rPr>
              <a:t>Three Paradigms: Single Agent </a:t>
            </a:r>
            <a:r>
              <a:rPr sz="2400" b="1" i="0">
                <a:solidFill>
                  <a:srgbClr val="21201C"/>
                </a:solidFill>
                <a:latin typeface="Calibri"/>
              </a:rPr>
              <a:t>→</a:t>
            </a:r>
            <a:r>
              <a:rPr sz="2400" b="1" i="0">
                <a:solidFill>
                  <a:srgbClr val="21201C"/>
                </a:solidFill>
                <a:latin typeface="Cambria"/>
              </a:rPr>
              <a:t> Multi-Agent </a:t>
            </a:r>
            <a:r>
              <a:rPr sz="2400" b="1" i="0">
                <a:solidFill>
                  <a:srgbClr val="21201C"/>
                </a:solidFill>
                <a:latin typeface="Calibri"/>
              </a:rPr>
              <a:t>→</a:t>
            </a:r>
            <a:r>
              <a:rPr sz="2400" b="1" i="0">
                <a:solidFill>
                  <a:srgbClr val="21201C"/>
                </a:solidFill>
                <a:latin typeface="Cambria"/>
              </a:rPr>
              <a:t> Human–Agent Collaboration</a:t>
            </a:r>
          </a:p>
        </p:txBody>
      </p:sp>
      <p:sp>
        <p:nvSpPr>
          <p:cNvPr id="4" name="TextBox 3"/>
          <p:cNvSpPr txBox="1"/>
          <p:nvPr/>
        </p:nvSpPr>
        <p:spPr>
          <a:xfrm>
            <a:off x="548640" y="1609344"/>
            <a:ext cx="11064240" cy="548640"/>
          </a:xfrm>
          <a:prstGeom prst="rect">
            <a:avLst/>
          </a:prstGeom>
          <a:noFill/>
        </p:spPr>
        <p:txBody>
          <a:bodyPr wrap="square" lIns="36576" rIns="36576" tIns="18288" bIns="18288" anchor="t">
            <a:spAutoFit/>
          </a:bodyPr>
          <a:lstStyle/>
          <a:p>
            <a:pPr algn="l">
              <a:lnSpc>
                <a:spcPct val="112000"/>
              </a:lnSpc>
            </a:pPr>
            <a:r>
              <a:rPr sz="1500" b="0" i="0">
                <a:solidFill>
                  <a:srgbClr val="21201C"/>
                </a:solidFill>
                <a:latin typeface="Calibri"/>
              </a:rPr>
              <a:t>Xi et al. (2023): from individual agents to collaboration and agent society.</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40</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240280"/>
            <a:ext cx="3566160" cy="352043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77240" y="242316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robot-FFFFFF.png"/>
          <p:cNvPicPr>
            <a:picLocks noChangeAspect="1"/>
          </p:cNvPicPr>
          <p:nvPr/>
        </p:nvPicPr>
        <p:blipFill>
          <a:blip r:embed="rId2"/>
          <a:stretch>
            <a:fillRect/>
          </a:stretch>
        </p:blipFill>
        <p:spPr>
          <a:xfrm>
            <a:off x="900135" y="2546055"/>
            <a:ext cx="266273" cy="266273"/>
          </a:xfrm>
          <a:prstGeom prst="rect">
            <a:avLst/>
          </a:prstGeom>
        </p:spPr>
      </p:pic>
      <p:sp>
        <p:nvSpPr>
          <p:cNvPr id="11" name="TextBox 10"/>
          <p:cNvSpPr txBox="1"/>
          <p:nvPr/>
        </p:nvSpPr>
        <p:spPr>
          <a:xfrm>
            <a:off x="777240" y="3063240"/>
            <a:ext cx="3108960" cy="384048"/>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Single agent</a:t>
            </a:r>
          </a:p>
        </p:txBody>
      </p:sp>
      <p:sp>
        <p:nvSpPr>
          <p:cNvPr id="12" name="TextBox 11"/>
          <p:cNvSpPr txBox="1"/>
          <p:nvPr/>
        </p:nvSpPr>
        <p:spPr>
          <a:xfrm>
            <a:off x="777240" y="3483864"/>
            <a:ext cx="3108960" cy="2167127"/>
          </a:xfrm>
          <a:prstGeom prst="rect">
            <a:avLst/>
          </a:prstGeom>
          <a:noFill/>
        </p:spPr>
        <p:txBody>
          <a:bodyPr wrap="square" lIns="36576" rIns="36576" tIns="18288" bIns="18288" anchor="t">
            <a:spAutoFit/>
          </a:bodyPr>
          <a:lstStyle/>
          <a:p>
            <a:pPr algn="l">
              <a:lnSpc>
                <a:spcPct val="112000"/>
              </a:lnSpc>
            </a:pPr>
            <a:r>
              <a:rPr sz="1250" b="0" i="0">
                <a:solidFill>
                  <a:srgbClr val="6B6862"/>
                </a:solidFill>
                <a:latin typeface="Calibri"/>
              </a:rPr>
              <a:t>One agent completes a task end to end.</a:t>
            </a:r>
          </a:p>
          <a:p>
            <a:pPr algn="l">
              <a:lnSpc>
                <a:spcPct val="112000"/>
              </a:lnSpc>
            </a:pPr>
            <a:r>
              <a:rPr sz="1250" b="0" i="0">
                <a:solidFill>
                  <a:srgbClr val="6B6862"/>
                </a:solidFill>
                <a:latin typeface="Calibri"/>
              </a:rPr>
              <a:t>•  Task-oriented — follows instructions</a:t>
            </a:r>
          </a:p>
          <a:p>
            <a:pPr algn="l">
              <a:lnSpc>
                <a:spcPct val="112000"/>
              </a:lnSpc>
            </a:pPr>
            <a:r>
              <a:rPr sz="1250" b="0" i="0">
                <a:solidFill>
                  <a:srgbClr val="6B6862"/>
                </a:solidFill>
                <a:latin typeface="Calibri"/>
              </a:rPr>
              <a:t>•  Innovation-oriented — research &amp; discovery</a:t>
            </a:r>
          </a:p>
          <a:p>
            <a:pPr algn="l">
              <a:lnSpc>
                <a:spcPct val="112000"/>
              </a:lnSpc>
            </a:pPr>
            <a:r>
              <a:rPr sz="1250" b="0" i="0">
                <a:solidFill>
                  <a:srgbClr val="6B6862"/>
                </a:solidFill>
                <a:latin typeface="Calibri"/>
              </a:rPr>
              <a:t>•  Lifecycle-oriented — learns skills over time</a:t>
            </a:r>
          </a:p>
          <a:p>
            <a:pPr algn="l">
              <a:lnSpc>
                <a:spcPct val="112000"/>
              </a:lnSpc>
            </a:pPr>
            <a:r>
              <a:rPr sz="1250" b="0" i="0">
                <a:solidFill>
                  <a:srgbClr val="6B6862"/>
                </a:solidFill>
                <a:latin typeface="Calibri"/>
              </a:rPr>
              <a:t>Labs 1–2: Mia researches and runs a campaign.</a:t>
            </a:r>
          </a:p>
        </p:txBody>
      </p:sp>
      <p:sp>
        <p:nvSpPr>
          <p:cNvPr id="13" name="Rounded Rectangle 12"/>
          <p:cNvSpPr/>
          <p:nvPr/>
        </p:nvSpPr>
        <p:spPr>
          <a:xfrm>
            <a:off x="4297679" y="2240280"/>
            <a:ext cx="3566160" cy="352043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4526279" y="242316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Picture 14" descr="users-FFFFFF.png"/>
          <p:cNvPicPr>
            <a:picLocks noChangeAspect="1"/>
          </p:cNvPicPr>
          <p:nvPr/>
        </p:nvPicPr>
        <p:blipFill>
          <a:blip r:embed="rId3"/>
          <a:stretch>
            <a:fillRect/>
          </a:stretch>
        </p:blipFill>
        <p:spPr>
          <a:xfrm>
            <a:off x="4649175" y="2546055"/>
            <a:ext cx="266273" cy="266273"/>
          </a:xfrm>
          <a:prstGeom prst="rect">
            <a:avLst/>
          </a:prstGeom>
        </p:spPr>
      </p:pic>
      <p:sp>
        <p:nvSpPr>
          <p:cNvPr id="16" name="TextBox 15"/>
          <p:cNvSpPr txBox="1"/>
          <p:nvPr/>
        </p:nvSpPr>
        <p:spPr>
          <a:xfrm>
            <a:off x="4526279" y="3063240"/>
            <a:ext cx="3108960" cy="384048"/>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Multi-agent</a:t>
            </a:r>
          </a:p>
        </p:txBody>
      </p:sp>
      <p:sp>
        <p:nvSpPr>
          <p:cNvPr id="17" name="TextBox 16"/>
          <p:cNvSpPr txBox="1"/>
          <p:nvPr/>
        </p:nvSpPr>
        <p:spPr>
          <a:xfrm>
            <a:off x="4526279" y="3483864"/>
            <a:ext cx="3108960" cy="2167127"/>
          </a:xfrm>
          <a:prstGeom prst="rect">
            <a:avLst/>
          </a:prstGeom>
          <a:noFill/>
        </p:spPr>
        <p:txBody>
          <a:bodyPr wrap="square" lIns="36576" rIns="36576" tIns="18288" bIns="18288" anchor="t">
            <a:spAutoFit/>
          </a:bodyPr>
          <a:lstStyle/>
          <a:p>
            <a:pPr algn="l">
              <a:lnSpc>
                <a:spcPct val="112000"/>
              </a:lnSpc>
            </a:pPr>
            <a:r>
              <a:rPr sz="1250" b="0" i="0">
                <a:solidFill>
                  <a:srgbClr val="6B6862"/>
                </a:solidFill>
                <a:latin typeface="Calibri"/>
              </a:rPr>
              <a:t>Several agents collaborate or compete.</a:t>
            </a:r>
          </a:p>
          <a:p>
            <a:pPr algn="l">
              <a:lnSpc>
                <a:spcPct val="112000"/>
              </a:lnSpc>
            </a:pPr>
            <a:r>
              <a:rPr sz="1250" b="0" i="0">
                <a:solidFill>
                  <a:srgbClr val="6B6862"/>
                </a:solidFill>
                <a:latin typeface="Calibri"/>
              </a:rPr>
              <a:t>•  Cooperative — ordered (SOP pipeline) or disordered (discussion, voting)</a:t>
            </a:r>
          </a:p>
          <a:p>
            <a:pPr algn="l">
              <a:lnSpc>
                <a:spcPct val="112000"/>
              </a:lnSpc>
            </a:pPr>
            <a:r>
              <a:rPr sz="1250" b="0" i="0">
                <a:solidFill>
                  <a:srgbClr val="6B6862"/>
                </a:solidFill>
                <a:latin typeface="Calibri"/>
              </a:rPr>
              <a:t>•  Adversarial — debate to improve answers</a:t>
            </a:r>
          </a:p>
          <a:p>
            <a:pPr algn="l">
              <a:lnSpc>
                <a:spcPct val="112000"/>
              </a:lnSpc>
            </a:pPr>
            <a:r>
              <a:rPr sz="1250" b="0" i="0">
                <a:solidFill>
                  <a:srgbClr val="6B6862"/>
                </a:solidFill>
                <a:latin typeface="Calibri"/>
              </a:rPr>
              <a:t>Labs 4–5: video studio pipeline and analysis swarm.</a:t>
            </a:r>
          </a:p>
        </p:txBody>
      </p:sp>
      <p:sp>
        <p:nvSpPr>
          <p:cNvPr id="18" name="Rounded Rectangle 17"/>
          <p:cNvSpPr/>
          <p:nvPr/>
        </p:nvSpPr>
        <p:spPr>
          <a:xfrm>
            <a:off x="8046719" y="2240280"/>
            <a:ext cx="3566160" cy="3520439"/>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8275319" y="242316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handshake-FFFFFF.png"/>
          <p:cNvPicPr>
            <a:picLocks noChangeAspect="1"/>
          </p:cNvPicPr>
          <p:nvPr/>
        </p:nvPicPr>
        <p:blipFill>
          <a:blip r:embed="rId4"/>
          <a:stretch>
            <a:fillRect/>
          </a:stretch>
        </p:blipFill>
        <p:spPr>
          <a:xfrm>
            <a:off x="8398215" y="2546055"/>
            <a:ext cx="266273" cy="266273"/>
          </a:xfrm>
          <a:prstGeom prst="rect">
            <a:avLst/>
          </a:prstGeom>
        </p:spPr>
      </p:pic>
      <p:sp>
        <p:nvSpPr>
          <p:cNvPr id="21" name="TextBox 20"/>
          <p:cNvSpPr txBox="1"/>
          <p:nvPr/>
        </p:nvSpPr>
        <p:spPr>
          <a:xfrm>
            <a:off x="8275319" y="3063240"/>
            <a:ext cx="3108960" cy="384048"/>
          </a:xfrm>
          <a:prstGeom prst="rect">
            <a:avLst/>
          </a:prstGeom>
          <a:noFill/>
        </p:spPr>
        <p:txBody>
          <a:bodyPr wrap="square" lIns="36576" rIns="36576" tIns="18288" bIns="18288" anchor="t">
            <a:spAutoFit/>
          </a:bodyPr>
          <a:lstStyle/>
          <a:p>
            <a:pPr algn="l">
              <a:lnSpc>
                <a:spcPct val="112000"/>
              </a:lnSpc>
            </a:pPr>
            <a:r>
              <a:rPr sz="1500" b="1" i="0">
                <a:solidFill>
                  <a:srgbClr val="FFFFFF"/>
                </a:solidFill>
                <a:latin typeface="Cambria"/>
              </a:rPr>
              <a:t>Human–agent collaboration</a:t>
            </a:r>
          </a:p>
        </p:txBody>
      </p:sp>
      <p:sp>
        <p:nvSpPr>
          <p:cNvPr id="22" name="TextBox 21"/>
          <p:cNvSpPr txBox="1"/>
          <p:nvPr/>
        </p:nvSpPr>
        <p:spPr>
          <a:xfrm>
            <a:off x="8275319" y="3483864"/>
            <a:ext cx="3108960" cy="2167127"/>
          </a:xfrm>
          <a:prstGeom prst="rect">
            <a:avLst/>
          </a:prstGeom>
          <a:noFill/>
        </p:spPr>
        <p:txBody>
          <a:bodyPr wrap="square" lIns="36576" rIns="36576" tIns="18288" bIns="18288" anchor="t">
            <a:spAutoFit/>
          </a:bodyPr>
          <a:lstStyle/>
          <a:p>
            <a:pPr algn="l">
              <a:lnSpc>
                <a:spcPct val="112000"/>
              </a:lnSpc>
            </a:pPr>
            <a:r>
              <a:rPr sz="1250" b="0" i="0">
                <a:solidFill>
                  <a:srgbClr val="C9C4B9"/>
                </a:solidFill>
                <a:latin typeface="Calibri"/>
              </a:rPr>
              <a:t>People and agents share the work.</a:t>
            </a:r>
          </a:p>
          <a:p>
            <a:pPr algn="l">
              <a:lnSpc>
                <a:spcPct val="112000"/>
              </a:lnSpc>
            </a:pPr>
            <a:r>
              <a:rPr sz="1250" b="0" i="0">
                <a:solidFill>
                  <a:srgbClr val="C9C4B9"/>
                </a:solidFill>
                <a:latin typeface="Calibri"/>
              </a:rPr>
              <a:t>•  Instructor–executor — humans instruct and give feedback</a:t>
            </a:r>
          </a:p>
          <a:p>
            <a:pPr algn="l">
              <a:lnSpc>
                <a:spcPct val="112000"/>
              </a:lnSpc>
            </a:pPr>
            <a:r>
              <a:rPr sz="1250" b="0" i="0">
                <a:solidFill>
                  <a:srgbClr val="C9C4B9"/>
                </a:solidFill>
                <a:latin typeface="Calibri"/>
              </a:rPr>
              <a:t>•  Equal partnership — agents as peers</a:t>
            </a:r>
          </a:p>
          <a:p>
            <a:pPr algn="l">
              <a:lnSpc>
                <a:spcPct val="112000"/>
              </a:lnSpc>
            </a:pPr>
            <a:r>
              <a:rPr sz="1250" b="0" i="0">
                <a:solidFill>
                  <a:srgbClr val="C9C4B9"/>
                </a:solidFill>
                <a:latin typeface="Calibri"/>
              </a:rPr>
              <a:t>Lab 3 and Day 2: APPROVE, review and Board gates.</a:t>
            </a:r>
          </a:p>
        </p:txBody>
      </p:sp>
    </p:spTree>
  </p:cSld>
  <p:clrMapOvr>
    <a:masterClrMapping/>
  </p:clrMapOvr>
  <p:transition spd="med">
    <p:fade/>
  </p:transition>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PARADIGMS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Multi-Agent Patterns You Will Build</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Ordered pipeline (Lab 4), parallel swarm with a verifier (Lab 5), and an org chart with a Board (Labs 6–10).</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41</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cxnSp>
        <p:nvCxnSpPr>
          <p:cNvPr id="8" name="Connector 7"/>
          <p:cNvCxnSpPr/>
          <p:nvPr/>
        </p:nvCxnSpPr>
        <p:spPr>
          <a:xfrm flipV="1">
            <a:off x="6099048" y="2331720"/>
            <a:ext cx="0" cy="1600200"/>
          </a:xfrm>
          <a:prstGeom prst="line">
            <a:avLst/>
          </a:prstGeom>
          <a:ln w="19050">
            <a:solidFill>
              <a:srgbClr val="C9C4B9"/>
            </a:solidFill>
            <a:prstDash val="dash"/>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V="1">
            <a:off x="6099048" y="3131820"/>
            <a:ext cx="3444737" cy="800100"/>
          </a:xfrm>
          <a:prstGeom prst="line">
            <a:avLst/>
          </a:prstGeom>
          <a:ln w="19050">
            <a:solidFill>
              <a:srgbClr val="C9C4B9"/>
            </a:solidFill>
            <a:prstDash val="dash"/>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6099048" y="3931920"/>
            <a:ext cx="3444737" cy="800100"/>
          </a:xfrm>
          <a:prstGeom prst="line">
            <a:avLst/>
          </a:prstGeom>
          <a:ln w="19050">
            <a:solidFill>
              <a:srgbClr val="C9C4B9"/>
            </a:solidFill>
            <a:prstDash val="dash"/>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099048" y="3931920"/>
            <a:ext cx="0" cy="1600200"/>
          </a:xfrm>
          <a:prstGeom prst="line">
            <a:avLst/>
          </a:prstGeom>
          <a:ln w="19050">
            <a:solidFill>
              <a:srgbClr val="C9C4B9"/>
            </a:solidFill>
            <a:prstDash val="dash"/>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a:off x="2654310" y="3931920"/>
            <a:ext cx="3444738" cy="800100"/>
          </a:xfrm>
          <a:prstGeom prst="line">
            <a:avLst/>
          </a:prstGeom>
          <a:ln w="19050">
            <a:solidFill>
              <a:srgbClr val="C9C4B9"/>
            </a:solidFill>
            <a:prstDash val="dash"/>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H="1" flipV="1">
            <a:off x="2654310" y="3131820"/>
            <a:ext cx="3444738" cy="800100"/>
          </a:xfrm>
          <a:prstGeom prst="line">
            <a:avLst/>
          </a:prstGeom>
          <a:ln w="19050">
            <a:solidFill>
              <a:srgbClr val="C9C4B9"/>
            </a:solidFill>
            <a:prstDash val="dash"/>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4773168" y="3474720"/>
            <a:ext cx="2651760" cy="914400"/>
          </a:xfrm>
          <a:prstGeom prst="roundRect">
            <a:avLst>
              <a:gd name="adj" fmla="val 3500"/>
            </a:avLst>
          </a:prstGeom>
          <a:solidFill>
            <a:srgbClr val="D97757"/>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4773168" y="3474720"/>
            <a:ext cx="2651760" cy="914400"/>
          </a:xfrm>
          <a:prstGeom prst="rect">
            <a:avLst/>
          </a:prstGeom>
          <a:noFill/>
        </p:spPr>
        <p:txBody>
          <a:bodyPr wrap="square" lIns="36576" rIns="36576" tIns="18288" bIns="18288" anchor="ctr">
            <a:spAutoFit/>
          </a:bodyPr>
          <a:lstStyle/>
          <a:p>
            <a:pPr algn="ctr">
              <a:lnSpc>
                <a:spcPct val="112000"/>
              </a:lnSpc>
            </a:pPr>
            <a:r>
              <a:rPr sz="1600" b="1" i="0">
                <a:solidFill>
                  <a:srgbClr val="FFFFFF"/>
                </a:solidFill>
                <a:latin typeface="Cambria"/>
              </a:rPr>
              <a:t>Orchestrator</a:t>
            </a:r>
          </a:p>
          <a:p>
            <a:pPr algn="ctr">
              <a:lnSpc>
                <a:spcPct val="112000"/>
              </a:lnSpc>
            </a:pPr>
            <a:r>
              <a:rPr sz="1600" b="1" i="0">
                <a:solidFill>
                  <a:srgbClr val="FFFFFF"/>
                </a:solidFill>
                <a:latin typeface="Cambria"/>
              </a:rPr>
              <a:t>(Kanban / CEO)</a:t>
            </a:r>
          </a:p>
        </p:txBody>
      </p:sp>
      <p:sp>
        <p:nvSpPr>
          <p:cNvPr id="16" name="Rounded Rectangle 15"/>
          <p:cNvSpPr/>
          <p:nvPr/>
        </p:nvSpPr>
        <p:spPr>
          <a:xfrm>
            <a:off x="4841748" y="1851660"/>
            <a:ext cx="2514600" cy="9601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4969764" y="1979676"/>
            <a:ext cx="384048" cy="384048"/>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search-FFFFFF.png"/>
          <p:cNvPicPr>
            <a:picLocks noChangeAspect="1"/>
          </p:cNvPicPr>
          <p:nvPr/>
        </p:nvPicPr>
        <p:blipFill>
          <a:blip r:embed="rId2"/>
          <a:stretch>
            <a:fillRect/>
          </a:stretch>
        </p:blipFill>
        <p:spPr>
          <a:xfrm>
            <a:off x="5061935" y="2071847"/>
            <a:ext cx="199704" cy="199704"/>
          </a:xfrm>
          <a:prstGeom prst="rect">
            <a:avLst/>
          </a:prstGeom>
        </p:spPr>
      </p:pic>
      <p:sp>
        <p:nvSpPr>
          <p:cNvPr id="19" name="TextBox 18"/>
          <p:cNvSpPr txBox="1"/>
          <p:nvPr/>
        </p:nvSpPr>
        <p:spPr>
          <a:xfrm>
            <a:off x="5426964" y="1943100"/>
            <a:ext cx="1837943" cy="329184"/>
          </a:xfrm>
          <a:prstGeom prst="rect">
            <a:avLst/>
          </a:prstGeom>
          <a:noFill/>
        </p:spPr>
        <p:txBody>
          <a:bodyPr wrap="square" lIns="36576" rIns="36576" tIns="18288" bIns="18288" anchor="t">
            <a:spAutoFit/>
          </a:bodyPr>
          <a:lstStyle/>
          <a:p>
            <a:pPr algn="l">
              <a:lnSpc>
                <a:spcPct val="112000"/>
              </a:lnSpc>
            </a:pPr>
            <a:r>
              <a:rPr sz="1300" b="1" i="0">
                <a:solidFill>
                  <a:srgbClr val="21201C"/>
                </a:solidFill>
                <a:latin typeface="Cambria"/>
              </a:rPr>
              <a:t>Researcher</a:t>
            </a:r>
          </a:p>
        </p:txBody>
      </p:sp>
      <p:sp>
        <p:nvSpPr>
          <p:cNvPr id="20" name="TextBox 19"/>
          <p:cNvSpPr txBox="1"/>
          <p:nvPr/>
        </p:nvSpPr>
        <p:spPr>
          <a:xfrm>
            <a:off x="4969764" y="2382012"/>
            <a:ext cx="2276856" cy="411480"/>
          </a:xfrm>
          <a:prstGeom prst="rect">
            <a:avLst/>
          </a:prstGeom>
          <a:noFill/>
        </p:spPr>
        <p:txBody>
          <a:bodyPr wrap="square" lIns="36576" rIns="36576" tIns="18288" bIns="18288" anchor="t">
            <a:spAutoFit/>
          </a:bodyPr>
          <a:lstStyle/>
          <a:p>
            <a:pPr algn="l">
              <a:lnSpc>
                <a:spcPct val="112000"/>
              </a:lnSpc>
            </a:pPr>
            <a:r>
              <a:rPr sz="1000" b="0" i="0">
                <a:solidFill>
                  <a:srgbClr val="6B6862"/>
                </a:solidFill>
                <a:latin typeface="Calibri"/>
              </a:rPr>
              <a:t>Finds facts and hooks, cites sources</a:t>
            </a:r>
          </a:p>
        </p:txBody>
      </p:sp>
      <p:sp>
        <p:nvSpPr>
          <p:cNvPr id="21" name="Rounded Rectangle 20"/>
          <p:cNvSpPr/>
          <p:nvPr/>
        </p:nvSpPr>
        <p:spPr>
          <a:xfrm>
            <a:off x="8286485" y="2651760"/>
            <a:ext cx="2514600" cy="9601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Oval 21"/>
          <p:cNvSpPr/>
          <p:nvPr/>
        </p:nvSpPr>
        <p:spPr>
          <a:xfrm>
            <a:off x="8414501" y="2779776"/>
            <a:ext cx="384048" cy="384048"/>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3" name="Picture 22" descr="pen-FFFFFF.png"/>
          <p:cNvPicPr>
            <a:picLocks noChangeAspect="1"/>
          </p:cNvPicPr>
          <p:nvPr/>
        </p:nvPicPr>
        <p:blipFill>
          <a:blip r:embed="rId3"/>
          <a:stretch>
            <a:fillRect/>
          </a:stretch>
        </p:blipFill>
        <p:spPr>
          <a:xfrm>
            <a:off x="8506672" y="2871947"/>
            <a:ext cx="199704" cy="199704"/>
          </a:xfrm>
          <a:prstGeom prst="rect">
            <a:avLst/>
          </a:prstGeom>
        </p:spPr>
      </p:pic>
      <p:sp>
        <p:nvSpPr>
          <p:cNvPr id="24" name="TextBox 23"/>
          <p:cNvSpPr txBox="1"/>
          <p:nvPr/>
        </p:nvSpPr>
        <p:spPr>
          <a:xfrm>
            <a:off x="8871701" y="2743200"/>
            <a:ext cx="1837943" cy="329184"/>
          </a:xfrm>
          <a:prstGeom prst="rect">
            <a:avLst/>
          </a:prstGeom>
          <a:noFill/>
        </p:spPr>
        <p:txBody>
          <a:bodyPr wrap="square" lIns="36576" rIns="36576" tIns="18288" bIns="18288" anchor="t">
            <a:spAutoFit/>
          </a:bodyPr>
          <a:lstStyle/>
          <a:p>
            <a:pPr algn="l">
              <a:lnSpc>
                <a:spcPct val="112000"/>
              </a:lnSpc>
            </a:pPr>
            <a:r>
              <a:rPr sz="1300" b="1" i="0">
                <a:solidFill>
                  <a:srgbClr val="21201C"/>
                </a:solidFill>
                <a:latin typeface="Cambria"/>
              </a:rPr>
              <a:t>Scriptwriter</a:t>
            </a:r>
          </a:p>
        </p:txBody>
      </p:sp>
      <p:sp>
        <p:nvSpPr>
          <p:cNvPr id="25" name="TextBox 24"/>
          <p:cNvSpPr txBox="1"/>
          <p:nvPr/>
        </p:nvSpPr>
        <p:spPr>
          <a:xfrm>
            <a:off x="8414501" y="3182112"/>
            <a:ext cx="2276856" cy="411480"/>
          </a:xfrm>
          <a:prstGeom prst="rect">
            <a:avLst/>
          </a:prstGeom>
          <a:noFill/>
        </p:spPr>
        <p:txBody>
          <a:bodyPr wrap="square" lIns="36576" rIns="36576" tIns="18288" bIns="18288" anchor="t">
            <a:spAutoFit/>
          </a:bodyPr>
          <a:lstStyle/>
          <a:p>
            <a:pPr algn="l">
              <a:lnSpc>
                <a:spcPct val="112000"/>
              </a:lnSpc>
            </a:pPr>
            <a:r>
              <a:rPr sz="1000" b="0" i="0">
                <a:solidFill>
                  <a:srgbClr val="6B6862"/>
                </a:solidFill>
                <a:latin typeface="Calibri"/>
              </a:rPr>
              <a:t>Turns research into a script</a:t>
            </a:r>
          </a:p>
        </p:txBody>
      </p:sp>
      <p:sp>
        <p:nvSpPr>
          <p:cNvPr id="26" name="Rounded Rectangle 25"/>
          <p:cNvSpPr/>
          <p:nvPr/>
        </p:nvSpPr>
        <p:spPr>
          <a:xfrm>
            <a:off x="8286485" y="4251959"/>
            <a:ext cx="2514600" cy="9601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8414501" y="4379975"/>
            <a:ext cx="384048" cy="384048"/>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film-FFFFFF.png"/>
          <p:cNvPicPr>
            <a:picLocks noChangeAspect="1"/>
          </p:cNvPicPr>
          <p:nvPr/>
        </p:nvPicPr>
        <p:blipFill>
          <a:blip r:embed="rId4"/>
          <a:stretch>
            <a:fillRect/>
          </a:stretch>
        </p:blipFill>
        <p:spPr>
          <a:xfrm>
            <a:off x="8506672" y="4472147"/>
            <a:ext cx="199704" cy="199704"/>
          </a:xfrm>
          <a:prstGeom prst="rect">
            <a:avLst/>
          </a:prstGeom>
        </p:spPr>
      </p:pic>
      <p:sp>
        <p:nvSpPr>
          <p:cNvPr id="29" name="TextBox 28"/>
          <p:cNvSpPr txBox="1"/>
          <p:nvPr/>
        </p:nvSpPr>
        <p:spPr>
          <a:xfrm>
            <a:off x="8871701" y="4343399"/>
            <a:ext cx="1837943" cy="329184"/>
          </a:xfrm>
          <a:prstGeom prst="rect">
            <a:avLst/>
          </a:prstGeom>
          <a:noFill/>
        </p:spPr>
        <p:txBody>
          <a:bodyPr wrap="square" lIns="36576" rIns="36576" tIns="18288" bIns="18288" anchor="t">
            <a:spAutoFit/>
          </a:bodyPr>
          <a:lstStyle/>
          <a:p>
            <a:pPr algn="l">
              <a:lnSpc>
                <a:spcPct val="112000"/>
              </a:lnSpc>
            </a:pPr>
            <a:r>
              <a:rPr sz="1300" b="1" i="0">
                <a:solidFill>
                  <a:srgbClr val="21201C"/>
                </a:solidFill>
                <a:latin typeface="Cambria"/>
              </a:rPr>
              <a:t>Producer</a:t>
            </a:r>
          </a:p>
        </p:txBody>
      </p:sp>
      <p:sp>
        <p:nvSpPr>
          <p:cNvPr id="30" name="TextBox 29"/>
          <p:cNvSpPr txBox="1"/>
          <p:nvPr/>
        </p:nvSpPr>
        <p:spPr>
          <a:xfrm>
            <a:off x="8414501" y="4782312"/>
            <a:ext cx="2276856" cy="411480"/>
          </a:xfrm>
          <a:prstGeom prst="rect">
            <a:avLst/>
          </a:prstGeom>
          <a:noFill/>
        </p:spPr>
        <p:txBody>
          <a:bodyPr wrap="square" lIns="36576" rIns="36576" tIns="18288" bIns="18288" anchor="t">
            <a:spAutoFit/>
          </a:bodyPr>
          <a:lstStyle/>
          <a:p>
            <a:pPr algn="l">
              <a:lnSpc>
                <a:spcPct val="112000"/>
              </a:lnSpc>
            </a:pPr>
            <a:r>
              <a:rPr sz="1000" b="0" i="0">
                <a:solidFill>
                  <a:srgbClr val="6B6862"/>
                </a:solidFill>
                <a:latin typeface="Calibri"/>
              </a:rPr>
              <a:t>Renders the video</a:t>
            </a:r>
          </a:p>
        </p:txBody>
      </p:sp>
      <p:sp>
        <p:nvSpPr>
          <p:cNvPr id="31" name="Rounded Rectangle 30"/>
          <p:cNvSpPr/>
          <p:nvPr/>
        </p:nvSpPr>
        <p:spPr>
          <a:xfrm>
            <a:off x="4841748" y="5052059"/>
            <a:ext cx="2514600" cy="9601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4969764" y="5180075"/>
            <a:ext cx="384048" cy="384048"/>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3" name="Picture 32" descr="eyecheck-FFFFFF.png"/>
          <p:cNvPicPr>
            <a:picLocks noChangeAspect="1"/>
          </p:cNvPicPr>
          <p:nvPr/>
        </p:nvPicPr>
        <p:blipFill>
          <a:blip r:embed="rId5"/>
          <a:stretch>
            <a:fillRect/>
          </a:stretch>
        </p:blipFill>
        <p:spPr>
          <a:xfrm>
            <a:off x="5061935" y="5272247"/>
            <a:ext cx="199704" cy="199704"/>
          </a:xfrm>
          <a:prstGeom prst="rect">
            <a:avLst/>
          </a:prstGeom>
        </p:spPr>
      </p:pic>
      <p:sp>
        <p:nvSpPr>
          <p:cNvPr id="34" name="TextBox 33"/>
          <p:cNvSpPr txBox="1"/>
          <p:nvPr/>
        </p:nvSpPr>
        <p:spPr>
          <a:xfrm>
            <a:off x="5426964" y="5143499"/>
            <a:ext cx="1837943" cy="329184"/>
          </a:xfrm>
          <a:prstGeom prst="rect">
            <a:avLst/>
          </a:prstGeom>
          <a:noFill/>
        </p:spPr>
        <p:txBody>
          <a:bodyPr wrap="square" lIns="36576" rIns="36576" tIns="18288" bIns="18288" anchor="t">
            <a:spAutoFit/>
          </a:bodyPr>
          <a:lstStyle/>
          <a:p>
            <a:pPr algn="l">
              <a:lnSpc>
                <a:spcPct val="112000"/>
              </a:lnSpc>
            </a:pPr>
            <a:r>
              <a:rPr sz="1300" b="1" i="0">
                <a:solidFill>
                  <a:srgbClr val="21201C"/>
                </a:solidFill>
                <a:latin typeface="Cambria"/>
              </a:rPr>
              <a:t>Auditor</a:t>
            </a:r>
          </a:p>
        </p:txBody>
      </p:sp>
      <p:sp>
        <p:nvSpPr>
          <p:cNvPr id="35" name="TextBox 34"/>
          <p:cNvSpPr txBox="1"/>
          <p:nvPr/>
        </p:nvSpPr>
        <p:spPr>
          <a:xfrm>
            <a:off x="4969764" y="5582412"/>
            <a:ext cx="2276856" cy="411480"/>
          </a:xfrm>
          <a:prstGeom prst="rect">
            <a:avLst/>
          </a:prstGeom>
          <a:noFill/>
        </p:spPr>
        <p:txBody>
          <a:bodyPr wrap="square" lIns="36576" rIns="36576" tIns="18288" bIns="18288" anchor="t">
            <a:spAutoFit/>
          </a:bodyPr>
          <a:lstStyle/>
          <a:p>
            <a:pPr algn="l">
              <a:lnSpc>
                <a:spcPct val="112000"/>
              </a:lnSpc>
            </a:pPr>
            <a:r>
              <a:rPr sz="1000" b="0" i="0">
                <a:solidFill>
                  <a:srgbClr val="6B6862"/>
                </a:solidFill>
                <a:latin typeface="Calibri"/>
              </a:rPr>
              <a:t>Checks rules; can send work back</a:t>
            </a:r>
          </a:p>
        </p:txBody>
      </p:sp>
      <p:sp>
        <p:nvSpPr>
          <p:cNvPr id="36" name="Rounded Rectangle 35"/>
          <p:cNvSpPr/>
          <p:nvPr/>
        </p:nvSpPr>
        <p:spPr>
          <a:xfrm>
            <a:off x="1397010" y="4251960"/>
            <a:ext cx="2514600" cy="9601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Oval 36"/>
          <p:cNvSpPr/>
          <p:nvPr/>
        </p:nvSpPr>
        <p:spPr>
          <a:xfrm>
            <a:off x="1525026" y="4379976"/>
            <a:ext cx="384048" cy="384048"/>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8" name="Picture 37" descr="send-FFFFFF.png"/>
          <p:cNvPicPr>
            <a:picLocks noChangeAspect="1"/>
          </p:cNvPicPr>
          <p:nvPr/>
        </p:nvPicPr>
        <p:blipFill>
          <a:blip r:embed="rId6"/>
          <a:stretch>
            <a:fillRect/>
          </a:stretch>
        </p:blipFill>
        <p:spPr>
          <a:xfrm>
            <a:off x="1617198" y="4472147"/>
            <a:ext cx="199704" cy="199704"/>
          </a:xfrm>
          <a:prstGeom prst="rect">
            <a:avLst/>
          </a:prstGeom>
        </p:spPr>
      </p:pic>
      <p:sp>
        <p:nvSpPr>
          <p:cNvPr id="39" name="TextBox 38"/>
          <p:cNvSpPr txBox="1"/>
          <p:nvPr/>
        </p:nvSpPr>
        <p:spPr>
          <a:xfrm>
            <a:off x="1982226" y="4343400"/>
            <a:ext cx="1837943" cy="329184"/>
          </a:xfrm>
          <a:prstGeom prst="rect">
            <a:avLst/>
          </a:prstGeom>
          <a:noFill/>
        </p:spPr>
        <p:txBody>
          <a:bodyPr wrap="square" lIns="36576" rIns="36576" tIns="18288" bIns="18288" anchor="t">
            <a:spAutoFit/>
          </a:bodyPr>
          <a:lstStyle/>
          <a:p>
            <a:pPr algn="l">
              <a:lnSpc>
                <a:spcPct val="112000"/>
              </a:lnSpc>
            </a:pPr>
            <a:r>
              <a:rPr sz="1300" b="1" i="0">
                <a:solidFill>
                  <a:srgbClr val="21201C"/>
                </a:solidFill>
                <a:latin typeface="Cambria"/>
              </a:rPr>
              <a:t>Publisher</a:t>
            </a:r>
          </a:p>
        </p:txBody>
      </p:sp>
      <p:sp>
        <p:nvSpPr>
          <p:cNvPr id="40" name="TextBox 39"/>
          <p:cNvSpPr txBox="1"/>
          <p:nvPr/>
        </p:nvSpPr>
        <p:spPr>
          <a:xfrm>
            <a:off x="1525026" y="4782312"/>
            <a:ext cx="2276856" cy="411480"/>
          </a:xfrm>
          <a:prstGeom prst="rect">
            <a:avLst/>
          </a:prstGeom>
          <a:noFill/>
        </p:spPr>
        <p:txBody>
          <a:bodyPr wrap="square" lIns="36576" rIns="36576" tIns="18288" bIns="18288" anchor="t">
            <a:spAutoFit/>
          </a:bodyPr>
          <a:lstStyle/>
          <a:p>
            <a:pPr algn="l">
              <a:lnSpc>
                <a:spcPct val="112000"/>
              </a:lnSpc>
            </a:pPr>
            <a:r>
              <a:rPr sz="1000" b="0" i="0">
                <a:solidFill>
                  <a:srgbClr val="6B6862"/>
                </a:solidFill>
                <a:latin typeface="Calibri"/>
              </a:rPr>
              <a:t>Acts only after human approval</a:t>
            </a:r>
          </a:p>
        </p:txBody>
      </p:sp>
      <p:sp>
        <p:nvSpPr>
          <p:cNvPr id="41" name="Rounded Rectangle 40"/>
          <p:cNvSpPr/>
          <p:nvPr/>
        </p:nvSpPr>
        <p:spPr>
          <a:xfrm>
            <a:off x="1397010" y="2651760"/>
            <a:ext cx="2514600" cy="9601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Oval 41"/>
          <p:cNvSpPr/>
          <p:nvPr/>
        </p:nvSpPr>
        <p:spPr>
          <a:xfrm>
            <a:off x="1525026" y="2779776"/>
            <a:ext cx="384048" cy="384048"/>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3" name="Picture 42" descr="user-FFFFFF.png"/>
          <p:cNvPicPr>
            <a:picLocks noChangeAspect="1"/>
          </p:cNvPicPr>
          <p:nvPr/>
        </p:nvPicPr>
        <p:blipFill>
          <a:blip r:embed="rId7"/>
          <a:stretch>
            <a:fillRect/>
          </a:stretch>
        </p:blipFill>
        <p:spPr>
          <a:xfrm>
            <a:off x="1617198" y="2871947"/>
            <a:ext cx="199704" cy="199704"/>
          </a:xfrm>
          <a:prstGeom prst="rect">
            <a:avLst/>
          </a:prstGeom>
        </p:spPr>
      </p:pic>
      <p:sp>
        <p:nvSpPr>
          <p:cNvPr id="44" name="TextBox 43"/>
          <p:cNvSpPr txBox="1"/>
          <p:nvPr/>
        </p:nvSpPr>
        <p:spPr>
          <a:xfrm>
            <a:off x="1982226" y="2743200"/>
            <a:ext cx="1837943" cy="329184"/>
          </a:xfrm>
          <a:prstGeom prst="rect">
            <a:avLst/>
          </a:prstGeom>
          <a:noFill/>
        </p:spPr>
        <p:txBody>
          <a:bodyPr wrap="square" lIns="36576" rIns="36576" tIns="18288" bIns="18288" anchor="t">
            <a:spAutoFit/>
          </a:bodyPr>
          <a:lstStyle/>
          <a:p>
            <a:pPr algn="l">
              <a:lnSpc>
                <a:spcPct val="112000"/>
              </a:lnSpc>
            </a:pPr>
            <a:r>
              <a:rPr sz="1300" b="1" i="0">
                <a:solidFill>
                  <a:srgbClr val="21201C"/>
                </a:solidFill>
                <a:latin typeface="Cambria"/>
              </a:rPr>
              <a:t>Human</a:t>
            </a:r>
          </a:p>
        </p:txBody>
      </p:sp>
      <p:sp>
        <p:nvSpPr>
          <p:cNvPr id="45" name="TextBox 44"/>
          <p:cNvSpPr txBox="1"/>
          <p:nvPr/>
        </p:nvSpPr>
        <p:spPr>
          <a:xfrm>
            <a:off x="1525026" y="3182112"/>
            <a:ext cx="2276856" cy="411480"/>
          </a:xfrm>
          <a:prstGeom prst="rect">
            <a:avLst/>
          </a:prstGeom>
          <a:noFill/>
        </p:spPr>
        <p:txBody>
          <a:bodyPr wrap="square" lIns="36576" rIns="36576" tIns="18288" bIns="18288" anchor="t">
            <a:spAutoFit/>
          </a:bodyPr>
          <a:lstStyle/>
          <a:p>
            <a:pPr algn="l">
              <a:lnSpc>
                <a:spcPct val="112000"/>
              </a:lnSpc>
            </a:pPr>
            <a:r>
              <a:rPr sz="1000" b="0" i="0">
                <a:solidFill>
                  <a:srgbClr val="6B6862"/>
                </a:solidFill>
                <a:latin typeface="Calibri"/>
              </a:rPr>
              <a:t>Sets goals, approves, owns the outcome</a:t>
            </a:r>
          </a:p>
        </p:txBody>
      </p:sp>
      <p:sp>
        <p:nvSpPr>
          <p:cNvPr id="46" name="TextBox 45"/>
          <p:cNvSpPr txBox="1"/>
          <p:nvPr/>
        </p:nvSpPr>
        <p:spPr>
          <a:xfrm>
            <a:off x="548640" y="5989320"/>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Without rules, multi-agent chatter can amplify small hallucinations — add verifiers and human checkpoints.</a:t>
            </a:r>
          </a:p>
        </p:txBody>
      </p:sp>
    </p:spTree>
  </p:cSld>
  <p:clrMapOvr>
    <a:masterClrMapping/>
  </p:clrMapOvr>
  <p:transition spd="med">
    <p:fade/>
  </p:transition>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HUMAN–AGENT COLLABORATION</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Two Ways Humans and Agents Work Together</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42</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83080"/>
            <a:ext cx="5440680" cy="384048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22959" y="205740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user-FFFFFF.png"/>
          <p:cNvPicPr>
            <a:picLocks noChangeAspect="1"/>
          </p:cNvPicPr>
          <p:nvPr/>
        </p:nvPicPr>
        <p:blipFill>
          <a:blip r:embed="rId2"/>
          <a:stretch>
            <a:fillRect/>
          </a:stretch>
        </p:blipFill>
        <p:spPr>
          <a:xfrm>
            <a:off x="954633" y="2189073"/>
            <a:ext cx="285292" cy="285292"/>
          </a:xfrm>
          <a:prstGeom prst="rect">
            <a:avLst/>
          </a:prstGeom>
        </p:spPr>
      </p:pic>
      <p:sp>
        <p:nvSpPr>
          <p:cNvPr id="10" name="TextBox 9"/>
          <p:cNvSpPr txBox="1"/>
          <p:nvPr/>
        </p:nvSpPr>
        <p:spPr>
          <a:xfrm>
            <a:off x="1508760" y="2075688"/>
            <a:ext cx="4297680" cy="512064"/>
          </a:xfrm>
          <a:prstGeom prst="rect">
            <a:avLst/>
          </a:prstGeom>
          <a:noFill/>
        </p:spPr>
        <p:txBody>
          <a:bodyPr wrap="square" lIns="36576" rIns="36576" tIns="18288" bIns="18288" anchor="ctr">
            <a:spAutoFit/>
          </a:bodyPr>
          <a:lstStyle/>
          <a:p>
            <a:pPr algn="l">
              <a:lnSpc>
                <a:spcPct val="112000"/>
              </a:lnSpc>
            </a:pPr>
            <a:r>
              <a:rPr sz="1900" b="1" i="0">
                <a:solidFill>
                  <a:srgbClr val="21201C"/>
                </a:solidFill>
                <a:latin typeface="Cambria"/>
              </a:rPr>
              <a:t>Instructor–executor</a:t>
            </a:r>
          </a:p>
        </p:txBody>
      </p:sp>
      <p:sp>
        <p:nvSpPr>
          <p:cNvPr id="11" name="TextBox 10"/>
          <p:cNvSpPr txBox="1"/>
          <p:nvPr/>
        </p:nvSpPr>
        <p:spPr>
          <a:xfrm>
            <a:off x="868680" y="2834639"/>
            <a:ext cx="4846320" cy="2651760"/>
          </a:xfrm>
          <a:prstGeom prst="rect">
            <a:avLst/>
          </a:prstGeom>
          <a:noFill/>
        </p:spPr>
        <p:txBody>
          <a:bodyPr wrap="square" lIns="36576" rIns="36576" tIns="18288" bIns="18288" anchor="t">
            <a:spAutoFit/>
          </a:bodyPr>
          <a:lstStyle/>
          <a:p>
            <a:pPr algn="l">
              <a:lnSpc>
                <a:spcPct val="120000"/>
              </a:lnSpc>
            </a:pPr>
            <a:r>
              <a:rPr sz="1650" b="0" i="0">
                <a:solidFill>
                  <a:srgbClr val="6B6862"/>
                </a:solidFill>
                <a:latin typeface="Calibri"/>
              </a:rPr>
              <a:t>•  The human sets goals, gives instructions and feedback</a:t>
            </a:r>
          </a:p>
          <a:p>
            <a:pPr algn="l">
              <a:lnSpc>
                <a:spcPct val="120000"/>
              </a:lnSpc>
            </a:pPr>
            <a:r>
              <a:rPr sz="1650" b="0" i="0">
                <a:solidFill>
                  <a:srgbClr val="6B6862"/>
                </a:solidFill>
                <a:latin typeface="Calibri"/>
              </a:rPr>
              <a:t>•  Feedback can be quantitative (scores) or qualitative (critique)</a:t>
            </a:r>
          </a:p>
          <a:p>
            <a:pPr algn="l">
              <a:lnSpc>
                <a:spcPct val="120000"/>
              </a:lnSpc>
            </a:pPr>
            <a:r>
              <a:rPr sz="1650" b="0" i="0">
                <a:solidFill>
                  <a:srgbClr val="6B6862"/>
                </a:solidFill>
                <a:latin typeface="Calibri"/>
              </a:rPr>
              <a:t>•  Agent executes and improves from feedback</a:t>
            </a:r>
          </a:p>
          <a:p>
            <a:pPr algn="l">
              <a:lnSpc>
                <a:spcPct val="120000"/>
              </a:lnSpc>
            </a:pPr>
            <a:r>
              <a:rPr sz="1650" b="0" i="0">
                <a:solidFill>
                  <a:srgbClr val="6B6862"/>
                </a:solidFill>
                <a:latin typeface="Calibri"/>
              </a:rPr>
              <a:t>•  Labs: APPROVE / EDIT on Telegram; Board revision requests</a:t>
            </a:r>
          </a:p>
        </p:txBody>
      </p:sp>
      <p:sp>
        <p:nvSpPr>
          <p:cNvPr id="12" name="Rounded Rectangle 11"/>
          <p:cNvSpPr/>
          <p:nvPr/>
        </p:nvSpPr>
        <p:spPr>
          <a:xfrm>
            <a:off x="6172200" y="1783080"/>
            <a:ext cx="5440680" cy="3840480"/>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46520" y="205740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handshake-FFFFFF.png"/>
          <p:cNvPicPr>
            <a:picLocks noChangeAspect="1"/>
          </p:cNvPicPr>
          <p:nvPr/>
        </p:nvPicPr>
        <p:blipFill>
          <a:blip r:embed="rId3"/>
          <a:stretch>
            <a:fillRect/>
          </a:stretch>
        </p:blipFill>
        <p:spPr>
          <a:xfrm>
            <a:off x="6578193" y="2189073"/>
            <a:ext cx="285292" cy="285292"/>
          </a:xfrm>
          <a:prstGeom prst="rect">
            <a:avLst/>
          </a:prstGeom>
        </p:spPr>
      </p:pic>
      <p:sp>
        <p:nvSpPr>
          <p:cNvPr id="15" name="TextBox 14"/>
          <p:cNvSpPr txBox="1"/>
          <p:nvPr/>
        </p:nvSpPr>
        <p:spPr>
          <a:xfrm>
            <a:off x="7132320" y="2075688"/>
            <a:ext cx="4297680" cy="512064"/>
          </a:xfrm>
          <a:prstGeom prst="rect">
            <a:avLst/>
          </a:prstGeom>
          <a:noFill/>
        </p:spPr>
        <p:txBody>
          <a:bodyPr wrap="square" lIns="36576" rIns="36576" tIns="18288" bIns="18288" anchor="ctr">
            <a:spAutoFit/>
          </a:bodyPr>
          <a:lstStyle/>
          <a:p>
            <a:pPr algn="l">
              <a:lnSpc>
                <a:spcPct val="112000"/>
              </a:lnSpc>
            </a:pPr>
            <a:r>
              <a:rPr sz="1900" b="1" i="0">
                <a:solidFill>
                  <a:srgbClr val="FFFFFF"/>
                </a:solidFill>
                <a:latin typeface="Cambria"/>
              </a:rPr>
              <a:t>Equal partnership</a:t>
            </a:r>
          </a:p>
        </p:txBody>
      </p:sp>
      <p:sp>
        <p:nvSpPr>
          <p:cNvPr id="16" name="TextBox 15"/>
          <p:cNvSpPr txBox="1"/>
          <p:nvPr/>
        </p:nvSpPr>
        <p:spPr>
          <a:xfrm>
            <a:off x="6492240" y="2834639"/>
            <a:ext cx="4846320" cy="2651760"/>
          </a:xfrm>
          <a:prstGeom prst="rect">
            <a:avLst/>
          </a:prstGeom>
          <a:noFill/>
        </p:spPr>
        <p:txBody>
          <a:bodyPr wrap="square" lIns="36576" rIns="36576" tIns="18288" bIns="18288" anchor="t">
            <a:spAutoFit/>
          </a:bodyPr>
          <a:lstStyle/>
          <a:p>
            <a:pPr algn="l">
              <a:lnSpc>
                <a:spcPct val="120000"/>
              </a:lnSpc>
            </a:pPr>
            <a:r>
              <a:rPr sz="1650" b="0" i="0">
                <a:solidFill>
                  <a:srgbClr val="C9C4B9"/>
                </a:solidFill>
                <a:latin typeface="Calibri"/>
              </a:rPr>
              <a:t>•  Agent participates as a peer — proposes, negotiates, challenges</a:t>
            </a:r>
          </a:p>
          <a:p>
            <a:pPr algn="l">
              <a:lnSpc>
                <a:spcPct val="120000"/>
              </a:lnSpc>
            </a:pPr>
            <a:r>
              <a:rPr sz="1650" b="0" i="0">
                <a:solidFill>
                  <a:srgbClr val="C9C4B9"/>
                </a:solidFill>
                <a:latin typeface="Calibri"/>
              </a:rPr>
              <a:t>•  Empathetic communicator or human-level participant</a:t>
            </a:r>
          </a:p>
          <a:p>
            <a:pPr algn="l">
              <a:lnSpc>
                <a:spcPct val="120000"/>
              </a:lnSpc>
            </a:pPr>
            <a:r>
              <a:rPr sz="1650" b="0" i="0">
                <a:solidFill>
                  <a:srgbClr val="C9C4B9"/>
                </a:solidFill>
                <a:latin typeface="Calibri"/>
              </a:rPr>
              <a:t>•  Human remains accountable for decisions</a:t>
            </a:r>
          </a:p>
          <a:p>
            <a:pPr algn="l">
              <a:lnSpc>
                <a:spcPct val="120000"/>
              </a:lnSpc>
            </a:pPr>
            <a:r>
              <a:rPr sz="1650" b="0" i="0">
                <a:solidFill>
                  <a:srgbClr val="C9C4B9"/>
                </a:solidFill>
                <a:latin typeface="Calibri"/>
              </a:rPr>
              <a:t>•  Labs: the CEO agent proposes the team; you approve or push back</a:t>
            </a:r>
          </a:p>
        </p:txBody>
      </p:sp>
      <p:sp>
        <p:nvSpPr>
          <p:cNvPr id="17" name="TextBox 16"/>
          <p:cNvSpPr txBox="1"/>
          <p:nvPr/>
        </p:nvSpPr>
        <p:spPr>
          <a:xfrm>
            <a:off x="548640" y="5760720"/>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Why keep humans in? They fill gaps in privacy, ethics, judgement and data — and agents learn through interaction.</a:t>
            </a:r>
          </a:p>
        </p:txBody>
      </p:sp>
    </p:spTree>
  </p:cSld>
  <p:clrMapOvr>
    <a:masterClrMapping/>
  </p:clrMapOvr>
  <p:transition spd="med">
    <p:fade/>
  </p:transition>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HUMAN–AGENT COLLABORATION</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Levels of Autonomy — Pick Per Task, Not Per Agent</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Feng, McDonald &amp; Zhang (2025): autonomy is a design decision, separate from capability.</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43</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graphicFrame>
        <p:nvGraphicFramePr>
          <p:cNvPr id="8" name="Table 7"/>
          <p:cNvGraphicFramePr>
            <a:graphicFrameLocks noGrp="1"/>
          </p:cNvGraphicFramePr>
          <p:nvPr/>
        </p:nvGraphicFramePr>
        <p:xfrm>
          <a:off x="548640" y="2194560"/>
          <a:ext cx="11064240" cy="3771900"/>
        </p:xfrm>
        <a:graphic>
          <a:graphicData uri="http://schemas.openxmlformats.org/drawingml/2006/table">
            <a:tbl>
              <a:tblPr firstRow="0" bandRow="0">
                <a:tableStyleId>{5C22544A-7EE6-4342-B048-85BDC9FD1C3A}</a:tableStyleId>
              </a:tblPr>
              <a:tblGrid>
                <a:gridCol w="822960"/>
                <a:gridCol w="1645920"/>
                <a:gridCol w="4206240"/>
                <a:gridCol w="4389120"/>
              </a:tblGrid>
              <a:tr h="457200">
                <a:tc>
                  <a:txBody>
                    <a:bodyPr wrap="square"/>
                    <a:lstStyle/>
                    <a:p>
                      <a:r>
                        <a:rPr b="1" sz="1550">
                          <a:solidFill>
                            <a:srgbClr val="FFFFFF"/>
                          </a:solidFill>
                          <a:latin typeface="Cambria"/>
                        </a:rPr>
                        <a:t>Level</a:t>
                      </a:r>
                    </a:p>
                  </a:txBody>
                  <a:tcPr marL="64008" marR="64008" marT="27432" marB="27432" anchor="ctr">
                    <a:solidFill>
                      <a:srgbClr val="21201C"/>
                    </a:solidFill>
                  </a:tcPr>
                </a:tc>
                <a:tc>
                  <a:txBody>
                    <a:bodyPr wrap="square"/>
                    <a:lstStyle/>
                    <a:p>
                      <a:r>
                        <a:rPr b="1" sz="1550">
                          <a:solidFill>
                            <a:srgbClr val="FFFFFF"/>
                          </a:solidFill>
                          <a:latin typeface="Cambria"/>
                        </a:rPr>
                        <a:t>Your role</a:t>
                      </a:r>
                    </a:p>
                  </a:txBody>
                  <a:tcPr marL="64008" marR="64008" marT="27432" marB="27432" anchor="ctr">
                    <a:solidFill>
                      <a:srgbClr val="21201C"/>
                    </a:solidFill>
                  </a:tcPr>
                </a:tc>
                <a:tc>
                  <a:txBody>
                    <a:bodyPr wrap="square"/>
                    <a:lstStyle/>
                    <a:p>
                      <a:r>
                        <a:rPr b="1" sz="1550">
                          <a:solidFill>
                            <a:srgbClr val="FFFFFF"/>
                          </a:solidFill>
                          <a:latin typeface="Cambria"/>
                        </a:rPr>
                        <a:t>What the agent does</a:t>
                      </a:r>
                    </a:p>
                  </a:txBody>
                  <a:tcPr marL="64008" marR="64008" marT="27432" marB="27432" anchor="ctr">
                    <a:solidFill>
                      <a:srgbClr val="21201C"/>
                    </a:solidFill>
                  </a:tcPr>
                </a:tc>
                <a:tc>
                  <a:txBody>
                    <a:bodyPr wrap="square"/>
                    <a:lstStyle/>
                    <a:p>
                      <a:r>
                        <a:rPr b="1" sz="1550">
                          <a:solidFill>
                            <a:srgbClr val="FFFFFF"/>
                          </a:solidFill>
                          <a:latin typeface="Cambria"/>
                        </a:rPr>
                        <a:t>Example in this course</a:t>
                      </a:r>
                    </a:p>
                  </a:txBody>
                  <a:tcPr marL="64008" marR="64008" marT="27432" marB="27432" anchor="ctr">
                    <a:solidFill>
                      <a:srgbClr val="21201C"/>
                    </a:solidFill>
                  </a:tcPr>
                </a:tc>
              </a:tr>
              <a:tr h="662940">
                <a:tc>
                  <a:txBody>
                    <a:bodyPr wrap="square"/>
                    <a:lstStyle/>
                    <a:p>
                      <a:r>
                        <a:rPr b="1" sz="1500">
                          <a:solidFill>
                            <a:srgbClr val="21201C"/>
                          </a:solidFill>
                          <a:latin typeface="Cambria"/>
                        </a:rPr>
                        <a:t>L1</a:t>
                      </a:r>
                    </a:p>
                  </a:txBody>
                  <a:tcPr marL="64008" marR="64008" marT="27432" marB="27432" anchor="ctr">
                    <a:solidFill>
                      <a:srgbClr val="FFFFFF"/>
                    </a:solidFill>
                  </a:tcPr>
                </a:tc>
                <a:tc>
                  <a:txBody>
                    <a:bodyPr wrap="square"/>
                    <a:lstStyle/>
                    <a:p>
                      <a:r>
                        <a:rPr b="0" sz="1500">
                          <a:solidFill>
                            <a:srgbClr val="6B6862"/>
                          </a:solidFill>
                          <a:latin typeface="Calibri"/>
                        </a:rPr>
                        <a:t>Operator</a:t>
                      </a:r>
                    </a:p>
                  </a:txBody>
                  <a:tcPr marL="64008" marR="64008" marT="27432" marB="27432" anchor="ctr">
                    <a:solidFill>
                      <a:srgbClr val="FFFFFF"/>
                    </a:solidFill>
                  </a:tcPr>
                </a:tc>
                <a:tc>
                  <a:txBody>
                    <a:bodyPr wrap="square"/>
                    <a:lstStyle/>
                    <a:p>
                      <a:r>
                        <a:rPr b="0" sz="1500">
                          <a:solidFill>
                            <a:srgbClr val="6B6862"/>
                          </a:solidFill>
                          <a:latin typeface="Calibri"/>
                        </a:rPr>
                        <a:t>Acts only when you invoke it for a subtask</a:t>
                      </a:r>
                    </a:p>
                  </a:txBody>
                  <a:tcPr marL="64008" marR="64008" marT="27432" marB="27432" anchor="ctr">
                    <a:solidFill>
                      <a:srgbClr val="FFFFFF"/>
                    </a:solidFill>
                  </a:tcPr>
                </a:tc>
                <a:tc>
                  <a:txBody>
                    <a:bodyPr wrap="square"/>
                    <a:lstStyle/>
                    <a:p>
                      <a:r>
                        <a:rPr b="0" sz="1500">
                          <a:solidFill>
                            <a:srgbClr val="6B6862"/>
                          </a:solidFill>
                          <a:latin typeface="Calibri"/>
                        </a:rPr>
                        <a:t>Asking Mia a one-off question</a:t>
                      </a:r>
                    </a:p>
                  </a:txBody>
                  <a:tcPr marL="64008" marR="64008" marT="27432" marB="27432" anchor="ctr">
                    <a:solidFill>
                      <a:srgbClr val="FFFFFF"/>
                    </a:solidFill>
                  </a:tcPr>
                </a:tc>
              </a:tr>
              <a:tr h="662940">
                <a:tc>
                  <a:txBody>
                    <a:bodyPr wrap="square"/>
                    <a:lstStyle/>
                    <a:p>
                      <a:r>
                        <a:rPr b="1" sz="1500">
                          <a:solidFill>
                            <a:srgbClr val="21201C"/>
                          </a:solidFill>
                          <a:latin typeface="Cambria"/>
                        </a:rPr>
                        <a:t>L2</a:t>
                      </a:r>
                    </a:p>
                  </a:txBody>
                  <a:tcPr marL="64008" marR="64008" marT="27432" marB="27432" anchor="ctr">
                    <a:solidFill>
                      <a:srgbClr val="F3F1EB"/>
                    </a:solidFill>
                  </a:tcPr>
                </a:tc>
                <a:tc>
                  <a:txBody>
                    <a:bodyPr wrap="square"/>
                    <a:lstStyle/>
                    <a:p>
                      <a:r>
                        <a:rPr b="0" sz="1500">
                          <a:solidFill>
                            <a:srgbClr val="6B6862"/>
                          </a:solidFill>
                          <a:latin typeface="Calibri"/>
                        </a:rPr>
                        <a:t>Collaborator</a:t>
                      </a:r>
                    </a:p>
                  </a:txBody>
                  <a:tcPr marL="64008" marR="64008" marT="27432" marB="27432" anchor="ctr">
                    <a:solidFill>
                      <a:srgbClr val="F3F1EB"/>
                    </a:solidFill>
                  </a:tcPr>
                </a:tc>
                <a:tc>
                  <a:txBody>
                    <a:bodyPr wrap="square"/>
                    <a:lstStyle/>
                    <a:p>
                      <a:r>
                        <a:rPr b="0" sz="1500">
                          <a:solidFill>
                            <a:srgbClr val="6B6862"/>
                          </a:solidFill>
                          <a:latin typeface="Calibri"/>
                        </a:rPr>
                        <a:t>Plans and works with you; you can take over anytime</a:t>
                      </a:r>
                    </a:p>
                  </a:txBody>
                  <a:tcPr marL="64008" marR="64008" marT="27432" marB="27432" anchor="ctr">
                    <a:solidFill>
                      <a:srgbClr val="F3F1EB"/>
                    </a:solidFill>
                  </a:tcPr>
                </a:tc>
                <a:tc>
                  <a:txBody>
                    <a:bodyPr wrap="square"/>
                    <a:lstStyle/>
                    <a:p>
                      <a:r>
                        <a:rPr b="0" sz="1500">
                          <a:solidFill>
                            <a:srgbClr val="6B6862"/>
                          </a:solidFill>
                          <a:latin typeface="Calibri"/>
                        </a:rPr>
                        <a:t>Lab 2 campaign drafting with your feedback</a:t>
                      </a:r>
                    </a:p>
                  </a:txBody>
                  <a:tcPr marL="64008" marR="64008" marT="27432" marB="27432" anchor="ctr">
                    <a:solidFill>
                      <a:srgbClr val="F3F1EB"/>
                    </a:solidFill>
                  </a:tcPr>
                </a:tc>
              </a:tr>
              <a:tr h="662940">
                <a:tc>
                  <a:txBody>
                    <a:bodyPr wrap="square"/>
                    <a:lstStyle/>
                    <a:p>
                      <a:r>
                        <a:rPr b="1" sz="1500">
                          <a:solidFill>
                            <a:srgbClr val="21201C"/>
                          </a:solidFill>
                          <a:latin typeface="Cambria"/>
                        </a:rPr>
                        <a:t>L3</a:t>
                      </a:r>
                    </a:p>
                  </a:txBody>
                  <a:tcPr marL="64008" marR="64008" marT="27432" marB="27432" anchor="ctr">
                    <a:solidFill>
                      <a:srgbClr val="FFFFFF"/>
                    </a:solidFill>
                  </a:tcPr>
                </a:tc>
                <a:tc>
                  <a:txBody>
                    <a:bodyPr wrap="square"/>
                    <a:lstStyle/>
                    <a:p>
                      <a:r>
                        <a:rPr b="0" sz="1500">
                          <a:solidFill>
                            <a:srgbClr val="6B6862"/>
                          </a:solidFill>
                          <a:latin typeface="Calibri"/>
                        </a:rPr>
                        <a:t>Consultant</a:t>
                      </a:r>
                    </a:p>
                  </a:txBody>
                  <a:tcPr marL="64008" marR="64008" marT="27432" marB="27432" anchor="ctr">
                    <a:solidFill>
                      <a:srgbClr val="FFFFFF"/>
                    </a:solidFill>
                  </a:tcPr>
                </a:tc>
                <a:tc>
                  <a:txBody>
                    <a:bodyPr wrap="square"/>
                    <a:lstStyle/>
                    <a:p>
                      <a:r>
                        <a:rPr b="0" sz="1500">
                          <a:solidFill>
                            <a:srgbClr val="6B6862"/>
                          </a:solidFill>
                          <a:latin typeface="Calibri"/>
                        </a:rPr>
                        <a:t>Does most of the work; asks for your expertise</a:t>
                      </a:r>
                    </a:p>
                  </a:txBody>
                  <a:tcPr marL="64008" marR="64008" marT="27432" marB="27432" anchor="ctr">
                    <a:solidFill>
                      <a:srgbClr val="FFFFFF"/>
                    </a:solidFill>
                  </a:tcPr>
                </a:tc>
                <a:tc>
                  <a:txBody>
                    <a:bodyPr wrap="square"/>
                    <a:lstStyle/>
                    <a:p>
                      <a:r>
                        <a:rPr b="0" sz="1500">
                          <a:solidFill>
                            <a:srgbClr val="6B6862"/>
                          </a:solidFill>
                          <a:latin typeface="Calibri"/>
                        </a:rPr>
                        <a:t>Lab 1 research brief, Lab 7 hiring plan</a:t>
                      </a:r>
                    </a:p>
                  </a:txBody>
                  <a:tcPr marL="64008" marR="64008" marT="27432" marB="27432" anchor="ctr">
                    <a:solidFill>
                      <a:srgbClr val="FFFFFF"/>
                    </a:solidFill>
                  </a:tcPr>
                </a:tc>
              </a:tr>
              <a:tr h="662940">
                <a:tc>
                  <a:txBody>
                    <a:bodyPr wrap="square"/>
                    <a:lstStyle/>
                    <a:p>
                      <a:r>
                        <a:rPr b="1" sz="1500">
                          <a:solidFill>
                            <a:srgbClr val="21201C"/>
                          </a:solidFill>
                          <a:latin typeface="Cambria"/>
                        </a:rPr>
                        <a:t>L4</a:t>
                      </a:r>
                    </a:p>
                  </a:txBody>
                  <a:tcPr marL="64008" marR="64008" marT="27432" marB="27432" anchor="ctr">
                    <a:solidFill>
                      <a:srgbClr val="F3F1EB"/>
                    </a:solidFill>
                  </a:tcPr>
                </a:tc>
                <a:tc>
                  <a:txBody>
                    <a:bodyPr wrap="square"/>
                    <a:lstStyle/>
                    <a:p>
                      <a:r>
                        <a:rPr b="0" sz="1500">
                          <a:solidFill>
                            <a:srgbClr val="6B6862"/>
                          </a:solidFill>
                          <a:latin typeface="Calibri"/>
                        </a:rPr>
                        <a:t>Approver</a:t>
                      </a:r>
                    </a:p>
                  </a:txBody>
                  <a:tcPr marL="64008" marR="64008" marT="27432" marB="27432" anchor="ctr">
                    <a:solidFill>
                      <a:srgbClr val="F3F1EB"/>
                    </a:solidFill>
                  </a:tcPr>
                </a:tc>
                <a:tc>
                  <a:txBody>
                    <a:bodyPr wrap="square"/>
                    <a:lstStyle/>
                    <a:p>
                      <a:r>
                        <a:rPr b="0" sz="1500">
                          <a:solidFill>
                            <a:srgbClr val="6B6862"/>
                          </a:solidFill>
                          <a:latin typeface="Calibri"/>
                        </a:rPr>
                        <a:t>Asks only at high-risk steps or required approvals</a:t>
                      </a:r>
                    </a:p>
                  </a:txBody>
                  <a:tcPr marL="64008" marR="64008" marT="27432" marB="27432" anchor="ctr">
                    <a:solidFill>
                      <a:srgbClr val="F3F1EB"/>
                    </a:solidFill>
                  </a:tcPr>
                </a:tc>
                <a:tc>
                  <a:txBody>
                    <a:bodyPr wrap="square"/>
                    <a:lstStyle/>
                    <a:p>
                      <a:r>
                        <a:rPr b="0" sz="1500">
                          <a:solidFill>
                            <a:srgbClr val="6B6862"/>
                          </a:solidFill>
                          <a:latin typeface="Calibri"/>
                        </a:rPr>
                        <a:t>Lab 3 APPROVE gate, Lab 9 weekly routine</a:t>
                      </a:r>
                    </a:p>
                  </a:txBody>
                  <a:tcPr marL="64008" marR="64008" marT="27432" marB="27432" anchor="ctr">
                    <a:solidFill>
                      <a:srgbClr val="F3F1EB"/>
                    </a:solidFill>
                  </a:tcPr>
                </a:tc>
              </a:tr>
              <a:tr h="662940">
                <a:tc>
                  <a:txBody>
                    <a:bodyPr wrap="square"/>
                    <a:lstStyle/>
                    <a:p>
                      <a:r>
                        <a:rPr b="1" sz="1500">
                          <a:solidFill>
                            <a:srgbClr val="21201C"/>
                          </a:solidFill>
                          <a:latin typeface="Cambria"/>
                        </a:rPr>
                        <a:t>L5</a:t>
                      </a:r>
                    </a:p>
                  </a:txBody>
                  <a:tcPr marL="64008" marR="64008" marT="27432" marB="27432" anchor="ctr">
                    <a:solidFill>
                      <a:srgbClr val="FFFFFF"/>
                    </a:solidFill>
                  </a:tcPr>
                </a:tc>
                <a:tc>
                  <a:txBody>
                    <a:bodyPr wrap="square"/>
                    <a:lstStyle/>
                    <a:p>
                      <a:r>
                        <a:rPr b="0" sz="1500">
                          <a:solidFill>
                            <a:srgbClr val="6B6862"/>
                          </a:solidFill>
                          <a:latin typeface="Calibri"/>
                        </a:rPr>
                        <a:t>Observer</a:t>
                      </a:r>
                    </a:p>
                  </a:txBody>
                  <a:tcPr marL="64008" marR="64008" marT="27432" marB="27432" anchor="ctr">
                    <a:solidFill>
                      <a:srgbClr val="FFFFFF"/>
                    </a:solidFill>
                  </a:tcPr>
                </a:tc>
                <a:tc>
                  <a:txBody>
                    <a:bodyPr wrap="square"/>
                    <a:lstStyle/>
                    <a:p>
                      <a:r>
                        <a:rPr b="0" sz="1500">
                          <a:solidFill>
                            <a:srgbClr val="6B6862"/>
                          </a:solidFill>
                          <a:latin typeface="Calibri"/>
                        </a:rPr>
                        <a:t>Works on its own; you monitor with an off-switch</a:t>
                      </a:r>
                    </a:p>
                  </a:txBody>
                  <a:tcPr marL="64008" marR="64008" marT="27432" marB="27432" anchor="ctr">
                    <a:solidFill>
                      <a:srgbClr val="FFFFFF"/>
                    </a:solidFill>
                  </a:tcPr>
                </a:tc>
                <a:tc>
                  <a:txBody>
                    <a:bodyPr wrap="square"/>
                    <a:lstStyle/>
                    <a:p>
                      <a:r>
                        <a:rPr b="0" sz="1500">
                          <a:solidFill>
                            <a:srgbClr val="6B6862"/>
                          </a:solidFill>
                          <a:latin typeface="Calibri"/>
                        </a:rPr>
                        <a:t>Weekly report cron (Lab 5)</a:t>
                      </a:r>
                    </a:p>
                  </a:txBody>
                  <a:tcPr marL="64008" marR="64008" marT="27432" marB="27432" anchor="ctr">
                    <a:solidFill>
                      <a:srgbClr val="FFFFFF"/>
                    </a:solidFill>
                  </a:tcPr>
                </a:tc>
              </a:tr>
            </a:tbl>
          </a:graphicData>
        </a:graphic>
      </p:graphicFrame>
    </p:spTree>
  </p:cSld>
  <p:clrMapOvr>
    <a:masterClrMapping/>
  </p:clrMapOvr>
  <p:transition spd="med">
    <p:fade/>
  </p:transition>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HUMAN–AGENT COLLABORATION</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Human-in-the-Loop vs Human-on-the-Loop</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44</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graphicFrame>
        <p:nvGraphicFramePr>
          <p:cNvPr id="7" name="Table 6"/>
          <p:cNvGraphicFramePr>
            <a:graphicFrameLocks noGrp="1"/>
          </p:cNvGraphicFramePr>
          <p:nvPr/>
        </p:nvGraphicFramePr>
        <p:xfrm>
          <a:off x="548640" y="1691640"/>
          <a:ext cx="11064240" cy="3440427"/>
        </p:xfrm>
        <a:graphic>
          <a:graphicData uri="http://schemas.openxmlformats.org/drawingml/2006/table">
            <a:tbl>
              <a:tblPr firstRow="0" bandRow="0">
                <a:tableStyleId>{5C22544A-7EE6-4342-B048-85BDC9FD1C3A}</a:tableStyleId>
              </a:tblPr>
              <a:tblGrid>
                <a:gridCol w="2011680"/>
                <a:gridCol w="3017520"/>
                <a:gridCol w="3108960"/>
                <a:gridCol w="2926080"/>
              </a:tblGrid>
              <a:tr h="457200">
                <a:tc>
                  <a:txBody>
                    <a:bodyPr wrap="square"/>
                    <a:lstStyle/>
                    <a:p>
                      <a:r>
                        <a:rPr b="1" sz="1550">
                          <a:solidFill>
                            <a:srgbClr val="FFFFFF"/>
                          </a:solidFill>
                          <a:latin typeface="Cambria"/>
                        </a:rPr>
                        <a:t>Pattern</a:t>
                      </a:r>
                    </a:p>
                  </a:txBody>
                  <a:tcPr marL="64008" marR="64008" marT="27432" marB="27432" anchor="ctr">
                    <a:solidFill>
                      <a:srgbClr val="21201C"/>
                    </a:solidFill>
                  </a:tcPr>
                </a:tc>
                <a:tc>
                  <a:txBody>
                    <a:bodyPr wrap="square"/>
                    <a:lstStyle/>
                    <a:p>
                      <a:r>
                        <a:rPr b="1" sz="1550">
                          <a:solidFill>
                            <a:srgbClr val="FFFFFF"/>
                          </a:solidFill>
                          <a:latin typeface="Cambria"/>
                        </a:rPr>
                        <a:t>Definition</a:t>
                      </a:r>
                    </a:p>
                  </a:txBody>
                  <a:tcPr marL="64008" marR="64008" marT="27432" marB="27432" anchor="ctr">
                    <a:solidFill>
                      <a:srgbClr val="21201C"/>
                    </a:solidFill>
                  </a:tcPr>
                </a:tc>
                <a:tc>
                  <a:txBody>
                    <a:bodyPr wrap="square"/>
                    <a:lstStyle/>
                    <a:p>
                      <a:r>
                        <a:rPr b="1" sz="1550">
                          <a:solidFill>
                            <a:srgbClr val="FFFFFF"/>
                          </a:solidFill>
                          <a:latin typeface="Cambria"/>
                        </a:rPr>
                        <a:t>Use it for</a:t>
                      </a:r>
                    </a:p>
                  </a:txBody>
                  <a:tcPr marL="64008" marR="64008" marT="27432" marB="27432" anchor="ctr">
                    <a:solidFill>
                      <a:srgbClr val="21201C"/>
                    </a:solidFill>
                  </a:tcPr>
                </a:tc>
                <a:tc>
                  <a:txBody>
                    <a:bodyPr wrap="square"/>
                    <a:lstStyle/>
                    <a:p>
                      <a:r>
                        <a:rPr b="1" sz="1550">
                          <a:solidFill>
                            <a:srgbClr val="FFFFFF"/>
                          </a:solidFill>
                          <a:latin typeface="Cambria"/>
                        </a:rPr>
                        <a:t>Course example</a:t>
                      </a:r>
                    </a:p>
                  </a:txBody>
                  <a:tcPr marL="64008" marR="64008" marT="27432" marB="27432" anchor="ctr">
                    <a:solidFill>
                      <a:srgbClr val="21201C"/>
                    </a:solidFill>
                  </a:tcPr>
                </a:tc>
              </a:tr>
              <a:tr h="994409">
                <a:tc>
                  <a:txBody>
                    <a:bodyPr wrap="square"/>
                    <a:lstStyle/>
                    <a:p>
                      <a:r>
                        <a:rPr b="1" sz="1500">
                          <a:solidFill>
                            <a:srgbClr val="21201C"/>
                          </a:solidFill>
                          <a:latin typeface="Cambria"/>
                        </a:rPr>
                        <a:t>Human-in-the-loop</a:t>
                      </a:r>
                    </a:p>
                  </a:txBody>
                  <a:tcPr marL="64008" marR="64008" marT="27432" marB="27432" anchor="ctr">
                    <a:solidFill>
                      <a:srgbClr val="FFFFFF"/>
                    </a:solidFill>
                  </a:tcPr>
                </a:tc>
                <a:tc>
                  <a:txBody>
                    <a:bodyPr wrap="square"/>
                    <a:lstStyle/>
                    <a:p>
                      <a:r>
                        <a:rPr b="0" sz="1500">
                          <a:solidFill>
                            <a:srgbClr val="6B6862"/>
                          </a:solidFill>
                          <a:latin typeface="Calibri"/>
                        </a:rPr>
                        <a:t>A person approves BEFORE the action happens</a:t>
                      </a:r>
                    </a:p>
                  </a:txBody>
                  <a:tcPr marL="64008" marR="64008" marT="27432" marB="27432" anchor="ctr">
                    <a:solidFill>
                      <a:srgbClr val="FFFFFF"/>
                    </a:solidFill>
                  </a:tcPr>
                </a:tc>
                <a:tc>
                  <a:txBody>
                    <a:bodyPr wrap="square"/>
                    <a:lstStyle/>
                    <a:p>
                      <a:r>
                        <a:rPr b="0" sz="1500">
                          <a:solidFill>
                            <a:srgbClr val="6B6862"/>
                          </a:solidFill>
                          <a:latin typeface="Calibri"/>
                        </a:rPr>
                        <a:t>Irreversible, public, regulated actions — publishing, payments, refunds</a:t>
                      </a:r>
                    </a:p>
                  </a:txBody>
                  <a:tcPr marL="64008" marR="64008" marT="27432" marB="27432" anchor="ctr">
                    <a:solidFill>
                      <a:srgbClr val="FFFFFF"/>
                    </a:solidFill>
                  </a:tcPr>
                </a:tc>
                <a:tc>
                  <a:txBody>
                    <a:bodyPr wrap="square"/>
                    <a:lstStyle/>
                    <a:p>
                      <a:r>
                        <a:rPr b="0" sz="1500">
                          <a:solidFill>
                            <a:srgbClr val="6B6862"/>
                          </a:solidFill>
                          <a:latin typeface="Calibri"/>
                        </a:rPr>
                        <a:t>Telegram APPROVE (Lab 3), blocked publish task (Lab 4), Board gates</a:t>
                      </a:r>
                    </a:p>
                  </a:txBody>
                  <a:tcPr marL="64008" marR="64008" marT="27432" marB="27432" anchor="ctr">
                    <a:solidFill>
                      <a:srgbClr val="FFFFFF"/>
                    </a:solidFill>
                  </a:tcPr>
                </a:tc>
              </a:tr>
              <a:tr h="994409">
                <a:tc>
                  <a:txBody>
                    <a:bodyPr wrap="square"/>
                    <a:lstStyle/>
                    <a:p>
                      <a:r>
                        <a:rPr b="1" sz="1500">
                          <a:solidFill>
                            <a:srgbClr val="21201C"/>
                          </a:solidFill>
                          <a:latin typeface="Cambria"/>
                        </a:rPr>
                        <a:t>Human-on-the-loop</a:t>
                      </a:r>
                    </a:p>
                  </a:txBody>
                  <a:tcPr marL="64008" marR="64008" marT="27432" marB="27432" anchor="ctr">
                    <a:solidFill>
                      <a:srgbClr val="F3F1EB"/>
                    </a:solidFill>
                  </a:tcPr>
                </a:tc>
                <a:tc>
                  <a:txBody>
                    <a:bodyPr wrap="square"/>
                    <a:lstStyle/>
                    <a:p>
                      <a:r>
                        <a:rPr b="0" sz="1500">
                          <a:solidFill>
                            <a:srgbClr val="6B6862"/>
                          </a:solidFill>
                          <a:latin typeface="Calibri"/>
                        </a:rPr>
                        <a:t>The agent acts; a person monitors and can intervene</a:t>
                      </a:r>
                    </a:p>
                  </a:txBody>
                  <a:tcPr marL="64008" marR="64008" marT="27432" marB="27432" anchor="ctr">
                    <a:solidFill>
                      <a:srgbClr val="F3F1EB"/>
                    </a:solidFill>
                  </a:tcPr>
                </a:tc>
                <a:tc>
                  <a:txBody>
                    <a:bodyPr wrap="square"/>
                    <a:lstStyle/>
                    <a:p>
                      <a:r>
                        <a:rPr b="0" sz="1500">
                          <a:solidFill>
                            <a:srgbClr val="6B6862"/>
                          </a:solidFill>
                          <a:latin typeface="Calibri"/>
                        </a:rPr>
                        <a:t>High-volume, reversible work — triage, drafts, analysis</a:t>
                      </a:r>
                    </a:p>
                  </a:txBody>
                  <a:tcPr marL="64008" marR="64008" marT="27432" marB="27432" anchor="ctr">
                    <a:solidFill>
                      <a:srgbClr val="F3F1EB"/>
                    </a:solidFill>
                  </a:tcPr>
                </a:tc>
                <a:tc>
                  <a:txBody>
                    <a:bodyPr wrap="square"/>
                    <a:lstStyle/>
                    <a:p>
                      <a:r>
                        <a:rPr b="0" sz="1500">
                          <a:solidFill>
                            <a:srgbClr val="6B6862"/>
                          </a:solidFill>
                          <a:latin typeface="Calibri"/>
                        </a:rPr>
                        <a:t>Weekly report cron (Lab 5), Paperclip costs &amp; activity (Lab 10)</a:t>
                      </a:r>
                    </a:p>
                  </a:txBody>
                  <a:tcPr marL="64008" marR="64008" marT="27432" marB="27432" anchor="ctr">
                    <a:solidFill>
                      <a:srgbClr val="F3F1EB"/>
                    </a:solidFill>
                  </a:tcPr>
                </a:tc>
              </a:tr>
              <a:tr h="994409">
                <a:tc>
                  <a:txBody>
                    <a:bodyPr wrap="square"/>
                    <a:lstStyle/>
                    <a:p>
                      <a:r>
                        <a:rPr b="1" sz="1500">
                          <a:solidFill>
                            <a:srgbClr val="21201C"/>
                          </a:solidFill>
                          <a:latin typeface="Cambria"/>
                        </a:rPr>
                        <a:t>Human-out-of-the-loop</a:t>
                      </a:r>
                    </a:p>
                  </a:txBody>
                  <a:tcPr marL="64008" marR="64008" marT="27432" marB="27432" anchor="ctr">
                    <a:solidFill>
                      <a:srgbClr val="FFFFFF"/>
                    </a:solidFill>
                  </a:tcPr>
                </a:tc>
                <a:tc>
                  <a:txBody>
                    <a:bodyPr wrap="square"/>
                    <a:lstStyle/>
                    <a:p>
                      <a:r>
                        <a:rPr b="0" sz="1500">
                          <a:solidFill>
                            <a:srgbClr val="6B6862"/>
                          </a:solidFill>
                          <a:latin typeface="Calibri"/>
                        </a:rPr>
                        <a:t>Fully autonomous, no real-time oversight</a:t>
                      </a:r>
                    </a:p>
                  </a:txBody>
                  <a:tcPr marL="64008" marR="64008" marT="27432" marB="27432" anchor="ctr">
                    <a:solidFill>
                      <a:srgbClr val="FFFFFF"/>
                    </a:solidFill>
                  </a:tcPr>
                </a:tc>
                <a:tc>
                  <a:txBody>
                    <a:bodyPr wrap="square"/>
                    <a:lstStyle/>
                    <a:p>
                      <a:r>
                        <a:rPr b="0" sz="1500">
                          <a:solidFill>
                            <a:srgbClr val="6B6862"/>
                          </a:solidFill>
                          <a:latin typeface="Calibri"/>
                        </a:rPr>
                        <a:t>Only low-risk, bounded, reversible tasks</a:t>
                      </a:r>
                    </a:p>
                  </a:txBody>
                  <a:tcPr marL="64008" marR="64008" marT="27432" marB="27432" anchor="ctr">
                    <a:solidFill>
                      <a:srgbClr val="FFFFFF"/>
                    </a:solidFill>
                  </a:tcPr>
                </a:tc>
                <a:tc>
                  <a:txBody>
                    <a:bodyPr wrap="square"/>
                    <a:lstStyle/>
                    <a:p>
                      <a:r>
                        <a:rPr b="0" sz="1500">
                          <a:solidFill>
                            <a:srgbClr val="6B6862"/>
                          </a:solidFill>
                          <a:latin typeface="Calibri"/>
                        </a:rPr>
                        <a:t>Scheduled data refresh</a:t>
                      </a:r>
                    </a:p>
                  </a:txBody>
                  <a:tcPr marL="64008" marR="64008" marT="27432" marB="27432" anchor="ctr">
                    <a:solidFill>
                      <a:srgbClr val="FFFFFF"/>
                    </a:solidFill>
                  </a:tcPr>
                </a:tc>
              </a:tr>
            </a:tbl>
          </a:graphicData>
        </a:graphic>
      </p:graphicFrame>
      <p:sp>
        <p:nvSpPr>
          <p:cNvPr id="8" name="TextBox 7"/>
          <p:cNvSpPr txBox="1"/>
          <p:nvPr/>
        </p:nvSpPr>
        <p:spPr>
          <a:xfrm>
            <a:off x="548640" y="5760720"/>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Keep humans IN the loop for irreversible actions and ON the loop for reversible volume. The human is always accountable.</a:t>
            </a:r>
          </a:p>
        </p:txBody>
      </p:sp>
    </p:spTree>
  </p:cSld>
  <p:clrMapOvr>
    <a:masterClrMapping/>
  </p:clrMapOvr>
  <p:transition spd="med">
    <p:fade/>
  </p:transition>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AGENT SOCIETY</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From Individuals to an Agent Society</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45</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user-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Individual behaviour</a:t>
            </a:r>
          </a:p>
        </p:txBody>
      </p:sp>
      <p:sp>
        <p:nvSpPr>
          <p:cNvPr id="10" name="TextBox 9"/>
          <p:cNvSpPr txBox="1"/>
          <p:nvPr/>
        </p:nvSpPr>
        <p:spPr>
          <a:xfrm>
            <a:off x="1371600" y="2084831"/>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Each agent learns and adapts — Hermes writes new skills after hard tasks.</a:t>
            </a:r>
          </a:p>
        </p:txBody>
      </p:sp>
      <p:sp>
        <p:nvSpPr>
          <p:cNvPr id="11" name="Oval 10"/>
          <p:cNvSpPr/>
          <p:nvPr/>
        </p:nvSpPr>
        <p:spPr>
          <a:xfrm>
            <a:off x="640080" y="2679191"/>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users-FFFFFF.png"/>
          <p:cNvPicPr>
            <a:picLocks noChangeAspect="1"/>
          </p:cNvPicPr>
          <p:nvPr/>
        </p:nvPicPr>
        <p:blipFill>
          <a:blip r:embed="rId3"/>
          <a:stretch>
            <a:fillRect/>
          </a:stretch>
        </p:blipFill>
        <p:spPr>
          <a:xfrm>
            <a:off x="771753" y="2810865"/>
            <a:ext cx="285292" cy="285292"/>
          </a:xfrm>
          <a:prstGeom prst="rect">
            <a:avLst/>
          </a:prstGeom>
        </p:spPr>
      </p:pic>
      <p:sp>
        <p:nvSpPr>
          <p:cNvPr id="13" name="TextBox 12"/>
          <p:cNvSpPr txBox="1"/>
          <p:nvPr/>
        </p:nvSpPr>
        <p:spPr>
          <a:xfrm>
            <a:off x="1371600" y="2624327"/>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Group interaction</a:t>
            </a:r>
          </a:p>
        </p:txBody>
      </p:sp>
      <p:sp>
        <p:nvSpPr>
          <p:cNvPr id="14" name="TextBox 13"/>
          <p:cNvSpPr txBox="1"/>
          <p:nvPr/>
        </p:nvSpPr>
        <p:spPr>
          <a:xfrm>
            <a:off x="1371600" y="2990087"/>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Agents communicate and coordinate — Kanban hand-offs, swarms, CEO delegation.</a:t>
            </a:r>
          </a:p>
        </p:txBody>
      </p:sp>
      <p:sp>
        <p:nvSpPr>
          <p:cNvPr id="15" name="Oval 14"/>
          <p:cNvSpPr/>
          <p:nvPr/>
        </p:nvSpPr>
        <p:spPr>
          <a:xfrm>
            <a:off x="640080" y="358444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star-FFFFFF.png"/>
          <p:cNvPicPr>
            <a:picLocks noChangeAspect="1"/>
          </p:cNvPicPr>
          <p:nvPr/>
        </p:nvPicPr>
        <p:blipFill>
          <a:blip r:embed="rId4"/>
          <a:stretch>
            <a:fillRect/>
          </a:stretch>
        </p:blipFill>
        <p:spPr>
          <a:xfrm>
            <a:off x="771753" y="3716121"/>
            <a:ext cx="285292" cy="285292"/>
          </a:xfrm>
          <a:prstGeom prst="rect">
            <a:avLst/>
          </a:prstGeom>
        </p:spPr>
      </p:pic>
      <p:sp>
        <p:nvSpPr>
          <p:cNvPr id="17" name="TextBox 16"/>
          <p:cNvSpPr txBox="1"/>
          <p:nvPr/>
        </p:nvSpPr>
        <p:spPr>
          <a:xfrm>
            <a:off x="1371600" y="352958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Personality</a:t>
            </a:r>
          </a:p>
        </p:txBody>
      </p:sp>
      <p:sp>
        <p:nvSpPr>
          <p:cNvPr id="18" name="TextBox 17"/>
          <p:cNvSpPr txBox="1"/>
          <p:nvPr/>
        </p:nvSpPr>
        <p:spPr>
          <a:xfrm>
            <a:off x="1371600" y="3895344"/>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Roles and values in SOUL.md and instructions shape how each agent behaves.</a:t>
            </a:r>
          </a:p>
        </p:txBody>
      </p:sp>
      <p:sp>
        <p:nvSpPr>
          <p:cNvPr id="19" name="Oval 18"/>
          <p:cNvSpPr/>
          <p:nvPr/>
        </p:nvSpPr>
        <p:spPr>
          <a:xfrm>
            <a:off x="640080" y="4489703"/>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network-FFFFFF.png"/>
          <p:cNvPicPr>
            <a:picLocks noChangeAspect="1"/>
          </p:cNvPicPr>
          <p:nvPr/>
        </p:nvPicPr>
        <p:blipFill>
          <a:blip r:embed="rId5"/>
          <a:stretch>
            <a:fillRect/>
          </a:stretch>
        </p:blipFill>
        <p:spPr>
          <a:xfrm>
            <a:off x="771753" y="4621377"/>
            <a:ext cx="285292" cy="285292"/>
          </a:xfrm>
          <a:prstGeom prst="rect">
            <a:avLst/>
          </a:prstGeom>
        </p:spPr>
      </p:pic>
      <p:sp>
        <p:nvSpPr>
          <p:cNvPr id="21" name="TextBox 20"/>
          <p:cNvSpPr txBox="1"/>
          <p:nvPr/>
        </p:nvSpPr>
        <p:spPr>
          <a:xfrm>
            <a:off x="1371600" y="4434840"/>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Social emergence</a:t>
            </a:r>
          </a:p>
        </p:txBody>
      </p:sp>
      <p:sp>
        <p:nvSpPr>
          <p:cNvPr id="22" name="TextBox 21"/>
          <p:cNvSpPr txBox="1"/>
          <p:nvPr/>
        </p:nvSpPr>
        <p:spPr>
          <a:xfrm>
            <a:off x="1371600" y="4800599"/>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Collective intelligence and new behaviours appear at scale — plus new risks (groupthink, bias).</a:t>
            </a:r>
          </a:p>
        </p:txBody>
      </p:sp>
      <p:sp>
        <p:nvSpPr>
          <p:cNvPr id="23" name="Oval 22"/>
          <p:cNvSpPr/>
          <p:nvPr/>
        </p:nvSpPr>
        <p:spPr>
          <a:xfrm>
            <a:off x="640080" y="5394959"/>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building-FFFFFF.png"/>
          <p:cNvPicPr>
            <a:picLocks noChangeAspect="1"/>
          </p:cNvPicPr>
          <p:nvPr/>
        </p:nvPicPr>
        <p:blipFill>
          <a:blip r:embed="rId6"/>
          <a:stretch>
            <a:fillRect/>
          </a:stretch>
        </p:blipFill>
        <p:spPr>
          <a:xfrm>
            <a:off x="771753" y="5526633"/>
            <a:ext cx="285292" cy="285292"/>
          </a:xfrm>
          <a:prstGeom prst="rect">
            <a:avLst/>
          </a:prstGeom>
        </p:spPr>
      </p:pic>
      <p:sp>
        <p:nvSpPr>
          <p:cNvPr id="25" name="TextBox 24"/>
          <p:cNvSpPr txBox="1"/>
          <p:nvPr/>
        </p:nvSpPr>
        <p:spPr>
          <a:xfrm>
            <a:off x="1371600" y="534009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Agent-as-a-Service</a:t>
            </a:r>
          </a:p>
        </p:txBody>
      </p:sp>
      <p:sp>
        <p:nvSpPr>
          <p:cNvPr id="26" name="TextBox 25"/>
          <p:cNvSpPr txBox="1"/>
          <p:nvPr/>
        </p:nvSpPr>
        <p:spPr>
          <a:xfrm>
            <a:off x="1371600" y="5705855"/>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Agents offered as a workforce you hire and govern — the idea behind Paperclip.</a:t>
            </a:r>
          </a:p>
        </p:txBody>
      </p:sp>
    </p:spTree>
  </p:cSld>
  <p:clrMapOvr>
    <a:masterClrMapping/>
  </p:clrMapOvr>
  <p:transition spd="med">
    <p:fade/>
  </p:transition>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THE 2026 AGENT MARKET</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Autonomous Agents in the Market (Oct 2026) — 1/2</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46</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graphicFrame>
        <p:nvGraphicFramePr>
          <p:cNvPr id="7" name="Table 6"/>
          <p:cNvGraphicFramePr>
            <a:graphicFrameLocks noGrp="1"/>
          </p:cNvGraphicFramePr>
          <p:nvPr/>
        </p:nvGraphicFramePr>
        <p:xfrm>
          <a:off x="548640" y="1691640"/>
          <a:ext cx="11064237" cy="4377690"/>
        </p:xfrm>
        <a:graphic>
          <a:graphicData uri="http://schemas.openxmlformats.org/drawingml/2006/table">
            <a:tbl>
              <a:tblPr firstRow="0" bandRow="0">
                <a:tableStyleId>{5C22544A-7EE6-4342-B048-85BDC9FD1C3A}</a:tableStyleId>
              </a:tblPr>
              <a:tblGrid>
                <a:gridCol w="1427643"/>
                <a:gridCol w="2676832"/>
                <a:gridCol w="2498376"/>
                <a:gridCol w="2141465"/>
                <a:gridCol w="2319921"/>
              </a:tblGrid>
              <a:tr h="457200">
                <a:tc>
                  <a:txBody>
                    <a:bodyPr wrap="square"/>
                    <a:lstStyle/>
                    <a:p>
                      <a:r>
                        <a:rPr b="1" sz="1550">
                          <a:solidFill>
                            <a:srgbClr val="FFFFFF"/>
                          </a:solidFill>
                          <a:latin typeface="Cambria"/>
                        </a:rPr>
                        <a:t>Product</a:t>
                      </a:r>
                    </a:p>
                  </a:txBody>
                  <a:tcPr marL="64008" marR="64008" marT="27432" marB="27432" anchor="ctr">
                    <a:solidFill>
                      <a:srgbClr val="21201C"/>
                    </a:solidFill>
                  </a:tcPr>
                </a:tc>
                <a:tc>
                  <a:txBody>
                    <a:bodyPr wrap="square"/>
                    <a:lstStyle/>
                    <a:p>
                      <a:r>
                        <a:rPr b="1" sz="1550">
                          <a:solidFill>
                            <a:srgbClr val="FFFFFF"/>
                          </a:solidFill>
                          <a:latin typeface="Cambria"/>
                        </a:rPr>
                        <a:t>Vendor · launch</a:t>
                      </a:r>
                    </a:p>
                  </a:txBody>
                  <a:tcPr marL="64008" marR="64008" marT="27432" marB="27432" anchor="ctr">
                    <a:solidFill>
                      <a:srgbClr val="21201C"/>
                    </a:solidFill>
                  </a:tcPr>
                </a:tc>
                <a:tc>
                  <a:txBody>
                    <a:bodyPr wrap="square"/>
                    <a:lstStyle/>
                    <a:p>
                      <a:r>
                        <a:rPr b="1" sz="1550">
                          <a:solidFill>
                            <a:srgbClr val="FFFFFF"/>
                          </a:solidFill>
                          <a:latin typeface="Cambria"/>
                        </a:rPr>
                        <a:t>Type</a:t>
                      </a:r>
                    </a:p>
                  </a:txBody>
                  <a:tcPr marL="64008" marR="64008" marT="27432" marB="27432" anchor="ctr">
                    <a:solidFill>
                      <a:srgbClr val="21201C"/>
                    </a:solidFill>
                  </a:tcPr>
                </a:tc>
                <a:tc>
                  <a:txBody>
                    <a:bodyPr wrap="square"/>
                    <a:lstStyle/>
                    <a:p>
                      <a:r>
                        <a:rPr b="1" sz="1550">
                          <a:solidFill>
                            <a:srgbClr val="FFFFFF"/>
                          </a:solidFill>
                          <a:latin typeface="Cambria"/>
                        </a:rPr>
                        <a:t>Runs where</a:t>
                      </a:r>
                    </a:p>
                  </a:txBody>
                  <a:tcPr marL="64008" marR="64008" marT="27432" marB="27432" anchor="ctr">
                    <a:solidFill>
                      <a:srgbClr val="21201C"/>
                    </a:solidFill>
                  </a:tcPr>
                </a:tc>
                <a:tc>
                  <a:txBody>
                    <a:bodyPr wrap="square"/>
                    <a:lstStyle/>
                    <a:p>
                      <a:r>
                        <a:rPr b="1" sz="1550">
                          <a:solidFill>
                            <a:srgbClr val="FFFFFF"/>
                          </a:solidFill>
                          <a:latin typeface="Cambria"/>
                        </a:rPr>
                        <a:t>Human-in-the-loop</a:t>
                      </a:r>
                    </a:p>
                  </a:txBody>
                  <a:tcPr marL="64008" marR="64008" marT="27432" marB="27432" anchor="ctr">
                    <a:solidFill>
                      <a:srgbClr val="21201C"/>
                    </a:solidFill>
                  </a:tcPr>
                </a:tc>
              </a:tr>
              <a:tr h="560070">
                <a:tc>
                  <a:txBody>
                    <a:bodyPr wrap="square"/>
                    <a:lstStyle/>
                    <a:p>
                      <a:r>
                        <a:rPr b="1" sz="1500">
                          <a:solidFill>
                            <a:srgbClr val="21201C"/>
                          </a:solidFill>
                          <a:latin typeface="Cambria"/>
                        </a:rPr>
                        <a:t>OpenClaw</a:t>
                      </a:r>
                    </a:p>
                  </a:txBody>
                  <a:tcPr marL="64008" marR="64008" marT="27432" marB="27432" anchor="ctr">
                    <a:solidFill>
                      <a:srgbClr val="F6E7DF"/>
                    </a:solidFill>
                  </a:tcPr>
                </a:tc>
                <a:tc>
                  <a:txBody>
                    <a:bodyPr wrap="square"/>
                    <a:lstStyle/>
                    <a:p>
                      <a:r>
                        <a:rPr b="0" sz="1500">
                          <a:solidFill>
                            <a:srgbClr val="6B6862"/>
                          </a:solidFill>
                          <a:latin typeface="Calibri"/>
                        </a:rPr>
                        <a:t>OpenClaw Foundation · Nov 2025 (renamed Jan 2026)</a:t>
                      </a:r>
                    </a:p>
                  </a:txBody>
                  <a:tcPr marL="64008" marR="64008" marT="27432" marB="27432" anchor="ctr">
                    <a:solidFill>
                      <a:srgbClr val="FFFFFF"/>
                    </a:solidFill>
                  </a:tcPr>
                </a:tc>
                <a:tc>
                  <a:txBody>
                    <a:bodyPr wrap="square"/>
                    <a:lstStyle/>
                    <a:p>
                      <a:r>
                        <a:rPr b="0" sz="1500">
                          <a:solidFill>
                            <a:srgbClr val="6B6862"/>
                          </a:solidFill>
                          <a:latin typeface="Calibri"/>
                        </a:rPr>
                        <a:t>Open source personal agent</a:t>
                      </a:r>
                    </a:p>
                  </a:txBody>
                  <a:tcPr marL="64008" marR="64008" marT="27432" marB="27432" anchor="ctr">
                    <a:solidFill>
                      <a:srgbClr val="FFFFFF"/>
                    </a:solidFill>
                  </a:tcPr>
                </a:tc>
                <a:tc>
                  <a:txBody>
                    <a:bodyPr wrap="square"/>
                    <a:lstStyle/>
                    <a:p>
                      <a:r>
                        <a:rPr b="0" sz="1500">
                          <a:solidFill>
                            <a:srgbClr val="6B6862"/>
                          </a:solidFill>
                          <a:latin typeface="Calibri"/>
                        </a:rPr>
                        <a:t>Your machine; chat apps</a:t>
                      </a:r>
                    </a:p>
                  </a:txBody>
                  <a:tcPr marL="64008" marR="64008" marT="27432" marB="27432" anchor="ctr">
                    <a:solidFill>
                      <a:srgbClr val="FFFFFF"/>
                    </a:solidFill>
                  </a:tcPr>
                </a:tc>
                <a:tc>
                  <a:txBody>
                    <a:bodyPr wrap="square"/>
                    <a:lstStyle/>
                    <a:p>
                      <a:r>
                        <a:rPr b="0" sz="1500">
                          <a:solidFill>
                            <a:srgbClr val="6B6862"/>
                          </a:solidFill>
                          <a:latin typeface="Calibri"/>
                        </a:rPr>
                        <a:t>DM pairing; optional sandbox</a:t>
                      </a:r>
                    </a:p>
                  </a:txBody>
                  <a:tcPr marL="64008" marR="64008" marT="27432" marB="27432" anchor="ctr">
                    <a:solidFill>
                      <a:srgbClr val="FFFFFF"/>
                    </a:solidFill>
                  </a:tcPr>
                </a:tc>
              </a:tr>
              <a:tr h="560070">
                <a:tc>
                  <a:txBody>
                    <a:bodyPr wrap="square"/>
                    <a:lstStyle/>
                    <a:p>
                      <a:r>
                        <a:rPr b="1" sz="1500">
                          <a:solidFill>
                            <a:srgbClr val="21201C"/>
                          </a:solidFill>
                          <a:latin typeface="Cambria"/>
                        </a:rPr>
                        <a:t>Hermes Agent</a:t>
                      </a:r>
                    </a:p>
                  </a:txBody>
                  <a:tcPr marL="64008" marR="64008" marT="27432" marB="27432" anchor="ctr">
                    <a:solidFill>
                      <a:srgbClr val="F6E7DF"/>
                    </a:solidFill>
                  </a:tcPr>
                </a:tc>
                <a:tc>
                  <a:txBody>
                    <a:bodyPr wrap="square"/>
                    <a:lstStyle/>
                    <a:p>
                      <a:r>
                        <a:rPr b="0" sz="1500">
                          <a:solidFill>
                            <a:srgbClr val="6B6862"/>
                          </a:solidFill>
                          <a:latin typeface="Calibri"/>
                        </a:rPr>
                        <a:t>Nous Research · ~Feb 2026</a:t>
                      </a:r>
                    </a:p>
                  </a:txBody>
                  <a:tcPr marL="64008" marR="64008" marT="27432" marB="27432" anchor="ctr">
                    <a:solidFill>
                      <a:srgbClr val="F3F1EB"/>
                    </a:solidFill>
                  </a:tcPr>
                </a:tc>
                <a:tc>
                  <a:txBody>
                    <a:bodyPr wrap="square"/>
                    <a:lstStyle/>
                    <a:p>
                      <a:r>
                        <a:rPr b="0" sz="1500">
                          <a:solidFill>
                            <a:srgbClr val="6B6862"/>
                          </a:solidFill>
                          <a:latin typeface="Calibri"/>
                        </a:rPr>
                        <a:t>Open source, self-improving agent</a:t>
                      </a:r>
                    </a:p>
                  </a:txBody>
                  <a:tcPr marL="64008" marR="64008" marT="27432" marB="27432" anchor="ctr">
                    <a:solidFill>
                      <a:srgbClr val="F3F1EB"/>
                    </a:solidFill>
                  </a:tcPr>
                </a:tc>
                <a:tc>
                  <a:txBody>
                    <a:bodyPr wrap="square"/>
                    <a:lstStyle/>
                    <a:p>
                      <a:r>
                        <a:rPr b="0" sz="1500">
                          <a:solidFill>
                            <a:srgbClr val="6B6862"/>
                          </a:solidFill>
                          <a:latin typeface="Calibri"/>
                        </a:rPr>
                        <a:t>Local, VPS, desktop; 15+ channels</a:t>
                      </a:r>
                    </a:p>
                  </a:txBody>
                  <a:tcPr marL="64008" marR="64008" marT="27432" marB="27432" anchor="ctr">
                    <a:solidFill>
                      <a:srgbClr val="F3F1EB"/>
                    </a:solidFill>
                  </a:tcPr>
                </a:tc>
                <a:tc>
                  <a:txBody>
                    <a:bodyPr wrap="square"/>
                    <a:lstStyle/>
                    <a:p>
                      <a:r>
                        <a:rPr b="0" sz="1500">
                          <a:solidFill>
                            <a:srgbClr val="6B6862"/>
                          </a:solidFill>
                          <a:latin typeface="Calibri"/>
                        </a:rPr>
                        <a:t>Approval modes; allow-lists</a:t>
                      </a:r>
                    </a:p>
                  </a:txBody>
                  <a:tcPr marL="64008" marR="64008" marT="27432" marB="27432" anchor="ctr">
                    <a:solidFill>
                      <a:srgbClr val="F3F1EB"/>
                    </a:solidFill>
                  </a:tcPr>
                </a:tc>
              </a:tr>
              <a:tr h="560070">
                <a:tc>
                  <a:txBody>
                    <a:bodyPr wrap="square"/>
                    <a:lstStyle/>
                    <a:p>
                      <a:r>
                        <a:rPr b="1" sz="1500">
                          <a:solidFill>
                            <a:srgbClr val="21201C"/>
                          </a:solidFill>
                          <a:latin typeface="Cambria"/>
                        </a:rPr>
                        <a:t>Paperclip</a:t>
                      </a:r>
                    </a:p>
                  </a:txBody>
                  <a:tcPr marL="64008" marR="64008" marT="27432" marB="27432" anchor="ctr">
                    <a:solidFill>
                      <a:srgbClr val="F6E7DF"/>
                    </a:solidFill>
                  </a:tcPr>
                </a:tc>
                <a:tc>
                  <a:txBody>
                    <a:bodyPr wrap="square"/>
                    <a:lstStyle/>
                    <a:p>
                      <a:r>
                        <a:rPr b="0" sz="1500">
                          <a:solidFill>
                            <a:srgbClr val="6B6862"/>
                          </a:solidFill>
                          <a:latin typeface="Calibri"/>
                        </a:rPr>
                        <a:t>Paperclip Labs · Mar 2026</a:t>
                      </a:r>
                    </a:p>
                  </a:txBody>
                  <a:tcPr marL="64008" marR="64008" marT="27432" marB="27432" anchor="ctr">
                    <a:solidFill>
                      <a:srgbClr val="FFFFFF"/>
                    </a:solidFill>
                  </a:tcPr>
                </a:tc>
                <a:tc>
                  <a:txBody>
                    <a:bodyPr wrap="square"/>
                    <a:lstStyle/>
                    <a:p>
                      <a:r>
                        <a:rPr b="0" sz="1500">
                          <a:solidFill>
                            <a:srgbClr val="6B6862"/>
                          </a:solidFill>
                          <a:latin typeface="Calibri"/>
                        </a:rPr>
                        <a:t>Open source company of agents</a:t>
                      </a:r>
                    </a:p>
                  </a:txBody>
                  <a:tcPr marL="64008" marR="64008" marT="27432" marB="27432" anchor="ctr">
                    <a:solidFill>
                      <a:srgbClr val="FFFFFF"/>
                    </a:solidFill>
                  </a:tcPr>
                </a:tc>
                <a:tc>
                  <a:txBody>
                    <a:bodyPr wrap="square"/>
                    <a:lstStyle/>
                    <a:p>
                      <a:r>
                        <a:rPr b="0" sz="1500">
                          <a:solidFill>
                            <a:srgbClr val="6B6862"/>
                          </a:solidFill>
                          <a:latin typeface="Calibri"/>
                        </a:rPr>
                        <a:t>Self-hosted (Node / Docker)</a:t>
                      </a:r>
                    </a:p>
                  </a:txBody>
                  <a:tcPr marL="64008" marR="64008" marT="27432" marB="27432" anchor="ctr">
                    <a:solidFill>
                      <a:srgbClr val="FFFFFF"/>
                    </a:solidFill>
                  </a:tcPr>
                </a:tc>
                <a:tc>
                  <a:txBody>
                    <a:bodyPr wrap="square"/>
                    <a:lstStyle/>
                    <a:p>
                      <a:r>
                        <a:rPr b="0" sz="1500">
                          <a:solidFill>
                            <a:srgbClr val="6B6862"/>
                          </a:solidFill>
                          <a:latin typeface="Calibri"/>
                        </a:rPr>
                        <a:t>Board approvals; budgets auto-pause</a:t>
                      </a:r>
                    </a:p>
                  </a:txBody>
                  <a:tcPr marL="64008" marR="64008" marT="27432" marB="27432" anchor="ctr">
                    <a:solidFill>
                      <a:srgbClr val="FFFFFF"/>
                    </a:solidFill>
                  </a:tcPr>
                </a:tc>
              </a:tr>
              <a:tr h="560070">
                <a:tc>
                  <a:txBody>
                    <a:bodyPr wrap="square"/>
                    <a:lstStyle/>
                    <a:p>
                      <a:r>
                        <a:rPr b="1" sz="1500">
                          <a:solidFill>
                            <a:srgbClr val="21201C"/>
                          </a:solidFill>
                          <a:latin typeface="Cambria"/>
                        </a:rPr>
                        <a:t>OpenAI Dots</a:t>
                      </a:r>
                    </a:p>
                  </a:txBody>
                  <a:tcPr marL="64008" marR="64008" marT="27432" marB="27432" anchor="ctr">
                    <a:solidFill>
                      <a:srgbClr val="F6E7DF"/>
                    </a:solidFill>
                  </a:tcPr>
                </a:tc>
                <a:tc>
                  <a:txBody>
                    <a:bodyPr wrap="square"/>
                    <a:lstStyle/>
                    <a:p>
                      <a:r>
                        <a:rPr b="0" sz="1500">
                          <a:solidFill>
                            <a:srgbClr val="6B6862"/>
                          </a:solidFill>
                          <a:latin typeface="Calibri"/>
                        </a:rPr>
                        <a:t>OpenAI · 29 Sep 2026</a:t>
                      </a:r>
                    </a:p>
                  </a:txBody>
                  <a:tcPr marL="64008" marR="64008" marT="27432" marB="27432" anchor="ctr">
                    <a:solidFill>
                      <a:srgbClr val="F3F1EB"/>
                    </a:solidFill>
                  </a:tcPr>
                </a:tc>
                <a:tc>
                  <a:txBody>
                    <a:bodyPr wrap="square"/>
                    <a:lstStyle/>
                    <a:p>
                      <a:r>
                        <a:rPr b="0" sz="1500">
                          <a:solidFill>
                            <a:srgbClr val="6B6862"/>
                          </a:solidFill>
                          <a:latin typeface="Calibri"/>
                        </a:rPr>
                        <a:t>Always-on agent with its own cloud computer</a:t>
                      </a:r>
                    </a:p>
                  </a:txBody>
                  <a:tcPr marL="64008" marR="64008" marT="27432" marB="27432" anchor="ctr">
                    <a:solidFill>
                      <a:srgbClr val="F3F1EB"/>
                    </a:solidFill>
                  </a:tcPr>
                </a:tc>
                <a:tc>
                  <a:txBody>
                    <a:bodyPr wrap="square"/>
                    <a:lstStyle/>
                    <a:p>
                      <a:r>
                        <a:rPr b="0" sz="1500">
                          <a:solidFill>
                            <a:srgbClr val="6B6862"/>
                          </a:solidFill>
                          <a:latin typeface="Calibri"/>
                        </a:rPr>
                        <a:t>ChatGPT, Slack, Teams</a:t>
                      </a:r>
                    </a:p>
                  </a:txBody>
                  <a:tcPr marL="64008" marR="64008" marT="27432" marB="27432" anchor="ctr">
                    <a:solidFill>
                      <a:srgbClr val="F3F1EB"/>
                    </a:solidFill>
                  </a:tcPr>
                </a:tc>
                <a:tc>
                  <a:txBody>
                    <a:bodyPr wrap="square"/>
                    <a:lstStyle/>
                    <a:p>
                      <a:r>
                        <a:rPr b="0" sz="1500">
                          <a:solidFill>
                            <a:srgbClr val="6B6862"/>
                          </a:solidFill>
                          <a:latin typeface="Calibri"/>
                        </a:rPr>
                        <a:t>Custom rules: allow / approve / block</a:t>
                      </a:r>
                    </a:p>
                  </a:txBody>
                  <a:tcPr marL="64008" marR="64008" marT="27432" marB="27432" anchor="ctr">
                    <a:solidFill>
                      <a:srgbClr val="F3F1EB"/>
                    </a:solidFill>
                  </a:tcPr>
                </a:tc>
              </a:tr>
              <a:tr h="560070">
                <a:tc>
                  <a:txBody>
                    <a:bodyPr wrap="square"/>
                    <a:lstStyle/>
                    <a:p>
                      <a:r>
                        <a:rPr b="1" sz="1500">
                          <a:solidFill>
                            <a:srgbClr val="21201C"/>
                          </a:solidFill>
                          <a:latin typeface="Cambria"/>
                        </a:rPr>
                        <a:t>Meta Muse</a:t>
                      </a:r>
                    </a:p>
                  </a:txBody>
                  <a:tcPr marL="64008" marR="64008" marT="27432" marB="27432" anchor="ctr">
                    <a:solidFill>
                      <a:srgbClr val="F6E7DF"/>
                    </a:solidFill>
                  </a:tcPr>
                </a:tc>
                <a:tc>
                  <a:txBody>
                    <a:bodyPr wrap="square"/>
                    <a:lstStyle/>
                    <a:p>
                      <a:r>
                        <a:rPr b="0" sz="1500">
                          <a:solidFill>
                            <a:srgbClr val="6B6862"/>
                          </a:solidFill>
                          <a:latin typeface="Calibri"/>
                        </a:rPr>
                        <a:t>Meta · 8 Sep 2026 (US)</a:t>
                      </a:r>
                    </a:p>
                  </a:txBody>
                  <a:tcPr marL="64008" marR="64008" marT="27432" marB="27432" anchor="ctr">
                    <a:solidFill>
                      <a:srgbClr val="FFFFFF"/>
                    </a:solidFill>
                  </a:tcPr>
                </a:tc>
                <a:tc>
                  <a:txBody>
                    <a:bodyPr wrap="square"/>
                    <a:lstStyle/>
                    <a:p>
                      <a:r>
                        <a:rPr b="0" sz="1500">
                          <a:solidFill>
                            <a:srgbClr val="6B6862"/>
                          </a:solidFill>
                          <a:latin typeface="Calibri"/>
                        </a:rPr>
                        <a:t>Personal agent for life admin</a:t>
                      </a:r>
                    </a:p>
                  </a:txBody>
                  <a:tcPr marL="64008" marR="64008" marT="27432" marB="27432" anchor="ctr">
                    <a:solidFill>
                      <a:srgbClr val="FFFFFF"/>
                    </a:solidFill>
                  </a:tcPr>
                </a:tc>
                <a:tc>
                  <a:txBody>
                    <a:bodyPr wrap="square"/>
                    <a:lstStyle/>
                    <a:p>
                      <a:r>
                        <a:rPr b="0" sz="1500">
                          <a:solidFill>
                            <a:srgbClr val="6B6862"/>
                          </a:solidFill>
                          <a:latin typeface="Calibri"/>
                        </a:rPr>
                        <a:t>App, web, WhatsApp</a:t>
                      </a:r>
                    </a:p>
                  </a:txBody>
                  <a:tcPr marL="64008" marR="64008" marT="27432" marB="27432" anchor="ctr">
                    <a:solidFill>
                      <a:srgbClr val="FFFFFF"/>
                    </a:solidFill>
                  </a:tcPr>
                </a:tc>
                <a:tc>
                  <a:txBody>
                    <a:bodyPr wrap="square"/>
                    <a:lstStyle/>
                    <a:p>
                      <a:r>
                        <a:rPr b="0" sz="1500">
                          <a:solidFill>
                            <a:srgbClr val="6B6862"/>
                          </a:solidFill>
                          <a:latin typeface="Calibri"/>
                        </a:rPr>
                        <a:t>Confirms sensitive actions; Sentinel guard</a:t>
                      </a:r>
                    </a:p>
                  </a:txBody>
                  <a:tcPr marL="64008" marR="64008" marT="27432" marB="27432" anchor="ctr">
                    <a:solidFill>
                      <a:srgbClr val="FFFFFF"/>
                    </a:solidFill>
                  </a:tcPr>
                </a:tc>
              </a:tr>
              <a:tr h="560070">
                <a:tc>
                  <a:txBody>
                    <a:bodyPr wrap="square"/>
                    <a:lstStyle/>
                    <a:p>
                      <a:r>
                        <a:rPr b="1" sz="1500">
                          <a:solidFill>
                            <a:srgbClr val="21201C"/>
                          </a:solidFill>
                          <a:latin typeface="Cambria"/>
                        </a:rPr>
                        <a:t>Block Buzz</a:t>
                      </a:r>
                    </a:p>
                  </a:txBody>
                  <a:tcPr marL="64008" marR="64008" marT="27432" marB="27432" anchor="ctr">
                    <a:solidFill>
                      <a:srgbClr val="F6E7DF"/>
                    </a:solidFill>
                  </a:tcPr>
                </a:tc>
                <a:tc>
                  <a:txBody>
                    <a:bodyPr wrap="square"/>
                    <a:lstStyle/>
                    <a:p>
                      <a:r>
                        <a:rPr b="0" sz="1500">
                          <a:solidFill>
                            <a:srgbClr val="6B6862"/>
                          </a:solidFill>
                          <a:latin typeface="Calibri"/>
                        </a:rPr>
                        <a:t>Block · 21 Jul 2026</a:t>
                      </a:r>
                    </a:p>
                  </a:txBody>
                  <a:tcPr marL="64008" marR="64008" marT="27432" marB="27432" anchor="ctr">
                    <a:solidFill>
                      <a:srgbClr val="F3F1EB"/>
                    </a:solidFill>
                  </a:tcPr>
                </a:tc>
                <a:tc>
                  <a:txBody>
                    <a:bodyPr wrap="square"/>
                    <a:lstStyle/>
                    <a:p>
                      <a:r>
                        <a:rPr b="0" sz="1500">
                          <a:solidFill>
                            <a:srgbClr val="6B6862"/>
                          </a:solidFill>
                          <a:latin typeface="Calibri"/>
                        </a:rPr>
                        <a:t>Open workspace for humans + agents</a:t>
                      </a:r>
                    </a:p>
                  </a:txBody>
                  <a:tcPr marL="64008" marR="64008" marT="27432" marB="27432" anchor="ctr">
                    <a:solidFill>
                      <a:srgbClr val="F3F1EB"/>
                    </a:solidFill>
                  </a:tcPr>
                </a:tc>
                <a:tc>
                  <a:txBody>
                    <a:bodyPr wrap="square"/>
                    <a:lstStyle/>
                    <a:p>
                      <a:r>
                        <a:rPr b="0" sz="1500">
                          <a:solidFill>
                            <a:srgbClr val="6B6862"/>
                          </a:solidFill>
                          <a:latin typeface="Calibri"/>
                        </a:rPr>
                        <a:t>Self-host or buzz.xyz</a:t>
                      </a:r>
                    </a:p>
                  </a:txBody>
                  <a:tcPr marL="64008" marR="64008" marT="27432" marB="27432" anchor="ctr">
                    <a:solidFill>
                      <a:srgbClr val="F3F1EB"/>
                    </a:solidFill>
                  </a:tcPr>
                </a:tc>
                <a:tc>
                  <a:txBody>
                    <a:bodyPr wrap="square"/>
                    <a:lstStyle/>
                    <a:p>
                      <a:r>
                        <a:rPr b="0" sz="1500">
                          <a:solidFill>
                            <a:srgbClr val="6B6862"/>
                          </a:solidFill>
                          <a:latin typeface="Calibri"/>
                        </a:rPr>
                        <a:t>Agent identities &amp; permissions</a:t>
                      </a:r>
                    </a:p>
                  </a:txBody>
                  <a:tcPr marL="64008" marR="64008" marT="27432" marB="27432" anchor="ctr">
                    <a:solidFill>
                      <a:srgbClr val="F3F1EB"/>
                    </a:solidFill>
                  </a:tcPr>
                </a:tc>
              </a:tr>
              <a:tr h="560070">
                <a:tc>
                  <a:txBody>
                    <a:bodyPr wrap="square"/>
                    <a:lstStyle/>
                    <a:p>
                      <a:r>
                        <a:rPr b="1" sz="1500">
                          <a:solidFill>
                            <a:srgbClr val="21201C"/>
                          </a:solidFill>
                          <a:latin typeface="Cambria"/>
                        </a:rPr>
                        <a:t>Manus Cue</a:t>
                      </a:r>
                    </a:p>
                  </a:txBody>
                  <a:tcPr marL="64008" marR="64008" marT="27432" marB="27432" anchor="ctr">
                    <a:solidFill>
                      <a:srgbClr val="F6E7DF"/>
                    </a:solidFill>
                  </a:tcPr>
                </a:tc>
                <a:tc>
                  <a:txBody>
                    <a:bodyPr wrap="square"/>
                    <a:lstStyle/>
                    <a:p>
                      <a:r>
                        <a:rPr b="0" sz="1500">
                          <a:solidFill>
                            <a:srgbClr val="6B6862"/>
                          </a:solidFill>
                          <a:latin typeface="Calibri"/>
                        </a:rPr>
                        <a:t>Manus · 28 Sep 2026</a:t>
                      </a:r>
                    </a:p>
                  </a:txBody>
                  <a:tcPr marL="64008" marR="64008" marT="27432" marB="27432" anchor="ctr">
                    <a:solidFill>
                      <a:srgbClr val="FFFFFF"/>
                    </a:solidFill>
                  </a:tcPr>
                </a:tc>
                <a:tc>
                  <a:txBody>
                    <a:bodyPr wrap="square"/>
                    <a:lstStyle/>
                    <a:p>
                      <a:r>
                        <a:rPr b="0" sz="1500">
                          <a:solidFill>
                            <a:srgbClr val="6B6862"/>
                          </a:solidFill>
                          <a:latin typeface="Calibri"/>
                        </a:rPr>
                        <a:t>Agents with email, phone, wallet</a:t>
                      </a:r>
                    </a:p>
                  </a:txBody>
                  <a:tcPr marL="64008" marR="64008" marT="27432" marB="27432" anchor="ctr">
                    <a:solidFill>
                      <a:srgbClr val="FFFFFF"/>
                    </a:solidFill>
                  </a:tcPr>
                </a:tc>
                <a:tc>
                  <a:txBody>
                    <a:bodyPr wrap="square"/>
                    <a:lstStyle/>
                    <a:p>
                      <a:r>
                        <a:rPr b="0" sz="1500">
                          <a:solidFill>
                            <a:srgbClr val="6B6862"/>
                          </a:solidFill>
                          <a:latin typeface="Calibri"/>
                        </a:rPr>
                        <a:t>Web, desktop, mobile</a:t>
                      </a:r>
                    </a:p>
                  </a:txBody>
                  <a:tcPr marL="64008" marR="64008" marT="27432" marB="27432" anchor="ctr">
                    <a:solidFill>
                      <a:srgbClr val="FFFFFF"/>
                    </a:solidFill>
                  </a:tcPr>
                </a:tc>
                <a:tc>
                  <a:txBody>
                    <a:bodyPr wrap="square"/>
                    <a:lstStyle/>
                    <a:p>
                      <a:r>
                        <a:rPr b="0" sz="1500">
                          <a:solidFill>
                            <a:srgbClr val="6B6862"/>
                          </a:solidFill>
                          <a:latin typeface="Calibri"/>
                        </a:rPr>
                        <a:t>Budgets; you make the final call</a:t>
                      </a:r>
                    </a:p>
                  </a:txBody>
                  <a:tcPr marL="64008" marR="64008" marT="27432" marB="27432" anchor="ctr">
                    <a:solidFill>
                      <a:srgbClr val="FFFFFF"/>
                    </a:solidFill>
                  </a:tcPr>
                </a:tc>
              </a:tr>
            </a:tbl>
          </a:graphicData>
        </a:graphic>
      </p:graphicFrame>
    </p:spTree>
  </p:cSld>
  <p:clrMapOvr>
    <a:masterClrMapping/>
  </p:clrMapOvr>
  <p:transition spd="med">
    <p:fade/>
  </p:transition>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THE 2026 AGENT MARKET</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Autonomous Agents in the Market (Oct 2026) — 2/2</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47</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graphicFrame>
        <p:nvGraphicFramePr>
          <p:cNvPr id="7" name="Table 6"/>
          <p:cNvGraphicFramePr>
            <a:graphicFrameLocks noGrp="1"/>
          </p:cNvGraphicFramePr>
          <p:nvPr/>
        </p:nvGraphicFramePr>
        <p:xfrm>
          <a:off x="548640" y="1691640"/>
          <a:ext cx="11064238" cy="3771900"/>
        </p:xfrm>
        <a:graphic>
          <a:graphicData uri="http://schemas.openxmlformats.org/drawingml/2006/table">
            <a:tbl>
              <a:tblPr firstRow="0" bandRow="0">
                <a:tableStyleId>{5C22544A-7EE6-4342-B048-85BDC9FD1C3A}</a:tableStyleId>
              </a:tblPr>
              <a:tblGrid>
                <a:gridCol w="2052238"/>
                <a:gridCol w="2587604"/>
                <a:gridCol w="2587604"/>
                <a:gridCol w="1963010"/>
                <a:gridCol w="1873782"/>
              </a:tblGrid>
              <a:tr h="457200">
                <a:tc>
                  <a:txBody>
                    <a:bodyPr wrap="square"/>
                    <a:lstStyle/>
                    <a:p>
                      <a:r>
                        <a:rPr b="1" sz="1450">
                          <a:solidFill>
                            <a:srgbClr val="FFFFFF"/>
                          </a:solidFill>
                          <a:latin typeface="Cambria"/>
                        </a:rPr>
                        <a:t>Product</a:t>
                      </a:r>
                    </a:p>
                  </a:txBody>
                  <a:tcPr marL="64008" marR="64008" marT="27432" marB="27432" anchor="ctr">
                    <a:solidFill>
                      <a:srgbClr val="21201C"/>
                    </a:solidFill>
                  </a:tcPr>
                </a:tc>
                <a:tc>
                  <a:txBody>
                    <a:bodyPr wrap="square"/>
                    <a:lstStyle/>
                    <a:p>
                      <a:r>
                        <a:rPr b="1" sz="1450">
                          <a:solidFill>
                            <a:srgbClr val="FFFFFF"/>
                          </a:solidFill>
                          <a:latin typeface="Cambria"/>
                        </a:rPr>
                        <a:t>Vendor · launch</a:t>
                      </a:r>
                    </a:p>
                  </a:txBody>
                  <a:tcPr marL="64008" marR="64008" marT="27432" marB="27432" anchor="ctr">
                    <a:solidFill>
                      <a:srgbClr val="21201C"/>
                    </a:solidFill>
                  </a:tcPr>
                </a:tc>
                <a:tc>
                  <a:txBody>
                    <a:bodyPr wrap="square"/>
                    <a:lstStyle/>
                    <a:p>
                      <a:r>
                        <a:rPr b="1" sz="1450">
                          <a:solidFill>
                            <a:srgbClr val="FFFFFF"/>
                          </a:solidFill>
                          <a:latin typeface="Cambria"/>
                        </a:rPr>
                        <a:t>Type</a:t>
                      </a:r>
                    </a:p>
                  </a:txBody>
                  <a:tcPr marL="64008" marR="64008" marT="27432" marB="27432" anchor="ctr">
                    <a:solidFill>
                      <a:srgbClr val="21201C"/>
                    </a:solidFill>
                  </a:tcPr>
                </a:tc>
                <a:tc>
                  <a:txBody>
                    <a:bodyPr wrap="square"/>
                    <a:lstStyle/>
                    <a:p>
                      <a:r>
                        <a:rPr b="1" sz="1450">
                          <a:solidFill>
                            <a:srgbClr val="FFFFFF"/>
                          </a:solidFill>
                          <a:latin typeface="Cambria"/>
                        </a:rPr>
                        <a:t>Runs where</a:t>
                      </a:r>
                    </a:p>
                  </a:txBody>
                  <a:tcPr marL="64008" marR="64008" marT="27432" marB="27432" anchor="ctr">
                    <a:solidFill>
                      <a:srgbClr val="21201C"/>
                    </a:solidFill>
                  </a:tcPr>
                </a:tc>
                <a:tc>
                  <a:txBody>
                    <a:bodyPr wrap="square"/>
                    <a:lstStyle/>
                    <a:p>
                      <a:r>
                        <a:rPr b="1" sz="1450">
                          <a:solidFill>
                            <a:srgbClr val="FFFFFF"/>
                          </a:solidFill>
                          <a:latin typeface="Cambria"/>
                        </a:rPr>
                        <a:t>Human-in-the-loop</a:t>
                      </a:r>
                    </a:p>
                  </a:txBody>
                  <a:tcPr marL="64008" marR="64008" marT="27432" marB="27432" anchor="ctr">
                    <a:solidFill>
                      <a:srgbClr val="21201C"/>
                    </a:solidFill>
                  </a:tcPr>
                </a:tc>
              </a:tr>
              <a:tr h="662940">
                <a:tc>
                  <a:txBody>
                    <a:bodyPr wrap="square"/>
                    <a:lstStyle/>
                    <a:p>
                      <a:r>
                        <a:rPr b="1" sz="1400">
                          <a:solidFill>
                            <a:srgbClr val="21201C"/>
                          </a:solidFill>
                          <a:latin typeface="Cambria"/>
                        </a:rPr>
                        <a:t>Claude Cowork / Claude Code</a:t>
                      </a:r>
                    </a:p>
                  </a:txBody>
                  <a:tcPr marL="64008" marR="64008" marT="27432" marB="27432" anchor="ctr">
                    <a:solidFill>
                      <a:srgbClr val="F6E7DF"/>
                    </a:solidFill>
                  </a:tcPr>
                </a:tc>
                <a:tc>
                  <a:txBody>
                    <a:bodyPr wrap="square"/>
                    <a:lstStyle/>
                    <a:p>
                      <a:r>
                        <a:rPr b="0" sz="1400">
                          <a:solidFill>
                            <a:srgbClr val="6B6862"/>
                          </a:solidFill>
                          <a:latin typeface="Calibri"/>
                        </a:rPr>
                        <a:t>Anthropic · 2025–2026</a:t>
                      </a:r>
                    </a:p>
                  </a:txBody>
                  <a:tcPr marL="64008" marR="64008" marT="27432" marB="27432" anchor="ctr">
                    <a:solidFill>
                      <a:srgbClr val="FFFFFF"/>
                    </a:solidFill>
                  </a:tcPr>
                </a:tc>
                <a:tc>
                  <a:txBody>
                    <a:bodyPr wrap="square"/>
                    <a:lstStyle/>
                    <a:p>
                      <a:r>
                        <a:rPr b="0" sz="1400">
                          <a:solidFill>
                            <a:srgbClr val="6B6862"/>
                          </a:solidFill>
                          <a:latin typeface="Calibri"/>
                        </a:rPr>
                        <a:t>Desktop &amp; coding agents with sub-agents</a:t>
                      </a:r>
                    </a:p>
                  </a:txBody>
                  <a:tcPr marL="64008" marR="64008" marT="27432" marB="27432" anchor="ctr">
                    <a:solidFill>
                      <a:srgbClr val="FFFFFF"/>
                    </a:solidFill>
                  </a:tcPr>
                </a:tc>
                <a:tc>
                  <a:txBody>
                    <a:bodyPr wrap="square"/>
                    <a:lstStyle/>
                    <a:p>
                      <a:r>
                        <a:rPr b="0" sz="1400">
                          <a:solidFill>
                            <a:srgbClr val="6B6862"/>
                          </a:solidFill>
                          <a:latin typeface="Calibri"/>
                        </a:rPr>
                        <a:t>Desktop, terminal, cloud</a:t>
                      </a:r>
                    </a:p>
                  </a:txBody>
                  <a:tcPr marL="64008" marR="64008" marT="27432" marB="27432" anchor="ctr">
                    <a:solidFill>
                      <a:srgbClr val="FFFFFF"/>
                    </a:solidFill>
                  </a:tcPr>
                </a:tc>
                <a:tc>
                  <a:txBody>
                    <a:bodyPr wrap="square"/>
                    <a:lstStyle/>
                    <a:p>
                      <a:r>
                        <a:rPr b="0" sz="1400">
                          <a:solidFill>
                            <a:srgbClr val="6B6862"/>
                          </a:solidFill>
                          <a:latin typeface="Calibri"/>
                        </a:rPr>
                        <a:t>Manual / Auto / Skip permission modes</a:t>
                      </a:r>
                    </a:p>
                  </a:txBody>
                  <a:tcPr marL="64008" marR="64008" marT="27432" marB="27432" anchor="ctr">
                    <a:solidFill>
                      <a:srgbClr val="FFFFFF"/>
                    </a:solidFill>
                  </a:tcPr>
                </a:tc>
              </a:tr>
              <a:tr h="662940">
                <a:tc>
                  <a:txBody>
                    <a:bodyPr wrap="square"/>
                    <a:lstStyle/>
                    <a:p>
                      <a:r>
                        <a:rPr b="1" sz="1400">
                          <a:solidFill>
                            <a:srgbClr val="21201C"/>
                          </a:solidFill>
                          <a:latin typeface="Cambria"/>
                        </a:rPr>
                        <a:t>OpenAI Codex</a:t>
                      </a:r>
                    </a:p>
                  </a:txBody>
                  <a:tcPr marL="64008" marR="64008" marT="27432" marB="27432" anchor="ctr">
                    <a:solidFill>
                      <a:srgbClr val="F6E7DF"/>
                    </a:solidFill>
                  </a:tcPr>
                </a:tc>
                <a:tc>
                  <a:txBody>
                    <a:bodyPr wrap="square"/>
                    <a:lstStyle/>
                    <a:p>
                      <a:r>
                        <a:rPr b="0" sz="1400">
                          <a:solidFill>
                            <a:srgbClr val="6B6862"/>
                          </a:solidFill>
                          <a:latin typeface="Calibri"/>
                        </a:rPr>
                        <a:t>OpenAI · May 2025; Cloud Sep 2026</a:t>
                      </a:r>
                    </a:p>
                  </a:txBody>
                  <a:tcPr marL="64008" marR="64008" marT="27432" marB="27432" anchor="ctr">
                    <a:solidFill>
                      <a:srgbClr val="F3F1EB"/>
                    </a:solidFill>
                  </a:tcPr>
                </a:tc>
                <a:tc>
                  <a:txBody>
                    <a:bodyPr wrap="square"/>
                    <a:lstStyle/>
                    <a:p>
                      <a:r>
                        <a:rPr b="0" sz="1400">
                          <a:solidFill>
                            <a:srgbClr val="6B6862"/>
                          </a:solidFill>
                          <a:latin typeface="Calibri"/>
                        </a:rPr>
                        <a:t>Parallel coding agents</a:t>
                      </a:r>
                    </a:p>
                  </a:txBody>
                  <a:tcPr marL="64008" marR="64008" marT="27432" marB="27432" anchor="ctr">
                    <a:solidFill>
                      <a:srgbClr val="F3F1EB"/>
                    </a:solidFill>
                  </a:tcPr>
                </a:tc>
                <a:tc>
                  <a:txBody>
                    <a:bodyPr wrap="square"/>
                    <a:lstStyle/>
                    <a:p>
                      <a:r>
                        <a:rPr b="0" sz="1400">
                          <a:solidFill>
                            <a:srgbClr val="6B6862"/>
                          </a:solidFill>
                          <a:latin typeface="Calibri"/>
                        </a:rPr>
                        <a:t>CLI, IDE, cloud</a:t>
                      </a:r>
                    </a:p>
                  </a:txBody>
                  <a:tcPr marL="64008" marR="64008" marT="27432" marB="27432" anchor="ctr">
                    <a:solidFill>
                      <a:srgbClr val="F3F1EB"/>
                    </a:solidFill>
                  </a:tcPr>
                </a:tc>
                <a:tc>
                  <a:txBody>
                    <a:bodyPr wrap="square"/>
                    <a:lstStyle/>
                    <a:p>
                      <a:r>
                        <a:rPr b="0" sz="1400">
                          <a:solidFill>
                            <a:srgbClr val="6B6862"/>
                          </a:solidFill>
                          <a:latin typeface="Calibri"/>
                        </a:rPr>
                        <a:t>Review before merge; sandboxes</a:t>
                      </a:r>
                    </a:p>
                  </a:txBody>
                  <a:tcPr marL="64008" marR="64008" marT="27432" marB="27432" anchor="ctr">
                    <a:solidFill>
                      <a:srgbClr val="F3F1EB"/>
                    </a:solidFill>
                  </a:tcPr>
                </a:tc>
              </a:tr>
              <a:tr h="662940">
                <a:tc>
                  <a:txBody>
                    <a:bodyPr wrap="square"/>
                    <a:lstStyle/>
                    <a:p>
                      <a:r>
                        <a:rPr b="1" sz="1400">
                          <a:solidFill>
                            <a:srgbClr val="21201C"/>
                          </a:solidFill>
                          <a:latin typeface="Cambria"/>
                        </a:rPr>
                        <a:t>Gemini Enterprise agents</a:t>
                      </a:r>
                    </a:p>
                  </a:txBody>
                  <a:tcPr marL="64008" marR="64008" marT="27432" marB="27432" anchor="ctr">
                    <a:solidFill>
                      <a:srgbClr val="F6E7DF"/>
                    </a:solidFill>
                  </a:tcPr>
                </a:tc>
                <a:tc>
                  <a:txBody>
                    <a:bodyPr wrap="square"/>
                    <a:lstStyle/>
                    <a:p>
                      <a:r>
                        <a:rPr b="0" sz="1400">
                          <a:solidFill>
                            <a:srgbClr val="6B6862"/>
                          </a:solidFill>
                          <a:latin typeface="Calibri"/>
                        </a:rPr>
                        <a:t>Google · 8 Oct 2026</a:t>
                      </a:r>
                    </a:p>
                  </a:txBody>
                  <a:tcPr marL="64008" marR="64008" marT="27432" marB="27432" anchor="ctr">
                    <a:solidFill>
                      <a:srgbClr val="FFFFFF"/>
                    </a:solidFill>
                  </a:tcPr>
                </a:tc>
                <a:tc>
                  <a:txBody>
                    <a:bodyPr wrap="square"/>
                    <a:lstStyle/>
                    <a:p>
                      <a:r>
                        <a:rPr b="0" sz="1400">
                          <a:solidFill>
                            <a:srgbClr val="6B6862"/>
                          </a:solidFill>
                          <a:latin typeface="Calibri"/>
                        </a:rPr>
                        <a:t>Sub-agents + persistent 'coworker' agents</a:t>
                      </a:r>
                    </a:p>
                  </a:txBody>
                  <a:tcPr marL="64008" marR="64008" marT="27432" marB="27432" anchor="ctr">
                    <a:solidFill>
                      <a:srgbClr val="FFFFFF"/>
                    </a:solidFill>
                  </a:tcPr>
                </a:tc>
                <a:tc>
                  <a:txBody>
                    <a:bodyPr wrap="square"/>
                    <a:lstStyle/>
                    <a:p>
                      <a:r>
                        <a:rPr b="0" sz="1400">
                          <a:solidFill>
                            <a:srgbClr val="6B6862"/>
                          </a:solidFill>
                          <a:latin typeface="Calibri"/>
                        </a:rPr>
                        <a:t>Workspace, M365, Slack</a:t>
                      </a:r>
                    </a:p>
                  </a:txBody>
                  <a:tcPr marL="64008" marR="64008" marT="27432" marB="27432" anchor="ctr">
                    <a:solidFill>
                      <a:srgbClr val="FFFFFF"/>
                    </a:solidFill>
                  </a:tcPr>
                </a:tc>
                <a:tc>
                  <a:txBody>
                    <a:bodyPr wrap="square"/>
                    <a:lstStyle/>
                    <a:p>
                      <a:r>
                        <a:rPr b="0" sz="1400">
                          <a:solidFill>
                            <a:srgbClr val="6B6862"/>
                          </a:solidFill>
                          <a:latin typeface="Calibri"/>
                        </a:rPr>
                        <a:t>Agent identity, gateway, spend caps</a:t>
                      </a:r>
                    </a:p>
                  </a:txBody>
                  <a:tcPr marL="64008" marR="64008" marT="27432" marB="27432" anchor="ctr">
                    <a:solidFill>
                      <a:srgbClr val="FFFFFF"/>
                    </a:solidFill>
                  </a:tcPr>
                </a:tc>
              </a:tr>
              <a:tr h="662940">
                <a:tc>
                  <a:txBody>
                    <a:bodyPr wrap="square"/>
                    <a:lstStyle/>
                    <a:p>
                      <a:r>
                        <a:rPr b="1" sz="1400">
                          <a:solidFill>
                            <a:srgbClr val="21201C"/>
                          </a:solidFill>
                          <a:latin typeface="Cambria"/>
                        </a:rPr>
                        <a:t>Microsoft Agent 365</a:t>
                      </a:r>
                    </a:p>
                  </a:txBody>
                  <a:tcPr marL="64008" marR="64008" marT="27432" marB="27432" anchor="ctr">
                    <a:solidFill>
                      <a:srgbClr val="F6E7DF"/>
                    </a:solidFill>
                  </a:tcPr>
                </a:tc>
                <a:tc>
                  <a:txBody>
                    <a:bodyPr wrap="square"/>
                    <a:lstStyle/>
                    <a:p>
                      <a:r>
                        <a:rPr b="0" sz="1400">
                          <a:solidFill>
                            <a:srgbClr val="6B6862"/>
                          </a:solidFill>
                          <a:latin typeface="Calibri"/>
                        </a:rPr>
                        <a:t>Microsoft · May 2026</a:t>
                      </a:r>
                    </a:p>
                  </a:txBody>
                  <a:tcPr marL="64008" marR="64008" marT="27432" marB="27432" anchor="ctr">
                    <a:solidFill>
                      <a:srgbClr val="F3F1EB"/>
                    </a:solidFill>
                  </a:tcPr>
                </a:tc>
                <a:tc>
                  <a:txBody>
                    <a:bodyPr wrap="square"/>
                    <a:lstStyle/>
                    <a:p>
                      <a:r>
                        <a:rPr b="0" sz="1400">
                          <a:solidFill>
                            <a:srgbClr val="6B6862"/>
                          </a:solidFill>
                          <a:latin typeface="Calibri"/>
                        </a:rPr>
                        <a:t>Governance control plane for many agents</a:t>
                      </a:r>
                    </a:p>
                  </a:txBody>
                  <a:tcPr marL="64008" marR="64008" marT="27432" marB="27432" anchor="ctr">
                    <a:solidFill>
                      <a:srgbClr val="F3F1EB"/>
                    </a:solidFill>
                  </a:tcPr>
                </a:tc>
                <a:tc>
                  <a:txBody>
                    <a:bodyPr wrap="square"/>
                    <a:lstStyle/>
                    <a:p>
                      <a:r>
                        <a:rPr b="0" sz="1400">
                          <a:solidFill>
                            <a:srgbClr val="6B6862"/>
                          </a:solidFill>
                          <a:latin typeface="Calibri"/>
                        </a:rPr>
                        <a:t>M365 admin, Entra, Purview</a:t>
                      </a:r>
                    </a:p>
                  </a:txBody>
                  <a:tcPr marL="64008" marR="64008" marT="27432" marB="27432" anchor="ctr">
                    <a:solidFill>
                      <a:srgbClr val="F3F1EB"/>
                    </a:solidFill>
                  </a:tcPr>
                </a:tc>
                <a:tc>
                  <a:txBody>
                    <a:bodyPr wrap="square"/>
                    <a:lstStyle/>
                    <a:p>
                      <a:r>
                        <a:rPr b="0" sz="1400">
                          <a:solidFill>
                            <a:srgbClr val="6B6862"/>
                          </a:solidFill>
                          <a:latin typeface="Calibri"/>
                        </a:rPr>
                        <a:t>Registry, access control, DLP</a:t>
                      </a:r>
                    </a:p>
                  </a:txBody>
                  <a:tcPr marL="64008" marR="64008" marT="27432" marB="27432" anchor="ctr">
                    <a:solidFill>
                      <a:srgbClr val="F3F1EB"/>
                    </a:solidFill>
                  </a:tcPr>
                </a:tc>
              </a:tr>
              <a:tr h="662940">
                <a:tc>
                  <a:txBody>
                    <a:bodyPr wrap="square"/>
                    <a:lstStyle/>
                    <a:p>
                      <a:r>
                        <a:rPr b="1" sz="1400">
                          <a:solidFill>
                            <a:srgbClr val="21201C"/>
                          </a:solidFill>
                          <a:latin typeface="Cambria"/>
                        </a:rPr>
                        <a:t>Perplexity Computer</a:t>
                      </a:r>
                    </a:p>
                  </a:txBody>
                  <a:tcPr marL="64008" marR="64008" marT="27432" marB="27432" anchor="ctr">
                    <a:solidFill>
                      <a:srgbClr val="F6E7DF"/>
                    </a:solidFill>
                  </a:tcPr>
                </a:tc>
                <a:tc>
                  <a:txBody>
                    <a:bodyPr wrap="square"/>
                    <a:lstStyle/>
                    <a:p>
                      <a:r>
                        <a:rPr b="0" sz="1400">
                          <a:solidFill>
                            <a:srgbClr val="6B6862"/>
                          </a:solidFill>
                          <a:latin typeface="Calibri"/>
                        </a:rPr>
                        <a:t>Perplexity · Feb 2026</a:t>
                      </a:r>
                    </a:p>
                  </a:txBody>
                  <a:tcPr marL="64008" marR="64008" marT="27432" marB="27432" anchor="ctr">
                    <a:solidFill>
                      <a:srgbClr val="FFFFFF"/>
                    </a:solidFill>
                  </a:tcPr>
                </a:tc>
                <a:tc>
                  <a:txBody>
                    <a:bodyPr wrap="square"/>
                    <a:lstStyle/>
                    <a:p>
                      <a:r>
                        <a:rPr b="0" sz="1400">
                          <a:solidFill>
                            <a:srgbClr val="6B6862"/>
                          </a:solidFill>
                          <a:latin typeface="Calibri"/>
                        </a:rPr>
                        <a:t>Multi-model orchestrator</a:t>
                      </a:r>
                    </a:p>
                  </a:txBody>
                  <a:tcPr marL="64008" marR="64008" marT="27432" marB="27432" anchor="ctr">
                    <a:solidFill>
                      <a:srgbClr val="FFFFFF"/>
                    </a:solidFill>
                  </a:tcPr>
                </a:tc>
                <a:tc>
                  <a:txBody>
                    <a:bodyPr wrap="square"/>
                    <a:lstStyle/>
                    <a:p>
                      <a:r>
                        <a:rPr b="0" sz="1400">
                          <a:solidFill>
                            <a:srgbClr val="6B6862"/>
                          </a:solidFill>
                          <a:latin typeface="Calibri"/>
                        </a:rPr>
                        <a:t>Cloud</a:t>
                      </a:r>
                    </a:p>
                  </a:txBody>
                  <a:tcPr marL="64008" marR="64008" marT="27432" marB="27432" anchor="ctr">
                    <a:solidFill>
                      <a:srgbClr val="FFFFFF"/>
                    </a:solidFill>
                  </a:tcPr>
                </a:tc>
                <a:tc>
                  <a:txBody>
                    <a:bodyPr wrap="square"/>
                    <a:lstStyle/>
                    <a:p>
                      <a:r>
                        <a:rPr b="0" sz="1400">
                          <a:solidFill>
                            <a:srgbClr val="6B6862"/>
                          </a:solidFill>
                          <a:latin typeface="Calibri"/>
                        </a:rPr>
                        <a:t>Not confirmed</a:t>
                      </a:r>
                    </a:p>
                  </a:txBody>
                  <a:tcPr marL="64008" marR="64008" marT="27432" marB="27432" anchor="ctr">
                    <a:solidFill>
                      <a:srgbClr val="FFFFFF"/>
                    </a:solidFill>
                  </a:tcPr>
                </a:tc>
              </a:tr>
            </a:tbl>
          </a:graphicData>
        </a:graphic>
      </p:graphicFrame>
      <p:sp>
        <p:nvSpPr>
          <p:cNvPr id="8" name="TextBox 7"/>
          <p:cNvSpPr txBox="1"/>
          <p:nvPr/>
        </p:nvSpPr>
        <p:spPr>
          <a:xfrm>
            <a:off x="548640" y="5760720"/>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Sources: vendor announcements and repos (verified Oct 2026). Products move fast — check before you buy.</a:t>
            </a:r>
          </a:p>
        </p:txBody>
      </p:sp>
    </p:spTree>
  </p:cSld>
  <p:clrMapOvr>
    <a:masterClrMapping/>
  </p:clrMapOvr>
  <p:transition spd="med">
    <p:fade/>
  </p:transition>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THE 2026 AGENT MARKET</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How to Read the Market</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48</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691640"/>
            <a:ext cx="5440680" cy="194309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77240" y="18745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user-FFFFFF.png"/>
          <p:cNvPicPr>
            <a:picLocks noChangeAspect="1"/>
          </p:cNvPicPr>
          <p:nvPr/>
        </p:nvPicPr>
        <p:blipFill>
          <a:blip r:embed="rId2"/>
          <a:stretch>
            <a:fillRect/>
          </a:stretch>
        </p:blipFill>
        <p:spPr>
          <a:xfrm>
            <a:off x="900135" y="1997415"/>
            <a:ext cx="266273" cy="266273"/>
          </a:xfrm>
          <a:prstGeom prst="rect">
            <a:avLst/>
          </a:prstGeom>
        </p:spPr>
      </p:pic>
      <p:sp>
        <p:nvSpPr>
          <p:cNvPr id="10" name="TextBox 9"/>
          <p:cNvSpPr txBox="1"/>
          <p:nvPr/>
        </p:nvSpPr>
        <p:spPr>
          <a:xfrm>
            <a:off x="1426464" y="1856232"/>
            <a:ext cx="433425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Personal agents</a:t>
            </a:r>
          </a:p>
        </p:txBody>
      </p:sp>
      <p:sp>
        <p:nvSpPr>
          <p:cNvPr id="11" name="TextBox 10"/>
          <p:cNvSpPr txBox="1"/>
          <p:nvPr/>
        </p:nvSpPr>
        <p:spPr>
          <a:xfrm>
            <a:off x="777240" y="2459736"/>
            <a:ext cx="4983480" cy="1101851"/>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One agent working for one person — OpenClaw, Hermes Agent, Meta Muse, OpenAI Dots, Manus Cue.</a:t>
            </a:r>
          </a:p>
        </p:txBody>
      </p:sp>
      <p:sp>
        <p:nvSpPr>
          <p:cNvPr id="12" name="Rounded Rectangle 11"/>
          <p:cNvSpPr/>
          <p:nvPr/>
        </p:nvSpPr>
        <p:spPr>
          <a:xfrm>
            <a:off x="6172200" y="1691640"/>
            <a:ext cx="5440680" cy="194309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00800" y="18745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building-FFFFFF.png"/>
          <p:cNvPicPr>
            <a:picLocks noChangeAspect="1"/>
          </p:cNvPicPr>
          <p:nvPr/>
        </p:nvPicPr>
        <p:blipFill>
          <a:blip r:embed="rId3"/>
          <a:stretch>
            <a:fillRect/>
          </a:stretch>
        </p:blipFill>
        <p:spPr>
          <a:xfrm>
            <a:off x="6523695" y="1997415"/>
            <a:ext cx="266273" cy="266273"/>
          </a:xfrm>
          <a:prstGeom prst="rect">
            <a:avLst/>
          </a:prstGeom>
        </p:spPr>
      </p:pic>
      <p:sp>
        <p:nvSpPr>
          <p:cNvPr id="15" name="TextBox 14"/>
          <p:cNvSpPr txBox="1"/>
          <p:nvPr/>
        </p:nvSpPr>
        <p:spPr>
          <a:xfrm>
            <a:off x="7050024" y="1856232"/>
            <a:ext cx="433425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Workspaces &amp; companies</a:t>
            </a:r>
          </a:p>
        </p:txBody>
      </p:sp>
      <p:sp>
        <p:nvSpPr>
          <p:cNvPr id="16" name="TextBox 15"/>
          <p:cNvSpPr txBox="1"/>
          <p:nvPr/>
        </p:nvSpPr>
        <p:spPr>
          <a:xfrm>
            <a:off x="6400800" y="2459736"/>
            <a:ext cx="4983480" cy="1101851"/>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Many agents and humans with roles — Paperclip, Block Buzz, Gemini coworker agents.</a:t>
            </a:r>
          </a:p>
        </p:txBody>
      </p:sp>
      <p:sp>
        <p:nvSpPr>
          <p:cNvPr id="17" name="Rounded Rectangle 16"/>
          <p:cNvSpPr/>
          <p:nvPr/>
        </p:nvSpPr>
        <p:spPr>
          <a:xfrm>
            <a:off x="548640" y="3817620"/>
            <a:ext cx="5440680" cy="194309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777240" y="40005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 name="Picture 18" descr="shield-FFFFFF.png"/>
          <p:cNvPicPr>
            <a:picLocks noChangeAspect="1"/>
          </p:cNvPicPr>
          <p:nvPr/>
        </p:nvPicPr>
        <p:blipFill>
          <a:blip r:embed="rId4"/>
          <a:stretch>
            <a:fillRect/>
          </a:stretch>
        </p:blipFill>
        <p:spPr>
          <a:xfrm>
            <a:off x="900135" y="4123395"/>
            <a:ext cx="266273" cy="266273"/>
          </a:xfrm>
          <a:prstGeom prst="rect">
            <a:avLst/>
          </a:prstGeom>
        </p:spPr>
      </p:pic>
      <p:sp>
        <p:nvSpPr>
          <p:cNvPr id="20" name="TextBox 19"/>
          <p:cNvSpPr txBox="1"/>
          <p:nvPr/>
        </p:nvSpPr>
        <p:spPr>
          <a:xfrm>
            <a:off x="1426464" y="3982212"/>
            <a:ext cx="433425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Governance layers</a:t>
            </a:r>
          </a:p>
        </p:txBody>
      </p:sp>
      <p:sp>
        <p:nvSpPr>
          <p:cNvPr id="21" name="TextBox 20"/>
          <p:cNvSpPr txBox="1"/>
          <p:nvPr/>
        </p:nvSpPr>
        <p:spPr>
          <a:xfrm>
            <a:off x="777240" y="4585716"/>
            <a:ext cx="4983480" cy="1101851"/>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Registries, identities, budgets and policy across agents — Microsoft Agent 365, Paperclip Board.</a:t>
            </a:r>
          </a:p>
        </p:txBody>
      </p:sp>
      <p:sp>
        <p:nvSpPr>
          <p:cNvPr id="22" name="Rounded Rectangle 21"/>
          <p:cNvSpPr/>
          <p:nvPr/>
        </p:nvSpPr>
        <p:spPr>
          <a:xfrm>
            <a:off x="6172200" y="3817620"/>
            <a:ext cx="5440680" cy="194309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00800" y="40005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scale-FFFFFF.png"/>
          <p:cNvPicPr>
            <a:picLocks noChangeAspect="1"/>
          </p:cNvPicPr>
          <p:nvPr/>
        </p:nvPicPr>
        <p:blipFill>
          <a:blip r:embed="rId5"/>
          <a:stretch>
            <a:fillRect/>
          </a:stretch>
        </p:blipFill>
        <p:spPr>
          <a:xfrm>
            <a:off x="6523695" y="4123395"/>
            <a:ext cx="266273" cy="266273"/>
          </a:xfrm>
          <a:prstGeom prst="rect">
            <a:avLst/>
          </a:prstGeom>
        </p:spPr>
      </p:pic>
      <p:sp>
        <p:nvSpPr>
          <p:cNvPr id="25" name="TextBox 24"/>
          <p:cNvSpPr txBox="1"/>
          <p:nvPr/>
        </p:nvSpPr>
        <p:spPr>
          <a:xfrm>
            <a:off x="7050024" y="3982212"/>
            <a:ext cx="433425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Open vs closed</a:t>
            </a:r>
          </a:p>
        </p:txBody>
      </p:sp>
      <p:sp>
        <p:nvSpPr>
          <p:cNvPr id="26" name="TextBox 25"/>
          <p:cNvSpPr txBox="1"/>
          <p:nvPr/>
        </p:nvSpPr>
        <p:spPr>
          <a:xfrm>
            <a:off x="6400800" y="4585716"/>
            <a:ext cx="4983480" cy="1101851"/>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Open source = self-host, inspect, own your data. Closed = convenience, managed security, vendor lock-in.</a:t>
            </a:r>
          </a:p>
        </p:txBody>
      </p:sp>
      <p:sp>
        <p:nvSpPr>
          <p:cNvPr id="27" name="TextBox 26"/>
          <p:cNvSpPr txBox="1"/>
          <p:nvPr/>
        </p:nvSpPr>
        <p:spPr>
          <a:xfrm>
            <a:off x="548640" y="5870448"/>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This course: Hermes Agent (an employee that learns) + Paperclip (the company you govern) — both open source.</a:t>
            </a:r>
          </a:p>
        </p:txBody>
      </p:sp>
    </p:spTree>
  </p:cSld>
  <p:clrMapOvr>
    <a:masterClrMapping/>
  </p:clrMapOvr>
  <p:transition spd="med">
    <p:fade/>
  </p:transition>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SINGAPORE IN FOCUS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Singapore: 12,000+ AI Agents in Public Healthcare</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49</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2084944" y="1682496"/>
            <a:ext cx="3785390" cy="4133088"/>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st-agentsea.png"/>
          <p:cNvPicPr>
            <a:picLocks noChangeAspect="1"/>
          </p:cNvPicPr>
          <p:nvPr/>
        </p:nvPicPr>
        <p:blipFill>
          <a:blip r:embed="rId2"/>
          <a:stretch>
            <a:fillRect/>
          </a:stretch>
        </p:blipFill>
        <p:spPr>
          <a:xfrm>
            <a:off x="2139808" y="1737360"/>
            <a:ext cx="3675662" cy="4023360"/>
          </a:xfrm>
          <a:prstGeom prst="rect">
            <a:avLst/>
          </a:prstGeom>
        </p:spPr>
      </p:pic>
      <p:sp>
        <p:nvSpPr>
          <p:cNvPr id="9" name="Oval 8"/>
          <p:cNvSpPr/>
          <p:nvPr/>
        </p:nvSpPr>
        <p:spPr>
          <a:xfrm>
            <a:off x="7635240" y="1737360"/>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hospital-FFFFFF.png"/>
          <p:cNvPicPr>
            <a:picLocks noChangeAspect="1"/>
          </p:cNvPicPr>
          <p:nvPr/>
        </p:nvPicPr>
        <p:blipFill>
          <a:blip r:embed="rId3"/>
          <a:stretch>
            <a:fillRect/>
          </a:stretch>
        </p:blipFill>
        <p:spPr>
          <a:xfrm>
            <a:off x="7744967" y="1847088"/>
            <a:ext cx="237744" cy="237744"/>
          </a:xfrm>
          <a:prstGeom prst="rect">
            <a:avLst/>
          </a:prstGeom>
        </p:spPr>
      </p:pic>
      <p:sp>
        <p:nvSpPr>
          <p:cNvPr id="11" name="TextBox 10"/>
          <p:cNvSpPr txBox="1"/>
          <p:nvPr/>
        </p:nvSpPr>
        <p:spPr>
          <a:xfrm>
            <a:off x="8229600" y="1691640"/>
            <a:ext cx="34290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AgentSea</a:t>
            </a:r>
          </a:p>
        </p:txBody>
      </p:sp>
      <p:sp>
        <p:nvSpPr>
          <p:cNvPr id="12" name="TextBox 11"/>
          <p:cNvSpPr txBox="1"/>
          <p:nvPr/>
        </p:nvSpPr>
        <p:spPr>
          <a:xfrm>
            <a:off x="8229600" y="2057400"/>
            <a:ext cx="3429000" cy="61722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Synapxe + AWS agentic AI platform for 80,000+ public healthcare professionals — launched end-May 2026.</a:t>
            </a:r>
          </a:p>
        </p:txBody>
      </p:sp>
      <p:sp>
        <p:nvSpPr>
          <p:cNvPr id="13" name="Oval 12"/>
          <p:cNvSpPr/>
          <p:nvPr/>
        </p:nvSpPr>
        <p:spPr>
          <a:xfrm>
            <a:off x="7635240" y="2766060"/>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users-FFFFFF.png"/>
          <p:cNvPicPr>
            <a:picLocks noChangeAspect="1"/>
          </p:cNvPicPr>
          <p:nvPr/>
        </p:nvPicPr>
        <p:blipFill>
          <a:blip r:embed="rId4"/>
          <a:stretch>
            <a:fillRect/>
          </a:stretch>
        </p:blipFill>
        <p:spPr>
          <a:xfrm>
            <a:off x="7744967" y="2875788"/>
            <a:ext cx="237744" cy="237744"/>
          </a:xfrm>
          <a:prstGeom prst="rect">
            <a:avLst/>
          </a:prstGeom>
        </p:spPr>
      </p:pic>
      <p:sp>
        <p:nvSpPr>
          <p:cNvPr id="15" name="TextBox 14"/>
          <p:cNvSpPr txBox="1"/>
          <p:nvPr/>
        </p:nvSpPr>
        <p:spPr>
          <a:xfrm>
            <a:off x="8229600" y="2720340"/>
            <a:ext cx="34290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12,000+ agents</a:t>
            </a:r>
          </a:p>
        </p:txBody>
      </p:sp>
      <p:sp>
        <p:nvSpPr>
          <p:cNvPr id="16" name="TextBox 15"/>
          <p:cNvSpPr txBox="1"/>
          <p:nvPr/>
        </p:nvSpPr>
        <p:spPr>
          <a:xfrm>
            <a:off x="8229600" y="3086100"/>
            <a:ext cx="3429000" cy="61722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Created by staff in natural language, little or no coding; 300+ shared for reuse.</a:t>
            </a:r>
          </a:p>
        </p:txBody>
      </p:sp>
      <p:sp>
        <p:nvSpPr>
          <p:cNvPr id="17" name="Oval 16"/>
          <p:cNvSpPr/>
          <p:nvPr/>
        </p:nvSpPr>
        <p:spPr>
          <a:xfrm>
            <a:off x="7635240" y="3794759"/>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heart-FFFFFF.png"/>
          <p:cNvPicPr>
            <a:picLocks noChangeAspect="1"/>
          </p:cNvPicPr>
          <p:nvPr/>
        </p:nvPicPr>
        <p:blipFill>
          <a:blip r:embed="rId5"/>
          <a:stretch>
            <a:fillRect/>
          </a:stretch>
        </p:blipFill>
        <p:spPr>
          <a:xfrm>
            <a:off x="7744967" y="3904487"/>
            <a:ext cx="237744" cy="237744"/>
          </a:xfrm>
          <a:prstGeom prst="rect">
            <a:avLst/>
          </a:prstGeom>
        </p:spPr>
      </p:pic>
      <p:sp>
        <p:nvSpPr>
          <p:cNvPr id="19" name="TextBox 18"/>
          <p:cNvSpPr txBox="1"/>
          <p:nvPr/>
        </p:nvSpPr>
        <p:spPr>
          <a:xfrm>
            <a:off x="8229600" y="3749039"/>
            <a:ext cx="34290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Real impact</a:t>
            </a:r>
          </a:p>
        </p:txBody>
      </p:sp>
      <p:sp>
        <p:nvSpPr>
          <p:cNvPr id="20" name="TextBox 19"/>
          <p:cNvSpPr txBox="1"/>
          <p:nvPr/>
        </p:nvSpPr>
        <p:spPr>
          <a:xfrm>
            <a:off x="8229600" y="4114800"/>
            <a:ext cx="3429000" cy="61722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NHCS cardiologist halved pre-consultation prep; KKH agent generates daily rosters.</a:t>
            </a:r>
          </a:p>
        </p:txBody>
      </p:sp>
      <p:sp>
        <p:nvSpPr>
          <p:cNvPr id="21" name="Oval 20"/>
          <p:cNvSpPr/>
          <p:nvPr/>
        </p:nvSpPr>
        <p:spPr>
          <a:xfrm>
            <a:off x="7635240" y="4823459"/>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shield-FFFFFF.png"/>
          <p:cNvPicPr>
            <a:picLocks noChangeAspect="1"/>
          </p:cNvPicPr>
          <p:nvPr/>
        </p:nvPicPr>
        <p:blipFill>
          <a:blip r:embed="rId6"/>
          <a:stretch>
            <a:fillRect/>
          </a:stretch>
        </p:blipFill>
        <p:spPr>
          <a:xfrm>
            <a:off x="7744967" y="4933188"/>
            <a:ext cx="237744" cy="237744"/>
          </a:xfrm>
          <a:prstGeom prst="rect">
            <a:avLst/>
          </a:prstGeom>
        </p:spPr>
      </p:pic>
      <p:sp>
        <p:nvSpPr>
          <p:cNvPr id="23" name="TextBox 22"/>
          <p:cNvSpPr txBox="1"/>
          <p:nvPr/>
        </p:nvSpPr>
        <p:spPr>
          <a:xfrm>
            <a:off x="8229600" y="4777740"/>
            <a:ext cx="34290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Guardrails</a:t>
            </a:r>
          </a:p>
        </p:txBody>
      </p:sp>
      <p:sp>
        <p:nvSpPr>
          <p:cNvPr id="24" name="TextBox 23"/>
          <p:cNvSpPr txBox="1"/>
          <p:nvPr/>
        </p:nvSpPr>
        <p:spPr>
          <a:xfrm>
            <a:off x="8229600" y="5143500"/>
            <a:ext cx="3429000" cy="61722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Patient-data protections built in — "not replaced the need for verification or my own clinical assessment".</a:t>
            </a:r>
          </a:p>
        </p:txBody>
      </p:sp>
      <p:sp>
        <p:nvSpPr>
          <p:cNvPr id="25" name="TextBox 24"/>
          <p:cNvSpPr txBox="1"/>
          <p:nvPr/>
        </p:nvSpPr>
        <p:spPr>
          <a:xfrm>
            <a:off x="548640" y="5870448"/>
            <a:ext cx="11064240" cy="50292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  </a:t>
            </a:r>
            <a:r>
              <a:rPr sz="1250" b="0" i="0">
                <a:solidFill>
                  <a:srgbClr val="6B6862"/>
                </a:solidFill>
                <a:latin typeface="Calibri"/>
              </a:rPr>
              <a:t>"We are moving from AI as assistant to AI as actor." — SMS Tan Kiat How, HIMSS26 APAC, 24 Aug 2026</a:t>
            </a:r>
          </a:p>
        </p:txBody>
      </p:sp>
      <p:sp>
        <p:nvSpPr>
          <p:cNvPr id="26" name="TextBox 25"/>
          <p:cNvSpPr txBox="1"/>
          <p:nvPr/>
        </p:nvSpPr>
        <p:spPr>
          <a:xfrm>
            <a:off x="548640" y="6217920"/>
            <a:ext cx="11064240" cy="22860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Source: The Straits Times, "New platform to create AI agents available to all public healthcare professionals", Zhaki Abdullah, 24 Aug 2026.</a:t>
            </a:r>
          </a:p>
        </p:txBody>
      </p:sp>
    </p:spTree>
  </p:cSld>
  <p:clrMapOvr>
    <a:masterClrMapping/>
  </p:clrMapOvr>
  <p:transition spd="med">
    <p:fade/>
  </p:transition>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SINGAPORE IN FOCUS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Singapore's Agentic AI Playbook</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50</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691640"/>
            <a:ext cx="5440680" cy="194309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77240" y="18745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gavel-FFFFFF.png"/>
          <p:cNvPicPr>
            <a:picLocks noChangeAspect="1"/>
          </p:cNvPicPr>
          <p:nvPr/>
        </p:nvPicPr>
        <p:blipFill>
          <a:blip r:embed="rId2"/>
          <a:stretch>
            <a:fillRect/>
          </a:stretch>
        </p:blipFill>
        <p:spPr>
          <a:xfrm>
            <a:off x="900135" y="1997415"/>
            <a:ext cx="266273" cy="266273"/>
          </a:xfrm>
          <a:prstGeom prst="rect">
            <a:avLst/>
          </a:prstGeom>
        </p:spPr>
      </p:pic>
      <p:sp>
        <p:nvSpPr>
          <p:cNvPr id="10" name="TextBox 9"/>
          <p:cNvSpPr txBox="1"/>
          <p:nvPr/>
        </p:nvSpPr>
        <p:spPr>
          <a:xfrm>
            <a:off x="1426464" y="1856232"/>
            <a:ext cx="433425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IMDA framework</a:t>
            </a:r>
          </a:p>
        </p:txBody>
      </p:sp>
      <p:sp>
        <p:nvSpPr>
          <p:cNvPr id="11" name="TextBox 10"/>
          <p:cNvSpPr txBox="1"/>
          <p:nvPr/>
        </p:nvSpPr>
        <p:spPr>
          <a:xfrm>
            <a:off x="777240" y="2459736"/>
            <a:ext cx="4983480" cy="1101851"/>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Model AI Governance Framework for Agentic AI — launched 22 Jan 2026 (Davos); updated v1.5 May 2026.</a:t>
            </a:r>
          </a:p>
        </p:txBody>
      </p:sp>
      <p:sp>
        <p:nvSpPr>
          <p:cNvPr id="12" name="Rounded Rectangle 11"/>
          <p:cNvSpPr/>
          <p:nvPr/>
        </p:nvSpPr>
        <p:spPr>
          <a:xfrm>
            <a:off x="6172200" y="1691640"/>
            <a:ext cx="5440680" cy="194309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00800" y="18745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list-FFFFFF.png"/>
          <p:cNvPicPr>
            <a:picLocks noChangeAspect="1"/>
          </p:cNvPicPr>
          <p:nvPr/>
        </p:nvPicPr>
        <p:blipFill>
          <a:blip r:embed="rId3"/>
          <a:stretch>
            <a:fillRect/>
          </a:stretch>
        </p:blipFill>
        <p:spPr>
          <a:xfrm>
            <a:off x="6523695" y="1997415"/>
            <a:ext cx="266273" cy="266273"/>
          </a:xfrm>
          <a:prstGeom prst="rect">
            <a:avLst/>
          </a:prstGeom>
        </p:spPr>
      </p:pic>
      <p:sp>
        <p:nvSpPr>
          <p:cNvPr id="15" name="TextBox 14"/>
          <p:cNvSpPr txBox="1"/>
          <p:nvPr/>
        </p:nvSpPr>
        <p:spPr>
          <a:xfrm>
            <a:off x="7050024" y="1856232"/>
            <a:ext cx="433425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Four dimensions</a:t>
            </a:r>
          </a:p>
        </p:txBody>
      </p:sp>
      <p:sp>
        <p:nvSpPr>
          <p:cNvPr id="16" name="TextBox 15"/>
          <p:cNvSpPr txBox="1"/>
          <p:nvPr/>
        </p:nvSpPr>
        <p:spPr>
          <a:xfrm>
            <a:off x="6400800" y="2459736"/>
            <a:ext cx="4983480" cy="1101851"/>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Bound risks upfront · meaningful human accountability · technical controls · end-user responsibility.</a:t>
            </a:r>
          </a:p>
        </p:txBody>
      </p:sp>
      <p:sp>
        <p:nvSpPr>
          <p:cNvPr id="17" name="Rounded Rectangle 16"/>
          <p:cNvSpPr/>
          <p:nvPr/>
        </p:nvSpPr>
        <p:spPr>
          <a:xfrm>
            <a:off x="548640" y="3817620"/>
            <a:ext cx="5440680" cy="194309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777240" y="40005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 name="Picture 18" descr="building-FFFFFF.png"/>
          <p:cNvPicPr>
            <a:picLocks noChangeAspect="1"/>
          </p:cNvPicPr>
          <p:nvPr/>
        </p:nvPicPr>
        <p:blipFill>
          <a:blip r:embed="rId4"/>
          <a:stretch>
            <a:fillRect/>
          </a:stretch>
        </p:blipFill>
        <p:spPr>
          <a:xfrm>
            <a:off x="900135" y="4123395"/>
            <a:ext cx="266273" cy="266273"/>
          </a:xfrm>
          <a:prstGeom prst="rect">
            <a:avLst/>
          </a:prstGeom>
        </p:spPr>
      </p:pic>
      <p:sp>
        <p:nvSpPr>
          <p:cNvPr id="20" name="TextBox 19"/>
          <p:cNvSpPr txBox="1"/>
          <p:nvPr/>
        </p:nvSpPr>
        <p:spPr>
          <a:xfrm>
            <a:off x="1426464" y="3982212"/>
            <a:ext cx="433425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Public service</a:t>
            </a:r>
          </a:p>
        </p:txBody>
      </p:sp>
      <p:sp>
        <p:nvSpPr>
          <p:cNvPr id="21" name="TextBox 20"/>
          <p:cNvSpPr txBox="1"/>
          <p:nvPr/>
        </p:nvSpPr>
        <p:spPr>
          <a:xfrm>
            <a:off x="777240" y="4585716"/>
            <a:ext cx="4983480" cy="1101851"/>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GovTech AI Assistant Desk with an agent registry (owner and purpose of each agent) for ~150,000 officers.</a:t>
            </a:r>
          </a:p>
        </p:txBody>
      </p:sp>
      <p:sp>
        <p:nvSpPr>
          <p:cNvPr id="22" name="Rounded Rectangle 21"/>
          <p:cNvSpPr/>
          <p:nvPr/>
        </p:nvSpPr>
        <p:spPr>
          <a:xfrm>
            <a:off x="6172200" y="3817620"/>
            <a:ext cx="5440680" cy="194309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00800" y="40005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hospital-FFFFFF.png"/>
          <p:cNvPicPr>
            <a:picLocks noChangeAspect="1"/>
          </p:cNvPicPr>
          <p:nvPr/>
        </p:nvPicPr>
        <p:blipFill>
          <a:blip r:embed="rId5"/>
          <a:stretch>
            <a:fillRect/>
          </a:stretch>
        </p:blipFill>
        <p:spPr>
          <a:xfrm>
            <a:off x="6523695" y="4123395"/>
            <a:ext cx="266273" cy="266273"/>
          </a:xfrm>
          <a:prstGeom prst="rect">
            <a:avLst/>
          </a:prstGeom>
        </p:spPr>
      </p:pic>
      <p:sp>
        <p:nvSpPr>
          <p:cNvPr id="25" name="TextBox 24"/>
          <p:cNvSpPr txBox="1"/>
          <p:nvPr/>
        </p:nvSpPr>
        <p:spPr>
          <a:xfrm>
            <a:off x="7050024" y="3982212"/>
            <a:ext cx="433425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Healthcare</a:t>
            </a:r>
          </a:p>
        </p:txBody>
      </p:sp>
      <p:sp>
        <p:nvSpPr>
          <p:cNvPr id="26" name="TextBox 25"/>
          <p:cNvSpPr txBox="1"/>
          <p:nvPr/>
        </p:nvSpPr>
        <p:spPr>
          <a:xfrm>
            <a:off x="6400800" y="4585716"/>
            <a:ext cx="4983480" cy="1101851"/>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AgentSea plus MOH's AI in Healthcare Guidelines (AIHGle 2.0) — healthcare is a national AI mission.</a:t>
            </a:r>
          </a:p>
        </p:txBody>
      </p:sp>
      <p:sp>
        <p:nvSpPr>
          <p:cNvPr id="27" name="TextBox 26"/>
          <p:cNvSpPr txBox="1"/>
          <p:nvPr/>
        </p:nvSpPr>
        <p:spPr>
          <a:xfrm>
            <a:off x="548640" y="5870448"/>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Course link: approval gates, budgets and audit logs (Labs 3, 7–10) are the 'human accountability' dimension in practice.</a:t>
            </a:r>
          </a:p>
        </p:txBody>
      </p:sp>
    </p:spTree>
  </p:cSld>
  <p:clrMapOvr>
    <a:masterClrMapping/>
  </p:clrMapOvr>
  <p:transition spd="med">
    <p:fade/>
  </p:transition>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HUMAN–AI COLLABORATION IN ACTION</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AI for Science — Agents Propose, Humans Decide</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51</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graphicFrame>
        <p:nvGraphicFramePr>
          <p:cNvPr id="7" name="Table 6"/>
          <p:cNvGraphicFramePr>
            <a:graphicFrameLocks noGrp="1"/>
          </p:cNvGraphicFramePr>
          <p:nvPr/>
        </p:nvGraphicFramePr>
        <p:xfrm>
          <a:off x="548640" y="1691640"/>
          <a:ext cx="11064240" cy="3817620"/>
        </p:xfrm>
        <a:graphic>
          <a:graphicData uri="http://schemas.openxmlformats.org/drawingml/2006/table">
            <a:tbl>
              <a:tblPr firstRow="0" bandRow="0">
                <a:tableStyleId>{5C22544A-7EE6-4342-B048-85BDC9FD1C3A}</a:tableStyleId>
              </a:tblPr>
              <a:tblGrid>
                <a:gridCol w="2286000"/>
                <a:gridCol w="3291840"/>
                <a:gridCol w="2926080"/>
                <a:gridCol w="2560320"/>
              </a:tblGrid>
              <a:tr h="457200">
                <a:tc>
                  <a:txBody>
                    <a:bodyPr wrap="square"/>
                    <a:lstStyle/>
                    <a:p>
                      <a:r>
                        <a:rPr b="1" sz="1550">
                          <a:solidFill>
                            <a:srgbClr val="FFFFFF"/>
                          </a:solidFill>
                          <a:latin typeface="Cambria"/>
                        </a:rPr>
                        <a:t>Use case</a:t>
                      </a:r>
                    </a:p>
                  </a:txBody>
                  <a:tcPr marL="64008" marR="64008" marT="27432" marB="27432" anchor="ctr">
                    <a:solidFill>
                      <a:srgbClr val="21201C"/>
                    </a:solidFill>
                  </a:tcPr>
                </a:tc>
                <a:tc>
                  <a:txBody>
                    <a:bodyPr wrap="square"/>
                    <a:lstStyle/>
                    <a:p>
                      <a:r>
                        <a:rPr b="1" sz="1550">
                          <a:solidFill>
                            <a:srgbClr val="FFFFFF"/>
                          </a:solidFill>
                          <a:latin typeface="Cambria"/>
                        </a:rPr>
                        <a:t>What the agent does</a:t>
                      </a:r>
                    </a:p>
                  </a:txBody>
                  <a:tcPr marL="64008" marR="64008" marT="27432" marB="27432" anchor="ctr">
                    <a:solidFill>
                      <a:srgbClr val="21201C"/>
                    </a:solidFill>
                  </a:tcPr>
                </a:tc>
                <a:tc>
                  <a:txBody>
                    <a:bodyPr wrap="square"/>
                    <a:lstStyle/>
                    <a:p>
                      <a:r>
                        <a:rPr b="1" sz="1550">
                          <a:solidFill>
                            <a:srgbClr val="FFFFFF"/>
                          </a:solidFill>
                          <a:latin typeface="Cambria"/>
                        </a:rPr>
                        <a:t>What the human does</a:t>
                      </a:r>
                    </a:p>
                  </a:txBody>
                  <a:tcPr marL="64008" marR="64008" marT="27432" marB="27432" anchor="ctr">
                    <a:solidFill>
                      <a:srgbClr val="21201C"/>
                    </a:solidFill>
                  </a:tcPr>
                </a:tc>
                <a:tc>
                  <a:txBody>
                    <a:bodyPr wrap="square"/>
                    <a:lstStyle/>
                    <a:p>
                      <a:r>
                        <a:rPr b="1" sz="1550">
                          <a:solidFill>
                            <a:srgbClr val="FFFFFF"/>
                          </a:solidFill>
                          <a:latin typeface="Cambria"/>
                        </a:rPr>
                        <a:t>Result</a:t>
                      </a:r>
                    </a:p>
                  </a:txBody>
                  <a:tcPr marL="64008" marR="64008" marT="27432" marB="27432" anchor="ctr">
                    <a:solidFill>
                      <a:srgbClr val="21201C"/>
                    </a:solidFill>
                  </a:tcPr>
                </a:tc>
              </a:tr>
              <a:tr h="1120140">
                <a:tc>
                  <a:txBody>
                    <a:bodyPr wrap="square"/>
                    <a:lstStyle/>
                    <a:p>
                      <a:r>
                        <a:rPr b="1" sz="1500">
                          <a:solidFill>
                            <a:srgbClr val="21201C"/>
                          </a:solidFill>
                          <a:latin typeface="Cambria"/>
                        </a:rPr>
                        <a:t>Google AI co-scientist (2025)</a:t>
                      </a:r>
                    </a:p>
                  </a:txBody>
                  <a:tcPr marL="64008" marR="64008" marT="27432" marB="27432" anchor="ctr">
                    <a:solidFill>
                      <a:srgbClr val="FFFFFF"/>
                    </a:solidFill>
                  </a:tcPr>
                </a:tc>
                <a:tc>
                  <a:txBody>
                    <a:bodyPr wrap="square"/>
                    <a:lstStyle/>
                    <a:p>
                      <a:r>
                        <a:rPr b="0" sz="1500">
                          <a:solidFill>
                            <a:srgbClr val="6B6862"/>
                          </a:solidFill>
                          <a:latin typeface="Calibri"/>
                        </a:rPr>
                        <a:t>Multi-agent system generates, debates and ranks hypotheses</a:t>
                      </a:r>
                    </a:p>
                  </a:txBody>
                  <a:tcPr marL="64008" marR="64008" marT="27432" marB="27432" anchor="ctr">
                    <a:solidFill>
                      <a:srgbClr val="FFFFFF"/>
                    </a:solidFill>
                  </a:tcPr>
                </a:tc>
                <a:tc>
                  <a:txBody>
                    <a:bodyPr wrap="square"/>
                    <a:lstStyle/>
                    <a:p>
                      <a:r>
                        <a:rPr b="0" sz="1500">
                          <a:solidFill>
                            <a:srgbClr val="6B6862"/>
                          </a:solidFill>
                          <a:latin typeface="Calibri"/>
                        </a:rPr>
                        <a:t>Sets the goal, picks hypotheses, runs wet-lab tests</a:t>
                      </a:r>
                    </a:p>
                  </a:txBody>
                  <a:tcPr marL="64008" marR="64008" marT="27432" marB="27432" anchor="ctr">
                    <a:solidFill>
                      <a:srgbClr val="FFFFFF"/>
                    </a:solidFill>
                  </a:tcPr>
                </a:tc>
                <a:tc>
                  <a:txBody>
                    <a:bodyPr wrap="square"/>
                    <a:lstStyle/>
                    <a:p>
                      <a:r>
                        <a:rPr b="0" sz="1500">
                          <a:solidFill>
                            <a:srgbClr val="6B6862"/>
                          </a:solidFill>
                          <a:latin typeface="Calibri"/>
                        </a:rPr>
                        <a:t>3 of 5 lab-tested leukaemia drug ideas worked</a:t>
                      </a:r>
                    </a:p>
                  </a:txBody>
                  <a:tcPr marL="64008" marR="64008" marT="27432" marB="27432" anchor="ctr">
                    <a:solidFill>
                      <a:srgbClr val="FFFFFF"/>
                    </a:solidFill>
                  </a:tcPr>
                </a:tc>
              </a:tr>
              <a:tr h="1120140">
                <a:tc>
                  <a:txBody>
                    <a:bodyPr wrap="square"/>
                    <a:lstStyle/>
                    <a:p>
                      <a:r>
                        <a:rPr b="1" sz="1500">
                          <a:solidFill>
                            <a:srgbClr val="21201C"/>
                          </a:solidFill>
                          <a:latin typeface="Cambria"/>
                        </a:rPr>
                        <a:t>Edison Kosmos (2025)</a:t>
                      </a:r>
                    </a:p>
                  </a:txBody>
                  <a:tcPr marL="64008" marR="64008" marT="27432" marB="27432" anchor="ctr">
                    <a:solidFill>
                      <a:srgbClr val="F3F1EB"/>
                    </a:solidFill>
                  </a:tcPr>
                </a:tc>
                <a:tc>
                  <a:txBody>
                    <a:bodyPr wrap="square"/>
                    <a:lstStyle/>
                    <a:p>
                      <a:r>
                        <a:rPr b="0" sz="1500">
                          <a:solidFill>
                            <a:srgbClr val="6B6862"/>
                          </a:solidFill>
                          <a:latin typeface="Calibri"/>
                        </a:rPr>
                        <a:t>Reads ~1,500 papers, writes ~42,000 lines of analysis code per run</a:t>
                      </a:r>
                    </a:p>
                  </a:txBody>
                  <a:tcPr marL="64008" marR="64008" marT="27432" marB="27432" anchor="ctr">
                    <a:solidFill>
                      <a:srgbClr val="F3F1EB"/>
                    </a:solidFill>
                  </a:tcPr>
                </a:tc>
                <a:tc>
                  <a:txBody>
                    <a:bodyPr wrap="square"/>
                    <a:lstStyle/>
                    <a:p>
                      <a:r>
                        <a:rPr b="0" sz="1500">
                          <a:solidFill>
                            <a:srgbClr val="6B6862"/>
                          </a:solidFill>
                          <a:latin typeface="Calibri"/>
                        </a:rPr>
                        <a:t>Sets objective, judges which findings matter</a:t>
                      </a:r>
                    </a:p>
                  </a:txBody>
                  <a:tcPr marL="64008" marR="64008" marT="27432" marB="27432" anchor="ctr">
                    <a:solidFill>
                      <a:srgbClr val="F3F1EB"/>
                    </a:solidFill>
                  </a:tcPr>
                </a:tc>
                <a:tc>
                  <a:txBody>
                    <a:bodyPr wrap="square"/>
                    <a:lstStyle/>
                    <a:p>
                      <a:r>
                        <a:rPr b="0" sz="1500">
                          <a:solidFill>
                            <a:srgbClr val="6B6862"/>
                          </a:solidFill>
                          <a:latin typeface="Calibri"/>
                        </a:rPr>
                        <a:t>79% of statements judged accurate</a:t>
                      </a:r>
                    </a:p>
                  </a:txBody>
                  <a:tcPr marL="64008" marR="64008" marT="27432" marB="27432" anchor="ctr">
                    <a:solidFill>
                      <a:srgbClr val="F3F1EB"/>
                    </a:solidFill>
                  </a:tcPr>
                </a:tc>
              </a:tr>
              <a:tr h="1120140">
                <a:tc>
                  <a:txBody>
                    <a:bodyPr wrap="square"/>
                    <a:lstStyle/>
                    <a:p>
                      <a:r>
                        <a:rPr b="1" sz="1500">
                          <a:solidFill>
                            <a:srgbClr val="21201C"/>
                          </a:solidFill>
                          <a:latin typeface="Cambria"/>
                        </a:rPr>
                        <a:t>Sakana AI Scientist (2025–26)</a:t>
                      </a:r>
                    </a:p>
                  </a:txBody>
                  <a:tcPr marL="64008" marR="64008" marT="27432" marB="27432" anchor="ctr">
                    <a:solidFill>
                      <a:srgbClr val="FFFFFF"/>
                    </a:solidFill>
                  </a:tcPr>
                </a:tc>
                <a:tc>
                  <a:txBody>
                    <a:bodyPr wrap="square"/>
                    <a:lstStyle/>
                    <a:p>
                      <a:r>
                        <a:rPr b="0" sz="1500">
                          <a:solidFill>
                            <a:srgbClr val="6B6862"/>
                          </a:solidFill>
                          <a:latin typeface="Calibri"/>
                        </a:rPr>
                        <a:t>Idea → code → experiments → paper → review</a:t>
                      </a:r>
                    </a:p>
                  </a:txBody>
                  <a:tcPr marL="64008" marR="64008" marT="27432" marB="27432" anchor="ctr">
                    <a:solidFill>
                      <a:srgbClr val="FFFFFF"/>
                    </a:solidFill>
                  </a:tcPr>
                </a:tc>
                <a:tc>
                  <a:txBody>
                    <a:bodyPr wrap="square"/>
                    <a:lstStyle/>
                    <a:p>
                      <a:r>
                        <a:rPr b="0" sz="1500">
                          <a:solidFill>
                            <a:srgbClr val="6B6862"/>
                          </a:solidFill>
                          <a:latin typeface="Calibri"/>
                        </a:rPr>
                        <a:t>Chooses the field, checks work, runs ethics review</a:t>
                      </a:r>
                    </a:p>
                  </a:txBody>
                  <a:tcPr marL="64008" marR="64008" marT="27432" marB="27432" anchor="ctr">
                    <a:solidFill>
                      <a:srgbClr val="FFFFFF"/>
                    </a:solidFill>
                  </a:tcPr>
                </a:tc>
                <a:tc>
                  <a:txBody>
                    <a:bodyPr wrap="square"/>
                    <a:lstStyle/>
                    <a:p>
                      <a:r>
                        <a:rPr b="0" sz="1500">
                          <a:solidFill>
                            <a:srgbClr val="6B6862"/>
                          </a:solidFill>
                          <a:latin typeface="Calibri"/>
                        </a:rPr>
                        <a:t>1 of 3 papers passed a workshop review</a:t>
                      </a:r>
                    </a:p>
                  </a:txBody>
                  <a:tcPr marL="64008" marR="64008" marT="27432" marB="27432" anchor="ctr">
                    <a:solidFill>
                      <a:srgbClr val="FFFFFF"/>
                    </a:solidFill>
                  </a:tcPr>
                </a:tc>
              </a:tr>
            </a:tbl>
          </a:graphicData>
        </a:graphic>
      </p:graphicFrame>
    </p:spTree>
  </p:cSld>
  <p:clrMapOvr>
    <a:masterClrMapping/>
  </p:clrMapOvr>
  <p:transition spd="med">
    <p:fade/>
  </p:transition>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HUMAN–AI COLLABORATION IN ACTION</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AI for Mathematics</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52</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graphicFrame>
        <p:nvGraphicFramePr>
          <p:cNvPr id="7" name="Table 6"/>
          <p:cNvGraphicFramePr>
            <a:graphicFrameLocks noGrp="1"/>
          </p:cNvGraphicFramePr>
          <p:nvPr/>
        </p:nvGraphicFramePr>
        <p:xfrm>
          <a:off x="548640" y="1691640"/>
          <a:ext cx="11064240" cy="4041648"/>
        </p:xfrm>
        <a:graphic>
          <a:graphicData uri="http://schemas.openxmlformats.org/drawingml/2006/table">
            <a:tbl>
              <a:tblPr firstRow="0" bandRow="0">
                <a:tableStyleId>{5C22544A-7EE6-4342-B048-85BDC9FD1C3A}</a:tableStyleId>
              </a:tblPr>
              <a:tblGrid>
                <a:gridCol w="2468880"/>
                <a:gridCol w="3017520"/>
                <a:gridCol w="3017520"/>
                <a:gridCol w="2560320"/>
              </a:tblGrid>
              <a:tr h="457200">
                <a:tc>
                  <a:txBody>
                    <a:bodyPr wrap="square"/>
                    <a:lstStyle/>
                    <a:p>
                      <a:r>
                        <a:rPr b="1" sz="1550">
                          <a:solidFill>
                            <a:srgbClr val="FFFFFF"/>
                          </a:solidFill>
                          <a:latin typeface="Cambria"/>
                        </a:rPr>
                        <a:t>Use case</a:t>
                      </a:r>
                    </a:p>
                  </a:txBody>
                  <a:tcPr marL="64008" marR="64008" marT="27432" marB="27432" anchor="ctr">
                    <a:solidFill>
                      <a:srgbClr val="21201C"/>
                    </a:solidFill>
                  </a:tcPr>
                </a:tc>
                <a:tc>
                  <a:txBody>
                    <a:bodyPr wrap="square"/>
                    <a:lstStyle/>
                    <a:p>
                      <a:r>
                        <a:rPr b="1" sz="1550">
                          <a:solidFill>
                            <a:srgbClr val="FFFFFF"/>
                          </a:solidFill>
                          <a:latin typeface="Cambria"/>
                        </a:rPr>
                        <a:t>What the agent does</a:t>
                      </a:r>
                    </a:p>
                  </a:txBody>
                  <a:tcPr marL="64008" marR="64008" marT="27432" marB="27432" anchor="ctr">
                    <a:solidFill>
                      <a:srgbClr val="21201C"/>
                    </a:solidFill>
                  </a:tcPr>
                </a:tc>
                <a:tc>
                  <a:txBody>
                    <a:bodyPr wrap="square"/>
                    <a:lstStyle/>
                    <a:p>
                      <a:r>
                        <a:rPr b="1" sz="1550">
                          <a:solidFill>
                            <a:srgbClr val="FFFFFF"/>
                          </a:solidFill>
                          <a:latin typeface="Cambria"/>
                        </a:rPr>
                        <a:t>What the human does</a:t>
                      </a:r>
                    </a:p>
                  </a:txBody>
                  <a:tcPr marL="64008" marR="64008" marT="27432" marB="27432" anchor="ctr">
                    <a:solidFill>
                      <a:srgbClr val="21201C"/>
                    </a:solidFill>
                  </a:tcPr>
                </a:tc>
                <a:tc>
                  <a:txBody>
                    <a:bodyPr wrap="square"/>
                    <a:lstStyle/>
                    <a:p>
                      <a:r>
                        <a:rPr b="1" sz="1550">
                          <a:solidFill>
                            <a:srgbClr val="FFFFFF"/>
                          </a:solidFill>
                          <a:latin typeface="Cambria"/>
                        </a:rPr>
                        <a:t>Result</a:t>
                      </a:r>
                    </a:p>
                  </a:txBody>
                  <a:tcPr marL="64008" marR="64008" marT="27432" marB="27432" anchor="ctr">
                    <a:solidFill>
                      <a:srgbClr val="21201C"/>
                    </a:solidFill>
                  </a:tcPr>
                </a:tc>
              </a:tr>
              <a:tr h="896112">
                <a:tc>
                  <a:txBody>
                    <a:bodyPr wrap="square"/>
                    <a:lstStyle/>
                    <a:p>
                      <a:r>
                        <a:rPr b="1" sz="1500">
                          <a:solidFill>
                            <a:srgbClr val="21201C"/>
                          </a:solidFill>
                          <a:latin typeface="Cambria"/>
                        </a:rPr>
                        <a:t>AlphaProof + AlphaGeometry (2024)</a:t>
                      </a:r>
                    </a:p>
                  </a:txBody>
                  <a:tcPr marL="64008" marR="64008" marT="27432" marB="27432" anchor="ctr">
                    <a:solidFill>
                      <a:srgbClr val="FFFFFF"/>
                    </a:solidFill>
                  </a:tcPr>
                </a:tc>
                <a:tc>
                  <a:txBody>
                    <a:bodyPr wrap="square"/>
                    <a:lstStyle/>
                    <a:p>
                      <a:r>
                        <a:rPr b="0" sz="1500">
                          <a:solidFill>
                            <a:srgbClr val="6B6862"/>
                          </a:solidFill>
                          <a:latin typeface="Calibri"/>
                        </a:rPr>
                        <a:t>Searches formal proofs in Lean</a:t>
                      </a:r>
                    </a:p>
                  </a:txBody>
                  <a:tcPr marL="64008" marR="64008" marT="27432" marB="27432" anchor="ctr">
                    <a:solidFill>
                      <a:srgbClr val="FFFFFF"/>
                    </a:solidFill>
                  </a:tcPr>
                </a:tc>
                <a:tc>
                  <a:txBody>
                    <a:bodyPr wrap="square"/>
                    <a:lstStyle/>
                    <a:p>
                      <a:r>
                        <a:rPr b="0" sz="1500">
                          <a:solidFill>
                            <a:srgbClr val="6B6862"/>
                          </a:solidFill>
                          <a:latin typeface="Calibri"/>
                        </a:rPr>
                        <a:t>Formalises problems; graders score</a:t>
                      </a:r>
                    </a:p>
                  </a:txBody>
                  <a:tcPr marL="64008" marR="64008" marT="27432" marB="27432" anchor="ctr">
                    <a:solidFill>
                      <a:srgbClr val="FFFFFF"/>
                    </a:solidFill>
                  </a:tcPr>
                </a:tc>
                <a:tc>
                  <a:txBody>
                    <a:bodyPr wrap="square"/>
                    <a:lstStyle/>
                    <a:p>
                      <a:r>
                        <a:rPr b="0" sz="1500">
                          <a:solidFill>
                            <a:srgbClr val="6B6862"/>
                          </a:solidFill>
                          <a:latin typeface="Calibri"/>
                        </a:rPr>
                        <a:t>IMO silver standard, 28/42</a:t>
                      </a:r>
                    </a:p>
                  </a:txBody>
                  <a:tcPr marL="64008" marR="64008" marT="27432" marB="27432" anchor="ctr">
                    <a:solidFill>
                      <a:srgbClr val="FFFFFF"/>
                    </a:solidFill>
                  </a:tcPr>
                </a:tc>
              </a:tr>
              <a:tr h="896112">
                <a:tc>
                  <a:txBody>
                    <a:bodyPr wrap="square"/>
                    <a:lstStyle/>
                    <a:p>
                      <a:r>
                        <a:rPr b="1" sz="1500">
                          <a:solidFill>
                            <a:srgbClr val="21201C"/>
                          </a:solidFill>
                          <a:latin typeface="Cambria"/>
                        </a:rPr>
                        <a:t>Gemini Deep Think (2025)</a:t>
                      </a:r>
                    </a:p>
                  </a:txBody>
                  <a:tcPr marL="64008" marR="64008" marT="27432" marB="27432" anchor="ctr">
                    <a:solidFill>
                      <a:srgbClr val="F3F1EB"/>
                    </a:solidFill>
                  </a:tcPr>
                </a:tc>
                <a:tc>
                  <a:txBody>
                    <a:bodyPr wrap="square"/>
                    <a:lstStyle/>
                    <a:p>
                      <a:r>
                        <a:rPr b="0" sz="1500">
                          <a:solidFill>
                            <a:srgbClr val="6B6862"/>
                          </a:solidFill>
                          <a:latin typeface="Calibri"/>
                        </a:rPr>
                        <a:t>Writes natural-language proofs in 4.5 h</a:t>
                      </a:r>
                    </a:p>
                  </a:txBody>
                  <a:tcPr marL="64008" marR="64008" marT="27432" marB="27432" anchor="ctr">
                    <a:solidFill>
                      <a:srgbClr val="F3F1EB"/>
                    </a:solidFill>
                  </a:tcPr>
                </a:tc>
                <a:tc>
                  <a:txBody>
                    <a:bodyPr wrap="square"/>
                    <a:lstStyle/>
                    <a:p>
                      <a:r>
                        <a:rPr b="0" sz="1500">
                          <a:solidFill>
                            <a:srgbClr val="6B6862"/>
                          </a:solidFill>
                          <a:latin typeface="Calibri"/>
                        </a:rPr>
                        <a:t>IMO coordinators grade and certify</a:t>
                      </a:r>
                    </a:p>
                  </a:txBody>
                  <a:tcPr marL="64008" marR="64008" marT="27432" marB="27432" anchor="ctr">
                    <a:solidFill>
                      <a:srgbClr val="F3F1EB"/>
                    </a:solidFill>
                  </a:tcPr>
                </a:tc>
                <a:tc>
                  <a:txBody>
                    <a:bodyPr wrap="square"/>
                    <a:lstStyle/>
                    <a:p>
                      <a:r>
                        <a:rPr b="0" sz="1500">
                          <a:solidFill>
                            <a:srgbClr val="6B6862"/>
                          </a:solidFill>
                          <a:latin typeface="Calibri"/>
                        </a:rPr>
                        <a:t>IMO gold, 35/42 (certified)</a:t>
                      </a:r>
                    </a:p>
                  </a:txBody>
                  <a:tcPr marL="64008" marR="64008" marT="27432" marB="27432" anchor="ctr">
                    <a:solidFill>
                      <a:srgbClr val="F3F1EB"/>
                    </a:solidFill>
                  </a:tcPr>
                </a:tc>
              </a:tr>
              <a:tr h="896112">
                <a:tc>
                  <a:txBody>
                    <a:bodyPr wrap="square"/>
                    <a:lstStyle/>
                    <a:p>
                      <a:r>
                        <a:rPr b="1" sz="1500">
                          <a:solidFill>
                            <a:srgbClr val="21201C"/>
                          </a:solidFill>
                          <a:latin typeface="Cambria"/>
                        </a:rPr>
                        <a:t>AlphaEvolve (2025)</a:t>
                      </a:r>
                    </a:p>
                  </a:txBody>
                  <a:tcPr marL="64008" marR="64008" marT="27432" marB="27432" anchor="ctr">
                    <a:solidFill>
                      <a:srgbClr val="FFFFFF"/>
                    </a:solidFill>
                  </a:tcPr>
                </a:tc>
                <a:tc>
                  <a:txBody>
                    <a:bodyPr wrap="square"/>
                    <a:lstStyle/>
                    <a:p>
                      <a:r>
                        <a:rPr b="0" sz="1500">
                          <a:solidFill>
                            <a:srgbClr val="6B6862"/>
                          </a:solidFill>
                          <a:latin typeface="Calibri"/>
                        </a:rPr>
                        <a:t>Evolves programs scored by an evaluator</a:t>
                      </a:r>
                    </a:p>
                  </a:txBody>
                  <a:tcPr marL="64008" marR="64008" marT="27432" marB="27432" anchor="ctr">
                    <a:solidFill>
                      <a:srgbClr val="FFFFFF"/>
                    </a:solidFill>
                  </a:tcPr>
                </a:tc>
                <a:tc>
                  <a:txBody>
                    <a:bodyPr wrap="square"/>
                    <a:lstStyle/>
                    <a:p>
                      <a:r>
                        <a:rPr b="0" sz="1500">
                          <a:solidFill>
                            <a:srgbClr val="6B6862"/>
                          </a:solidFill>
                          <a:latin typeface="Calibri"/>
                        </a:rPr>
                        <a:t>Defines the problem and WRITES the evaluator</a:t>
                      </a:r>
                    </a:p>
                  </a:txBody>
                  <a:tcPr marL="64008" marR="64008" marT="27432" marB="27432" anchor="ctr">
                    <a:solidFill>
                      <a:srgbClr val="FFFFFF"/>
                    </a:solidFill>
                  </a:tcPr>
                </a:tc>
                <a:tc>
                  <a:txBody>
                    <a:bodyPr wrap="square"/>
                    <a:lstStyle/>
                    <a:p>
                      <a:r>
                        <a:rPr b="0" sz="1500">
                          <a:solidFill>
                            <a:srgbClr val="6B6862"/>
                          </a:solidFill>
                          <a:latin typeface="Calibri"/>
                        </a:rPr>
                        <a:t>Improved best-known results in ~20% of 50+ problems</a:t>
                      </a:r>
                    </a:p>
                  </a:txBody>
                  <a:tcPr marL="64008" marR="64008" marT="27432" marB="27432" anchor="ctr">
                    <a:solidFill>
                      <a:srgbClr val="FFFFFF"/>
                    </a:solidFill>
                  </a:tcPr>
                </a:tc>
              </a:tr>
              <a:tr h="896112">
                <a:tc>
                  <a:txBody>
                    <a:bodyPr wrap="square"/>
                    <a:lstStyle/>
                    <a:p>
                      <a:r>
                        <a:rPr b="1" sz="1500">
                          <a:solidFill>
                            <a:srgbClr val="21201C"/>
                          </a:solidFill>
                          <a:latin typeface="Cambria"/>
                        </a:rPr>
                        <a:t>Terence Tao + AI (2025–26)</a:t>
                      </a:r>
                    </a:p>
                  </a:txBody>
                  <a:tcPr marL="64008" marR="64008" marT="27432" marB="27432" anchor="ctr">
                    <a:solidFill>
                      <a:srgbClr val="F3F1EB"/>
                    </a:solidFill>
                  </a:tcPr>
                </a:tc>
                <a:tc>
                  <a:txBody>
                    <a:bodyPr wrap="square"/>
                    <a:lstStyle/>
                    <a:p>
                      <a:r>
                        <a:rPr b="0" sz="1500">
                          <a:solidFill>
                            <a:srgbClr val="6B6862"/>
                          </a:solidFill>
                          <a:latin typeface="Calibri"/>
                        </a:rPr>
                        <a:t>Searches constructions; proposes proofs (Erdős problems)</a:t>
                      </a:r>
                    </a:p>
                  </a:txBody>
                  <a:tcPr marL="64008" marR="64008" marT="27432" marB="27432" anchor="ctr">
                    <a:solidFill>
                      <a:srgbClr val="F3F1EB"/>
                    </a:solidFill>
                  </a:tcPr>
                </a:tc>
                <a:tc>
                  <a:txBody>
                    <a:bodyPr wrap="square"/>
                    <a:lstStyle/>
                    <a:p>
                      <a:r>
                        <a:rPr b="0" sz="1500">
                          <a:solidFill>
                            <a:srgbClr val="6B6862"/>
                          </a:solidFill>
                          <a:latin typeface="Calibri"/>
                        </a:rPr>
                        <a:t>Chooses problems, checks and generalises</a:t>
                      </a:r>
                    </a:p>
                  </a:txBody>
                  <a:tcPr marL="64008" marR="64008" marT="27432" marB="27432" anchor="ctr">
                    <a:solidFill>
                      <a:srgbClr val="F3F1EB"/>
                    </a:solidFill>
                  </a:tcPr>
                </a:tc>
                <a:tc>
                  <a:txBody>
                    <a:bodyPr wrap="square"/>
                    <a:lstStyle/>
                    <a:p>
                      <a:r>
                        <a:rPr b="0" sz="1500">
                          <a:solidFill>
                            <a:srgbClr val="6B6862"/>
                          </a:solidFill>
                          <a:latin typeface="Calibri"/>
                        </a:rPr>
                        <a:t>Real wins — mostly 'cheap wins', says Tao</a:t>
                      </a:r>
                    </a:p>
                  </a:txBody>
                  <a:tcPr marL="64008" marR="64008" marT="27432" marB="27432" anchor="ctr">
                    <a:solidFill>
                      <a:srgbClr val="F3F1EB"/>
                    </a:solidFill>
                  </a:tcPr>
                </a:tc>
              </a:tr>
            </a:tbl>
          </a:graphicData>
        </a:graphic>
      </p:graphicFrame>
    </p:spTree>
  </p:cSld>
  <p:clrMapOvr>
    <a:masterClrMapping/>
  </p:clrMapOvr>
  <p:transition spd="med">
    <p:fade/>
  </p:transition>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HUMAN–AI COLLABORATION IN ACTION</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Drug Discovery &amp; Biology</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53</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graphicFrame>
        <p:nvGraphicFramePr>
          <p:cNvPr id="7" name="Table 6"/>
          <p:cNvGraphicFramePr>
            <a:graphicFrameLocks noGrp="1"/>
          </p:cNvGraphicFramePr>
          <p:nvPr/>
        </p:nvGraphicFramePr>
        <p:xfrm>
          <a:off x="548640" y="1691640"/>
          <a:ext cx="11064240" cy="3440427"/>
        </p:xfrm>
        <a:graphic>
          <a:graphicData uri="http://schemas.openxmlformats.org/drawingml/2006/table">
            <a:tbl>
              <a:tblPr firstRow="0" bandRow="0">
                <a:tableStyleId>{5C22544A-7EE6-4342-B048-85BDC9FD1C3A}</a:tableStyleId>
              </a:tblPr>
              <a:tblGrid>
                <a:gridCol w="2286000"/>
                <a:gridCol w="3200400"/>
                <a:gridCol w="3108960"/>
                <a:gridCol w="2468880"/>
              </a:tblGrid>
              <a:tr h="457200">
                <a:tc>
                  <a:txBody>
                    <a:bodyPr wrap="square"/>
                    <a:lstStyle/>
                    <a:p>
                      <a:r>
                        <a:rPr b="1" sz="1550">
                          <a:solidFill>
                            <a:srgbClr val="FFFFFF"/>
                          </a:solidFill>
                          <a:latin typeface="Cambria"/>
                        </a:rPr>
                        <a:t>Use case</a:t>
                      </a:r>
                    </a:p>
                  </a:txBody>
                  <a:tcPr marL="64008" marR="64008" marT="27432" marB="27432" anchor="ctr">
                    <a:solidFill>
                      <a:srgbClr val="21201C"/>
                    </a:solidFill>
                  </a:tcPr>
                </a:tc>
                <a:tc>
                  <a:txBody>
                    <a:bodyPr wrap="square"/>
                    <a:lstStyle/>
                    <a:p>
                      <a:r>
                        <a:rPr b="1" sz="1550">
                          <a:solidFill>
                            <a:srgbClr val="FFFFFF"/>
                          </a:solidFill>
                          <a:latin typeface="Cambria"/>
                        </a:rPr>
                        <a:t>What the AI does</a:t>
                      </a:r>
                    </a:p>
                  </a:txBody>
                  <a:tcPr marL="64008" marR="64008" marT="27432" marB="27432" anchor="ctr">
                    <a:solidFill>
                      <a:srgbClr val="21201C"/>
                    </a:solidFill>
                  </a:tcPr>
                </a:tc>
                <a:tc>
                  <a:txBody>
                    <a:bodyPr wrap="square"/>
                    <a:lstStyle/>
                    <a:p>
                      <a:r>
                        <a:rPr b="1" sz="1550">
                          <a:solidFill>
                            <a:srgbClr val="FFFFFF"/>
                          </a:solidFill>
                          <a:latin typeface="Cambria"/>
                        </a:rPr>
                        <a:t>What the human does</a:t>
                      </a:r>
                    </a:p>
                  </a:txBody>
                  <a:tcPr marL="64008" marR="64008" marT="27432" marB="27432" anchor="ctr">
                    <a:solidFill>
                      <a:srgbClr val="21201C"/>
                    </a:solidFill>
                  </a:tcPr>
                </a:tc>
                <a:tc>
                  <a:txBody>
                    <a:bodyPr wrap="square"/>
                    <a:lstStyle/>
                    <a:p>
                      <a:r>
                        <a:rPr b="1" sz="1550">
                          <a:solidFill>
                            <a:srgbClr val="FFFFFF"/>
                          </a:solidFill>
                          <a:latin typeface="Cambria"/>
                        </a:rPr>
                        <a:t>Status</a:t>
                      </a:r>
                    </a:p>
                  </a:txBody>
                  <a:tcPr marL="64008" marR="64008" marT="27432" marB="27432" anchor="ctr">
                    <a:solidFill>
                      <a:srgbClr val="21201C"/>
                    </a:solidFill>
                  </a:tcPr>
                </a:tc>
              </a:tr>
              <a:tr h="994409">
                <a:tc>
                  <a:txBody>
                    <a:bodyPr wrap="square"/>
                    <a:lstStyle/>
                    <a:p>
                      <a:r>
                        <a:rPr b="1" sz="1500">
                          <a:solidFill>
                            <a:srgbClr val="21201C"/>
                          </a:solidFill>
                          <a:latin typeface="Cambria"/>
                        </a:rPr>
                        <a:t>AlphaFold 3 (2024)</a:t>
                      </a:r>
                    </a:p>
                  </a:txBody>
                  <a:tcPr marL="64008" marR="64008" marT="27432" marB="27432" anchor="ctr">
                    <a:solidFill>
                      <a:srgbClr val="FFFFFF"/>
                    </a:solidFill>
                  </a:tcPr>
                </a:tc>
                <a:tc>
                  <a:txBody>
                    <a:bodyPr wrap="square"/>
                    <a:lstStyle/>
                    <a:p>
                      <a:r>
                        <a:rPr b="0" sz="1500">
                          <a:solidFill>
                            <a:srgbClr val="6B6862"/>
                          </a:solidFill>
                          <a:latin typeface="Calibri"/>
                        </a:rPr>
                        <a:t>Predicts structures of proteins, DNA, RNA and ligands</a:t>
                      </a:r>
                    </a:p>
                  </a:txBody>
                  <a:tcPr marL="64008" marR="64008" marT="27432" marB="27432" anchor="ctr">
                    <a:solidFill>
                      <a:srgbClr val="FFFFFF"/>
                    </a:solidFill>
                  </a:tcPr>
                </a:tc>
                <a:tc>
                  <a:txBody>
                    <a:bodyPr wrap="square"/>
                    <a:lstStyle/>
                    <a:p>
                      <a:r>
                        <a:rPr b="0" sz="1500">
                          <a:solidFill>
                            <a:srgbClr val="6B6862"/>
                          </a:solidFill>
                          <a:latin typeface="Calibri"/>
                        </a:rPr>
                        <a:t>Forms hypotheses, chooses targets, validates in the lab</a:t>
                      </a:r>
                    </a:p>
                  </a:txBody>
                  <a:tcPr marL="64008" marR="64008" marT="27432" marB="27432" anchor="ctr">
                    <a:solidFill>
                      <a:srgbClr val="FFFFFF"/>
                    </a:solidFill>
                  </a:tcPr>
                </a:tc>
                <a:tc>
                  <a:txBody>
                    <a:bodyPr wrap="square"/>
                    <a:lstStyle/>
                    <a:p>
                      <a:r>
                        <a:rPr b="0" sz="1500">
                          <a:solidFill>
                            <a:srgbClr val="6B6862"/>
                          </a:solidFill>
                          <a:latin typeface="Calibri"/>
                        </a:rPr>
                        <a:t>2024 Nobel Prize in Chemistry (AlphaFold)</a:t>
                      </a:r>
                    </a:p>
                  </a:txBody>
                  <a:tcPr marL="64008" marR="64008" marT="27432" marB="27432" anchor="ctr">
                    <a:solidFill>
                      <a:srgbClr val="FFFFFF"/>
                    </a:solidFill>
                  </a:tcPr>
                </a:tc>
              </a:tr>
              <a:tr h="994409">
                <a:tc>
                  <a:txBody>
                    <a:bodyPr wrap="square"/>
                    <a:lstStyle/>
                    <a:p>
                      <a:r>
                        <a:rPr b="1" sz="1500">
                          <a:solidFill>
                            <a:srgbClr val="21201C"/>
                          </a:solidFill>
                          <a:latin typeface="Cambria"/>
                        </a:rPr>
                        <a:t>Insilico rentosertib (2025)</a:t>
                      </a:r>
                    </a:p>
                  </a:txBody>
                  <a:tcPr marL="64008" marR="64008" marT="27432" marB="27432" anchor="ctr">
                    <a:solidFill>
                      <a:srgbClr val="F3F1EB"/>
                    </a:solidFill>
                  </a:tcPr>
                </a:tc>
                <a:tc>
                  <a:txBody>
                    <a:bodyPr wrap="square"/>
                    <a:lstStyle/>
                    <a:p>
                      <a:r>
                        <a:rPr b="0" sz="1500">
                          <a:solidFill>
                            <a:srgbClr val="6B6862"/>
                          </a:solidFill>
                          <a:latin typeface="Calibri"/>
                        </a:rPr>
                        <a:t>Found the TNIK target and designed the molecule</a:t>
                      </a:r>
                    </a:p>
                  </a:txBody>
                  <a:tcPr marL="64008" marR="64008" marT="27432" marB="27432" anchor="ctr">
                    <a:solidFill>
                      <a:srgbClr val="F3F1EB"/>
                    </a:solidFill>
                  </a:tcPr>
                </a:tc>
                <a:tc>
                  <a:txBody>
                    <a:bodyPr wrap="square"/>
                    <a:lstStyle/>
                    <a:p>
                      <a:r>
                        <a:rPr b="0" sz="1500">
                          <a:solidFill>
                            <a:srgbClr val="6B6862"/>
                          </a:solidFill>
                          <a:latin typeface="Calibri"/>
                        </a:rPr>
                        <a:t>Clinicians ran the Phase 2a trial; regulators approved</a:t>
                      </a:r>
                    </a:p>
                  </a:txBody>
                  <a:tcPr marL="64008" marR="64008" marT="27432" marB="27432" anchor="ctr">
                    <a:solidFill>
                      <a:srgbClr val="F3F1EB"/>
                    </a:solidFill>
                  </a:tcPr>
                </a:tc>
                <a:tc>
                  <a:txBody>
                    <a:bodyPr wrap="square"/>
                    <a:lstStyle/>
                    <a:p>
                      <a:r>
                        <a:rPr b="0" sz="1500">
                          <a:solidFill>
                            <a:srgbClr val="6B6862"/>
                          </a:solidFill>
                          <a:latin typeface="Calibri"/>
                        </a:rPr>
                        <a:t>Nature Medicine, Jun 2025 — safety met</a:t>
                      </a:r>
                    </a:p>
                  </a:txBody>
                  <a:tcPr marL="64008" marR="64008" marT="27432" marB="27432" anchor="ctr">
                    <a:solidFill>
                      <a:srgbClr val="F3F1EB"/>
                    </a:solidFill>
                  </a:tcPr>
                </a:tc>
              </a:tr>
              <a:tr h="994409">
                <a:tc>
                  <a:txBody>
                    <a:bodyPr wrap="square"/>
                    <a:lstStyle/>
                    <a:p>
                      <a:r>
                        <a:rPr b="1" sz="1500">
                          <a:solidFill>
                            <a:srgbClr val="21201C"/>
                          </a:solidFill>
                          <a:latin typeface="Cambria"/>
                        </a:rPr>
                        <a:t>Isomorphic Labs (2026)</a:t>
                      </a:r>
                    </a:p>
                  </a:txBody>
                  <a:tcPr marL="64008" marR="64008" marT="27432" marB="27432" anchor="ctr">
                    <a:solidFill>
                      <a:srgbClr val="FFFFFF"/>
                    </a:solidFill>
                  </a:tcPr>
                </a:tc>
                <a:tc>
                  <a:txBody>
                    <a:bodyPr wrap="square"/>
                    <a:lstStyle/>
                    <a:p>
                      <a:r>
                        <a:rPr b="0" sz="1500">
                          <a:solidFill>
                            <a:srgbClr val="6B6862"/>
                          </a:solidFill>
                          <a:latin typeface="Calibri"/>
                        </a:rPr>
                        <a:t>In-house AI drug-design engine</a:t>
                      </a:r>
                    </a:p>
                  </a:txBody>
                  <a:tcPr marL="64008" marR="64008" marT="27432" marB="27432" anchor="ctr">
                    <a:solidFill>
                      <a:srgbClr val="FFFFFF"/>
                    </a:solidFill>
                  </a:tcPr>
                </a:tc>
                <a:tc>
                  <a:txBody>
                    <a:bodyPr wrap="square"/>
                    <a:lstStyle/>
                    <a:p>
                      <a:r>
                        <a:rPr b="0" sz="1500">
                          <a:solidFill>
                            <a:srgbClr val="6B6862"/>
                          </a:solidFill>
                          <a:latin typeface="Calibri"/>
                        </a:rPr>
                        <a:t>Chemists, pharma partners, clinical teams</a:t>
                      </a:r>
                    </a:p>
                  </a:txBody>
                  <a:tcPr marL="64008" marR="64008" marT="27432" marB="27432" anchor="ctr">
                    <a:solidFill>
                      <a:srgbClr val="FFFFFF"/>
                    </a:solidFill>
                  </a:tcPr>
                </a:tc>
                <a:tc>
                  <a:txBody>
                    <a:bodyPr wrap="square"/>
                    <a:lstStyle/>
                    <a:p>
                      <a:r>
                        <a:rPr b="0" sz="1500">
                          <a:solidFill>
                            <a:srgbClr val="6B6862"/>
                          </a:solidFill>
                          <a:latin typeface="Calibri"/>
                        </a:rPr>
                        <a:t>US$2.1B raised; first trials targeted end-2026</a:t>
                      </a:r>
                    </a:p>
                  </a:txBody>
                  <a:tcPr marL="64008" marR="64008" marT="27432" marB="27432" anchor="ctr">
                    <a:solidFill>
                      <a:srgbClr val="FFFFFF"/>
                    </a:solidFill>
                  </a:tcPr>
                </a:tc>
              </a:tr>
            </a:tbl>
          </a:graphicData>
        </a:graphic>
      </p:graphicFrame>
      <p:sp>
        <p:nvSpPr>
          <p:cNvPr id="8" name="TextBox 7"/>
          <p:cNvSpPr txBox="1"/>
          <p:nvPr/>
        </p:nvSpPr>
        <p:spPr>
          <a:xfrm>
            <a:off x="548640" y="5760720"/>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Agents shorten discovery; humans still design the experiment, validate, and carry the clinical and ethical responsibility.</a:t>
            </a:r>
          </a:p>
        </p:txBody>
      </p:sp>
    </p:spTree>
  </p:cSld>
  <p:clrMapOvr>
    <a:masterClrMapping/>
  </p:clrMapOvr>
  <p:transition spd="med">
    <p:fade/>
  </p:transition>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HUMAN–AI COLLABORATION IN ACTION</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Business Functions</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54</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graphicFrame>
        <p:nvGraphicFramePr>
          <p:cNvPr id="7" name="Table 6"/>
          <p:cNvGraphicFramePr>
            <a:graphicFrameLocks noGrp="1"/>
          </p:cNvGraphicFramePr>
          <p:nvPr/>
        </p:nvGraphicFramePr>
        <p:xfrm>
          <a:off x="548640" y="1691640"/>
          <a:ext cx="11064240" cy="4191000"/>
        </p:xfrm>
        <a:graphic>
          <a:graphicData uri="http://schemas.openxmlformats.org/drawingml/2006/table">
            <a:tbl>
              <a:tblPr firstRow="0" bandRow="0">
                <a:tableStyleId>{5C22544A-7EE6-4342-B048-85BDC9FD1C3A}</a:tableStyleId>
              </a:tblPr>
              <a:tblGrid>
                <a:gridCol w="1645920"/>
                <a:gridCol w="3474720"/>
                <a:gridCol w="3017520"/>
                <a:gridCol w="2926080"/>
              </a:tblGrid>
              <a:tr h="457200">
                <a:tc>
                  <a:txBody>
                    <a:bodyPr wrap="square"/>
                    <a:lstStyle/>
                    <a:p>
                      <a:r>
                        <a:rPr b="1" sz="1550">
                          <a:solidFill>
                            <a:srgbClr val="FFFFFF"/>
                          </a:solidFill>
                          <a:latin typeface="Cambria"/>
                        </a:rPr>
                        <a:t>Function</a:t>
                      </a:r>
                    </a:p>
                  </a:txBody>
                  <a:tcPr marL="64008" marR="64008" marT="27432" marB="27432" anchor="ctr">
                    <a:solidFill>
                      <a:srgbClr val="21201C"/>
                    </a:solidFill>
                  </a:tcPr>
                </a:tc>
                <a:tc>
                  <a:txBody>
                    <a:bodyPr wrap="square"/>
                    <a:lstStyle/>
                    <a:p>
                      <a:r>
                        <a:rPr b="1" sz="1550">
                          <a:solidFill>
                            <a:srgbClr val="FFFFFF"/>
                          </a:solidFill>
                          <a:latin typeface="Cambria"/>
                        </a:rPr>
                        <a:t>Agent does</a:t>
                      </a:r>
                    </a:p>
                  </a:txBody>
                  <a:tcPr marL="64008" marR="64008" marT="27432" marB="27432" anchor="ctr">
                    <a:solidFill>
                      <a:srgbClr val="21201C"/>
                    </a:solidFill>
                  </a:tcPr>
                </a:tc>
                <a:tc>
                  <a:txBody>
                    <a:bodyPr wrap="square"/>
                    <a:lstStyle/>
                    <a:p>
                      <a:r>
                        <a:rPr b="1" sz="1550">
                          <a:solidFill>
                            <a:srgbClr val="FFFFFF"/>
                          </a:solidFill>
                          <a:latin typeface="Cambria"/>
                        </a:rPr>
                        <a:t>Human does</a:t>
                      </a:r>
                    </a:p>
                  </a:txBody>
                  <a:tcPr marL="64008" marR="64008" marT="27432" marB="27432" anchor="ctr">
                    <a:solidFill>
                      <a:srgbClr val="21201C"/>
                    </a:solidFill>
                  </a:tcPr>
                </a:tc>
                <a:tc>
                  <a:txBody>
                    <a:bodyPr wrap="square"/>
                    <a:lstStyle/>
                    <a:p>
                      <a:r>
                        <a:rPr b="1" sz="1550">
                          <a:solidFill>
                            <a:srgbClr val="FFFFFF"/>
                          </a:solidFill>
                          <a:latin typeface="Cambria"/>
                        </a:rPr>
                        <a:t>Evidence</a:t>
                      </a:r>
                    </a:p>
                  </a:txBody>
                  <a:tcPr marL="64008" marR="64008" marT="27432" marB="27432" anchor="ctr">
                    <a:solidFill>
                      <a:srgbClr val="21201C"/>
                    </a:solidFill>
                  </a:tcPr>
                </a:tc>
              </a:tr>
              <a:tr h="746760">
                <a:tc>
                  <a:txBody>
                    <a:bodyPr wrap="square"/>
                    <a:lstStyle/>
                    <a:p>
                      <a:r>
                        <a:rPr b="1" sz="1500">
                          <a:solidFill>
                            <a:srgbClr val="21201C"/>
                          </a:solidFill>
                          <a:latin typeface="Cambria"/>
                        </a:rPr>
                        <a:t>Healthcare</a:t>
                      </a:r>
                    </a:p>
                  </a:txBody>
                  <a:tcPr marL="64008" marR="64008" marT="27432" marB="27432" anchor="ctr">
                    <a:solidFill>
                      <a:srgbClr val="FFFFFF"/>
                    </a:solidFill>
                  </a:tcPr>
                </a:tc>
                <a:tc>
                  <a:txBody>
                    <a:bodyPr wrap="square"/>
                    <a:lstStyle/>
                    <a:p>
                      <a:r>
                        <a:rPr b="0" sz="1500">
                          <a:solidFill>
                            <a:srgbClr val="6B6862"/>
                          </a:solidFill>
                          <a:latin typeface="Calibri"/>
                        </a:rPr>
                        <a:t>MAI-DxO: virtual panel orders tests step by step</a:t>
                      </a:r>
                    </a:p>
                  </a:txBody>
                  <a:tcPr marL="64008" marR="64008" marT="27432" marB="27432" anchor="ctr">
                    <a:solidFill>
                      <a:srgbClr val="FFFFFF"/>
                    </a:solidFill>
                  </a:tcPr>
                </a:tc>
                <a:tc>
                  <a:txBody>
                    <a:bodyPr wrap="square"/>
                    <a:lstStyle/>
                    <a:p>
                      <a:r>
                        <a:rPr b="0" sz="1500">
                          <a:solidFill>
                            <a:srgbClr val="6B6862"/>
                          </a:solidFill>
                          <a:latin typeface="Calibri"/>
                        </a:rPr>
                        <a:t>Clinician owns diagnosis and treatment</a:t>
                      </a:r>
                    </a:p>
                  </a:txBody>
                  <a:tcPr marL="64008" marR="64008" marT="27432" marB="27432" anchor="ctr">
                    <a:solidFill>
                      <a:srgbClr val="FFFFFF"/>
                    </a:solidFill>
                  </a:tcPr>
                </a:tc>
                <a:tc>
                  <a:txBody>
                    <a:bodyPr wrap="square"/>
                    <a:lstStyle/>
                    <a:p>
                      <a:r>
                        <a:rPr b="0" sz="1500">
                          <a:solidFill>
                            <a:srgbClr val="6B6862"/>
                          </a:solidFill>
                          <a:latin typeface="Calibri"/>
                        </a:rPr>
                        <a:t>85.5% on 304 NEJM cases (benchmark only)</a:t>
                      </a:r>
                    </a:p>
                  </a:txBody>
                  <a:tcPr marL="64008" marR="64008" marT="27432" marB="27432" anchor="ctr">
                    <a:solidFill>
                      <a:srgbClr val="FFFFFF"/>
                    </a:solidFill>
                  </a:tcPr>
                </a:tc>
              </a:tr>
              <a:tr h="746760">
                <a:tc>
                  <a:txBody>
                    <a:bodyPr wrap="square"/>
                    <a:lstStyle/>
                    <a:p>
                      <a:r>
                        <a:rPr b="1" sz="1500">
                          <a:solidFill>
                            <a:srgbClr val="21201C"/>
                          </a:solidFill>
                          <a:latin typeface="Cambria"/>
                        </a:rPr>
                        <a:t>Finance</a:t>
                      </a:r>
                    </a:p>
                  </a:txBody>
                  <a:tcPr marL="64008" marR="64008" marT="27432" marB="27432" anchor="ctr">
                    <a:solidFill>
                      <a:srgbClr val="F3F1EB"/>
                    </a:solidFill>
                  </a:tcPr>
                </a:tc>
                <a:tc>
                  <a:txBody>
                    <a:bodyPr wrap="square"/>
                    <a:lstStyle/>
                    <a:p>
                      <a:r>
                        <a:rPr b="0" sz="1500">
                          <a:solidFill>
                            <a:srgbClr val="6B6862"/>
                          </a:solidFill>
                          <a:latin typeface="Calibri"/>
                        </a:rPr>
                        <a:t>Claude agents for trade accounting and client onboarding</a:t>
                      </a:r>
                    </a:p>
                  </a:txBody>
                  <a:tcPr marL="64008" marR="64008" marT="27432" marB="27432" anchor="ctr">
                    <a:solidFill>
                      <a:srgbClr val="F3F1EB"/>
                    </a:solidFill>
                  </a:tcPr>
                </a:tc>
                <a:tc>
                  <a:txBody>
                    <a:bodyPr wrap="square"/>
                    <a:lstStyle/>
                    <a:p>
                      <a:r>
                        <a:rPr b="0" sz="1500">
                          <a:solidFill>
                            <a:srgbClr val="6B6862"/>
                          </a:solidFill>
                          <a:latin typeface="Calibri"/>
                        </a:rPr>
                        <a:t>Staff review exceptions and approve</a:t>
                      </a:r>
                    </a:p>
                  </a:txBody>
                  <a:tcPr marL="64008" marR="64008" marT="27432" marB="27432" anchor="ctr">
                    <a:solidFill>
                      <a:srgbClr val="F3F1EB"/>
                    </a:solidFill>
                  </a:tcPr>
                </a:tc>
                <a:tc>
                  <a:txBody>
                    <a:bodyPr wrap="square"/>
                    <a:lstStyle/>
                    <a:p>
                      <a:r>
                        <a:rPr b="0" sz="1500">
                          <a:solidFill>
                            <a:srgbClr val="6B6862"/>
                          </a:solidFill>
                          <a:latin typeface="Calibri"/>
                        </a:rPr>
                        <a:t>Goldman Sachs + Anthropic, Feb 2026</a:t>
                      </a:r>
                    </a:p>
                  </a:txBody>
                  <a:tcPr marL="64008" marR="64008" marT="27432" marB="27432" anchor="ctr">
                    <a:solidFill>
                      <a:srgbClr val="F3F1EB"/>
                    </a:solidFill>
                  </a:tcPr>
                </a:tc>
              </a:tr>
              <a:tr h="746760">
                <a:tc>
                  <a:txBody>
                    <a:bodyPr wrap="square"/>
                    <a:lstStyle/>
                    <a:p>
                      <a:r>
                        <a:rPr b="1" sz="1500">
                          <a:solidFill>
                            <a:srgbClr val="21201C"/>
                          </a:solidFill>
                          <a:latin typeface="Cambria"/>
                        </a:rPr>
                        <a:t>Software</a:t>
                      </a:r>
                    </a:p>
                  </a:txBody>
                  <a:tcPr marL="64008" marR="64008" marT="27432" marB="27432" anchor="ctr">
                    <a:solidFill>
                      <a:srgbClr val="FFFFFF"/>
                    </a:solidFill>
                  </a:tcPr>
                </a:tc>
                <a:tc>
                  <a:txBody>
                    <a:bodyPr wrap="square"/>
                    <a:lstStyle/>
                    <a:p>
                      <a:r>
                        <a:rPr b="0" sz="1500">
                          <a:solidFill>
                            <a:srgbClr val="6B6862"/>
                          </a:solidFill>
                          <a:latin typeface="Calibri"/>
                        </a:rPr>
                        <a:t>Codex writes code, tests, CI and docs</a:t>
                      </a:r>
                    </a:p>
                  </a:txBody>
                  <a:tcPr marL="64008" marR="64008" marT="27432" marB="27432" anchor="ctr">
                    <a:solidFill>
                      <a:srgbClr val="FFFFFF"/>
                    </a:solidFill>
                  </a:tcPr>
                </a:tc>
                <a:tc>
                  <a:txBody>
                    <a:bodyPr wrap="square"/>
                    <a:lstStyle/>
                    <a:p>
                      <a:r>
                        <a:rPr b="0" sz="1500">
                          <a:solidFill>
                            <a:srgbClr val="6B6862"/>
                          </a:solidFill>
                          <a:latin typeface="Calibri"/>
                        </a:rPr>
                        <a:t>Engineers steer, review and build feedback loops</a:t>
                      </a:r>
                    </a:p>
                  </a:txBody>
                  <a:tcPr marL="64008" marR="64008" marT="27432" marB="27432" anchor="ctr">
                    <a:solidFill>
                      <a:srgbClr val="FFFFFF"/>
                    </a:solidFill>
                  </a:tcPr>
                </a:tc>
                <a:tc>
                  <a:txBody>
                    <a:bodyPr wrap="square"/>
                    <a:lstStyle/>
                    <a:p>
                      <a:r>
                        <a:rPr b="0" sz="1500">
                          <a:solidFill>
                            <a:srgbClr val="6B6862"/>
                          </a:solidFill>
                          <a:latin typeface="Calibri"/>
                        </a:rPr>
                        <a:t>~1M lines, no hand-written code (OpenAI)</a:t>
                      </a:r>
                    </a:p>
                  </a:txBody>
                  <a:tcPr marL="64008" marR="64008" marT="27432" marB="27432" anchor="ctr">
                    <a:solidFill>
                      <a:srgbClr val="FFFFFF"/>
                    </a:solidFill>
                  </a:tcPr>
                </a:tc>
              </a:tr>
              <a:tr h="746760">
                <a:tc>
                  <a:txBody>
                    <a:bodyPr wrap="square"/>
                    <a:lstStyle/>
                    <a:p>
                      <a:r>
                        <a:rPr b="1" sz="1500">
                          <a:solidFill>
                            <a:srgbClr val="21201C"/>
                          </a:solidFill>
                          <a:latin typeface="Cambria"/>
                        </a:rPr>
                        <a:t>Customer service</a:t>
                      </a:r>
                    </a:p>
                  </a:txBody>
                  <a:tcPr marL="64008" marR="64008" marT="27432" marB="27432" anchor="ctr">
                    <a:solidFill>
                      <a:srgbClr val="F3F1EB"/>
                    </a:solidFill>
                  </a:tcPr>
                </a:tc>
                <a:tc>
                  <a:txBody>
                    <a:bodyPr wrap="square"/>
                    <a:lstStyle/>
                    <a:p>
                      <a:r>
                        <a:rPr b="0" sz="1500">
                          <a:solidFill>
                            <a:srgbClr val="6B6862"/>
                          </a:solidFill>
                          <a:latin typeface="Calibri"/>
                        </a:rPr>
                        <a:t>Handles routine chats in 35+ languages</a:t>
                      </a:r>
                    </a:p>
                  </a:txBody>
                  <a:tcPr marL="64008" marR="64008" marT="27432" marB="27432" anchor="ctr">
                    <a:solidFill>
                      <a:srgbClr val="F3F1EB"/>
                    </a:solidFill>
                  </a:tcPr>
                </a:tc>
                <a:tc>
                  <a:txBody>
                    <a:bodyPr wrap="square"/>
                    <a:lstStyle/>
                    <a:p>
                      <a:r>
                        <a:rPr b="0" sz="1500">
                          <a:solidFill>
                            <a:srgbClr val="6B6862"/>
                          </a:solidFill>
                          <a:latin typeface="Calibri"/>
                        </a:rPr>
                        <a:t>Takes complex and sensitive cases</a:t>
                      </a:r>
                    </a:p>
                  </a:txBody>
                  <a:tcPr marL="64008" marR="64008" marT="27432" marB="27432" anchor="ctr">
                    <a:solidFill>
                      <a:srgbClr val="F3F1EB"/>
                    </a:solidFill>
                  </a:tcPr>
                </a:tc>
                <a:tc>
                  <a:txBody>
                    <a:bodyPr wrap="square"/>
                    <a:lstStyle/>
                    <a:p>
                      <a:r>
                        <a:rPr b="0" sz="1500">
                          <a:solidFill>
                            <a:srgbClr val="6B6862"/>
                          </a:solidFill>
                          <a:latin typeface="Calibri"/>
                        </a:rPr>
                        <a:t>Klarna re-prioritised human access in 2025</a:t>
                      </a:r>
                    </a:p>
                  </a:txBody>
                  <a:tcPr marL="64008" marR="64008" marT="27432" marB="27432" anchor="ctr">
                    <a:solidFill>
                      <a:srgbClr val="F3F1EB"/>
                    </a:solidFill>
                  </a:tcPr>
                </a:tc>
              </a:tr>
              <a:tr h="746760">
                <a:tc>
                  <a:txBody>
                    <a:bodyPr wrap="square"/>
                    <a:lstStyle/>
                    <a:p>
                      <a:r>
                        <a:rPr b="1" sz="1500">
                          <a:solidFill>
                            <a:srgbClr val="21201C"/>
                          </a:solidFill>
                          <a:latin typeface="Cambria"/>
                        </a:rPr>
                        <a:t>Marketing</a:t>
                      </a:r>
                    </a:p>
                  </a:txBody>
                  <a:tcPr marL="64008" marR="64008" marT="27432" marB="27432" anchor="ctr">
                    <a:solidFill>
                      <a:srgbClr val="FFFFFF"/>
                    </a:solidFill>
                  </a:tcPr>
                </a:tc>
                <a:tc>
                  <a:txBody>
                    <a:bodyPr wrap="square"/>
                    <a:lstStyle/>
                    <a:p>
                      <a:r>
                        <a:rPr b="0" sz="1500">
                          <a:solidFill>
                            <a:srgbClr val="6B6862"/>
                          </a:solidFill>
                          <a:latin typeface="Calibri"/>
                        </a:rPr>
                        <a:t>Drafts, designs, schedules and reports campaigns</a:t>
                      </a:r>
                    </a:p>
                  </a:txBody>
                  <a:tcPr marL="64008" marR="64008" marT="27432" marB="27432" anchor="ctr">
                    <a:solidFill>
                      <a:srgbClr val="FFFFFF"/>
                    </a:solidFill>
                  </a:tcPr>
                </a:tc>
                <a:tc>
                  <a:txBody>
                    <a:bodyPr wrap="square"/>
                    <a:lstStyle/>
                    <a:p>
                      <a:r>
                        <a:rPr b="0" sz="1500">
                          <a:solidFill>
                            <a:srgbClr val="6B6862"/>
                          </a:solidFill>
                          <a:latin typeface="Calibri"/>
                        </a:rPr>
                        <a:t>Sets strategy, approves everything public</a:t>
                      </a:r>
                    </a:p>
                  </a:txBody>
                  <a:tcPr marL="64008" marR="64008" marT="27432" marB="27432" anchor="ctr">
                    <a:solidFill>
                      <a:srgbClr val="FFFFFF"/>
                    </a:solidFill>
                  </a:tcPr>
                </a:tc>
                <a:tc>
                  <a:txBody>
                    <a:bodyPr wrap="square"/>
                    <a:lstStyle/>
                    <a:p>
                      <a:r>
                        <a:rPr b="0" sz="1500">
                          <a:solidFill>
                            <a:srgbClr val="6B6862"/>
                          </a:solidFill>
                          <a:latin typeface="Calibri"/>
                        </a:rPr>
                        <a:t>Labs 2–5 and 8–9 in this course</a:t>
                      </a:r>
                    </a:p>
                  </a:txBody>
                  <a:tcPr marL="64008" marR="64008" marT="27432" marB="27432" anchor="ctr">
                    <a:solidFill>
                      <a:srgbClr val="FFFFFF"/>
                    </a:solidFill>
                  </a:tcPr>
                </a:tc>
              </a:tr>
            </a:tbl>
          </a:graphicData>
        </a:graphic>
      </p:graphicFrame>
    </p:spTree>
  </p:cSld>
  <p:clrMapOvr>
    <a:masterClrMapping/>
  </p:clrMapOvr>
  <p:transition spd="med">
    <p:fade/>
  </p:transition>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HUMAN–AI COLLABORATION IN ACTION</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The Pattern Behind Every Success</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55</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83080"/>
            <a:ext cx="5440680" cy="384048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22959" y="205740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robot-FFFFFF.png"/>
          <p:cNvPicPr>
            <a:picLocks noChangeAspect="1"/>
          </p:cNvPicPr>
          <p:nvPr/>
        </p:nvPicPr>
        <p:blipFill>
          <a:blip r:embed="rId2"/>
          <a:stretch>
            <a:fillRect/>
          </a:stretch>
        </p:blipFill>
        <p:spPr>
          <a:xfrm>
            <a:off x="954633" y="2189073"/>
            <a:ext cx="285292" cy="285292"/>
          </a:xfrm>
          <a:prstGeom prst="rect">
            <a:avLst/>
          </a:prstGeom>
        </p:spPr>
      </p:pic>
      <p:sp>
        <p:nvSpPr>
          <p:cNvPr id="10" name="TextBox 9"/>
          <p:cNvSpPr txBox="1"/>
          <p:nvPr/>
        </p:nvSpPr>
        <p:spPr>
          <a:xfrm>
            <a:off x="1508760" y="2075688"/>
            <a:ext cx="4297680" cy="512064"/>
          </a:xfrm>
          <a:prstGeom prst="rect">
            <a:avLst/>
          </a:prstGeom>
          <a:noFill/>
        </p:spPr>
        <p:txBody>
          <a:bodyPr wrap="square" lIns="36576" rIns="36576" tIns="18288" bIns="18288" anchor="ctr">
            <a:spAutoFit/>
          </a:bodyPr>
          <a:lstStyle/>
          <a:p>
            <a:pPr algn="l">
              <a:lnSpc>
                <a:spcPct val="112000"/>
              </a:lnSpc>
            </a:pPr>
            <a:r>
              <a:rPr sz="1900" b="1" i="0">
                <a:solidFill>
                  <a:srgbClr val="21201C"/>
                </a:solidFill>
                <a:latin typeface="Cambria"/>
              </a:rPr>
              <a:t>The agent</a:t>
            </a:r>
          </a:p>
        </p:txBody>
      </p:sp>
      <p:sp>
        <p:nvSpPr>
          <p:cNvPr id="11" name="TextBox 10"/>
          <p:cNvSpPr txBox="1"/>
          <p:nvPr/>
        </p:nvSpPr>
        <p:spPr>
          <a:xfrm>
            <a:off x="868680" y="2834639"/>
            <a:ext cx="4846320" cy="2651760"/>
          </a:xfrm>
          <a:prstGeom prst="rect">
            <a:avLst/>
          </a:prstGeom>
          <a:noFill/>
        </p:spPr>
        <p:txBody>
          <a:bodyPr wrap="square" lIns="36576" rIns="36576" tIns="18288" bIns="18288" anchor="t">
            <a:spAutoFit/>
          </a:bodyPr>
          <a:lstStyle/>
          <a:p>
            <a:pPr algn="l">
              <a:lnSpc>
                <a:spcPct val="120000"/>
              </a:lnSpc>
            </a:pPr>
            <a:r>
              <a:rPr sz="1650" b="0" i="0">
                <a:solidFill>
                  <a:srgbClr val="6B6862"/>
                </a:solidFill>
                <a:latin typeface="Calibri"/>
              </a:rPr>
              <a:t>•  Searches, generates, runs and checks — at scale</a:t>
            </a:r>
          </a:p>
          <a:p>
            <a:pPr algn="l">
              <a:lnSpc>
                <a:spcPct val="120000"/>
              </a:lnSpc>
            </a:pPr>
            <a:r>
              <a:rPr sz="1650" b="0" i="0">
                <a:solidFill>
                  <a:srgbClr val="6B6862"/>
                </a:solidFill>
                <a:latin typeface="Calibri"/>
              </a:rPr>
              <a:t>•  Works 24/7 and in parallel</a:t>
            </a:r>
          </a:p>
          <a:p>
            <a:pPr algn="l">
              <a:lnSpc>
                <a:spcPct val="120000"/>
              </a:lnSpc>
            </a:pPr>
            <a:r>
              <a:rPr sz="1650" b="0" i="0">
                <a:solidFill>
                  <a:srgbClr val="6B6862"/>
                </a:solidFill>
                <a:latin typeface="Calibri"/>
              </a:rPr>
              <a:t>•  Follows the rules it is given — exactly</a:t>
            </a:r>
          </a:p>
          <a:p>
            <a:pPr algn="l">
              <a:lnSpc>
                <a:spcPct val="120000"/>
              </a:lnSpc>
            </a:pPr>
            <a:r>
              <a:rPr sz="1650" b="0" i="0">
                <a:solidFill>
                  <a:srgbClr val="6B6862"/>
                </a:solidFill>
                <a:latin typeface="Calibri"/>
              </a:rPr>
              <a:t>•  Never owns the consequence</a:t>
            </a:r>
          </a:p>
        </p:txBody>
      </p:sp>
      <p:sp>
        <p:nvSpPr>
          <p:cNvPr id="12" name="Rounded Rectangle 11"/>
          <p:cNvSpPr/>
          <p:nvPr/>
        </p:nvSpPr>
        <p:spPr>
          <a:xfrm>
            <a:off x="6172200" y="1783080"/>
            <a:ext cx="5440680" cy="3840480"/>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46520" y="205740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user-FFFFFF.png"/>
          <p:cNvPicPr>
            <a:picLocks noChangeAspect="1"/>
          </p:cNvPicPr>
          <p:nvPr/>
        </p:nvPicPr>
        <p:blipFill>
          <a:blip r:embed="rId3"/>
          <a:stretch>
            <a:fillRect/>
          </a:stretch>
        </p:blipFill>
        <p:spPr>
          <a:xfrm>
            <a:off x="6578193" y="2189073"/>
            <a:ext cx="285292" cy="285292"/>
          </a:xfrm>
          <a:prstGeom prst="rect">
            <a:avLst/>
          </a:prstGeom>
        </p:spPr>
      </p:pic>
      <p:sp>
        <p:nvSpPr>
          <p:cNvPr id="15" name="TextBox 14"/>
          <p:cNvSpPr txBox="1"/>
          <p:nvPr/>
        </p:nvSpPr>
        <p:spPr>
          <a:xfrm>
            <a:off x="7132320" y="2075688"/>
            <a:ext cx="4297680" cy="512064"/>
          </a:xfrm>
          <a:prstGeom prst="rect">
            <a:avLst/>
          </a:prstGeom>
          <a:noFill/>
        </p:spPr>
        <p:txBody>
          <a:bodyPr wrap="square" lIns="36576" rIns="36576" tIns="18288" bIns="18288" anchor="ctr">
            <a:spAutoFit/>
          </a:bodyPr>
          <a:lstStyle/>
          <a:p>
            <a:pPr algn="l">
              <a:lnSpc>
                <a:spcPct val="112000"/>
              </a:lnSpc>
            </a:pPr>
            <a:r>
              <a:rPr sz="1900" b="1" i="0">
                <a:solidFill>
                  <a:srgbClr val="FFFFFF"/>
                </a:solidFill>
                <a:latin typeface="Cambria"/>
              </a:rPr>
              <a:t>The human</a:t>
            </a:r>
          </a:p>
        </p:txBody>
      </p:sp>
      <p:sp>
        <p:nvSpPr>
          <p:cNvPr id="16" name="TextBox 15"/>
          <p:cNvSpPr txBox="1"/>
          <p:nvPr/>
        </p:nvSpPr>
        <p:spPr>
          <a:xfrm>
            <a:off x="6492240" y="2834639"/>
            <a:ext cx="4846320" cy="2651760"/>
          </a:xfrm>
          <a:prstGeom prst="rect">
            <a:avLst/>
          </a:prstGeom>
          <a:noFill/>
        </p:spPr>
        <p:txBody>
          <a:bodyPr wrap="square" lIns="36576" rIns="36576" tIns="18288" bIns="18288" anchor="t">
            <a:spAutoFit/>
          </a:bodyPr>
          <a:lstStyle/>
          <a:p>
            <a:pPr algn="l">
              <a:lnSpc>
                <a:spcPct val="120000"/>
              </a:lnSpc>
            </a:pPr>
            <a:r>
              <a:rPr sz="1650" b="0" i="0">
                <a:solidFill>
                  <a:srgbClr val="C9C4B9"/>
                </a:solidFill>
                <a:latin typeface="Calibri"/>
              </a:rPr>
              <a:t>•  Sets the goal and defines 'good' (rubric, evaluator, tests)</a:t>
            </a:r>
          </a:p>
          <a:p>
            <a:pPr algn="l">
              <a:lnSpc>
                <a:spcPct val="120000"/>
              </a:lnSpc>
            </a:pPr>
            <a:r>
              <a:rPr sz="1650" b="0" i="0">
                <a:solidFill>
                  <a:srgbClr val="C9C4B9"/>
                </a:solidFill>
                <a:latin typeface="Calibri"/>
              </a:rPr>
              <a:t>•  Approves consequential actions</a:t>
            </a:r>
          </a:p>
          <a:p>
            <a:pPr algn="l">
              <a:lnSpc>
                <a:spcPct val="120000"/>
              </a:lnSpc>
            </a:pPr>
            <a:r>
              <a:rPr sz="1650" b="0" i="0">
                <a:solidFill>
                  <a:srgbClr val="C9C4B9"/>
                </a:solidFill>
                <a:latin typeface="Calibri"/>
              </a:rPr>
              <a:t>•  Interprets meaning and context</a:t>
            </a:r>
          </a:p>
          <a:p>
            <a:pPr algn="l">
              <a:lnSpc>
                <a:spcPct val="120000"/>
              </a:lnSpc>
            </a:pPr>
            <a:r>
              <a:rPr sz="1650" b="0" i="0">
                <a:solidFill>
                  <a:srgbClr val="C9C4B9"/>
                </a:solidFill>
                <a:latin typeface="Calibri"/>
              </a:rPr>
              <a:t>•  Owns accountability — always</a:t>
            </a:r>
          </a:p>
        </p:txBody>
      </p:sp>
      <p:sp>
        <p:nvSpPr>
          <p:cNvPr id="17" name="TextBox 16"/>
          <p:cNvSpPr txBox="1"/>
          <p:nvPr/>
        </p:nvSpPr>
        <p:spPr>
          <a:xfrm>
            <a:off x="548640" y="5760720"/>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Counter-evidence matters: a 2025 METR trial found experienced developers 19% SLOWER with early AI tools. The harness and the human make the difference.</a:t>
            </a:r>
          </a:p>
        </p:txBody>
      </p:sp>
    </p:spTree>
  </p:cSld>
  <p:clrMapOvr>
    <a:masterClrMapping/>
  </p:clrMapOvr>
  <p:transition spd="med">
    <p:fade/>
  </p:transition>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RISKS &amp; GOVERNANCE</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Five Challenges for Trustworthy Agents</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Toward agents that are trustworthy, controllable and sustainable.</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56</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240280"/>
            <a:ext cx="2066543" cy="352043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77240" y="242316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alert-FFFFFF.png"/>
          <p:cNvPicPr>
            <a:picLocks noChangeAspect="1"/>
          </p:cNvPicPr>
          <p:nvPr/>
        </p:nvPicPr>
        <p:blipFill>
          <a:blip r:embed="rId2"/>
          <a:stretch>
            <a:fillRect/>
          </a:stretch>
        </p:blipFill>
        <p:spPr>
          <a:xfrm>
            <a:off x="900135" y="2546055"/>
            <a:ext cx="266273" cy="266273"/>
          </a:xfrm>
          <a:prstGeom prst="rect">
            <a:avLst/>
          </a:prstGeom>
        </p:spPr>
      </p:pic>
      <p:sp>
        <p:nvSpPr>
          <p:cNvPr id="11" name="TextBox 10"/>
          <p:cNvSpPr txBox="1"/>
          <p:nvPr/>
        </p:nvSpPr>
        <p:spPr>
          <a:xfrm>
            <a:off x="777240" y="3063240"/>
            <a:ext cx="1609343" cy="384048"/>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Hallucination</a:t>
            </a:r>
          </a:p>
        </p:txBody>
      </p:sp>
      <p:sp>
        <p:nvSpPr>
          <p:cNvPr id="12" name="TextBox 11"/>
          <p:cNvSpPr txBox="1"/>
          <p:nvPr/>
        </p:nvSpPr>
        <p:spPr>
          <a:xfrm>
            <a:off x="777240" y="3483864"/>
            <a:ext cx="1609343" cy="2167127"/>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Confident but false facts → require citations and verifiers.</a:t>
            </a:r>
          </a:p>
        </p:txBody>
      </p:sp>
      <p:sp>
        <p:nvSpPr>
          <p:cNvPr id="13" name="Rounded Rectangle 12"/>
          <p:cNvSpPr/>
          <p:nvPr/>
        </p:nvSpPr>
        <p:spPr>
          <a:xfrm>
            <a:off x="2798064" y="2240280"/>
            <a:ext cx="2066543" cy="352043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026664" y="242316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Picture 14" descr="lock-FFFFFF.png"/>
          <p:cNvPicPr>
            <a:picLocks noChangeAspect="1"/>
          </p:cNvPicPr>
          <p:nvPr/>
        </p:nvPicPr>
        <p:blipFill>
          <a:blip r:embed="rId3"/>
          <a:stretch>
            <a:fillRect/>
          </a:stretch>
        </p:blipFill>
        <p:spPr>
          <a:xfrm>
            <a:off x="3149559" y="2546055"/>
            <a:ext cx="266273" cy="266273"/>
          </a:xfrm>
          <a:prstGeom prst="rect">
            <a:avLst/>
          </a:prstGeom>
        </p:spPr>
      </p:pic>
      <p:sp>
        <p:nvSpPr>
          <p:cNvPr id="16" name="TextBox 15"/>
          <p:cNvSpPr txBox="1"/>
          <p:nvPr/>
        </p:nvSpPr>
        <p:spPr>
          <a:xfrm>
            <a:off x="3026664" y="3063240"/>
            <a:ext cx="1609343" cy="384048"/>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Security risks</a:t>
            </a:r>
          </a:p>
        </p:txBody>
      </p:sp>
      <p:sp>
        <p:nvSpPr>
          <p:cNvPr id="17" name="TextBox 16"/>
          <p:cNvSpPr txBox="1"/>
          <p:nvPr/>
        </p:nvSpPr>
        <p:spPr>
          <a:xfrm>
            <a:off x="3026664" y="3483864"/>
            <a:ext cx="1609343" cy="2167127"/>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Prompt injection, poisoned skills, leaked keys → least privilege, secrets, sandboxes.</a:t>
            </a:r>
          </a:p>
        </p:txBody>
      </p:sp>
      <p:sp>
        <p:nvSpPr>
          <p:cNvPr id="18" name="Rounded Rectangle 17"/>
          <p:cNvSpPr/>
          <p:nvPr/>
        </p:nvSpPr>
        <p:spPr>
          <a:xfrm>
            <a:off x="5047488" y="2240280"/>
            <a:ext cx="2066543" cy="352043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5276088" y="242316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eye-FFFFFF.png"/>
          <p:cNvPicPr>
            <a:picLocks noChangeAspect="1"/>
          </p:cNvPicPr>
          <p:nvPr/>
        </p:nvPicPr>
        <p:blipFill>
          <a:blip r:embed="rId4"/>
          <a:stretch>
            <a:fillRect/>
          </a:stretch>
        </p:blipFill>
        <p:spPr>
          <a:xfrm>
            <a:off x="5398983" y="2546055"/>
            <a:ext cx="266273" cy="266273"/>
          </a:xfrm>
          <a:prstGeom prst="rect">
            <a:avLst/>
          </a:prstGeom>
        </p:spPr>
      </p:pic>
      <p:sp>
        <p:nvSpPr>
          <p:cNvPr id="21" name="TextBox 20"/>
          <p:cNvSpPr txBox="1"/>
          <p:nvPr/>
        </p:nvSpPr>
        <p:spPr>
          <a:xfrm>
            <a:off x="5276088" y="3063240"/>
            <a:ext cx="1609343" cy="384048"/>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Explainability</a:t>
            </a:r>
          </a:p>
        </p:txBody>
      </p:sp>
      <p:sp>
        <p:nvSpPr>
          <p:cNvPr id="22" name="TextBox 21"/>
          <p:cNvSpPr txBox="1"/>
          <p:nvPr/>
        </p:nvSpPr>
        <p:spPr>
          <a:xfrm>
            <a:off x="5276088" y="3483864"/>
            <a:ext cx="1609343" cy="2167127"/>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Why did it do that? → logs, Kanban history, audit trail.</a:t>
            </a:r>
          </a:p>
        </p:txBody>
      </p:sp>
      <p:sp>
        <p:nvSpPr>
          <p:cNvPr id="23" name="Rounded Rectangle 22"/>
          <p:cNvSpPr/>
          <p:nvPr/>
        </p:nvSpPr>
        <p:spPr>
          <a:xfrm>
            <a:off x="7296912" y="2240280"/>
            <a:ext cx="2066543" cy="352043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7525512" y="242316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Picture 24" descr="scale-FFFFFF.png"/>
          <p:cNvPicPr>
            <a:picLocks noChangeAspect="1"/>
          </p:cNvPicPr>
          <p:nvPr/>
        </p:nvPicPr>
        <p:blipFill>
          <a:blip r:embed="rId5"/>
          <a:stretch>
            <a:fillRect/>
          </a:stretch>
        </p:blipFill>
        <p:spPr>
          <a:xfrm>
            <a:off x="7648407" y="2546055"/>
            <a:ext cx="266273" cy="266273"/>
          </a:xfrm>
          <a:prstGeom prst="rect">
            <a:avLst/>
          </a:prstGeom>
        </p:spPr>
      </p:pic>
      <p:sp>
        <p:nvSpPr>
          <p:cNvPr id="26" name="TextBox 25"/>
          <p:cNvSpPr txBox="1"/>
          <p:nvPr/>
        </p:nvSpPr>
        <p:spPr>
          <a:xfrm>
            <a:off x="7525512" y="3063240"/>
            <a:ext cx="1609343" cy="384048"/>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Data &amp; bias</a:t>
            </a:r>
          </a:p>
        </p:txBody>
      </p:sp>
      <p:sp>
        <p:nvSpPr>
          <p:cNvPr id="27" name="TextBox 26"/>
          <p:cNvSpPr txBox="1"/>
          <p:nvPr/>
        </p:nvSpPr>
        <p:spPr>
          <a:xfrm>
            <a:off x="7525512" y="3483864"/>
            <a:ext cx="1609343" cy="2167127"/>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Fairness, diversity, privacy (PDPA) → mask personal data, review outputs.</a:t>
            </a:r>
          </a:p>
        </p:txBody>
      </p:sp>
      <p:sp>
        <p:nvSpPr>
          <p:cNvPr id="28" name="Rounded Rectangle 27"/>
          <p:cNvSpPr/>
          <p:nvPr/>
        </p:nvSpPr>
        <p:spPr>
          <a:xfrm>
            <a:off x="9546336" y="2240280"/>
            <a:ext cx="2066543" cy="352043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9774936" y="242316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0" name="Picture 29" descr="coins-FFFFFF.png"/>
          <p:cNvPicPr>
            <a:picLocks noChangeAspect="1"/>
          </p:cNvPicPr>
          <p:nvPr/>
        </p:nvPicPr>
        <p:blipFill>
          <a:blip r:embed="rId6"/>
          <a:stretch>
            <a:fillRect/>
          </a:stretch>
        </p:blipFill>
        <p:spPr>
          <a:xfrm>
            <a:off x="9897831" y="2546055"/>
            <a:ext cx="266273" cy="266273"/>
          </a:xfrm>
          <a:prstGeom prst="rect">
            <a:avLst/>
          </a:prstGeom>
        </p:spPr>
      </p:pic>
      <p:sp>
        <p:nvSpPr>
          <p:cNvPr id="31" name="TextBox 30"/>
          <p:cNvSpPr txBox="1"/>
          <p:nvPr/>
        </p:nvSpPr>
        <p:spPr>
          <a:xfrm>
            <a:off x="9774936" y="3063240"/>
            <a:ext cx="1609343" cy="384048"/>
          </a:xfrm>
          <a:prstGeom prst="rect">
            <a:avLst/>
          </a:prstGeom>
          <a:noFill/>
        </p:spPr>
        <p:txBody>
          <a:bodyPr wrap="square" lIns="36576" rIns="36576" tIns="18288" bIns="18288" anchor="t">
            <a:spAutoFit/>
          </a:bodyPr>
          <a:lstStyle/>
          <a:p>
            <a:pPr algn="l">
              <a:lnSpc>
                <a:spcPct val="112000"/>
              </a:lnSpc>
            </a:pPr>
            <a:r>
              <a:rPr sz="1400" b="1" i="0">
                <a:solidFill>
                  <a:srgbClr val="21201C"/>
                </a:solidFill>
                <a:latin typeface="Cambria"/>
              </a:rPr>
              <a:t>Efficiency &amp; cost</a:t>
            </a:r>
          </a:p>
        </p:txBody>
      </p:sp>
      <p:sp>
        <p:nvSpPr>
          <p:cNvPr id="32" name="TextBox 31"/>
          <p:cNvSpPr txBox="1"/>
          <p:nvPr/>
        </p:nvSpPr>
        <p:spPr>
          <a:xfrm>
            <a:off x="9774936" y="3483864"/>
            <a:ext cx="1609343" cy="2167127"/>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Tokens and runs add up → budgets, cheap models for simple roles.</a:t>
            </a:r>
          </a:p>
        </p:txBody>
      </p:sp>
    </p:spTree>
  </p:cSld>
  <p:clrMapOvr>
    <a:masterClrMapping/>
  </p:clrMapOvr>
  <p:transition spd="med">
    <p:fade/>
  </p:transition>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RISKS &amp; GOVERNANCE</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Five Principles of AI Agent Security</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57</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691640"/>
            <a:ext cx="2066543" cy="406907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77240" y="18745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eye-FFFFFF.png"/>
          <p:cNvPicPr>
            <a:picLocks noChangeAspect="1"/>
          </p:cNvPicPr>
          <p:nvPr/>
        </p:nvPicPr>
        <p:blipFill>
          <a:blip r:embed="rId2"/>
          <a:stretch>
            <a:fillRect/>
          </a:stretch>
        </p:blipFill>
        <p:spPr>
          <a:xfrm>
            <a:off x="900135" y="1997415"/>
            <a:ext cx="266273" cy="266273"/>
          </a:xfrm>
          <a:prstGeom prst="rect">
            <a:avLst/>
          </a:prstGeom>
        </p:spPr>
      </p:pic>
      <p:sp>
        <p:nvSpPr>
          <p:cNvPr id="10" name="TextBox 9"/>
          <p:cNvSpPr txBox="1"/>
          <p:nvPr/>
        </p:nvSpPr>
        <p:spPr>
          <a:xfrm>
            <a:off x="777240" y="2514600"/>
            <a:ext cx="1609343" cy="384048"/>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Data control</a:t>
            </a:r>
          </a:p>
        </p:txBody>
      </p:sp>
      <p:sp>
        <p:nvSpPr>
          <p:cNvPr id="11" name="TextBox 10"/>
          <p:cNvSpPr txBox="1"/>
          <p:nvPr/>
        </p:nvSpPr>
        <p:spPr>
          <a:xfrm>
            <a:off x="777240" y="2935224"/>
            <a:ext cx="1609343" cy="2715767"/>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WHAT AI CAN SEE — classify data; give the agent only what it needs.</a:t>
            </a:r>
          </a:p>
        </p:txBody>
      </p:sp>
      <p:sp>
        <p:nvSpPr>
          <p:cNvPr id="12" name="Rounded Rectangle 11"/>
          <p:cNvSpPr/>
          <p:nvPr/>
        </p:nvSpPr>
        <p:spPr>
          <a:xfrm>
            <a:off x="2798064" y="1691640"/>
            <a:ext cx="2066543" cy="406907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3026664" y="18745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lock-FFFFFF.png"/>
          <p:cNvPicPr>
            <a:picLocks noChangeAspect="1"/>
          </p:cNvPicPr>
          <p:nvPr/>
        </p:nvPicPr>
        <p:blipFill>
          <a:blip r:embed="rId3"/>
          <a:stretch>
            <a:fillRect/>
          </a:stretch>
        </p:blipFill>
        <p:spPr>
          <a:xfrm>
            <a:off x="3149559" y="1997415"/>
            <a:ext cx="266273" cy="266273"/>
          </a:xfrm>
          <a:prstGeom prst="rect">
            <a:avLst/>
          </a:prstGeom>
        </p:spPr>
      </p:pic>
      <p:sp>
        <p:nvSpPr>
          <p:cNvPr id="15" name="TextBox 14"/>
          <p:cNvSpPr txBox="1"/>
          <p:nvPr/>
        </p:nvSpPr>
        <p:spPr>
          <a:xfrm>
            <a:off x="3026664" y="2514600"/>
            <a:ext cx="1609343" cy="384048"/>
          </a:xfrm>
          <a:prstGeom prst="rect">
            <a:avLst/>
          </a:prstGeom>
          <a:noFill/>
        </p:spPr>
        <p:txBody>
          <a:bodyPr wrap="square" lIns="36576" rIns="36576" tIns="18288" bIns="18288" anchor="t">
            <a:spAutoFit/>
          </a:bodyPr>
          <a:lstStyle/>
          <a:p>
            <a:pPr algn="l">
              <a:lnSpc>
                <a:spcPct val="112000"/>
              </a:lnSpc>
            </a:pPr>
            <a:r>
              <a:rPr sz="1300" b="1" i="0">
                <a:solidFill>
                  <a:srgbClr val="21201C"/>
                </a:solidFill>
                <a:latin typeface="Cambria"/>
              </a:rPr>
              <a:t>Permission control</a:t>
            </a:r>
          </a:p>
        </p:txBody>
      </p:sp>
      <p:sp>
        <p:nvSpPr>
          <p:cNvPr id="16" name="TextBox 15"/>
          <p:cNvSpPr txBox="1"/>
          <p:nvPr/>
        </p:nvSpPr>
        <p:spPr>
          <a:xfrm>
            <a:off x="3026664" y="2935224"/>
            <a:ext cx="1609343" cy="2715767"/>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WHAT AI CAN DO — least privilege; read before write; approve before delete.</a:t>
            </a:r>
          </a:p>
        </p:txBody>
      </p:sp>
      <p:sp>
        <p:nvSpPr>
          <p:cNvPr id="17" name="Rounded Rectangle 16"/>
          <p:cNvSpPr/>
          <p:nvPr/>
        </p:nvSpPr>
        <p:spPr>
          <a:xfrm>
            <a:off x="5047488" y="1691640"/>
            <a:ext cx="2066543" cy="406907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5276088" y="18745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 name="Picture 18" descr="hand-FFFFFF.png"/>
          <p:cNvPicPr>
            <a:picLocks noChangeAspect="1"/>
          </p:cNvPicPr>
          <p:nvPr/>
        </p:nvPicPr>
        <p:blipFill>
          <a:blip r:embed="rId4"/>
          <a:stretch>
            <a:fillRect/>
          </a:stretch>
        </p:blipFill>
        <p:spPr>
          <a:xfrm>
            <a:off x="5398983" y="1997415"/>
            <a:ext cx="266273" cy="266273"/>
          </a:xfrm>
          <a:prstGeom prst="rect">
            <a:avLst/>
          </a:prstGeom>
        </p:spPr>
      </p:pic>
      <p:sp>
        <p:nvSpPr>
          <p:cNvPr id="20" name="TextBox 19"/>
          <p:cNvSpPr txBox="1"/>
          <p:nvPr/>
        </p:nvSpPr>
        <p:spPr>
          <a:xfrm>
            <a:off x="5276088" y="2514600"/>
            <a:ext cx="1609343" cy="384048"/>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Human approval</a:t>
            </a:r>
          </a:p>
        </p:txBody>
      </p:sp>
      <p:sp>
        <p:nvSpPr>
          <p:cNvPr id="21" name="TextBox 20"/>
          <p:cNvSpPr txBox="1"/>
          <p:nvPr/>
        </p:nvSpPr>
        <p:spPr>
          <a:xfrm>
            <a:off x="5276088" y="2935224"/>
            <a:ext cx="1609343" cy="2715767"/>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WHEN AI MUST ASK — gates for public, financial or irreversible actions.</a:t>
            </a:r>
          </a:p>
        </p:txBody>
      </p:sp>
      <p:sp>
        <p:nvSpPr>
          <p:cNvPr id="22" name="Rounded Rectangle 21"/>
          <p:cNvSpPr/>
          <p:nvPr/>
        </p:nvSpPr>
        <p:spPr>
          <a:xfrm>
            <a:off x="7296912" y="1691640"/>
            <a:ext cx="2066543" cy="406907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7525512" y="18745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history-FFFFFF.png"/>
          <p:cNvPicPr>
            <a:picLocks noChangeAspect="1"/>
          </p:cNvPicPr>
          <p:nvPr/>
        </p:nvPicPr>
        <p:blipFill>
          <a:blip r:embed="rId5"/>
          <a:stretch>
            <a:fillRect/>
          </a:stretch>
        </p:blipFill>
        <p:spPr>
          <a:xfrm>
            <a:off x="7648407" y="1997415"/>
            <a:ext cx="266273" cy="266273"/>
          </a:xfrm>
          <a:prstGeom prst="rect">
            <a:avLst/>
          </a:prstGeom>
        </p:spPr>
      </p:pic>
      <p:sp>
        <p:nvSpPr>
          <p:cNvPr id="25" name="TextBox 24"/>
          <p:cNvSpPr txBox="1"/>
          <p:nvPr/>
        </p:nvSpPr>
        <p:spPr>
          <a:xfrm>
            <a:off x="7525512" y="2514600"/>
            <a:ext cx="1609343" cy="384048"/>
          </a:xfrm>
          <a:prstGeom prst="rect">
            <a:avLst/>
          </a:prstGeom>
          <a:noFill/>
        </p:spPr>
        <p:txBody>
          <a:bodyPr wrap="square" lIns="36576" rIns="36576" tIns="18288" bIns="18288" anchor="t">
            <a:spAutoFit/>
          </a:bodyPr>
          <a:lstStyle/>
          <a:p>
            <a:pPr algn="l">
              <a:lnSpc>
                <a:spcPct val="112000"/>
              </a:lnSpc>
            </a:pPr>
            <a:r>
              <a:rPr sz="1300" b="1" i="0">
                <a:solidFill>
                  <a:srgbClr val="21201C"/>
                </a:solidFill>
                <a:latin typeface="Cambria"/>
              </a:rPr>
              <a:t>Monitoring &amp; audit</a:t>
            </a:r>
          </a:p>
        </p:txBody>
      </p:sp>
      <p:sp>
        <p:nvSpPr>
          <p:cNvPr id="26" name="TextBox 25"/>
          <p:cNvSpPr txBox="1"/>
          <p:nvPr/>
        </p:nvSpPr>
        <p:spPr>
          <a:xfrm>
            <a:off x="7525512" y="2935224"/>
            <a:ext cx="1609343" cy="2715767"/>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WHAT AI DID — logs, costs, activity trail; review regularly.</a:t>
            </a:r>
          </a:p>
        </p:txBody>
      </p:sp>
      <p:sp>
        <p:nvSpPr>
          <p:cNvPr id="27" name="Rounded Rectangle 26"/>
          <p:cNvSpPr/>
          <p:nvPr/>
        </p:nvSpPr>
        <p:spPr>
          <a:xfrm>
            <a:off x="9546336" y="1691640"/>
            <a:ext cx="2066543" cy="406907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9774936" y="18745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9" name="Picture 28" descr="stop-FFFFFF.png"/>
          <p:cNvPicPr>
            <a:picLocks noChangeAspect="1"/>
          </p:cNvPicPr>
          <p:nvPr/>
        </p:nvPicPr>
        <p:blipFill>
          <a:blip r:embed="rId6"/>
          <a:stretch>
            <a:fillRect/>
          </a:stretch>
        </p:blipFill>
        <p:spPr>
          <a:xfrm>
            <a:off x="9897831" y="1997415"/>
            <a:ext cx="266273" cy="266273"/>
          </a:xfrm>
          <a:prstGeom prst="rect">
            <a:avLst/>
          </a:prstGeom>
        </p:spPr>
      </p:pic>
      <p:sp>
        <p:nvSpPr>
          <p:cNvPr id="30" name="TextBox 29"/>
          <p:cNvSpPr txBox="1"/>
          <p:nvPr/>
        </p:nvSpPr>
        <p:spPr>
          <a:xfrm>
            <a:off x="9774936" y="2514600"/>
            <a:ext cx="1609343" cy="384048"/>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Kill switch</a:t>
            </a:r>
          </a:p>
        </p:txBody>
      </p:sp>
      <p:sp>
        <p:nvSpPr>
          <p:cNvPr id="31" name="TextBox 30"/>
          <p:cNvSpPr txBox="1"/>
          <p:nvPr/>
        </p:nvSpPr>
        <p:spPr>
          <a:xfrm>
            <a:off x="9774936" y="2935224"/>
            <a:ext cx="1609343" cy="2715767"/>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HOW TO STOP IT — pause agents, revoke keys, `hermes pause`, Paperclip pause.</a:t>
            </a:r>
          </a:p>
        </p:txBody>
      </p:sp>
      <p:sp>
        <p:nvSpPr>
          <p:cNvPr id="32" name="TextBox 31"/>
          <p:cNvSpPr txBox="1"/>
          <p:nvPr/>
        </p:nvSpPr>
        <p:spPr>
          <a:xfrm>
            <a:off x="548640" y="5870448"/>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Every lab applies at least one of these — look for them.</a:t>
            </a:r>
          </a:p>
        </p:txBody>
      </p:sp>
    </p:spTree>
  </p:cSld>
  <p:clrMapOvr>
    <a:masterClrMapping/>
  </p:clrMapOvr>
  <p:transition spd="med">
    <p:fade/>
  </p:transition>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THE PLATFORMS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The Two Platforms You Will Use</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"If OpenClaw is an employee, Paperclip is the company." Hermes is the employee that learns.</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58</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240280"/>
            <a:ext cx="5440680" cy="397763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22959" y="2468880"/>
            <a:ext cx="1188720" cy="1188720"/>
          </a:xfrm>
          <a:prstGeom prst="roundRect">
            <a:avLst>
              <a:gd name="adj" fmla="val 10000"/>
            </a:avLst>
          </a:prstGeom>
          <a:solidFill>
            <a:srgbClr val="FFFFFF"/>
          </a:solidFill>
          <a:ln w="12700">
            <a:solidFill>
              <a:srgbClr val="E3DFD6"/>
            </a:solid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hermes-agent.png"/>
          <p:cNvPicPr>
            <a:picLocks noChangeAspect="1"/>
          </p:cNvPicPr>
          <p:nvPr/>
        </p:nvPicPr>
        <p:blipFill>
          <a:blip r:embed="rId2"/>
          <a:stretch>
            <a:fillRect/>
          </a:stretch>
        </p:blipFill>
        <p:spPr>
          <a:xfrm>
            <a:off x="914400" y="2560320"/>
            <a:ext cx="1005840" cy="1005840"/>
          </a:xfrm>
          <a:prstGeom prst="rect">
            <a:avLst/>
          </a:prstGeom>
        </p:spPr>
      </p:pic>
      <p:sp>
        <p:nvSpPr>
          <p:cNvPr id="11" name="TextBox 10"/>
          <p:cNvSpPr txBox="1"/>
          <p:nvPr/>
        </p:nvSpPr>
        <p:spPr>
          <a:xfrm>
            <a:off x="2240280" y="2514600"/>
            <a:ext cx="3566160" cy="502920"/>
          </a:xfrm>
          <a:prstGeom prst="rect">
            <a:avLst/>
          </a:prstGeom>
          <a:noFill/>
        </p:spPr>
        <p:txBody>
          <a:bodyPr wrap="square" lIns="36576" rIns="36576" tIns="18288" bIns="18288" anchor="t">
            <a:spAutoFit/>
          </a:bodyPr>
          <a:lstStyle/>
          <a:p>
            <a:pPr algn="l">
              <a:lnSpc>
                <a:spcPct val="112000"/>
              </a:lnSpc>
            </a:pPr>
            <a:r>
              <a:rPr sz="2200" b="1" i="0">
                <a:solidFill>
                  <a:srgbClr val="21201C"/>
                </a:solidFill>
                <a:latin typeface="Cambria"/>
              </a:rPr>
              <a:t>Hermes Agent</a:t>
            </a:r>
          </a:p>
        </p:txBody>
      </p:sp>
      <p:sp>
        <p:nvSpPr>
          <p:cNvPr id="12" name="TextBox 11"/>
          <p:cNvSpPr txBox="1"/>
          <p:nvPr/>
        </p:nvSpPr>
        <p:spPr>
          <a:xfrm>
            <a:off x="2240280" y="3035808"/>
            <a:ext cx="3566160" cy="365760"/>
          </a:xfrm>
          <a:prstGeom prst="rect">
            <a:avLst/>
          </a:prstGeom>
          <a:noFill/>
        </p:spPr>
        <p:txBody>
          <a:bodyPr wrap="square" lIns="36576" rIns="36576" tIns="18288" bIns="18288" anchor="t">
            <a:spAutoFit/>
          </a:bodyPr>
          <a:lstStyle/>
          <a:p>
            <a:pPr algn="l">
              <a:lnSpc>
                <a:spcPct val="112000"/>
              </a:lnSpc>
            </a:pPr>
            <a:r>
              <a:rPr sz="1300" b="1" i="0">
                <a:solidFill>
                  <a:srgbClr val="D97757"/>
                </a:solidFill>
                <a:latin typeface="Calibri"/>
              </a:rPr>
              <a:t>Day 1 · Labs 1–5</a:t>
            </a:r>
          </a:p>
        </p:txBody>
      </p:sp>
      <p:sp>
        <p:nvSpPr>
          <p:cNvPr id="13" name="TextBox 12"/>
          <p:cNvSpPr txBox="1"/>
          <p:nvPr/>
        </p:nvSpPr>
        <p:spPr>
          <a:xfrm>
            <a:off x="868680" y="3886200"/>
            <a:ext cx="4846320" cy="2194560"/>
          </a:xfrm>
          <a:prstGeom prst="rect">
            <a:avLst/>
          </a:prstGeom>
          <a:noFill/>
        </p:spPr>
        <p:txBody>
          <a:bodyPr wrap="square" lIns="36576" rIns="36576" tIns="18288" bIns="18288" anchor="t">
            <a:spAutoFit/>
          </a:bodyPr>
          <a:lstStyle/>
          <a:p>
            <a:pPr algn="l">
              <a:lnSpc>
                <a:spcPct val="130000"/>
              </a:lnSpc>
            </a:pPr>
            <a:r>
              <a:rPr sz="1400" b="0" i="0">
                <a:solidFill>
                  <a:srgbClr val="6B6862"/>
                </a:solidFill>
                <a:latin typeface="Calibri"/>
              </a:rPr>
              <a:t>•  Open source (MIT), Nous Research</a:t>
            </a:r>
          </a:p>
          <a:p>
            <a:pPr algn="l">
              <a:lnSpc>
                <a:spcPct val="130000"/>
              </a:lnSpc>
            </a:pPr>
            <a:r>
              <a:rPr sz="1400" b="0" i="0">
                <a:solidFill>
                  <a:srgbClr val="6B6862"/>
                </a:solidFill>
                <a:latin typeface="Calibri"/>
              </a:rPr>
              <a:t>•  Self-improving: memory + skills it writes itself</a:t>
            </a:r>
          </a:p>
          <a:p>
            <a:pPr algn="l">
              <a:lnSpc>
                <a:spcPct val="130000"/>
              </a:lnSpc>
            </a:pPr>
            <a:r>
              <a:rPr sz="1400" b="0" i="0">
                <a:solidFill>
                  <a:srgbClr val="6B6862"/>
                </a:solidFill>
                <a:latin typeface="Calibri"/>
              </a:rPr>
              <a:t>•  Telegram &amp; 15+ channels, cron scheduler</a:t>
            </a:r>
          </a:p>
          <a:p>
            <a:pPr algn="l">
              <a:lnSpc>
                <a:spcPct val="130000"/>
              </a:lnSpc>
            </a:pPr>
            <a:r>
              <a:rPr sz="1400" b="0" i="0">
                <a:solidFill>
                  <a:srgbClr val="6B6862"/>
                </a:solidFill>
                <a:latin typeface="Calibri"/>
              </a:rPr>
              <a:t>•  Profiles + Kanban for multi-agent teams</a:t>
            </a:r>
          </a:p>
        </p:txBody>
      </p:sp>
      <p:sp>
        <p:nvSpPr>
          <p:cNvPr id="14" name="Rounded Rectangle 13"/>
          <p:cNvSpPr/>
          <p:nvPr/>
        </p:nvSpPr>
        <p:spPr>
          <a:xfrm>
            <a:off x="6172200" y="2240280"/>
            <a:ext cx="5440680" cy="3977639"/>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ounded Rectangle 14"/>
          <p:cNvSpPr/>
          <p:nvPr/>
        </p:nvSpPr>
        <p:spPr>
          <a:xfrm>
            <a:off x="6446520" y="2468880"/>
            <a:ext cx="1188720" cy="1188720"/>
          </a:xfrm>
          <a:prstGeom prst="roundRect">
            <a:avLst>
              <a:gd name="adj" fmla="val 10000"/>
            </a:avLst>
          </a:prstGeom>
          <a:solidFill>
            <a:srgbClr val="FFFFFF"/>
          </a:solidFill>
          <a:ln w="12700">
            <a:solidFill>
              <a:srgbClr val="E3DFD6"/>
            </a:solid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paperclip.png"/>
          <p:cNvPicPr>
            <a:picLocks noChangeAspect="1"/>
          </p:cNvPicPr>
          <p:nvPr/>
        </p:nvPicPr>
        <p:blipFill>
          <a:blip r:embed="rId3"/>
          <a:stretch>
            <a:fillRect/>
          </a:stretch>
        </p:blipFill>
        <p:spPr>
          <a:xfrm>
            <a:off x="6537960" y="2560320"/>
            <a:ext cx="1005840" cy="1005840"/>
          </a:xfrm>
          <a:prstGeom prst="rect">
            <a:avLst/>
          </a:prstGeom>
        </p:spPr>
      </p:pic>
      <p:sp>
        <p:nvSpPr>
          <p:cNvPr id="17" name="TextBox 16"/>
          <p:cNvSpPr txBox="1"/>
          <p:nvPr/>
        </p:nvSpPr>
        <p:spPr>
          <a:xfrm>
            <a:off x="7863840" y="2514600"/>
            <a:ext cx="3566160" cy="502920"/>
          </a:xfrm>
          <a:prstGeom prst="rect">
            <a:avLst/>
          </a:prstGeom>
          <a:noFill/>
        </p:spPr>
        <p:txBody>
          <a:bodyPr wrap="square" lIns="36576" rIns="36576" tIns="18288" bIns="18288" anchor="t">
            <a:spAutoFit/>
          </a:bodyPr>
          <a:lstStyle/>
          <a:p>
            <a:pPr algn="l">
              <a:lnSpc>
                <a:spcPct val="112000"/>
              </a:lnSpc>
            </a:pPr>
            <a:r>
              <a:rPr sz="2200" b="1" i="0">
                <a:solidFill>
                  <a:srgbClr val="FFFFFF"/>
                </a:solidFill>
                <a:latin typeface="Cambria"/>
              </a:rPr>
              <a:t>Paperclip</a:t>
            </a:r>
          </a:p>
        </p:txBody>
      </p:sp>
      <p:sp>
        <p:nvSpPr>
          <p:cNvPr id="18" name="TextBox 17"/>
          <p:cNvSpPr txBox="1"/>
          <p:nvPr/>
        </p:nvSpPr>
        <p:spPr>
          <a:xfrm>
            <a:off x="7863840" y="3035808"/>
            <a:ext cx="3566160" cy="365760"/>
          </a:xfrm>
          <a:prstGeom prst="rect">
            <a:avLst/>
          </a:prstGeom>
          <a:noFill/>
        </p:spPr>
        <p:txBody>
          <a:bodyPr wrap="square" lIns="36576" rIns="36576" tIns="18288" bIns="18288" anchor="t">
            <a:spAutoFit/>
          </a:bodyPr>
          <a:lstStyle/>
          <a:p>
            <a:pPr algn="l">
              <a:lnSpc>
                <a:spcPct val="112000"/>
              </a:lnSpc>
            </a:pPr>
            <a:r>
              <a:rPr sz="1300" b="1" i="0">
                <a:solidFill>
                  <a:srgbClr val="D97757"/>
                </a:solidFill>
                <a:latin typeface="Calibri"/>
              </a:rPr>
              <a:t>Day 2 · Labs 6–10</a:t>
            </a:r>
          </a:p>
        </p:txBody>
      </p:sp>
      <p:sp>
        <p:nvSpPr>
          <p:cNvPr id="19" name="TextBox 18"/>
          <p:cNvSpPr txBox="1"/>
          <p:nvPr/>
        </p:nvSpPr>
        <p:spPr>
          <a:xfrm>
            <a:off x="6492240" y="3886200"/>
            <a:ext cx="4846320" cy="2194560"/>
          </a:xfrm>
          <a:prstGeom prst="rect">
            <a:avLst/>
          </a:prstGeom>
          <a:noFill/>
        </p:spPr>
        <p:txBody>
          <a:bodyPr wrap="square" lIns="36576" rIns="36576" tIns="18288" bIns="18288" anchor="t">
            <a:spAutoFit/>
          </a:bodyPr>
          <a:lstStyle/>
          <a:p>
            <a:pPr algn="l">
              <a:lnSpc>
                <a:spcPct val="130000"/>
              </a:lnSpc>
            </a:pPr>
            <a:r>
              <a:rPr sz="1400" b="0" i="0">
                <a:solidFill>
                  <a:srgbClr val="C9C4B9"/>
                </a:solidFill>
                <a:latin typeface="Calibri"/>
              </a:rPr>
              <a:t>•  Open source (MIT), self-hosted</a:t>
            </a:r>
          </a:p>
          <a:p>
            <a:pPr algn="l">
              <a:lnSpc>
                <a:spcPct val="130000"/>
              </a:lnSpc>
            </a:pPr>
            <a:r>
              <a:rPr sz="1400" b="0" i="0">
                <a:solidFill>
                  <a:srgbClr val="C9C4B9"/>
                </a:solidFill>
                <a:latin typeface="Calibri"/>
              </a:rPr>
              <a:t>•  Company: Board → CEO → specialists (org chart)</a:t>
            </a:r>
          </a:p>
          <a:p>
            <a:pPr algn="l">
              <a:lnSpc>
                <a:spcPct val="130000"/>
              </a:lnSpc>
            </a:pPr>
            <a:r>
              <a:rPr sz="1400" b="0" i="0">
                <a:solidFill>
                  <a:srgbClr val="C9C4B9"/>
                </a:solidFill>
                <a:latin typeface="Calibri"/>
              </a:rPr>
              <a:t>•  Issues, routines, heartbeats</a:t>
            </a:r>
          </a:p>
          <a:p>
            <a:pPr algn="l">
              <a:lnSpc>
                <a:spcPct val="130000"/>
              </a:lnSpc>
            </a:pPr>
            <a:r>
              <a:rPr sz="1400" b="0" i="0">
                <a:solidFill>
                  <a:srgbClr val="C9C4B9"/>
                </a:solidFill>
                <a:latin typeface="Calibri"/>
              </a:rPr>
              <a:t>•  Budgets, approval gates, immutable audit log</a:t>
            </a:r>
          </a:p>
        </p:txBody>
      </p:sp>
    </p:spTree>
  </p:cSld>
  <p:clrMapOvr>
    <a:masterClrMapping/>
  </p:clrMapOvr>
  <p:transition spd="med">
    <p:fade/>
  </p:transition>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ACTIVITY</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Activity — Human–AI Workforce Canvas</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C9C4B9"/>
                </a:solidFill>
                <a:latin typeface="Calibri"/>
              </a:rPr>
              <a:t>In pairs, 15 minutes. Then start the Hermes Agent install so it is ready for Lab 1.</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59</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sp>
        <p:nvSpPr>
          <p:cNvPr id="8" name="Rounded Rectangle 7"/>
          <p:cNvSpPr/>
          <p:nvPr/>
        </p:nvSpPr>
        <p:spPr>
          <a:xfrm>
            <a:off x="548640" y="2286000"/>
            <a:ext cx="3566160" cy="1755648"/>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77240" y="2514600"/>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list-FFFFFF.png"/>
          <p:cNvPicPr>
            <a:picLocks noChangeAspect="1"/>
          </p:cNvPicPr>
          <p:nvPr/>
        </p:nvPicPr>
        <p:blipFill>
          <a:blip r:embed="rId2"/>
          <a:stretch>
            <a:fillRect/>
          </a:stretch>
        </p:blipFill>
        <p:spPr>
          <a:xfrm>
            <a:off x="891357" y="2628717"/>
            <a:ext cx="247253" cy="247253"/>
          </a:xfrm>
          <a:prstGeom prst="rect">
            <a:avLst/>
          </a:prstGeom>
        </p:spPr>
      </p:pic>
      <p:sp>
        <p:nvSpPr>
          <p:cNvPr id="11" name="TextBox 10"/>
          <p:cNvSpPr txBox="1"/>
          <p:nvPr/>
        </p:nvSpPr>
        <p:spPr>
          <a:xfrm>
            <a:off x="1371600" y="2532888"/>
            <a:ext cx="2606040" cy="438912"/>
          </a:xfrm>
          <a:prstGeom prst="rect">
            <a:avLst/>
          </a:prstGeom>
          <a:noFill/>
        </p:spPr>
        <p:txBody>
          <a:bodyPr wrap="square" lIns="36576" rIns="36576" tIns="18288" bIns="18288" anchor="ctr">
            <a:spAutoFit/>
          </a:bodyPr>
          <a:lstStyle/>
          <a:p>
            <a:pPr algn="l">
              <a:lnSpc>
                <a:spcPct val="112000"/>
              </a:lnSpc>
            </a:pPr>
            <a:r>
              <a:rPr sz="1500" b="1" i="0">
                <a:solidFill>
                  <a:srgbClr val="FFFFFF"/>
                </a:solidFill>
                <a:latin typeface="Cambria"/>
              </a:rPr>
              <a:t>1. List the work</a:t>
            </a:r>
          </a:p>
        </p:txBody>
      </p:sp>
      <p:sp>
        <p:nvSpPr>
          <p:cNvPr id="12" name="TextBox 11"/>
          <p:cNvSpPr txBox="1"/>
          <p:nvPr/>
        </p:nvSpPr>
        <p:spPr>
          <a:xfrm>
            <a:off x="777240" y="3090672"/>
            <a:ext cx="3154680" cy="896112"/>
          </a:xfrm>
          <a:prstGeom prst="rect">
            <a:avLst/>
          </a:prstGeom>
          <a:noFill/>
        </p:spPr>
        <p:txBody>
          <a:bodyPr wrap="square" lIns="36576" rIns="36576" tIns="18288" bIns="18288" anchor="t">
            <a:spAutoFit/>
          </a:bodyPr>
          <a:lstStyle/>
          <a:p>
            <a:pPr algn="l">
              <a:lnSpc>
                <a:spcPct val="112000"/>
              </a:lnSpc>
            </a:pPr>
            <a:r>
              <a:rPr sz="1200" b="0" i="0">
                <a:solidFill>
                  <a:srgbClr val="C9C4B9"/>
                </a:solidFill>
                <a:latin typeface="Calibri"/>
              </a:rPr>
              <a:t>Write 8–10 tasks in Kopi Kaki's #ShiokColdBrew campaign (research, posts, video, replies, reporting …).</a:t>
            </a:r>
          </a:p>
        </p:txBody>
      </p:sp>
      <p:sp>
        <p:nvSpPr>
          <p:cNvPr id="13" name="Rounded Rectangle 12"/>
          <p:cNvSpPr/>
          <p:nvPr/>
        </p:nvSpPr>
        <p:spPr>
          <a:xfrm>
            <a:off x="4297679" y="2286000"/>
            <a:ext cx="3566160" cy="1755648"/>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4526279" y="2514600"/>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Picture 14" descr="robot-FFFFFF.png"/>
          <p:cNvPicPr>
            <a:picLocks noChangeAspect="1"/>
          </p:cNvPicPr>
          <p:nvPr/>
        </p:nvPicPr>
        <p:blipFill>
          <a:blip r:embed="rId3"/>
          <a:stretch>
            <a:fillRect/>
          </a:stretch>
        </p:blipFill>
        <p:spPr>
          <a:xfrm>
            <a:off x="4640397" y="2628717"/>
            <a:ext cx="247253" cy="247253"/>
          </a:xfrm>
          <a:prstGeom prst="rect">
            <a:avLst/>
          </a:prstGeom>
        </p:spPr>
      </p:pic>
      <p:sp>
        <p:nvSpPr>
          <p:cNvPr id="16" name="TextBox 15"/>
          <p:cNvSpPr txBox="1"/>
          <p:nvPr/>
        </p:nvSpPr>
        <p:spPr>
          <a:xfrm>
            <a:off x="5120640" y="2532888"/>
            <a:ext cx="2606040" cy="438912"/>
          </a:xfrm>
          <a:prstGeom prst="rect">
            <a:avLst/>
          </a:prstGeom>
          <a:noFill/>
        </p:spPr>
        <p:txBody>
          <a:bodyPr wrap="square" lIns="36576" rIns="36576" tIns="18288" bIns="18288" anchor="ctr">
            <a:spAutoFit/>
          </a:bodyPr>
          <a:lstStyle/>
          <a:p>
            <a:pPr algn="l">
              <a:lnSpc>
                <a:spcPct val="112000"/>
              </a:lnSpc>
            </a:pPr>
            <a:r>
              <a:rPr sz="1500" b="1" i="0">
                <a:solidFill>
                  <a:srgbClr val="FFFFFF"/>
                </a:solidFill>
                <a:latin typeface="Cambria"/>
              </a:rPr>
              <a:t>2. Single agent?</a:t>
            </a:r>
          </a:p>
        </p:txBody>
      </p:sp>
      <p:sp>
        <p:nvSpPr>
          <p:cNvPr id="17" name="TextBox 16"/>
          <p:cNvSpPr txBox="1"/>
          <p:nvPr/>
        </p:nvSpPr>
        <p:spPr>
          <a:xfrm>
            <a:off x="4526279" y="3090672"/>
            <a:ext cx="3154680" cy="896112"/>
          </a:xfrm>
          <a:prstGeom prst="rect">
            <a:avLst/>
          </a:prstGeom>
          <a:noFill/>
        </p:spPr>
        <p:txBody>
          <a:bodyPr wrap="square" lIns="36576" rIns="36576" tIns="18288" bIns="18288" anchor="t">
            <a:spAutoFit/>
          </a:bodyPr>
          <a:lstStyle/>
          <a:p>
            <a:pPr algn="l">
              <a:lnSpc>
                <a:spcPct val="112000"/>
              </a:lnSpc>
            </a:pPr>
            <a:r>
              <a:rPr sz="1200" b="0" i="0">
                <a:solidFill>
                  <a:srgbClr val="C9C4B9"/>
                </a:solidFill>
                <a:latin typeface="Calibri"/>
              </a:rPr>
              <a:t>Mark tasks one Hermes agent can do end to end.</a:t>
            </a:r>
          </a:p>
        </p:txBody>
      </p:sp>
      <p:sp>
        <p:nvSpPr>
          <p:cNvPr id="18" name="Rounded Rectangle 17"/>
          <p:cNvSpPr/>
          <p:nvPr/>
        </p:nvSpPr>
        <p:spPr>
          <a:xfrm>
            <a:off x="8046719" y="2286000"/>
            <a:ext cx="3566160" cy="1755648"/>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8275319" y="2514600"/>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users-FFFFFF.png"/>
          <p:cNvPicPr>
            <a:picLocks noChangeAspect="1"/>
          </p:cNvPicPr>
          <p:nvPr/>
        </p:nvPicPr>
        <p:blipFill>
          <a:blip r:embed="rId4"/>
          <a:stretch>
            <a:fillRect/>
          </a:stretch>
        </p:blipFill>
        <p:spPr>
          <a:xfrm>
            <a:off x="8389437" y="2628717"/>
            <a:ext cx="247253" cy="247253"/>
          </a:xfrm>
          <a:prstGeom prst="rect">
            <a:avLst/>
          </a:prstGeom>
        </p:spPr>
      </p:pic>
      <p:sp>
        <p:nvSpPr>
          <p:cNvPr id="21" name="TextBox 20"/>
          <p:cNvSpPr txBox="1"/>
          <p:nvPr/>
        </p:nvSpPr>
        <p:spPr>
          <a:xfrm>
            <a:off x="8869680" y="2532888"/>
            <a:ext cx="2606040" cy="438912"/>
          </a:xfrm>
          <a:prstGeom prst="rect">
            <a:avLst/>
          </a:prstGeom>
          <a:noFill/>
        </p:spPr>
        <p:txBody>
          <a:bodyPr wrap="square" lIns="36576" rIns="36576" tIns="18288" bIns="18288" anchor="ctr">
            <a:spAutoFit/>
          </a:bodyPr>
          <a:lstStyle/>
          <a:p>
            <a:pPr algn="l">
              <a:lnSpc>
                <a:spcPct val="112000"/>
              </a:lnSpc>
            </a:pPr>
            <a:r>
              <a:rPr sz="1500" b="1" i="0">
                <a:solidFill>
                  <a:srgbClr val="FFFFFF"/>
                </a:solidFill>
                <a:latin typeface="Cambria"/>
              </a:rPr>
              <a:t>3. Agent team?</a:t>
            </a:r>
          </a:p>
        </p:txBody>
      </p:sp>
      <p:sp>
        <p:nvSpPr>
          <p:cNvPr id="22" name="TextBox 21"/>
          <p:cNvSpPr txBox="1"/>
          <p:nvPr/>
        </p:nvSpPr>
        <p:spPr>
          <a:xfrm>
            <a:off x="8275319" y="3090672"/>
            <a:ext cx="3154680" cy="896112"/>
          </a:xfrm>
          <a:prstGeom prst="rect">
            <a:avLst/>
          </a:prstGeom>
          <a:noFill/>
        </p:spPr>
        <p:txBody>
          <a:bodyPr wrap="square" lIns="36576" rIns="36576" tIns="18288" bIns="18288" anchor="t">
            <a:spAutoFit/>
          </a:bodyPr>
          <a:lstStyle/>
          <a:p>
            <a:pPr algn="l">
              <a:lnSpc>
                <a:spcPct val="112000"/>
              </a:lnSpc>
            </a:pPr>
            <a:r>
              <a:rPr sz="1200" b="0" i="0">
                <a:solidFill>
                  <a:srgbClr val="C9C4B9"/>
                </a:solidFill>
                <a:latin typeface="Calibri"/>
              </a:rPr>
              <a:t>Mark tasks that need several specialised agents (pipeline or swarm).</a:t>
            </a:r>
          </a:p>
        </p:txBody>
      </p:sp>
      <p:sp>
        <p:nvSpPr>
          <p:cNvPr id="23" name="Rounded Rectangle 22"/>
          <p:cNvSpPr/>
          <p:nvPr/>
        </p:nvSpPr>
        <p:spPr>
          <a:xfrm>
            <a:off x="548640" y="4206240"/>
            <a:ext cx="3566160" cy="1755648"/>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777240" y="4434840"/>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Picture 24" descr="user-FFFFFF.png"/>
          <p:cNvPicPr>
            <a:picLocks noChangeAspect="1"/>
          </p:cNvPicPr>
          <p:nvPr/>
        </p:nvPicPr>
        <p:blipFill>
          <a:blip r:embed="rId5"/>
          <a:stretch>
            <a:fillRect/>
          </a:stretch>
        </p:blipFill>
        <p:spPr>
          <a:xfrm>
            <a:off x="891357" y="4548957"/>
            <a:ext cx="247253" cy="247253"/>
          </a:xfrm>
          <a:prstGeom prst="rect">
            <a:avLst/>
          </a:prstGeom>
        </p:spPr>
      </p:pic>
      <p:sp>
        <p:nvSpPr>
          <p:cNvPr id="26" name="TextBox 25"/>
          <p:cNvSpPr txBox="1"/>
          <p:nvPr/>
        </p:nvSpPr>
        <p:spPr>
          <a:xfrm>
            <a:off x="1371600" y="4453127"/>
            <a:ext cx="2606040" cy="438912"/>
          </a:xfrm>
          <a:prstGeom prst="rect">
            <a:avLst/>
          </a:prstGeom>
          <a:noFill/>
        </p:spPr>
        <p:txBody>
          <a:bodyPr wrap="square" lIns="36576" rIns="36576" tIns="18288" bIns="18288" anchor="ctr">
            <a:spAutoFit/>
          </a:bodyPr>
          <a:lstStyle/>
          <a:p>
            <a:pPr algn="l">
              <a:lnSpc>
                <a:spcPct val="112000"/>
              </a:lnSpc>
            </a:pPr>
            <a:r>
              <a:rPr sz="1500" b="1" i="0">
                <a:solidFill>
                  <a:srgbClr val="FFFFFF"/>
                </a:solidFill>
                <a:latin typeface="Cambria"/>
              </a:rPr>
              <a:t>4. Human?</a:t>
            </a:r>
          </a:p>
        </p:txBody>
      </p:sp>
      <p:sp>
        <p:nvSpPr>
          <p:cNvPr id="27" name="TextBox 26"/>
          <p:cNvSpPr txBox="1"/>
          <p:nvPr/>
        </p:nvSpPr>
        <p:spPr>
          <a:xfrm>
            <a:off x="777240" y="5010912"/>
            <a:ext cx="3154680" cy="896112"/>
          </a:xfrm>
          <a:prstGeom prst="rect">
            <a:avLst/>
          </a:prstGeom>
          <a:noFill/>
        </p:spPr>
        <p:txBody>
          <a:bodyPr wrap="square" lIns="36576" rIns="36576" tIns="18288" bIns="18288" anchor="t">
            <a:spAutoFit/>
          </a:bodyPr>
          <a:lstStyle/>
          <a:p>
            <a:pPr algn="l">
              <a:lnSpc>
                <a:spcPct val="112000"/>
              </a:lnSpc>
            </a:pPr>
            <a:r>
              <a:rPr sz="1200" b="0" i="0">
                <a:solidFill>
                  <a:srgbClr val="C9C4B9"/>
                </a:solidFill>
                <a:latin typeface="Calibri"/>
              </a:rPr>
              <a:t>Mark decisions that must stay human — and why (risk, accountability, judgement).</a:t>
            </a:r>
          </a:p>
        </p:txBody>
      </p:sp>
      <p:sp>
        <p:nvSpPr>
          <p:cNvPr id="28" name="Rounded Rectangle 27"/>
          <p:cNvSpPr/>
          <p:nvPr/>
        </p:nvSpPr>
        <p:spPr>
          <a:xfrm>
            <a:off x="4297679" y="4206240"/>
            <a:ext cx="3566160" cy="1755648"/>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4526279" y="4434840"/>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0" name="Picture 29" descr="hand-FFFFFF.png"/>
          <p:cNvPicPr>
            <a:picLocks noChangeAspect="1"/>
          </p:cNvPicPr>
          <p:nvPr/>
        </p:nvPicPr>
        <p:blipFill>
          <a:blip r:embed="rId6"/>
          <a:stretch>
            <a:fillRect/>
          </a:stretch>
        </p:blipFill>
        <p:spPr>
          <a:xfrm>
            <a:off x="4640397" y="4548957"/>
            <a:ext cx="247253" cy="247253"/>
          </a:xfrm>
          <a:prstGeom prst="rect">
            <a:avLst/>
          </a:prstGeom>
        </p:spPr>
      </p:pic>
      <p:sp>
        <p:nvSpPr>
          <p:cNvPr id="31" name="TextBox 30"/>
          <p:cNvSpPr txBox="1"/>
          <p:nvPr/>
        </p:nvSpPr>
        <p:spPr>
          <a:xfrm>
            <a:off x="5120640" y="4453127"/>
            <a:ext cx="2606040" cy="438912"/>
          </a:xfrm>
          <a:prstGeom prst="rect">
            <a:avLst/>
          </a:prstGeom>
          <a:noFill/>
        </p:spPr>
        <p:txBody>
          <a:bodyPr wrap="square" lIns="36576" rIns="36576" tIns="18288" bIns="18288" anchor="ctr">
            <a:spAutoFit/>
          </a:bodyPr>
          <a:lstStyle/>
          <a:p>
            <a:pPr algn="l">
              <a:lnSpc>
                <a:spcPct val="112000"/>
              </a:lnSpc>
            </a:pPr>
            <a:r>
              <a:rPr sz="1500" b="1" i="0">
                <a:solidFill>
                  <a:srgbClr val="FFFFFF"/>
                </a:solidFill>
                <a:latin typeface="Cambria"/>
              </a:rPr>
              <a:t>5. Checkpoints</a:t>
            </a:r>
          </a:p>
        </p:txBody>
      </p:sp>
      <p:sp>
        <p:nvSpPr>
          <p:cNvPr id="32" name="TextBox 31"/>
          <p:cNvSpPr txBox="1"/>
          <p:nvPr/>
        </p:nvSpPr>
        <p:spPr>
          <a:xfrm>
            <a:off x="4526279" y="5010912"/>
            <a:ext cx="3154680" cy="896112"/>
          </a:xfrm>
          <a:prstGeom prst="rect">
            <a:avLst/>
          </a:prstGeom>
          <a:noFill/>
        </p:spPr>
        <p:txBody>
          <a:bodyPr wrap="square" lIns="36576" rIns="36576" tIns="18288" bIns="18288" anchor="t">
            <a:spAutoFit/>
          </a:bodyPr>
          <a:lstStyle/>
          <a:p>
            <a:pPr algn="l">
              <a:lnSpc>
                <a:spcPct val="112000"/>
              </a:lnSpc>
            </a:pPr>
            <a:r>
              <a:rPr sz="1200" b="0" i="0">
                <a:solidFill>
                  <a:srgbClr val="C9C4B9"/>
                </a:solidFill>
                <a:latin typeface="Calibri"/>
              </a:rPr>
              <a:t>Draw where the human approves: before public posts, refunds, spend.</a:t>
            </a:r>
          </a:p>
        </p:txBody>
      </p:sp>
      <p:sp>
        <p:nvSpPr>
          <p:cNvPr id="33" name="Rounded Rectangle 32"/>
          <p:cNvSpPr/>
          <p:nvPr/>
        </p:nvSpPr>
        <p:spPr>
          <a:xfrm>
            <a:off x="8046719" y="4206240"/>
            <a:ext cx="3566160" cy="1755648"/>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Oval 33"/>
          <p:cNvSpPr/>
          <p:nvPr/>
        </p:nvSpPr>
        <p:spPr>
          <a:xfrm>
            <a:off x="8275319" y="4434840"/>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5" name="Picture 34" descr="terminal-FFFFFF.png"/>
          <p:cNvPicPr>
            <a:picLocks noChangeAspect="1"/>
          </p:cNvPicPr>
          <p:nvPr/>
        </p:nvPicPr>
        <p:blipFill>
          <a:blip r:embed="rId7"/>
          <a:stretch>
            <a:fillRect/>
          </a:stretch>
        </p:blipFill>
        <p:spPr>
          <a:xfrm>
            <a:off x="8389437" y="4548957"/>
            <a:ext cx="247253" cy="247253"/>
          </a:xfrm>
          <a:prstGeom prst="rect">
            <a:avLst/>
          </a:prstGeom>
        </p:spPr>
      </p:pic>
      <p:sp>
        <p:nvSpPr>
          <p:cNvPr id="36" name="TextBox 35"/>
          <p:cNvSpPr txBox="1"/>
          <p:nvPr/>
        </p:nvSpPr>
        <p:spPr>
          <a:xfrm>
            <a:off x="8869680" y="4453127"/>
            <a:ext cx="2606040" cy="438912"/>
          </a:xfrm>
          <a:prstGeom prst="rect">
            <a:avLst/>
          </a:prstGeom>
          <a:noFill/>
        </p:spPr>
        <p:txBody>
          <a:bodyPr wrap="square" lIns="36576" rIns="36576" tIns="18288" bIns="18288" anchor="ctr">
            <a:spAutoFit/>
          </a:bodyPr>
          <a:lstStyle/>
          <a:p>
            <a:pPr algn="l">
              <a:lnSpc>
                <a:spcPct val="112000"/>
              </a:lnSpc>
            </a:pPr>
            <a:r>
              <a:rPr sz="1500" b="1" i="0">
                <a:solidFill>
                  <a:srgbClr val="FFFFFF"/>
                </a:solidFill>
                <a:latin typeface="Cambria"/>
              </a:rPr>
              <a:t>6. Start Hermes</a:t>
            </a:r>
          </a:p>
        </p:txBody>
      </p:sp>
      <p:sp>
        <p:nvSpPr>
          <p:cNvPr id="37" name="TextBox 36"/>
          <p:cNvSpPr txBox="1"/>
          <p:nvPr/>
        </p:nvSpPr>
        <p:spPr>
          <a:xfrm>
            <a:off x="8275319" y="5010912"/>
            <a:ext cx="3154680" cy="896112"/>
          </a:xfrm>
          <a:prstGeom prst="rect">
            <a:avLst/>
          </a:prstGeom>
          <a:noFill/>
        </p:spPr>
        <p:txBody>
          <a:bodyPr wrap="square" lIns="36576" rIns="36576" tIns="18288" bIns="18288" anchor="t">
            <a:spAutoFit/>
          </a:bodyPr>
          <a:lstStyle/>
          <a:p>
            <a:pPr algn="l">
              <a:lnSpc>
                <a:spcPct val="112000"/>
              </a:lnSpc>
            </a:pPr>
            <a:r>
              <a:rPr sz="1200" b="0" i="0">
                <a:solidFill>
                  <a:srgbClr val="C9C4B9"/>
                </a:solidFill>
                <a:latin typeface="Calibri"/>
              </a:rPr>
              <a:t>Run the installer now (Lab 1 step 1) — it downloads while we debrief.</a:t>
            </a:r>
          </a:p>
        </p:txBody>
      </p:sp>
    </p:spTree>
  </p:cSld>
  <p:clrMapOvr>
    <a:masterClrMapping/>
  </p:clrMapOvr>
  <p:transition spd="med">
    <p:fade/>
  </p:transition>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ACTIVITY</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Optional — Ask Hermes to Critique Your Canvas</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60</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37360"/>
            <a:ext cx="7040880" cy="4480560"/>
          </a:xfrm>
          <a:prstGeom prst="roundRect">
            <a:avLst>
              <a:gd name="adj" fmla="val 3500"/>
            </a:avLst>
          </a:prstGeom>
          <a:solidFill>
            <a:srgbClr val="2B2924"/>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49808" y="1901952"/>
            <a:ext cx="118872" cy="118872"/>
          </a:xfrm>
          <a:prstGeom prst="ellipse">
            <a:avLst/>
          </a:prstGeom>
          <a:solidFill>
            <a:srgbClr val="E06C5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69264" y="1901952"/>
            <a:ext cx="118872" cy="118872"/>
          </a:xfrm>
          <a:prstGeom prst="ellipse">
            <a:avLst/>
          </a:prstGeom>
          <a:solidFill>
            <a:srgbClr val="E5B45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88719" y="1901952"/>
            <a:ext cx="118872" cy="118872"/>
          </a:xfrm>
          <a:prstGeom prst="ellipse">
            <a:avLst/>
          </a:prstGeom>
          <a:solidFill>
            <a:srgbClr val="7DB36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463040" y="1828800"/>
            <a:ext cx="5943600" cy="274320"/>
          </a:xfrm>
          <a:prstGeom prst="rect">
            <a:avLst/>
          </a:prstGeom>
          <a:noFill/>
        </p:spPr>
        <p:txBody>
          <a:bodyPr wrap="square" lIns="36576" rIns="36576" tIns="18288" bIns="18288" anchor="t">
            <a:spAutoFit/>
          </a:bodyPr>
          <a:lstStyle/>
          <a:p>
            <a:pPr algn="l">
              <a:lnSpc>
                <a:spcPct val="112000"/>
              </a:lnSpc>
            </a:pPr>
            <a:r>
              <a:rPr sz="1000" b="0" i="0">
                <a:solidFill>
                  <a:srgbClr val="B9B4A9"/>
                </a:solidFill>
                <a:latin typeface="Calibri"/>
              </a:rPr>
              <a:t>PROMPT  ·  copy from the Lab Prompts page</a:t>
            </a:r>
          </a:p>
        </p:txBody>
      </p:sp>
      <p:sp>
        <p:nvSpPr>
          <p:cNvPr id="12" name="TextBox 11"/>
          <p:cNvSpPr txBox="1"/>
          <p:nvPr/>
        </p:nvSpPr>
        <p:spPr>
          <a:xfrm>
            <a:off x="777240" y="2194560"/>
            <a:ext cx="6583680" cy="3913632"/>
          </a:xfrm>
          <a:prstGeom prst="rect">
            <a:avLst/>
          </a:prstGeom>
          <a:noFill/>
        </p:spPr>
        <p:txBody>
          <a:bodyPr wrap="square" lIns="36576" rIns="36576" tIns="18288" bIns="18288" anchor="t">
            <a:spAutoFit/>
          </a:bodyPr>
          <a:lstStyle/>
          <a:p>
            <a:pPr algn="l">
              <a:lnSpc>
                <a:spcPct val="110000"/>
              </a:lnSpc>
            </a:pPr>
            <a:r>
              <a:rPr sz="1300" b="0" i="0">
                <a:solidFill>
                  <a:srgbClr val="F1EDE4"/>
                </a:solidFill>
                <a:latin typeface="Consolas"/>
              </a:rPr>
              <a:t>Here is our Human-AI Workforce Canvas for Kopi Kaki Co.'s #ShiokColdBrew campaign:</a:t>
            </a:r>
          </a:p>
          <a:p>
            <a:pPr algn="l">
              <a:lnSpc>
                <a:spcPct val="110000"/>
              </a:lnSpc>
            </a:pPr>
            <a:r>
              <a:rPr sz="1300" b="0" i="0">
                <a:solidFill>
                  <a:srgbClr val="F1EDE4"/>
                </a:solidFill>
                <a:latin typeface="Consolas"/>
              </a:rPr>
              <a:t>&lt;paste your task list with SINGLE / TEAM / HUMAN labels and approval checkpoints&gt;</a:t>
            </a:r>
          </a:p>
          <a:p>
            <a:pPr algn="l">
              <a:lnSpc>
                <a:spcPct val="110000"/>
              </a:lnSpc>
            </a:pPr>
          </a:p>
          <a:p>
            <a:pPr algn="l">
              <a:lnSpc>
                <a:spcPct val="110000"/>
              </a:lnSpc>
            </a:pPr>
            <a:r>
              <a:rPr sz="1300" b="0" i="0">
                <a:solidFill>
                  <a:srgbClr val="F1EDE4"/>
                </a:solidFill>
                <a:latin typeface="Consolas"/>
              </a:rPr>
              <a:t>Act as an operations consultant. For each task:</a:t>
            </a:r>
          </a:p>
          <a:p>
            <a:pPr algn="l">
              <a:lnSpc>
                <a:spcPct val="110000"/>
              </a:lnSpc>
            </a:pPr>
            <a:r>
              <a:rPr sz="1300" b="0" i="0">
                <a:solidFill>
                  <a:srgbClr val="F1EDE4"/>
                </a:solidFill>
                <a:latin typeface="Consolas"/>
              </a:rPr>
              <a:t>1. Agree or disagree with our label and say why (risk, reversibility, volume, judgement).</a:t>
            </a:r>
          </a:p>
          <a:p>
            <a:pPr algn="l">
              <a:lnSpc>
                <a:spcPct val="110000"/>
              </a:lnSpc>
            </a:pPr>
            <a:r>
              <a:rPr sz="1300" b="0" i="0">
                <a:solidFill>
                  <a:srgbClr val="F1EDE4"/>
                </a:solidFill>
                <a:latin typeface="Consolas"/>
              </a:rPr>
              <a:t>2. Suggest the autonomy level (L1 Operator ... L5 Observer).</a:t>
            </a:r>
          </a:p>
          <a:p>
            <a:pPr algn="l">
              <a:lnSpc>
                <a:spcPct val="110000"/>
              </a:lnSpc>
            </a:pPr>
            <a:r>
              <a:rPr sz="1300" b="0" i="0">
                <a:solidFill>
                  <a:srgbClr val="F1EDE4"/>
                </a:solidFill>
                <a:latin typeface="Consolas"/>
              </a:rPr>
              <a:t>3. Name one control (approval gate, budget, audit, verifier) we must add.</a:t>
            </a:r>
          </a:p>
          <a:p>
            <a:pPr algn="l">
              <a:lnSpc>
                <a:spcPct val="110000"/>
              </a:lnSpc>
            </a:pPr>
            <a:r>
              <a:rPr sz="1300" b="0" i="0">
                <a:solidFill>
                  <a:srgbClr val="F1EDE4"/>
                </a:solidFill>
                <a:latin typeface="Consolas"/>
              </a:rPr>
              <a:t>End with the 3 biggest risks in our design.</a:t>
            </a:r>
          </a:p>
        </p:txBody>
      </p:sp>
      <p:sp>
        <p:nvSpPr>
          <p:cNvPr id="13" name="Oval 12"/>
          <p:cNvSpPr/>
          <p:nvPr/>
        </p:nvSpPr>
        <p:spPr>
          <a:xfrm>
            <a:off x="7863840" y="177393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robot-FFFFFF.png"/>
          <p:cNvPicPr>
            <a:picLocks noChangeAspect="1"/>
          </p:cNvPicPr>
          <p:nvPr/>
        </p:nvPicPr>
        <p:blipFill>
          <a:blip r:embed="rId2"/>
          <a:stretch>
            <a:fillRect/>
          </a:stretch>
        </p:blipFill>
        <p:spPr>
          <a:xfrm>
            <a:off x="7973567" y="1883664"/>
            <a:ext cx="237744" cy="237744"/>
          </a:xfrm>
          <a:prstGeom prst="rect">
            <a:avLst/>
          </a:prstGeom>
        </p:spPr>
      </p:pic>
      <p:sp>
        <p:nvSpPr>
          <p:cNvPr id="15" name="TextBox 14"/>
          <p:cNvSpPr txBox="1"/>
          <p:nvPr/>
        </p:nvSpPr>
        <p:spPr>
          <a:xfrm>
            <a:off x="8458200" y="173736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Uses Hermes</a:t>
            </a:r>
          </a:p>
        </p:txBody>
      </p:sp>
      <p:sp>
        <p:nvSpPr>
          <p:cNvPr id="16" name="TextBox 15"/>
          <p:cNvSpPr txBox="1"/>
          <p:nvPr/>
        </p:nvSpPr>
        <p:spPr>
          <a:xfrm>
            <a:off x="8458200" y="210312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Once installed, paste this into the Hermes chat — your first agent conversation.</a:t>
            </a:r>
          </a:p>
        </p:txBody>
      </p:sp>
      <p:sp>
        <p:nvSpPr>
          <p:cNvPr id="17" name="Oval 16"/>
          <p:cNvSpPr/>
          <p:nvPr/>
        </p:nvSpPr>
        <p:spPr>
          <a:xfrm>
            <a:off x="7863840" y="326745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scale-FFFFFF.png"/>
          <p:cNvPicPr>
            <a:picLocks noChangeAspect="1"/>
          </p:cNvPicPr>
          <p:nvPr/>
        </p:nvPicPr>
        <p:blipFill>
          <a:blip r:embed="rId3"/>
          <a:stretch>
            <a:fillRect/>
          </a:stretch>
        </p:blipFill>
        <p:spPr>
          <a:xfrm>
            <a:off x="7973567" y="3377184"/>
            <a:ext cx="237744" cy="237744"/>
          </a:xfrm>
          <a:prstGeom prst="rect">
            <a:avLst/>
          </a:prstGeom>
        </p:spPr>
      </p:pic>
      <p:sp>
        <p:nvSpPr>
          <p:cNvPr id="19" name="TextBox 18"/>
          <p:cNvSpPr txBox="1"/>
          <p:nvPr/>
        </p:nvSpPr>
        <p:spPr>
          <a:xfrm>
            <a:off x="8458200" y="323088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Compare</a:t>
            </a:r>
          </a:p>
        </p:txBody>
      </p:sp>
      <p:sp>
        <p:nvSpPr>
          <p:cNvPr id="20" name="TextBox 19"/>
          <p:cNvSpPr txBox="1"/>
          <p:nvPr/>
        </p:nvSpPr>
        <p:spPr>
          <a:xfrm>
            <a:off x="8458200" y="359664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Where does the agent disagree with you? Who is right?</a:t>
            </a:r>
          </a:p>
        </p:txBody>
      </p:sp>
      <p:sp>
        <p:nvSpPr>
          <p:cNvPr id="21" name="Oval 20"/>
          <p:cNvSpPr/>
          <p:nvPr/>
        </p:nvSpPr>
        <p:spPr>
          <a:xfrm>
            <a:off x="7863840" y="476097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flag-FFFFFF.png"/>
          <p:cNvPicPr>
            <a:picLocks noChangeAspect="1"/>
          </p:cNvPicPr>
          <p:nvPr/>
        </p:nvPicPr>
        <p:blipFill>
          <a:blip r:embed="rId4"/>
          <a:stretch>
            <a:fillRect/>
          </a:stretch>
        </p:blipFill>
        <p:spPr>
          <a:xfrm>
            <a:off x="7973567" y="4870704"/>
            <a:ext cx="237744" cy="237744"/>
          </a:xfrm>
          <a:prstGeom prst="rect">
            <a:avLst/>
          </a:prstGeom>
        </p:spPr>
      </p:pic>
      <p:sp>
        <p:nvSpPr>
          <p:cNvPr id="23" name="TextBox 22"/>
          <p:cNvSpPr txBox="1"/>
          <p:nvPr/>
        </p:nvSpPr>
        <p:spPr>
          <a:xfrm>
            <a:off x="8458200" y="472440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Keep it</a:t>
            </a:r>
          </a:p>
        </p:txBody>
      </p:sp>
      <p:sp>
        <p:nvSpPr>
          <p:cNvPr id="24" name="TextBox 23"/>
          <p:cNvSpPr txBox="1"/>
          <p:nvPr/>
        </p:nvSpPr>
        <p:spPr>
          <a:xfrm>
            <a:off x="8458200" y="509016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You will build this exact workforce in Labs 1–10.</a:t>
            </a:r>
          </a:p>
        </p:txBody>
      </p:sp>
    </p:spTree>
  </p:cSld>
  <p:clrMapOvr>
    <a:masterClrMapping/>
  </p:clrMapOvr>
  <p:transition spd="med">
    <p:fade/>
  </p:transition>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Oval 1"/>
          <p:cNvSpPr/>
          <p:nvPr/>
        </p:nvSpPr>
        <p:spPr>
          <a:xfrm>
            <a:off x="-1554480" y="4572000"/>
            <a:ext cx="4023360" cy="402336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822960" y="1828800"/>
            <a:ext cx="6949440" cy="457200"/>
          </a:xfrm>
          <a:prstGeom prst="rect">
            <a:avLst/>
          </a:prstGeom>
          <a:noFill/>
        </p:spPr>
        <p:txBody>
          <a:bodyPr wrap="square" lIns="36576" rIns="36576" tIns="18288" bIns="18288" anchor="t">
            <a:spAutoFit/>
          </a:bodyPr>
          <a:lstStyle/>
          <a:p>
            <a:pPr algn="l">
              <a:lnSpc>
                <a:spcPct val="112000"/>
              </a:lnSpc>
            </a:pPr>
            <a:r>
              <a:rPr sz="1800" b="1" i="0">
                <a:solidFill>
                  <a:srgbClr val="D97757"/>
                </a:solidFill>
                <a:latin typeface="Calibri"/>
              </a:rPr>
              <a:t>TOPIC 2</a:t>
            </a:r>
          </a:p>
        </p:txBody>
      </p:sp>
      <p:sp>
        <p:nvSpPr>
          <p:cNvPr id="4" name="TextBox 3"/>
          <p:cNvSpPr txBox="1"/>
          <p:nvPr/>
        </p:nvSpPr>
        <p:spPr>
          <a:xfrm>
            <a:off x="777240" y="2331720"/>
            <a:ext cx="7223760" cy="2011680"/>
          </a:xfrm>
          <a:prstGeom prst="rect">
            <a:avLst/>
          </a:prstGeom>
          <a:noFill/>
        </p:spPr>
        <p:txBody>
          <a:bodyPr wrap="square" lIns="36576" rIns="36576" tIns="18288" bIns="18288" anchor="t">
            <a:spAutoFit/>
          </a:bodyPr>
          <a:lstStyle/>
          <a:p>
            <a:pPr algn="l">
              <a:lnSpc>
                <a:spcPct val="104000"/>
              </a:lnSpc>
            </a:pPr>
            <a:r>
              <a:rPr sz="4000" b="1" i="0">
                <a:solidFill>
                  <a:srgbClr val="FFFFFF"/>
                </a:solidFill>
                <a:latin typeface="Cambria"/>
              </a:rPr>
              <a:t>Hermes Agent — From a Single AI Employee to a Multi-Agent Team</a:t>
            </a:r>
          </a:p>
        </p:txBody>
      </p:sp>
      <p:sp>
        <p:nvSpPr>
          <p:cNvPr id="5" name="TextBox 4"/>
          <p:cNvSpPr txBox="1"/>
          <p:nvPr/>
        </p:nvSpPr>
        <p:spPr>
          <a:xfrm>
            <a:off x="822960" y="4343400"/>
            <a:ext cx="6949440" cy="822960"/>
          </a:xfrm>
          <a:prstGeom prst="rect">
            <a:avLst/>
          </a:prstGeom>
          <a:noFill/>
        </p:spPr>
        <p:txBody>
          <a:bodyPr wrap="square" lIns="36576" rIns="36576" tIns="18288" bIns="18288" anchor="t">
            <a:spAutoFit/>
          </a:bodyPr>
          <a:lstStyle/>
          <a:p>
            <a:pPr algn="l">
              <a:lnSpc>
                <a:spcPct val="112000"/>
              </a:lnSpc>
            </a:pPr>
            <a:r>
              <a:rPr sz="1500" b="0" i="0">
                <a:solidFill>
                  <a:srgbClr val="C9C4B9"/>
                </a:solidFill>
                <a:latin typeface="Calibri"/>
              </a:rPr>
              <a:t>Day 1 — from one AI employee to a supervised multi-agent team.</a:t>
            </a:r>
          </a:p>
        </p:txBody>
      </p:sp>
      <p:sp>
        <p:nvSpPr>
          <p:cNvPr id="6" name="Rounded Rectangle 5"/>
          <p:cNvSpPr/>
          <p:nvPr/>
        </p:nvSpPr>
        <p:spPr>
          <a:xfrm>
            <a:off x="8183879" y="1760220"/>
            <a:ext cx="3520440" cy="297180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8366760" y="1988819"/>
            <a:ext cx="457200" cy="384048"/>
          </a:xfrm>
          <a:prstGeom prst="rect">
            <a:avLst/>
          </a:prstGeom>
          <a:noFill/>
        </p:spPr>
        <p:txBody>
          <a:bodyPr wrap="square" lIns="36576" rIns="36576" tIns="18288" bIns="18288" anchor="t">
            <a:spAutoFit/>
          </a:bodyPr>
          <a:lstStyle/>
          <a:p>
            <a:pPr algn="l">
              <a:lnSpc>
                <a:spcPct val="112000"/>
              </a:lnSpc>
            </a:pPr>
            <a:r>
              <a:rPr sz="1700" b="1" i="0">
                <a:solidFill>
                  <a:srgbClr val="D97757"/>
                </a:solidFill>
                <a:latin typeface="Cambria"/>
              </a:rPr>
              <a:t>1</a:t>
            </a:r>
          </a:p>
        </p:txBody>
      </p:sp>
      <p:sp>
        <p:nvSpPr>
          <p:cNvPr id="8" name="TextBox 7"/>
          <p:cNvSpPr txBox="1"/>
          <p:nvPr/>
        </p:nvSpPr>
        <p:spPr>
          <a:xfrm>
            <a:off x="8823960" y="1988819"/>
            <a:ext cx="2743200" cy="512064"/>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Lab 1 · Your first AI employee</a:t>
            </a:r>
          </a:p>
        </p:txBody>
      </p:sp>
      <p:sp>
        <p:nvSpPr>
          <p:cNvPr id="9" name="TextBox 8"/>
          <p:cNvSpPr txBox="1"/>
          <p:nvPr/>
        </p:nvSpPr>
        <p:spPr>
          <a:xfrm>
            <a:off x="8366760" y="2500884"/>
            <a:ext cx="457200" cy="384048"/>
          </a:xfrm>
          <a:prstGeom prst="rect">
            <a:avLst/>
          </a:prstGeom>
          <a:noFill/>
        </p:spPr>
        <p:txBody>
          <a:bodyPr wrap="square" lIns="36576" rIns="36576" tIns="18288" bIns="18288" anchor="t">
            <a:spAutoFit/>
          </a:bodyPr>
          <a:lstStyle/>
          <a:p>
            <a:pPr algn="l">
              <a:lnSpc>
                <a:spcPct val="112000"/>
              </a:lnSpc>
            </a:pPr>
            <a:r>
              <a:rPr sz="1700" b="1" i="0">
                <a:solidFill>
                  <a:srgbClr val="D97757"/>
                </a:solidFill>
                <a:latin typeface="Cambria"/>
              </a:rPr>
              <a:t>2</a:t>
            </a:r>
          </a:p>
        </p:txBody>
      </p:sp>
      <p:sp>
        <p:nvSpPr>
          <p:cNvPr id="10" name="TextBox 9"/>
          <p:cNvSpPr txBox="1"/>
          <p:nvPr/>
        </p:nvSpPr>
        <p:spPr>
          <a:xfrm>
            <a:off x="8823960" y="2500884"/>
            <a:ext cx="2743200" cy="512064"/>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Lab 2 · End-to-end social media campaign</a:t>
            </a:r>
          </a:p>
        </p:txBody>
      </p:sp>
      <p:sp>
        <p:nvSpPr>
          <p:cNvPr id="11" name="TextBox 10"/>
          <p:cNvSpPr txBox="1"/>
          <p:nvPr/>
        </p:nvSpPr>
        <p:spPr>
          <a:xfrm>
            <a:off x="8366760" y="3012948"/>
            <a:ext cx="457200" cy="384048"/>
          </a:xfrm>
          <a:prstGeom prst="rect">
            <a:avLst/>
          </a:prstGeom>
          <a:noFill/>
        </p:spPr>
        <p:txBody>
          <a:bodyPr wrap="square" lIns="36576" rIns="36576" tIns="18288" bIns="18288" anchor="t">
            <a:spAutoFit/>
          </a:bodyPr>
          <a:lstStyle/>
          <a:p>
            <a:pPr algn="l">
              <a:lnSpc>
                <a:spcPct val="112000"/>
              </a:lnSpc>
            </a:pPr>
            <a:r>
              <a:rPr sz="1700" b="1" i="0">
                <a:solidFill>
                  <a:srgbClr val="D97757"/>
                </a:solidFill>
                <a:latin typeface="Cambria"/>
              </a:rPr>
              <a:t>3</a:t>
            </a:r>
          </a:p>
        </p:txBody>
      </p:sp>
      <p:sp>
        <p:nvSpPr>
          <p:cNvPr id="12" name="TextBox 11"/>
          <p:cNvSpPr txBox="1"/>
          <p:nvPr/>
        </p:nvSpPr>
        <p:spPr>
          <a:xfrm>
            <a:off x="8823960" y="3012948"/>
            <a:ext cx="2743200" cy="512064"/>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Lab 3 · Human-in-the-loop publishing</a:t>
            </a:r>
          </a:p>
        </p:txBody>
      </p:sp>
      <p:sp>
        <p:nvSpPr>
          <p:cNvPr id="13" name="TextBox 12"/>
          <p:cNvSpPr txBox="1"/>
          <p:nvPr/>
        </p:nvSpPr>
        <p:spPr>
          <a:xfrm>
            <a:off x="8366760" y="3525012"/>
            <a:ext cx="457200" cy="384048"/>
          </a:xfrm>
          <a:prstGeom prst="rect">
            <a:avLst/>
          </a:prstGeom>
          <a:noFill/>
        </p:spPr>
        <p:txBody>
          <a:bodyPr wrap="square" lIns="36576" rIns="36576" tIns="18288" bIns="18288" anchor="t">
            <a:spAutoFit/>
          </a:bodyPr>
          <a:lstStyle/>
          <a:p>
            <a:pPr algn="l">
              <a:lnSpc>
                <a:spcPct val="112000"/>
              </a:lnSpc>
            </a:pPr>
            <a:r>
              <a:rPr sz="1700" b="1" i="0">
                <a:solidFill>
                  <a:srgbClr val="D97757"/>
                </a:solidFill>
                <a:latin typeface="Cambria"/>
              </a:rPr>
              <a:t>4</a:t>
            </a:r>
          </a:p>
        </p:txBody>
      </p:sp>
      <p:sp>
        <p:nvSpPr>
          <p:cNvPr id="14" name="TextBox 13"/>
          <p:cNvSpPr txBox="1"/>
          <p:nvPr/>
        </p:nvSpPr>
        <p:spPr>
          <a:xfrm>
            <a:off x="8823960" y="3525012"/>
            <a:ext cx="2743200" cy="512064"/>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Lab 4 · Multi-agent video studio</a:t>
            </a:r>
          </a:p>
        </p:txBody>
      </p:sp>
      <p:sp>
        <p:nvSpPr>
          <p:cNvPr id="15" name="TextBox 14"/>
          <p:cNvSpPr txBox="1"/>
          <p:nvPr/>
        </p:nvSpPr>
        <p:spPr>
          <a:xfrm>
            <a:off x="8366760" y="4037076"/>
            <a:ext cx="457200" cy="384048"/>
          </a:xfrm>
          <a:prstGeom prst="rect">
            <a:avLst/>
          </a:prstGeom>
          <a:noFill/>
        </p:spPr>
        <p:txBody>
          <a:bodyPr wrap="square" lIns="36576" rIns="36576" tIns="18288" bIns="18288" anchor="t">
            <a:spAutoFit/>
          </a:bodyPr>
          <a:lstStyle/>
          <a:p>
            <a:pPr algn="l">
              <a:lnSpc>
                <a:spcPct val="112000"/>
              </a:lnSpc>
            </a:pPr>
            <a:r>
              <a:rPr sz="1700" b="1" i="0">
                <a:solidFill>
                  <a:srgbClr val="D97757"/>
                </a:solidFill>
                <a:latin typeface="Cambria"/>
              </a:rPr>
              <a:t>5</a:t>
            </a:r>
          </a:p>
        </p:txBody>
      </p:sp>
      <p:sp>
        <p:nvSpPr>
          <p:cNvPr id="16" name="TextBox 15"/>
          <p:cNvSpPr txBox="1"/>
          <p:nvPr/>
        </p:nvSpPr>
        <p:spPr>
          <a:xfrm>
            <a:off x="8823960" y="4037076"/>
            <a:ext cx="2743200" cy="512064"/>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Lab 5 · Campaign command centre</a:t>
            </a:r>
          </a:p>
        </p:txBody>
      </p:sp>
      <p:sp>
        <p:nvSpPr>
          <p:cNvPr id="17" name="TextBox 16"/>
          <p:cNvSpPr txBox="1"/>
          <p:nvPr/>
        </p:nvSpPr>
        <p:spPr>
          <a:xfrm>
            <a:off x="5852160" y="6473952"/>
            <a:ext cx="58521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 Tertiary Infotech Academy Pte Ltd  ·  TGS-2024043854</a:t>
            </a:r>
          </a:p>
        </p:txBody>
      </p:sp>
    </p:spTree>
  </p:cSld>
  <p:clrMapOvr>
    <a:masterClrMapping/>
  </p:clrMapOvr>
  <p:transition spd="med">
    <p:fade/>
  </p:transition>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HERMES AGENT</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What Is Hermes Agent?</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"The agent that grows with you." — 255k+ GitHub stars, v0.22 (Oct 2026).</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62</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240280"/>
            <a:ext cx="3566160" cy="166877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77240" y="242316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server-FFFFFF.png"/>
          <p:cNvPicPr>
            <a:picLocks noChangeAspect="1"/>
          </p:cNvPicPr>
          <p:nvPr/>
        </p:nvPicPr>
        <p:blipFill>
          <a:blip r:embed="rId2"/>
          <a:stretch>
            <a:fillRect/>
          </a:stretch>
        </p:blipFill>
        <p:spPr>
          <a:xfrm>
            <a:off x="900135" y="2546055"/>
            <a:ext cx="266273" cy="266273"/>
          </a:xfrm>
          <a:prstGeom prst="rect">
            <a:avLst/>
          </a:prstGeom>
        </p:spPr>
      </p:pic>
      <p:sp>
        <p:nvSpPr>
          <p:cNvPr id="11" name="TextBox 10"/>
          <p:cNvSpPr txBox="1"/>
          <p:nvPr/>
        </p:nvSpPr>
        <p:spPr>
          <a:xfrm>
            <a:off x="1426464" y="2404872"/>
            <a:ext cx="245973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Open source, self-hosted</a:t>
            </a:r>
          </a:p>
        </p:txBody>
      </p:sp>
      <p:sp>
        <p:nvSpPr>
          <p:cNvPr id="12" name="TextBox 11"/>
          <p:cNvSpPr txBox="1"/>
          <p:nvPr/>
        </p:nvSpPr>
        <p:spPr>
          <a:xfrm>
            <a:off x="777240" y="3008376"/>
            <a:ext cx="3108960" cy="827531"/>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MIT licence by Nous Research. Runs on your laptop, a VPS, Docker or the desktop app.</a:t>
            </a:r>
          </a:p>
        </p:txBody>
      </p:sp>
      <p:sp>
        <p:nvSpPr>
          <p:cNvPr id="13" name="Rounded Rectangle 12"/>
          <p:cNvSpPr/>
          <p:nvPr/>
        </p:nvSpPr>
        <p:spPr>
          <a:xfrm>
            <a:off x="4297679" y="2240280"/>
            <a:ext cx="3566160" cy="166877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4526279" y="242316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Picture 14" descr="sparkles-FFFFFF.png"/>
          <p:cNvPicPr>
            <a:picLocks noChangeAspect="1"/>
          </p:cNvPicPr>
          <p:nvPr/>
        </p:nvPicPr>
        <p:blipFill>
          <a:blip r:embed="rId3"/>
          <a:stretch>
            <a:fillRect/>
          </a:stretch>
        </p:blipFill>
        <p:spPr>
          <a:xfrm>
            <a:off x="4649175" y="2546055"/>
            <a:ext cx="266273" cy="266273"/>
          </a:xfrm>
          <a:prstGeom prst="rect">
            <a:avLst/>
          </a:prstGeom>
        </p:spPr>
      </p:pic>
      <p:sp>
        <p:nvSpPr>
          <p:cNvPr id="16" name="TextBox 15"/>
          <p:cNvSpPr txBox="1"/>
          <p:nvPr/>
        </p:nvSpPr>
        <p:spPr>
          <a:xfrm>
            <a:off x="5175504" y="2404872"/>
            <a:ext cx="245973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Grows with you</a:t>
            </a:r>
          </a:p>
        </p:txBody>
      </p:sp>
      <p:sp>
        <p:nvSpPr>
          <p:cNvPr id="17" name="TextBox 16"/>
          <p:cNvSpPr txBox="1"/>
          <p:nvPr/>
        </p:nvSpPr>
        <p:spPr>
          <a:xfrm>
            <a:off x="4526279" y="3008376"/>
            <a:ext cx="3108960" cy="827531"/>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Persistent memory and session search; writes and improves its own skills after hard tasks.</a:t>
            </a:r>
          </a:p>
        </p:txBody>
      </p:sp>
      <p:sp>
        <p:nvSpPr>
          <p:cNvPr id="18" name="Rounded Rectangle 17"/>
          <p:cNvSpPr/>
          <p:nvPr/>
        </p:nvSpPr>
        <p:spPr>
          <a:xfrm>
            <a:off x="8046719" y="2240280"/>
            <a:ext cx="3566160" cy="166877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8275319" y="242316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chat-FFFFFF.png"/>
          <p:cNvPicPr>
            <a:picLocks noChangeAspect="1"/>
          </p:cNvPicPr>
          <p:nvPr/>
        </p:nvPicPr>
        <p:blipFill>
          <a:blip r:embed="rId4"/>
          <a:stretch>
            <a:fillRect/>
          </a:stretch>
        </p:blipFill>
        <p:spPr>
          <a:xfrm>
            <a:off x="8398215" y="2546055"/>
            <a:ext cx="266273" cy="266273"/>
          </a:xfrm>
          <a:prstGeom prst="rect">
            <a:avLst/>
          </a:prstGeom>
        </p:spPr>
      </p:pic>
      <p:sp>
        <p:nvSpPr>
          <p:cNvPr id="21" name="TextBox 20"/>
          <p:cNvSpPr txBox="1"/>
          <p:nvPr/>
        </p:nvSpPr>
        <p:spPr>
          <a:xfrm>
            <a:off x="8924544" y="2404872"/>
            <a:ext cx="245973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Every channel</a:t>
            </a:r>
          </a:p>
        </p:txBody>
      </p:sp>
      <p:sp>
        <p:nvSpPr>
          <p:cNvPr id="22" name="TextBox 21"/>
          <p:cNvSpPr txBox="1"/>
          <p:nvPr/>
        </p:nvSpPr>
        <p:spPr>
          <a:xfrm>
            <a:off x="8275319" y="3008376"/>
            <a:ext cx="3108960" cy="827531"/>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One gateway: CLI, Telegram, WhatsApp, Slack, Discord, Signal, email …</a:t>
            </a:r>
          </a:p>
        </p:txBody>
      </p:sp>
      <p:sp>
        <p:nvSpPr>
          <p:cNvPr id="23" name="Rounded Rectangle 22"/>
          <p:cNvSpPr/>
          <p:nvPr/>
        </p:nvSpPr>
        <p:spPr>
          <a:xfrm>
            <a:off x="548640" y="4091939"/>
            <a:ext cx="3566160" cy="166877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777240" y="42748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Picture 24" descr="tool-FFFFFF.png"/>
          <p:cNvPicPr>
            <a:picLocks noChangeAspect="1"/>
          </p:cNvPicPr>
          <p:nvPr/>
        </p:nvPicPr>
        <p:blipFill>
          <a:blip r:embed="rId5"/>
          <a:stretch>
            <a:fillRect/>
          </a:stretch>
        </p:blipFill>
        <p:spPr>
          <a:xfrm>
            <a:off x="900135" y="4397715"/>
            <a:ext cx="266273" cy="266273"/>
          </a:xfrm>
          <a:prstGeom prst="rect">
            <a:avLst/>
          </a:prstGeom>
        </p:spPr>
      </p:pic>
      <p:sp>
        <p:nvSpPr>
          <p:cNvPr id="26" name="TextBox 25"/>
          <p:cNvSpPr txBox="1"/>
          <p:nvPr/>
        </p:nvSpPr>
        <p:spPr>
          <a:xfrm>
            <a:off x="1426464" y="4256532"/>
            <a:ext cx="245973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Tools &amp; MCP</a:t>
            </a:r>
          </a:p>
        </p:txBody>
      </p:sp>
      <p:sp>
        <p:nvSpPr>
          <p:cNvPr id="27" name="TextBox 26"/>
          <p:cNvSpPr txBox="1"/>
          <p:nvPr/>
        </p:nvSpPr>
        <p:spPr>
          <a:xfrm>
            <a:off x="777240" y="4860036"/>
            <a:ext cx="3108960" cy="827531"/>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Web search, files, terminal, browser, image generation, TTS and any MCP server.</a:t>
            </a:r>
          </a:p>
        </p:txBody>
      </p:sp>
      <p:sp>
        <p:nvSpPr>
          <p:cNvPr id="28" name="Rounded Rectangle 27"/>
          <p:cNvSpPr/>
          <p:nvPr/>
        </p:nvSpPr>
        <p:spPr>
          <a:xfrm>
            <a:off x="4297679" y="4091939"/>
            <a:ext cx="3566160" cy="166877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4526279" y="42748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0" name="Picture 29" descr="clock-FFFFFF.png"/>
          <p:cNvPicPr>
            <a:picLocks noChangeAspect="1"/>
          </p:cNvPicPr>
          <p:nvPr/>
        </p:nvPicPr>
        <p:blipFill>
          <a:blip r:embed="rId6"/>
          <a:stretch>
            <a:fillRect/>
          </a:stretch>
        </p:blipFill>
        <p:spPr>
          <a:xfrm>
            <a:off x="4649175" y="4397715"/>
            <a:ext cx="266273" cy="266273"/>
          </a:xfrm>
          <a:prstGeom prst="rect">
            <a:avLst/>
          </a:prstGeom>
        </p:spPr>
      </p:pic>
      <p:sp>
        <p:nvSpPr>
          <p:cNvPr id="31" name="TextBox 30"/>
          <p:cNvSpPr txBox="1"/>
          <p:nvPr/>
        </p:nvSpPr>
        <p:spPr>
          <a:xfrm>
            <a:off x="5175504" y="4256532"/>
            <a:ext cx="245973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Proactive</a:t>
            </a:r>
          </a:p>
        </p:txBody>
      </p:sp>
      <p:sp>
        <p:nvSpPr>
          <p:cNvPr id="32" name="TextBox 31"/>
          <p:cNvSpPr txBox="1"/>
          <p:nvPr/>
        </p:nvSpPr>
        <p:spPr>
          <a:xfrm>
            <a:off x="4526279" y="4860036"/>
            <a:ext cx="3108960" cy="827531"/>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Built-in cron scheduler runs jobs and delivers results to your chat.</a:t>
            </a:r>
          </a:p>
        </p:txBody>
      </p:sp>
      <p:sp>
        <p:nvSpPr>
          <p:cNvPr id="33" name="Rounded Rectangle 32"/>
          <p:cNvSpPr/>
          <p:nvPr/>
        </p:nvSpPr>
        <p:spPr>
          <a:xfrm>
            <a:off x="8046719" y="4091939"/>
            <a:ext cx="3566160" cy="166877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Oval 33"/>
          <p:cNvSpPr/>
          <p:nvPr/>
        </p:nvSpPr>
        <p:spPr>
          <a:xfrm>
            <a:off x="8275319" y="42748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5" name="Picture 34" descr="kanban-FFFFFF.png"/>
          <p:cNvPicPr>
            <a:picLocks noChangeAspect="1"/>
          </p:cNvPicPr>
          <p:nvPr/>
        </p:nvPicPr>
        <p:blipFill>
          <a:blip r:embed="rId7"/>
          <a:stretch>
            <a:fillRect/>
          </a:stretch>
        </p:blipFill>
        <p:spPr>
          <a:xfrm>
            <a:off x="8398215" y="4397715"/>
            <a:ext cx="266273" cy="266273"/>
          </a:xfrm>
          <a:prstGeom prst="rect">
            <a:avLst/>
          </a:prstGeom>
        </p:spPr>
      </p:pic>
      <p:sp>
        <p:nvSpPr>
          <p:cNvPr id="36" name="TextBox 35"/>
          <p:cNvSpPr txBox="1"/>
          <p:nvPr/>
        </p:nvSpPr>
        <p:spPr>
          <a:xfrm>
            <a:off x="8924544" y="4256532"/>
            <a:ext cx="245973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Multi-agent</a:t>
            </a:r>
          </a:p>
        </p:txBody>
      </p:sp>
      <p:sp>
        <p:nvSpPr>
          <p:cNvPr id="37" name="TextBox 36"/>
          <p:cNvSpPr txBox="1"/>
          <p:nvPr/>
        </p:nvSpPr>
        <p:spPr>
          <a:xfrm>
            <a:off x="8275319" y="4860036"/>
            <a:ext cx="3108960" cy="827531"/>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Profiles (isolated agents) + a Kanban board with dependencies, reviews and swarms.</a:t>
            </a:r>
          </a:p>
        </p:txBody>
      </p:sp>
    </p:spTree>
  </p:cSld>
  <p:clrMapOvr>
    <a:masterClrMapping/>
  </p:clrMapOvr>
  <p:transition spd="med">
    <p:fade/>
  </p:transition>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HERMES AGENT</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Hermes Architecture — the Harness Around the Model</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63</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cxnSp>
        <p:nvCxnSpPr>
          <p:cNvPr id="7" name="Connector 6"/>
          <p:cNvCxnSpPr/>
          <p:nvPr/>
        </p:nvCxnSpPr>
        <p:spPr>
          <a:xfrm flipV="1">
            <a:off x="6099048" y="2148839"/>
            <a:ext cx="0" cy="1600200"/>
          </a:xfrm>
          <a:prstGeom prst="line">
            <a:avLst/>
          </a:prstGeom>
          <a:ln w="19050">
            <a:solidFill>
              <a:srgbClr val="C9C4B9"/>
            </a:solidFill>
            <a:prstDash val="dash"/>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6099048" y="2948939"/>
            <a:ext cx="3444737" cy="800100"/>
          </a:xfrm>
          <a:prstGeom prst="line">
            <a:avLst/>
          </a:prstGeom>
          <a:ln w="19050">
            <a:solidFill>
              <a:srgbClr val="C9C4B9"/>
            </a:solidFill>
            <a:prstDash val="dash"/>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099048" y="3749039"/>
            <a:ext cx="3444737" cy="800101"/>
          </a:xfrm>
          <a:prstGeom prst="line">
            <a:avLst/>
          </a:prstGeom>
          <a:ln w="19050">
            <a:solidFill>
              <a:srgbClr val="C9C4B9"/>
            </a:solidFill>
            <a:prstDash val="dash"/>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6099048" y="3749039"/>
            <a:ext cx="0" cy="1600201"/>
          </a:xfrm>
          <a:prstGeom prst="line">
            <a:avLst/>
          </a:prstGeom>
          <a:ln w="19050">
            <a:solidFill>
              <a:srgbClr val="C9C4B9"/>
            </a:solidFill>
            <a:prstDash val="dash"/>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H="1">
            <a:off x="2654310" y="3749039"/>
            <a:ext cx="3444738" cy="800101"/>
          </a:xfrm>
          <a:prstGeom prst="line">
            <a:avLst/>
          </a:prstGeom>
          <a:ln w="19050">
            <a:solidFill>
              <a:srgbClr val="C9C4B9"/>
            </a:solidFill>
            <a:prstDash val="dash"/>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flipV="1">
            <a:off x="2654310" y="2948939"/>
            <a:ext cx="3444738" cy="800100"/>
          </a:xfrm>
          <a:prstGeom prst="line">
            <a:avLst/>
          </a:prstGeom>
          <a:ln w="19050">
            <a:solidFill>
              <a:srgbClr val="C9C4B9"/>
            </a:solidFill>
            <a:prstDash val="dash"/>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4773168" y="3291839"/>
            <a:ext cx="2651760" cy="914400"/>
          </a:xfrm>
          <a:prstGeom prst="roundRect">
            <a:avLst>
              <a:gd name="adj" fmla="val 3500"/>
            </a:avLst>
          </a:prstGeom>
          <a:solidFill>
            <a:srgbClr val="D97757"/>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773168" y="3291839"/>
            <a:ext cx="2651760" cy="914400"/>
          </a:xfrm>
          <a:prstGeom prst="rect">
            <a:avLst/>
          </a:prstGeom>
          <a:noFill/>
        </p:spPr>
        <p:txBody>
          <a:bodyPr wrap="square" lIns="36576" rIns="36576" tIns="18288" bIns="18288" anchor="ctr">
            <a:spAutoFit/>
          </a:bodyPr>
          <a:lstStyle/>
          <a:p>
            <a:pPr algn="ctr">
              <a:lnSpc>
                <a:spcPct val="112000"/>
              </a:lnSpc>
            </a:pPr>
            <a:r>
              <a:rPr sz="1600" b="1" i="0">
                <a:solidFill>
                  <a:srgbClr val="FFFFFF"/>
                </a:solidFill>
                <a:latin typeface="Cambria"/>
              </a:rPr>
              <a:t>Hermes agent loop</a:t>
            </a:r>
          </a:p>
          <a:p>
            <a:pPr algn="ctr">
              <a:lnSpc>
                <a:spcPct val="112000"/>
              </a:lnSpc>
            </a:pPr>
            <a:r>
              <a:rPr sz="1600" b="1" i="0">
                <a:solidFill>
                  <a:srgbClr val="FFFFFF"/>
                </a:solidFill>
                <a:latin typeface="Cambria"/>
              </a:rPr>
              <a:t>+ your LLM</a:t>
            </a:r>
          </a:p>
        </p:txBody>
      </p:sp>
      <p:sp>
        <p:nvSpPr>
          <p:cNvPr id="15" name="Rounded Rectangle 14"/>
          <p:cNvSpPr/>
          <p:nvPr/>
        </p:nvSpPr>
        <p:spPr>
          <a:xfrm>
            <a:off x="4841748" y="1668779"/>
            <a:ext cx="2514600" cy="9601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4969764" y="1796795"/>
            <a:ext cx="384048" cy="384048"/>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file-FFFFFF.png"/>
          <p:cNvPicPr>
            <a:picLocks noChangeAspect="1"/>
          </p:cNvPicPr>
          <p:nvPr/>
        </p:nvPicPr>
        <p:blipFill>
          <a:blip r:embed="rId2"/>
          <a:stretch>
            <a:fillRect/>
          </a:stretch>
        </p:blipFill>
        <p:spPr>
          <a:xfrm>
            <a:off x="5061935" y="1888967"/>
            <a:ext cx="199704" cy="199704"/>
          </a:xfrm>
          <a:prstGeom prst="rect">
            <a:avLst/>
          </a:prstGeom>
        </p:spPr>
      </p:pic>
      <p:sp>
        <p:nvSpPr>
          <p:cNvPr id="18" name="TextBox 17"/>
          <p:cNvSpPr txBox="1"/>
          <p:nvPr/>
        </p:nvSpPr>
        <p:spPr>
          <a:xfrm>
            <a:off x="5426964" y="1760219"/>
            <a:ext cx="1837943" cy="329184"/>
          </a:xfrm>
          <a:prstGeom prst="rect">
            <a:avLst/>
          </a:prstGeom>
          <a:noFill/>
        </p:spPr>
        <p:txBody>
          <a:bodyPr wrap="square" lIns="36576" rIns="36576" tIns="18288" bIns="18288" anchor="t">
            <a:spAutoFit/>
          </a:bodyPr>
          <a:lstStyle/>
          <a:p>
            <a:pPr algn="l">
              <a:lnSpc>
                <a:spcPct val="112000"/>
              </a:lnSpc>
            </a:pPr>
            <a:r>
              <a:rPr sz="1300" b="1" i="0">
                <a:solidFill>
                  <a:srgbClr val="21201C"/>
                </a:solidFill>
                <a:latin typeface="Cambria"/>
              </a:rPr>
              <a:t>Context</a:t>
            </a:r>
          </a:p>
        </p:txBody>
      </p:sp>
      <p:sp>
        <p:nvSpPr>
          <p:cNvPr id="19" name="TextBox 18"/>
          <p:cNvSpPr txBox="1"/>
          <p:nvPr/>
        </p:nvSpPr>
        <p:spPr>
          <a:xfrm>
            <a:off x="4969764" y="2199132"/>
            <a:ext cx="2276856" cy="411480"/>
          </a:xfrm>
          <a:prstGeom prst="rect">
            <a:avLst/>
          </a:prstGeom>
          <a:noFill/>
        </p:spPr>
        <p:txBody>
          <a:bodyPr wrap="square" lIns="36576" rIns="36576" tIns="18288" bIns="18288" anchor="t">
            <a:spAutoFit/>
          </a:bodyPr>
          <a:lstStyle/>
          <a:p>
            <a:pPr algn="l">
              <a:lnSpc>
                <a:spcPct val="112000"/>
              </a:lnSpc>
            </a:pPr>
            <a:r>
              <a:rPr sz="1000" b="0" i="0">
                <a:solidFill>
                  <a:srgbClr val="6B6862"/>
                </a:solidFill>
                <a:latin typeface="Calibri"/>
              </a:rPr>
              <a:t>AGENTS.md, SOUL.md, USER.md</a:t>
            </a:r>
          </a:p>
        </p:txBody>
      </p:sp>
      <p:sp>
        <p:nvSpPr>
          <p:cNvPr id="20" name="Rounded Rectangle 19"/>
          <p:cNvSpPr/>
          <p:nvPr/>
        </p:nvSpPr>
        <p:spPr>
          <a:xfrm>
            <a:off x="8286485" y="2468879"/>
            <a:ext cx="2514600" cy="9601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8414501" y="2596896"/>
            <a:ext cx="384048" cy="384048"/>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memory-FFFFFF.png"/>
          <p:cNvPicPr>
            <a:picLocks noChangeAspect="1"/>
          </p:cNvPicPr>
          <p:nvPr/>
        </p:nvPicPr>
        <p:blipFill>
          <a:blip r:embed="rId3"/>
          <a:stretch>
            <a:fillRect/>
          </a:stretch>
        </p:blipFill>
        <p:spPr>
          <a:xfrm>
            <a:off x="8506672" y="2689067"/>
            <a:ext cx="199704" cy="199704"/>
          </a:xfrm>
          <a:prstGeom prst="rect">
            <a:avLst/>
          </a:prstGeom>
        </p:spPr>
      </p:pic>
      <p:sp>
        <p:nvSpPr>
          <p:cNvPr id="23" name="TextBox 22"/>
          <p:cNvSpPr txBox="1"/>
          <p:nvPr/>
        </p:nvSpPr>
        <p:spPr>
          <a:xfrm>
            <a:off x="8871701" y="2560320"/>
            <a:ext cx="1837943" cy="329184"/>
          </a:xfrm>
          <a:prstGeom prst="rect">
            <a:avLst/>
          </a:prstGeom>
          <a:noFill/>
        </p:spPr>
        <p:txBody>
          <a:bodyPr wrap="square" lIns="36576" rIns="36576" tIns="18288" bIns="18288" anchor="t">
            <a:spAutoFit/>
          </a:bodyPr>
          <a:lstStyle/>
          <a:p>
            <a:pPr algn="l">
              <a:lnSpc>
                <a:spcPct val="112000"/>
              </a:lnSpc>
            </a:pPr>
            <a:r>
              <a:rPr sz="1300" b="1" i="0">
                <a:solidFill>
                  <a:srgbClr val="21201C"/>
                </a:solidFill>
                <a:latin typeface="Cambria"/>
              </a:rPr>
              <a:t>Memory</a:t>
            </a:r>
          </a:p>
        </p:txBody>
      </p:sp>
      <p:sp>
        <p:nvSpPr>
          <p:cNvPr id="24" name="TextBox 23"/>
          <p:cNvSpPr txBox="1"/>
          <p:nvPr/>
        </p:nvSpPr>
        <p:spPr>
          <a:xfrm>
            <a:off x="8414501" y="2999232"/>
            <a:ext cx="2276856" cy="411480"/>
          </a:xfrm>
          <a:prstGeom prst="rect">
            <a:avLst/>
          </a:prstGeom>
          <a:noFill/>
        </p:spPr>
        <p:txBody>
          <a:bodyPr wrap="square" lIns="36576" rIns="36576" tIns="18288" bIns="18288" anchor="t">
            <a:spAutoFit/>
          </a:bodyPr>
          <a:lstStyle/>
          <a:p>
            <a:pPr algn="l">
              <a:lnSpc>
                <a:spcPct val="112000"/>
              </a:lnSpc>
            </a:pPr>
            <a:r>
              <a:rPr sz="1000" b="0" i="0">
                <a:solidFill>
                  <a:srgbClr val="6B6862"/>
                </a:solidFill>
                <a:latin typeface="Calibri"/>
              </a:rPr>
              <a:t>MEMORY.md + session search</a:t>
            </a:r>
          </a:p>
        </p:txBody>
      </p:sp>
      <p:sp>
        <p:nvSpPr>
          <p:cNvPr id="25" name="Rounded Rectangle 24"/>
          <p:cNvSpPr/>
          <p:nvPr/>
        </p:nvSpPr>
        <p:spPr>
          <a:xfrm>
            <a:off x="8286485" y="4069079"/>
            <a:ext cx="2514600" cy="9601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8414501" y="4197095"/>
            <a:ext cx="384048" cy="384048"/>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7" name="Picture 26" descr="puzzle-FFFFFF.png"/>
          <p:cNvPicPr>
            <a:picLocks noChangeAspect="1"/>
          </p:cNvPicPr>
          <p:nvPr/>
        </p:nvPicPr>
        <p:blipFill>
          <a:blip r:embed="rId4"/>
          <a:stretch>
            <a:fillRect/>
          </a:stretch>
        </p:blipFill>
        <p:spPr>
          <a:xfrm>
            <a:off x="8506672" y="4289267"/>
            <a:ext cx="199704" cy="199704"/>
          </a:xfrm>
          <a:prstGeom prst="rect">
            <a:avLst/>
          </a:prstGeom>
        </p:spPr>
      </p:pic>
      <p:sp>
        <p:nvSpPr>
          <p:cNvPr id="28" name="TextBox 27"/>
          <p:cNvSpPr txBox="1"/>
          <p:nvPr/>
        </p:nvSpPr>
        <p:spPr>
          <a:xfrm>
            <a:off x="8871701" y="4160519"/>
            <a:ext cx="1837943" cy="329184"/>
          </a:xfrm>
          <a:prstGeom prst="rect">
            <a:avLst/>
          </a:prstGeom>
          <a:noFill/>
        </p:spPr>
        <p:txBody>
          <a:bodyPr wrap="square" lIns="36576" rIns="36576" tIns="18288" bIns="18288" anchor="t">
            <a:spAutoFit/>
          </a:bodyPr>
          <a:lstStyle/>
          <a:p>
            <a:pPr algn="l">
              <a:lnSpc>
                <a:spcPct val="112000"/>
              </a:lnSpc>
            </a:pPr>
            <a:r>
              <a:rPr sz="1300" b="1" i="0">
                <a:solidFill>
                  <a:srgbClr val="21201C"/>
                </a:solidFill>
                <a:latin typeface="Cambria"/>
              </a:rPr>
              <a:t>Skills</a:t>
            </a:r>
          </a:p>
        </p:txBody>
      </p:sp>
      <p:sp>
        <p:nvSpPr>
          <p:cNvPr id="29" name="TextBox 28"/>
          <p:cNvSpPr txBox="1"/>
          <p:nvPr/>
        </p:nvSpPr>
        <p:spPr>
          <a:xfrm>
            <a:off x="8414501" y="4599431"/>
            <a:ext cx="2276856" cy="411480"/>
          </a:xfrm>
          <a:prstGeom prst="rect">
            <a:avLst/>
          </a:prstGeom>
          <a:noFill/>
        </p:spPr>
        <p:txBody>
          <a:bodyPr wrap="square" lIns="36576" rIns="36576" tIns="18288" bIns="18288" anchor="t">
            <a:spAutoFit/>
          </a:bodyPr>
          <a:lstStyle/>
          <a:p>
            <a:pPr algn="l">
              <a:lnSpc>
                <a:spcPct val="112000"/>
              </a:lnSpc>
            </a:pPr>
            <a:r>
              <a:rPr sz="1000" b="0" i="0">
                <a:solidFill>
                  <a:srgbClr val="6B6862"/>
                </a:solidFill>
                <a:latin typeface="Calibri"/>
              </a:rPr>
              <a:t>SKILL.md, hub + self-written</a:t>
            </a:r>
          </a:p>
        </p:txBody>
      </p:sp>
      <p:sp>
        <p:nvSpPr>
          <p:cNvPr id="30" name="Rounded Rectangle 29"/>
          <p:cNvSpPr/>
          <p:nvPr/>
        </p:nvSpPr>
        <p:spPr>
          <a:xfrm>
            <a:off x="4841748" y="4869179"/>
            <a:ext cx="2514600" cy="9601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Oval 30"/>
          <p:cNvSpPr/>
          <p:nvPr/>
        </p:nvSpPr>
        <p:spPr>
          <a:xfrm>
            <a:off x="4969764" y="4997195"/>
            <a:ext cx="384048" cy="384048"/>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2" name="Picture 31" descr="tool-FFFFFF.png"/>
          <p:cNvPicPr>
            <a:picLocks noChangeAspect="1"/>
          </p:cNvPicPr>
          <p:nvPr/>
        </p:nvPicPr>
        <p:blipFill>
          <a:blip r:embed="rId5"/>
          <a:stretch>
            <a:fillRect/>
          </a:stretch>
        </p:blipFill>
        <p:spPr>
          <a:xfrm>
            <a:off x="5061935" y="5089367"/>
            <a:ext cx="199704" cy="199704"/>
          </a:xfrm>
          <a:prstGeom prst="rect">
            <a:avLst/>
          </a:prstGeom>
        </p:spPr>
      </p:pic>
      <p:sp>
        <p:nvSpPr>
          <p:cNvPr id="33" name="TextBox 32"/>
          <p:cNvSpPr txBox="1"/>
          <p:nvPr/>
        </p:nvSpPr>
        <p:spPr>
          <a:xfrm>
            <a:off x="5426964" y="4960619"/>
            <a:ext cx="1837943" cy="329184"/>
          </a:xfrm>
          <a:prstGeom prst="rect">
            <a:avLst/>
          </a:prstGeom>
          <a:noFill/>
        </p:spPr>
        <p:txBody>
          <a:bodyPr wrap="square" lIns="36576" rIns="36576" tIns="18288" bIns="18288" anchor="t">
            <a:spAutoFit/>
          </a:bodyPr>
          <a:lstStyle/>
          <a:p>
            <a:pPr algn="l">
              <a:lnSpc>
                <a:spcPct val="112000"/>
              </a:lnSpc>
            </a:pPr>
            <a:r>
              <a:rPr sz="1300" b="1" i="0">
                <a:solidFill>
                  <a:srgbClr val="21201C"/>
                </a:solidFill>
                <a:latin typeface="Cambria"/>
              </a:rPr>
              <a:t>Tools &amp; MCP</a:t>
            </a:r>
          </a:p>
        </p:txBody>
      </p:sp>
      <p:sp>
        <p:nvSpPr>
          <p:cNvPr id="34" name="TextBox 33"/>
          <p:cNvSpPr txBox="1"/>
          <p:nvPr/>
        </p:nvSpPr>
        <p:spPr>
          <a:xfrm>
            <a:off x="4969764" y="5399531"/>
            <a:ext cx="2276856" cy="411480"/>
          </a:xfrm>
          <a:prstGeom prst="rect">
            <a:avLst/>
          </a:prstGeom>
          <a:noFill/>
        </p:spPr>
        <p:txBody>
          <a:bodyPr wrap="square" lIns="36576" rIns="36576" tIns="18288" bIns="18288" anchor="t">
            <a:spAutoFit/>
          </a:bodyPr>
          <a:lstStyle/>
          <a:p>
            <a:pPr algn="l">
              <a:lnSpc>
                <a:spcPct val="112000"/>
              </a:lnSpc>
            </a:pPr>
            <a:r>
              <a:rPr sz="1000" b="0" i="0">
                <a:solidFill>
                  <a:srgbClr val="6B6862"/>
                </a:solidFill>
                <a:latin typeface="Calibri"/>
              </a:rPr>
              <a:t>web, files, terminal, images</a:t>
            </a:r>
          </a:p>
        </p:txBody>
      </p:sp>
      <p:sp>
        <p:nvSpPr>
          <p:cNvPr id="35" name="Rounded Rectangle 34"/>
          <p:cNvSpPr/>
          <p:nvPr/>
        </p:nvSpPr>
        <p:spPr>
          <a:xfrm>
            <a:off x="1397010" y="4069080"/>
            <a:ext cx="2514600" cy="9601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Oval 35"/>
          <p:cNvSpPr/>
          <p:nvPr/>
        </p:nvSpPr>
        <p:spPr>
          <a:xfrm>
            <a:off x="1525026" y="4197096"/>
            <a:ext cx="384048" cy="384048"/>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7" name="Picture 36" descr="chat-FFFFFF.png"/>
          <p:cNvPicPr>
            <a:picLocks noChangeAspect="1"/>
          </p:cNvPicPr>
          <p:nvPr/>
        </p:nvPicPr>
        <p:blipFill>
          <a:blip r:embed="rId6"/>
          <a:stretch>
            <a:fillRect/>
          </a:stretch>
        </p:blipFill>
        <p:spPr>
          <a:xfrm>
            <a:off x="1617198" y="4289267"/>
            <a:ext cx="199704" cy="199704"/>
          </a:xfrm>
          <a:prstGeom prst="rect">
            <a:avLst/>
          </a:prstGeom>
        </p:spPr>
      </p:pic>
      <p:sp>
        <p:nvSpPr>
          <p:cNvPr id="38" name="TextBox 37"/>
          <p:cNvSpPr txBox="1"/>
          <p:nvPr/>
        </p:nvSpPr>
        <p:spPr>
          <a:xfrm>
            <a:off x="1982226" y="4160520"/>
            <a:ext cx="1837943" cy="329184"/>
          </a:xfrm>
          <a:prstGeom prst="rect">
            <a:avLst/>
          </a:prstGeom>
          <a:noFill/>
        </p:spPr>
        <p:txBody>
          <a:bodyPr wrap="square" lIns="36576" rIns="36576" tIns="18288" bIns="18288" anchor="t">
            <a:spAutoFit/>
          </a:bodyPr>
          <a:lstStyle/>
          <a:p>
            <a:pPr algn="l">
              <a:lnSpc>
                <a:spcPct val="112000"/>
              </a:lnSpc>
            </a:pPr>
            <a:r>
              <a:rPr sz="1300" b="1" i="0">
                <a:solidFill>
                  <a:srgbClr val="21201C"/>
                </a:solidFill>
                <a:latin typeface="Cambria"/>
              </a:rPr>
              <a:t>Gateway</a:t>
            </a:r>
          </a:p>
        </p:txBody>
      </p:sp>
      <p:sp>
        <p:nvSpPr>
          <p:cNvPr id="39" name="TextBox 38"/>
          <p:cNvSpPr txBox="1"/>
          <p:nvPr/>
        </p:nvSpPr>
        <p:spPr>
          <a:xfrm>
            <a:off x="1525026" y="4599432"/>
            <a:ext cx="2276856" cy="411480"/>
          </a:xfrm>
          <a:prstGeom prst="rect">
            <a:avLst/>
          </a:prstGeom>
          <a:noFill/>
        </p:spPr>
        <p:txBody>
          <a:bodyPr wrap="square" lIns="36576" rIns="36576" tIns="18288" bIns="18288" anchor="t">
            <a:spAutoFit/>
          </a:bodyPr>
          <a:lstStyle/>
          <a:p>
            <a:pPr algn="l">
              <a:lnSpc>
                <a:spcPct val="112000"/>
              </a:lnSpc>
            </a:pPr>
            <a:r>
              <a:rPr sz="1000" b="0" i="0">
                <a:solidFill>
                  <a:srgbClr val="6B6862"/>
                </a:solidFill>
                <a:latin typeface="Calibri"/>
              </a:rPr>
              <a:t>Telegram, Slack, WhatsApp …</a:t>
            </a:r>
          </a:p>
        </p:txBody>
      </p:sp>
      <p:sp>
        <p:nvSpPr>
          <p:cNvPr id="40" name="Rounded Rectangle 39"/>
          <p:cNvSpPr/>
          <p:nvPr/>
        </p:nvSpPr>
        <p:spPr>
          <a:xfrm>
            <a:off x="1397010" y="2468879"/>
            <a:ext cx="2514600" cy="9601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Oval 40"/>
          <p:cNvSpPr/>
          <p:nvPr/>
        </p:nvSpPr>
        <p:spPr>
          <a:xfrm>
            <a:off x="1525026" y="2596896"/>
            <a:ext cx="384048" cy="384048"/>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2" name="Picture 41" descr="kanban-FFFFFF.png"/>
          <p:cNvPicPr>
            <a:picLocks noChangeAspect="1"/>
          </p:cNvPicPr>
          <p:nvPr/>
        </p:nvPicPr>
        <p:blipFill>
          <a:blip r:embed="rId7"/>
          <a:stretch>
            <a:fillRect/>
          </a:stretch>
        </p:blipFill>
        <p:spPr>
          <a:xfrm>
            <a:off x="1617198" y="2689067"/>
            <a:ext cx="199704" cy="199704"/>
          </a:xfrm>
          <a:prstGeom prst="rect">
            <a:avLst/>
          </a:prstGeom>
        </p:spPr>
      </p:pic>
      <p:sp>
        <p:nvSpPr>
          <p:cNvPr id="43" name="TextBox 42"/>
          <p:cNvSpPr txBox="1"/>
          <p:nvPr/>
        </p:nvSpPr>
        <p:spPr>
          <a:xfrm>
            <a:off x="1982226" y="2560320"/>
            <a:ext cx="1837943" cy="329184"/>
          </a:xfrm>
          <a:prstGeom prst="rect">
            <a:avLst/>
          </a:prstGeom>
          <a:noFill/>
        </p:spPr>
        <p:txBody>
          <a:bodyPr wrap="square" lIns="36576" rIns="36576" tIns="18288" bIns="18288" anchor="t">
            <a:spAutoFit/>
          </a:bodyPr>
          <a:lstStyle/>
          <a:p>
            <a:pPr algn="l">
              <a:lnSpc>
                <a:spcPct val="112000"/>
              </a:lnSpc>
            </a:pPr>
            <a:r>
              <a:rPr sz="1100" b="1" i="0">
                <a:solidFill>
                  <a:srgbClr val="21201C"/>
                </a:solidFill>
                <a:latin typeface="Cambria"/>
              </a:rPr>
              <a:t>Cron · Profiles · Kanban</a:t>
            </a:r>
          </a:p>
        </p:txBody>
      </p:sp>
      <p:sp>
        <p:nvSpPr>
          <p:cNvPr id="44" name="TextBox 43"/>
          <p:cNvSpPr txBox="1"/>
          <p:nvPr/>
        </p:nvSpPr>
        <p:spPr>
          <a:xfrm>
            <a:off x="1525026" y="2999232"/>
            <a:ext cx="2276856" cy="411480"/>
          </a:xfrm>
          <a:prstGeom prst="rect">
            <a:avLst/>
          </a:prstGeom>
          <a:noFill/>
        </p:spPr>
        <p:txBody>
          <a:bodyPr wrap="square" lIns="36576" rIns="36576" tIns="18288" bIns="18288" anchor="t">
            <a:spAutoFit/>
          </a:bodyPr>
          <a:lstStyle/>
          <a:p>
            <a:pPr algn="l">
              <a:lnSpc>
                <a:spcPct val="112000"/>
              </a:lnSpc>
            </a:pPr>
            <a:r>
              <a:rPr sz="1000" b="0" i="0">
                <a:solidFill>
                  <a:srgbClr val="6B6862"/>
                </a:solidFill>
                <a:latin typeface="Calibri"/>
              </a:rPr>
              <a:t>schedule &amp; orchestrate</a:t>
            </a:r>
          </a:p>
        </p:txBody>
      </p:sp>
    </p:spTree>
  </p:cSld>
  <p:clrMapOvr>
    <a:masterClrMapping/>
  </p:clrMapOvr>
  <p:transition spd="med">
    <p:fade/>
  </p:transition>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HERMES AGENT</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The Hermes Dashboard</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64</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2807208" y="1682496"/>
            <a:ext cx="6547104" cy="4133088"/>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hermes-dashboard.png"/>
          <p:cNvPicPr>
            <a:picLocks noChangeAspect="1"/>
          </p:cNvPicPr>
          <p:nvPr/>
        </p:nvPicPr>
        <p:blipFill>
          <a:blip r:embed="rId2"/>
          <a:stretch>
            <a:fillRect/>
          </a:stretch>
        </p:blipFill>
        <p:spPr>
          <a:xfrm>
            <a:off x="2862072" y="1737360"/>
            <a:ext cx="6437376" cy="4023360"/>
          </a:xfrm>
          <a:prstGeom prst="rect">
            <a:avLst/>
          </a:prstGeom>
        </p:spPr>
      </p:pic>
      <p:sp>
        <p:nvSpPr>
          <p:cNvPr id="9" name="TextBox 8"/>
          <p:cNvSpPr txBox="1"/>
          <p:nvPr/>
        </p:nvSpPr>
        <p:spPr>
          <a:xfrm>
            <a:off x="548640" y="5870448"/>
            <a:ext cx="11064240" cy="50292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  </a:t>
            </a:r>
            <a:r>
              <a:rPr sz="1250" b="0" i="0">
                <a:solidFill>
                  <a:srgbClr val="6B6862"/>
                </a:solidFill>
                <a:latin typeface="Calibri"/>
              </a:rPr>
              <a:t>`hermes dashboard` opens http://127.0.0.1:9119 — sessions, skills, profiles, Kanban, cron, channels and keys in one place.</a:t>
            </a:r>
          </a:p>
        </p:txBody>
      </p:sp>
    </p:spTree>
  </p:cSld>
  <p:clrMapOvr>
    <a:masterClrMapping/>
  </p:clrMapOvr>
  <p:transition spd="med">
    <p:fade/>
  </p:transition>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DAY 1 JOURNEY</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Day 1: Single Agent </a:t>
            </a:r>
            <a:r>
              <a:rPr sz="3000" b="1" i="0">
                <a:solidFill>
                  <a:srgbClr val="21201C"/>
                </a:solidFill>
                <a:latin typeface="Calibri"/>
              </a:rPr>
              <a:t>→</a:t>
            </a:r>
            <a:r>
              <a:rPr sz="3000" b="1" i="0">
                <a:solidFill>
                  <a:srgbClr val="21201C"/>
                </a:solidFill>
                <a:latin typeface="Cambria"/>
              </a:rPr>
              <a:t> Multi-Agent </a:t>
            </a:r>
            <a:r>
              <a:rPr sz="3000" b="1" i="0">
                <a:solidFill>
                  <a:srgbClr val="21201C"/>
                </a:solidFill>
                <a:latin typeface="Calibri"/>
              </a:rPr>
              <a:t>→</a:t>
            </a:r>
            <a:r>
              <a:rPr sz="3000" b="1" i="0">
                <a:solidFill>
                  <a:srgbClr val="21201C"/>
                </a:solidFill>
                <a:latin typeface="Cambria"/>
              </a:rPr>
              <a:t> Human Gates</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65</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1993392"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1627632"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user-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1627632"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Lab 1</a:t>
            </a:r>
          </a:p>
        </p:txBody>
      </p:sp>
      <p:sp>
        <p:nvSpPr>
          <p:cNvPr id="12" name="TextBox 11"/>
          <p:cNvSpPr txBox="1"/>
          <p:nvPr/>
        </p:nvSpPr>
        <p:spPr>
          <a:xfrm>
            <a:off x="749808" y="3611880"/>
            <a:ext cx="1627632"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First AI employee — research brief, memory.</a:t>
            </a:r>
          </a:p>
        </p:txBody>
      </p:sp>
      <p:cxnSp>
        <p:nvCxnSpPr>
          <p:cNvPr id="13" name="Connector 12"/>
          <p:cNvCxnSpPr/>
          <p:nvPr/>
        </p:nvCxnSpPr>
        <p:spPr>
          <a:xfrm>
            <a:off x="2569464" y="3337560"/>
            <a:ext cx="219456" cy="0"/>
          </a:xfrm>
          <a:prstGeom prst="line">
            <a:avLst/>
          </a:prstGeom>
          <a:ln w="2540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816352" y="2011680"/>
            <a:ext cx="1993392"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017520" y="2176272"/>
            <a:ext cx="1627632"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6" name="Oval 15"/>
          <p:cNvSpPr/>
          <p:nvPr/>
        </p:nvSpPr>
        <p:spPr>
          <a:xfrm>
            <a:off x="3017520"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megaphone-FFFFFF.png"/>
          <p:cNvPicPr>
            <a:picLocks noChangeAspect="1"/>
          </p:cNvPicPr>
          <p:nvPr/>
        </p:nvPicPr>
        <p:blipFill>
          <a:blip r:embed="rId3"/>
          <a:stretch>
            <a:fillRect/>
          </a:stretch>
        </p:blipFill>
        <p:spPr>
          <a:xfrm>
            <a:off x="3140415" y="2637495"/>
            <a:ext cx="266273" cy="266273"/>
          </a:xfrm>
          <a:prstGeom prst="rect">
            <a:avLst/>
          </a:prstGeom>
        </p:spPr>
      </p:pic>
      <p:sp>
        <p:nvSpPr>
          <p:cNvPr id="18" name="TextBox 17"/>
          <p:cNvSpPr txBox="1"/>
          <p:nvPr/>
        </p:nvSpPr>
        <p:spPr>
          <a:xfrm>
            <a:off x="3017520" y="3154680"/>
            <a:ext cx="1627632"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Lab 2</a:t>
            </a:r>
          </a:p>
        </p:txBody>
      </p:sp>
      <p:sp>
        <p:nvSpPr>
          <p:cNvPr id="19" name="TextBox 18"/>
          <p:cNvSpPr txBox="1"/>
          <p:nvPr/>
        </p:nvSpPr>
        <p:spPr>
          <a:xfrm>
            <a:off x="3017520" y="3611880"/>
            <a:ext cx="1627632"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Social media campaign — skills + tools.</a:t>
            </a:r>
          </a:p>
        </p:txBody>
      </p:sp>
      <p:cxnSp>
        <p:nvCxnSpPr>
          <p:cNvPr id="20" name="Connector 19"/>
          <p:cNvCxnSpPr/>
          <p:nvPr/>
        </p:nvCxnSpPr>
        <p:spPr>
          <a:xfrm>
            <a:off x="4837176" y="3337560"/>
            <a:ext cx="219455" cy="0"/>
          </a:xfrm>
          <a:prstGeom prst="line">
            <a:avLst/>
          </a:prstGeom>
          <a:ln w="2540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084064" y="2011680"/>
            <a:ext cx="1993392"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5285231" y="2176272"/>
            <a:ext cx="1627632"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3" name="Oval 22"/>
          <p:cNvSpPr/>
          <p:nvPr/>
        </p:nvSpPr>
        <p:spPr>
          <a:xfrm>
            <a:off x="5285231"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handshake-FFFFFF.png"/>
          <p:cNvPicPr>
            <a:picLocks noChangeAspect="1"/>
          </p:cNvPicPr>
          <p:nvPr/>
        </p:nvPicPr>
        <p:blipFill>
          <a:blip r:embed="rId4"/>
          <a:stretch>
            <a:fillRect/>
          </a:stretch>
        </p:blipFill>
        <p:spPr>
          <a:xfrm>
            <a:off x="5408127" y="2637495"/>
            <a:ext cx="266273" cy="266273"/>
          </a:xfrm>
          <a:prstGeom prst="rect">
            <a:avLst/>
          </a:prstGeom>
        </p:spPr>
      </p:pic>
      <p:sp>
        <p:nvSpPr>
          <p:cNvPr id="25" name="TextBox 24"/>
          <p:cNvSpPr txBox="1"/>
          <p:nvPr/>
        </p:nvSpPr>
        <p:spPr>
          <a:xfrm>
            <a:off x="5285231" y="3154680"/>
            <a:ext cx="1627632"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Lab 3</a:t>
            </a:r>
          </a:p>
        </p:txBody>
      </p:sp>
      <p:sp>
        <p:nvSpPr>
          <p:cNvPr id="26" name="TextBox 25"/>
          <p:cNvSpPr txBox="1"/>
          <p:nvPr/>
        </p:nvSpPr>
        <p:spPr>
          <a:xfrm>
            <a:off x="5285231" y="3611880"/>
            <a:ext cx="1627632"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Human-in-the-loop on Telegram + cron.</a:t>
            </a:r>
          </a:p>
        </p:txBody>
      </p:sp>
      <p:cxnSp>
        <p:nvCxnSpPr>
          <p:cNvPr id="27" name="Connector 26"/>
          <p:cNvCxnSpPr/>
          <p:nvPr/>
        </p:nvCxnSpPr>
        <p:spPr>
          <a:xfrm>
            <a:off x="7104888" y="3337560"/>
            <a:ext cx="219456" cy="0"/>
          </a:xfrm>
          <a:prstGeom prst="line">
            <a:avLst/>
          </a:prstGeom>
          <a:ln w="2540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51775" y="2011680"/>
            <a:ext cx="1993392"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7552944" y="2176272"/>
            <a:ext cx="1627632"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30" name="Oval 29"/>
          <p:cNvSpPr/>
          <p:nvPr/>
        </p:nvSpPr>
        <p:spPr>
          <a:xfrm>
            <a:off x="7552944"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1" name="Picture 30" descr="video-FFFFFF.png"/>
          <p:cNvPicPr>
            <a:picLocks noChangeAspect="1"/>
          </p:cNvPicPr>
          <p:nvPr/>
        </p:nvPicPr>
        <p:blipFill>
          <a:blip r:embed="rId5"/>
          <a:stretch>
            <a:fillRect/>
          </a:stretch>
        </p:blipFill>
        <p:spPr>
          <a:xfrm>
            <a:off x="7675839" y="2637495"/>
            <a:ext cx="266273" cy="266273"/>
          </a:xfrm>
          <a:prstGeom prst="rect">
            <a:avLst/>
          </a:prstGeom>
        </p:spPr>
      </p:pic>
      <p:sp>
        <p:nvSpPr>
          <p:cNvPr id="32" name="TextBox 31"/>
          <p:cNvSpPr txBox="1"/>
          <p:nvPr/>
        </p:nvSpPr>
        <p:spPr>
          <a:xfrm>
            <a:off x="7552944" y="3154680"/>
            <a:ext cx="1627632"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Lab 4</a:t>
            </a:r>
          </a:p>
        </p:txBody>
      </p:sp>
      <p:sp>
        <p:nvSpPr>
          <p:cNvPr id="33" name="TextBox 32"/>
          <p:cNvSpPr txBox="1"/>
          <p:nvPr/>
        </p:nvSpPr>
        <p:spPr>
          <a:xfrm>
            <a:off x="7552944" y="3611880"/>
            <a:ext cx="1627632"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5-agent video studio with a human gate.</a:t>
            </a:r>
          </a:p>
        </p:txBody>
      </p:sp>
      <p:cxnSp>
        <p:nvCxnSpPr>
          <p:cNvPr id="34" name="Connector 33"/>
          <p:cNvCxnSpPr/>
          <p:nvPr/>
        </p:nvCxnSpPr>
        <p:spPr>
          <a:xfrm>
            <a:off x="9372599" y="3337560"/>
            <a:ext cx="219457" cy="0"/>
          </a:xfrm>
          <a:prstGeom prst="line">
            <a:avLst/>
          </a:prstGeom>
          <a:ln w="2540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619488" y="2011680"/>
            <a:ext cx="1993392"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9820656" y="2176272"/>
            <a:ext cx="1627632"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5</a:t>
            </a:r>
          </a:p>
        </p:txBody>
      </p:sp>
      <p:sp>
        <p:nvSpPr>
          <p:cNvPr id="37" name="Oval 36"/>
          <p:cNvSpPr/>
          <p:nvPr/>
        </p:nvSpPr>
        <p:spPr>
          <a:xfrm>
            <a:off x="9820656"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8" name="Picture 37" descr="chart-FFFFFF.png"/>
          <p:cNvPicPr>
            <a:picLocks noChangeAspect="1"/>
          </p:cNvPicPr>
          <p:nvPr/>
        </p:nvPicPr>
        <p:blipFill>
          <a:blip r:embed="rId6"/>
          <a:stretch>
            <a:fillRect/>
          </a:stretch>
        </p:blipFill>
        <p:spPr>
          <a:xfrm>
            <a:off x="9943551" y="2637495"/>
            <a:ext cx="266273" cy="266273"/>
          </a:xfrm>
          <a:prstGeom prst="rect">
            <a:avLst/>
          </a:prstGeom>
        </p:spPr>
      </p:pic>
      <p:sp>
        <p:nvSpPr>
          <p:cNvPr id="39" name="TextBox 38"/>
          <p:cNvSpPr txBox="1"/>
          <p:nvPr/>
        </p:nvSpPr>
        <p:spPr>
          <a:xfrm>
            <a:off x="9820656" y="3154680"/>
            <a:ext cx="1627632"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Lab 5</a:t>
            </a:r>
          </a:p>
        </p:txBody>
      </p:sp>
      <p:sp>
        <p:nvSpPr>
          <p:cNvPr id="40" name="TextBox 39"/>
          <p:cNvSpPr txBox="1"/>
          <p:nvPr/>
        </p:nvSpPr>
        <p:spPr>
          <a:xfrm>
            <a:off x="9820656" y="3611880"/>
            <a:ext cx="1627632"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Swarm analysis, dashboard, decisions.</a:t>
            </a:r>
          </a:p>
        </p:txBody>
      </p:sp>
      <p:sp>
        <p:nvSpPr>
          <p:cNvPr id="41" name="TextBox 40"/>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Each lab saves to ~/kopi-kaki/outputs/labNN — the next lab builds on it.</a:t>
            </a:r>
          </a:p>
        </p:txBody>
      </p:sp>
    </p:spTree>
  </p:cSld>
  <p:clrMapOvr>
    <a:masterClrMapping/>
  </p:clrMapOvr>
  <p:transition spd="med">
    <p:fade/>
  </p:transition>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DAY 1 JOURNEY</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The Kopi Kaki Company Pack (data/ in every lab)</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66</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graphicFrame>
        <p:nvGraphicFramePr>
          <p:cNvPr id="7" name="Table 6"/>
          <p:cNvGraphicFramePr>
            <a:graphicFrameLocks noGrp="1"/>
          </p:cNvGraphicFramePr>
          <p:nvPr/>
        </p:nvGraphicFramePr>
        <p:xfrm>
          <a:off x="548640" y="1691640"/>
          <a:ext cx="11064240" cy="4377690"/>
        </p:xfrm>
        <a:graphic>
          <a:graphicData uri="http://schemas.openxmlformats.org/drawingml/2006/table">
            <a:tbl>
              <a:tblPr firstRow="0" bandRow="0">
                <a:tableStyleId>{5C22544A-7EE6-4342-B048-85BDC9FD1C3A}</a:tableStyleId>
              </a:tblPr>
              <a:tblGrid>
                <a:gridCol w="3657600"/>
                <a:gridCol w="5120640"/>
                <a:gridCol w="2286000"/>
              </a:tblGrid>
              <a:tr h="457200">
                <a:tc>
                  <a:txBody>
                    <a:bodyPr wrap="square"/>
                    <a:lstStyle/>
                    <a:p>
                      <a:r>
                        <a:rPr b="1" sz="1550">
                          <a:solidFill>
                            <a:srgbClr val="FFFFFF"/>
                          </a:solidFill>
                          <a:latin typeface="Cambria"/>
                        </a:rPr>
                        <a:t>File</a:t>
                      </a:r>
                    </a:p>
                  </a:txBody>
                  <a:tcPr marL="64008" marR="64008" marT="27432" marB="27432" anchor="ctr">
                    <a:solidFill>
                      <a:srgbClr val="21201C"/>
                    </a:solidFill>
                  </a:tcPr>
                </a:tc>
                <a:tc>
                  <a:txBody>
                    <a:bodyPr wrap="square"/>
                    <a:lstStyle/>
                    <a:p>
                      <a:r>
                        <a:rPr b="1" sz="1550">
                          <a:solidFill>
                            <a:srgbClr val="FFFFFF"/>
                          </a:solidFill>
                          <a:latin typeface="Cambria"/>
                        </a:rPr>
                        <a:t>What it is</a:t>
                      </a:r>
                    </a:p>
                  </a:txBody>
                  <a:tcPr marL="64008" marR="64008" marT="27432" marB="27432" anchor="ctr">
                    <a:solidFill>
                      <a:srgbClr val="21201C"/>
                    </a:solidFill>
                  </a:tcPr>
                </a:tc>
                <a:tc>
                  <a:txBody>
                    <a:bodyPr wrap="square"/>
                    <a:lstStyle/>
                    <a:p>
                      <a:r>
                        <a:rPr b="1" sz="1550">
                          <a:solidFill>
                            <a:srgbClr val="FFFFFF"/>
                          </a:solidFill>
                          <a:latin typeface="Cambria"/>
                        </a:rPr>
                        <a:t>Used in</a:t>
                      </a:r>
                    </a:p>
                  </a:txBody>
                  <a:tcPr marL="64008" marR="64008" marT="27432" marB="27432" anchor="ctr">
                    <a:solidFill>
                      <a:srgbClr val="21201C"/>
                    </a:solidFill>
                  </a:tcPr>
                </a:tc>
              </a:tr>
              <a:tr h="560070">
                <a:tc>
                  <a:txBody>
                    <a:bodyPr wrap="square"/>
                    <a:lstStyle/>
                    <a:p>
                      <a:r>
                        <a:rPr b="1" sz="1500">
                          <a:solidFill>
                            <a:srgbClr val="21201C"/>
                          </a:solidFill>
                          <a:latin typeface="Cambria"/>
                        </a:rPr>
                        <a:t>AGENTS.md</a:t>
                      </a:r>
                    </a:p>
                  </a:txBody>
                  <a:tcPr marL="64008" marR="64008" marT="27432" marB="27432" anchor="ctr">
                    <a:solidFill>
                      <a:srgbClr val="FFFFFF"/>
                    </a:solidFill>
                  </a:tcPr>
                </a:tc>
                <a:tc>
                  <a:txBody>
                    <a:bodyPr wrap="square"/>
                    <a:lstStyle/>
                    <a:p>
                      <a:r>
                        <a:rPr b="0" sz="1500">
                          <a:solidFill>
                            <a:srgbClr val="6B6862"/>
                          </a:solidFill>
                          <a:latin typeface="Calibri"/>
                        </a:rPr>
                        <a:t>Company context Hermes loads automatically from the folder</a:t>
                      </a:r>
                    </a:p>
                  </a:txBody>
                  <a:tcPr marL="64008" marR="64008" marT="27432" marB="27432" anchor="ctr">
                    <a:solidFill>
                      <a:srgbClr val="FFFFFF"/>
                    </a:solidFill>
                  </a:tcPr>
                </a:tc>
                <a:tc>
                  <a:txBody>
                    <a:bodyPr wrap="square"/>
                    <a:lstStyle/>
                    <a:p>
                      <a:r>
                        <a:rPr b="0" sz="1500">
                          <a:solidFill>
                            <a:srgbClr val="6B6862"/>
                          </a:solidFill>
                          <a:latin typeface="Calibri"/>
                        </a:rPr>
                        <a:t>All labs</a:t>
                      </a:r>
                    </a:p>
                  </a:txBody>
                  <a:tcPr marL="64008" marR="64008" marT="27432" marB="27432" anchor="ctr">
                    <a:solidFill>
                      <a:srgbClr val="FFFFFF"/>
                    </a:solidFill>
                  </a:tcPr>
                </a:tc>
              </a:tr>
              <a:tr h="560070">
                <a:tc>
                  <a:txBody>
                    <a:bodyPr wrap="square"/>
                    <a:lstStyle/>
                    <a:p>
                      <a:r>
                        <a:rPr b="1" sz="1500">
                          <a:solidFill>
                            <a:srgbClr val="21201C"/>
                          </a:solidFill>
                          <a:latin typeface="Cambria"/>
                        </a:rPr>
                        <a:t>brand-guide.md · campaign-brief.md</a:t>
                      </a:r>
                    </a:p>
                  </a:txBody>
                  <a:tcPr marL="64008" marR="64008" marT="27432" marB="27432" anchor="ctr">
                    <a:solidFill>
                      <a:srgbClr val="F3F1EB"/>
                    </a:solidFill>
                  </a:tcPr>
                </a:tc>
                <a:tc>
                  <a:txBody>
                    <a:bodyPr wrap="square"/>
                    <a:lstStyle/>
                    <a:p>
                      <a:r>
                        <a:rPr b="0" sz="1500">
                          <a:solidFill>
                            <a:srgbClr val="6B6862"/>
                          </a:solidFill>
                          <a:latin typeface="Calibri"/>
                        </a:rPr>
                        <a:t>Voice, colours, formats · product, offer, KPIs, timeline</a:t>
                      </a:r>
                    </a:p>
                  </a:txBody>
                  <a:tcPr marL="64008" marR="64008" marT="27432" marB="27432" anchor="ctr">
                    <a:solidFill>
                      <a:srgbClr val="F3F1EB"/>
                    </a:solidFill>
                  </a:tcPr>
                </a:tc>
                <a:tc>
                  <a:txBody>
                    <a:bodyPr wrap="square"/>
                    <a:lstStyle/>
                    <a:p>
                      <a:r>
                        <a:rPr b="0" sz="1500">
                          <a:solidFill>
                            <a:srgbClr val="6B6862"/>
                          </a:solidFill>
                          <a:latin typeface="Calibri"/>
                        </a:rPr>
                        <a:t>All labs</a:t>
                      </a:r>
                    </a:p>
                  </a:txBody>
                  <a:tcPr marL="64008" marR="64008" marT="27432" marB="27432" anchor="ctr">
                    <a:solidFill>
                      <a:srgbClr val="F3F1EB"/>
                    </a:solidFill>
                  </a:tcPr>
                </a:tc>
              </a:tr>
              <a:tr h="560070">
                <a:tc>
                  <a:txBody>
                    <a:bodyPr wrap="square"/>
                    <a:lstStyle/>
                    <a:p>
                      <a:r>
                        <a:rPr b="1" sz="1500">
                          <a:solidFill>
                            <a:srgbClr val="21201C"/>
                          </a:solidFill>
                          <a:latin typeface="Cambria"/>
                        </a:rPr>
                        <a:t>compliance-rules.md · video-qa-checklist.md</a:t>
                      </a:r>
                    </a:p>
                  </a:txBody>
                  <a:tcPr marL="64008" marR="64008" marT="27432" marB="27432" anchor="ctr">
                    <a:solidFill>
                      <a:srgbClr val="FFFFFF"/>
                    </a:solidFill>
                  </a:tcPr>
                </a:tc>
                <a:tc>
                  <a:txBody>
                    <a:bodyPr wrap="square"/>
                    <a:lstStyle/>
                    <a:p>
                      <a:r>
                        <a:rPr b="0" sz="1500">
                          <a:solidFill>
                            <a:srgbClr val="6B6862"/>
                          </a:solidFill>
                          <a:latin typeface="Calibri"/>
                        </a:rPr>
                        <a:t>C1–C10 brand-safety rules · V1–V9 video checks</a:t>
                      </a:r>
                    </a:p>
                  </a:txBody>
                  <a:tcPr marL="64008" marR="64008" marT="27432" marB="27432" anchor="ctr">
                    <a:solidFill>
                      <a:srgbClr val="FFFFFF"/>
                    </a:solidFill>
                  </a:tcPr>
                </a:tc>
                <a:tc>
                  <a:txBody>
                    <a:bodyPr wrap="square"/>
                    <a:lstStyle/>
                    <a:p>
                      <a:r>
                        <a:rPr b="0" sz="1500">
                          <a:solidFill>
                            <a:srgbClr val="6B6862"/>
                          </a:solidFill>
                          <a:latin typeface="Calibri"/>
                        </a:rPr>
                        <a:t>Labs 2–5, 8–9</a:t>
                      </a:r>
                    </a:p>
                  </a:txBody>
                  <a:tcPr marL="64008" marR="64008" marT="27432" marB="27432" anchor="ctr">
                    <a:solidFill>
                      <a:srgbClr val="FFFFFF"/>
                    </a:solidFill>
                  </a:tcPr>
                </a:tc>
              </a:tr>
              <a:tr h="560070">
                <a:tc>
                  <a:txBody>
                    <a:bodyPr wrap="square"/>
                    <a:lstStyle/>
                    <a:p>
                      <a:r>
                        <a:rPr b="1" sz="1500">
                          <a:solidFill>
                            <a:srgbClr val="21201C"/>
                          </a:solidFill>
                          <a:latin typeface="Cambria"/>
                        </a:rPr>
                        <a:t>customer-reviews.csv · competitors.csv</a:t>
                      </a:r>
                    </a:p>
                  </a:txBody>
                  <a:tcPr marL="64008" marR="64008" marT="27432" marB="27432" anchor="ctr">
                    <a:solidFill>
                      <a:srgbClr val="F3F1EB"/>
                    </a:solidFill>
                  </a:tcPr>
                </a:tc>
                <a:tc>
                  <a:txBody>
                    <a:bodyPr wrap="square"/>
                    <a:lstStyle/>
                    <a:p>
                      <a:r>
                        <a:rPr b="0" sz="1500">
                          <a:solidFill>
                            <a:srgbClr val="6B6862"/>
                          </a:solidFill>
                          <a:latin typeface="Calibri"/>
                        </a:rPr>
                        <a:t>60 synthetic reviews · 6 fictional competitors</a:t>
                      </a:r>
                    </a:p>
                  </a:txBody>
                  <a:tcPr marL="64008" marR="64008" marT="27432" marB="27432" anchor="ctr">
                    <a:solidFill>
                      <a:srgbClr val="F3F1EB"/>
                    </a:solidFill>
                  </a:tcPr>
                </a:tc>
                <a:tc>
                  <a:txBody>
                    <a:bodyPr wrap="square"/>
                    <a:lstStyle/>
                    <a:p>
                      <a:r>
                        <a:rPr b="0" sz="1500">
                          <a:solidFill>
                            <a:srgbClr val="6B6862"/>
                          </a:solidFill>
                          <a:latin typeface="Calibri"/>
                        </a:rPr>
                        <a:t>Labs 1, 5</a:t>
                      </a:r>
                    </a:p>
                  </a:txBody>
                  <a:tcPr marL="64008" marR="64008" marT="27432" marB="27432" anchor="ctr">
                    <a:solidFill>
                      <a:srgbClr val="F3F1EB"/>
                    </a:solidFill>
                  </a:tcPr>
                </a:tc>
              </a:tr>
              <a:tr h="560070">
                <a:tc>
                  <a:txBody>
                    <a:bodyPr wrap="square"/>
                    <a:lstStyle/>
                    <a:p>
                      <a:r>
                        <a:rPr b="1" sz="1500">
                          <a:solidFill>
                            <a:srgbClr val="21201C"/>
                          </a:solidFill>
                          <a:latin typeface="Cambria"/>
                        </a:rPr>
                        <a:t>social-comments.csv</a:t>
                      </a:r>
                    </a:p>
                  </a:txBody>
                  <a:tcPr marL="64008" marR="64008" marT="27432" marB="27432" anchor="ctr">
                    <a:solidFill>
                      <a:srgbClr val="FFFFFF"/>
                    </a:solidFill>
                  </a:tcPr>
                </a:tc>
                <a:tc>
                  <a:txBody>
                    <a:bodyPr wrap="square"/>
                    <a:lstStyle/>
                    <a:p>
                      <a:r>
                        <a:rPr b="0" sz="1500">
                          <a:solidFill>
                            <a:srgbClr val="6B6862"/>
                          </a:solidFill>
                          <a:latin typeface="Calibri"/>
                        </a:rPr>
                        <a:t>20 comments incl. complaints, legal, PII, spam</a:t>
                      </a:r>
                    </a:p>
                  </a:txBody>
                  <a:tcPr marL="64008" marR="64008" marT="27432" marB="27432" anchor="ctr">
                    <a:solidFill>
                      <a:srgbClr val="FFFFFF"/>
                    </a:solidFill>
                  </a:tcPr>
                </a:tc>
                <a:tc>
                  <a:txBody>
                    <a:bodyPr wrap="square"/>
                    <a:lstStyle/>
                    <a:p>
                      <a:r>
                        <a:rPr b="0" sz="1500">
                          <a:solidFill>
                            <a:srgbClr val="6B6862"/>
                          </a:solidFill>
                          <a:latin typeface="Calibri"/>
                        </a:rPr>
                        <a:t>Labs 3, 5</a:t>
                      </a:r>
                    </a:p>
                  </a:txBody>
                  <a:tcPr marL="64008" marR="64008" marT="27432" marB="27432" anchor="ctr">
                    <a:solidFill>
                      <a:srgbClr val="FFFFFF"/>
                    </a:solidFill>
                  </a:tcPr>
                </a:tc>
              </a:tr>
              <a:tr h="560070">
                <a:tc>
                  <a:txBody>
                    <a:bodyPr wrap="square"/>
                    <a:lstStyle/>
                    <a:p>
                      <a:r>
                        <a:rPr b="1" sz="1500">
                          <a:solidFill>
                            <a:srgbClr val="21201C"/>
                          </a:solidFill>
                          <a:latin typeface="Cambria"/>
                        </a:rPr>
                        <a:t>campaign-week1-metrics.csv · sales-by-outlet.csv</a:t>
                      </a:r>
                    </a:p>
                  </a:txBody>
                  <a:tcPr marL="64008" marR="64008" marT="27432" marB="27432" anchor="ctr">
                    <a:solidFill>
                      <a:srgbClr val="F3F1EB"/>
                    </a:solidFill>
                  </a:tcPr>
                </a:tc>
                <a:tc>
                  <a:txBody>
                    <a:bodyPr wrap="square"/>
                    <a:lstStyle/>
                    <a:p>
                      <a:r>
                        <a:rPr b="0" sz="1500">
                          <a:solidFill>
                            <a:srgbClr val="6B6862"/>
                          </a:solidFill>
                          <a:latin typeface="Calibri"/>
                        </a:rPr>
                        <a:t>Post metrics and outlet sales for week 1</a:t>
                      </a:r>
                    </a:p>
                  </a:txBody>
                  <a:tcPr marL="64008" marR="64008" marT="27432" marB="27432" anchor="ctr">
                    <a:solidFill>
                      <a:srgbClr val="F3F1EB"/>
                    </a:solidFill>
                  </a:tcPr>
                </a:tc>
                <a:tc>
                  <a:txBody>
                    <a:bodyPr wrap="square"/>
                    <a:lstStyle/>
                    <a:p>
                      <a:r>
                        <a:rPr b="0" sz="1500">
                          <a:solidFill>
                            <a:srgbClr val="6B6862"/>
                          </a:solidFill>
                          <a:latin typeface="Calibri"/>
                        </a:rPr>
                        <a:t>Lab 5</a:t>
                      </a:r>
                    </a:p>
                  </a:txBody>
                  <a:tcPr marL="64008" marR="64008" marT="27432" marB="27432" anchor="ctr">
                    <a:solidFill>
                      <a:srgbClr val="F3F1EB"/>
                    </a:solidFill>
                  </a:tcPr>
                </a:tc>
              </a:tr>
              <a:tr h="560070">
                <a:tc>
                  <a:txBody>
                    <a:bodyPr wrap="square"/>
                    <a:lstStyle/>
                    <a:p>
                      <a:r>
                        <a:rPr b="1" sz="1500">
                          <a:solidFill>
                            <a:srgbClr val="21201C"/>
                          </a:solidFill>
                          <a:latin typeface="Cambria"/>
                        </a:rPr>
                        <a:t>skills/ · souls/ · tasks/ · DESIGN.md</a:t>
                      </a:r>
                    </a:p>
                  </a:txBody>
                  <a:tcPr marL="64008" marR="64008" marT="27432" marB="27432" anchor="ctr">
                    <a:solidFill>
                      <a:srgbClr val="FFFFFF"/>
                    </a:solidFill>
                  </a:tcPr>
                </a:tc>
                <a:tc>
                  <a:txBody>
                    <a:bodyPr wrap="square"/>
                    <a:lstStyle/>
                    <a:p>
                      <a:r>
                        <a:rPr b="0" sz="1500">
                          <a:solidFill>
                            <a:srgbClr val="6B6862"/>
                          </a:solidFill>
                          <a:latin typeface="Calibri"/>
                        </a:rPr>
                        <a:t>Ready-made skills, agent roles, task briefs, visual identity</a:t>
                      </a:r>
                    </a:p>
                  </a:txBody>
                  <a:tcPr marL="64008" marR="64008" marT="27432" marB="27432" anchor="ctr">
                    <a:solidFill>
                      <a:srgbClr val="FFFFFF"/>
                    </a:solidFill>
                  </a:tcPr>
                </a:tc>
                <a:tc>
                  <a:txBody>
                    <a:bodyPr wrap="square"/>
                    <a:lstStyle/>
                    <a:p>
                      <a:r>
                        <a:rPr b="0" sz="1500">
                          <a:solidFill>
                            <a:srgbClr val="6B6862"/>
                          </a:solidFill>
                          <a:latin typeface="Calibri"/>
                        </a:rPr>
                        <a:t>Labs 2, 4, 5</a:t>
                      </a:r>
                    </a:p>
                  </a:txBody>
                  <a:tcPr marL="64008" marR="64008" marT="27432" marB="27432" anchor="ctr">
                    <a:solidFill>
                      <a:srgbClr val="FFFFFF"/>
                    </a:solidFill>
                  </a:tcPr>
                </a:tc>
              </a:tr>
            </a:tbl>
          </a:graphicData>
        </a:graphic>
      </p:graphicFrame>
    </p:spTree>
  </p:cSld>
  <p:clrMapOvr>
    <a:masterClrMapping/>
  </p:clrMapOvr>
  <p:transition spd="med">
    <p:fade/>
  </p:transition>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LAB 1</a:t>
            </a:r>
          </a:p>
        </p:txBody>
      </p:sp>
      <p:sp>
        <p:nvSpPr>
          <p:cNvPr id="3" name="TextBox 2"/>
          <p:cNvSpPr txBox="1"/>
          <p:nvPr/>
        </p:nvSpPr>
        <p:spPr>
          <a:xfrm>
            <a:off x="548640" y="621792"/>
            <a:ext cx="11064240" cy="932688"/>
          </a:xfrm>
          <a:prstGeom prst="rect">
            <a:avLst/>
          </a:prstGeom>
          <a:noFill/>
        </p:spPr>
        <p:txBody>
          <a:bodyPr wrap="square" lIns="36576" rIns="36576" tIns="18288" bIns="18288" anchor="t">
            <a:spAutoFit/>
          </a:bodyPr>
          <a:lstStyle/>
          <a:p>
            <a:pPr algn="l">
              <a:lnSpc>
                <a:spcPct val="100000"/>
              </a:lnSpc>
            </a:pPr>
            <a:r>
              <a:rPr sz="2400" b="1" i="0">
                <a:solidFill>
                  <a:srgbClr val="21201C"/>
                </a:solidFill>
                <a:latin typeface="Cambria"/>
              </a:rPr>
              <a:t>Lab 1 — Hire Your First AI Employee — Customer &amp; Market Research Brief</a:t>
            </a:r>
          </a:p>
        </p:txBody>
      </p:sp>
      <p:sp>
        <p:nvSpPr>
          <p:cNvPr id="4" name="TextBox 3"/>
          <p:cNvSpPr txBox="1"/>
          <p:nvPr/>
        </p:nvSpPr>
        <p:spPr>
          <a:xfrm>
            <a:off x="548640" y="1609344"/>
            <a:ext cx="11064240" cy="548640"/>
          </a:xfrm>
          <a:prstGeom prst="rect">
            <a:avLst/>
          </a:prstGeom>
          <a:noFill/>
        </p:spPr>
        <p:txBody>
          <a:bodyPr wrap="square" lIns="36576" rIns="36576" tIns="18288" bIns="18288" anchor="t">
            <a:spAutoFit/>
          </a:bodyPr>
          <a:lstStyle/>
          <a:p>
            <a:pPr algn="l">
              <a:lnSpc>
                <a:spcPct val="112000"/>
              </a:lnSpc>
            </a:pPr>
            <a:r>
              <a:rPr sz="1500" b="0" i="0">
                <a:solidFill>
                  <a:srgbClr val="21201C"/>
                </a:solidFill>
                <a:latin typeface="Calibri"/>
              </a:rPr>
              <a:t>Install Hermes, give it company context and long-term memory, and let one agent turn raw reviews and live web research into a brief you can act on.</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67</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240280"/>
            <a:ext cx="5760720" cy="3931920"/>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822960" y="251460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user-FFFFFF.png"/>
          <p:cNvPicPr>
            <a:picLocks noChangeAspect="1"/>
          </p:cNvPicPr>
          <p:nvPr/>
        </p:nvPicPr>
        <p:blipFill>
          <a:blip r:embed="rId2"/>
          <a:stretch>
            <a:fillRect/>
          </a:stretch>
        </p:blipFill>
        <p:spPr>
          <a:xfrm>
            <a:off x="954633" y="2646273"/>
            <a:ext cx="285292" cy="285292"/>
          </a:xfrm>
          <a:prstGeom prst="rect">
            <a:avLst/>
          </a:prstGeom>
        </p:spPr>
      </p:pic>
      <p:sp>
        <p:nvSpPr>
          <p:cNvPr id="11" name="TextBox 10"/>
          <p:cNvSpPr txBox="1"/>
          <p:nvPr/>
        </p:nvSpPr>
        <p:spPr>
          <a:xfrm>
            <a:off x="1508760" y="2532888"/>
            <a:ext cx="4572000" cy="512064"/>
          </a:xfrm>
          <a:prstGeom prst="rect">
            <a:avLst/>
          </a:prstGeom>
          <a:noFill/>
        </p:spPr>
        <p:txBody>
          <a:bodyPr wrap="square" lIns="36576" rIns="36576" tIns="18288" bIns="18288" anchor="ctr">
            <a:spAutoFit/>
          </a:bodyPr>
          <a:lstStyle/>
          <a:p>
            <a:pPr algn="l">
              <a:lnSpc>
                <a:spcPct val="112000"/>
              </a:lnSpc>
            </a:pPr>
            <a:r>
              <a:rPr sz="1800" b="1" i="0">
                <a:solidFill>
                  <a:srgbClr val="FFFFFF"/>
                </a:solidFill>
                <a:latin typeface="Cambria"/>
              </a:rPr>
              <a:t>The business scenario</a:t>
            </a:r>
          </a:p>
        </p:txBody>
      </p:sp>
      <p:sp>
        <p:nvSpPr>
          <p:cNvPr id="12" name="TextBox 11"/>
          <p:cNvSpPr txBox="1"/>
          <p:nvPr/>
        </p:nvSpPr>
        <p:spPr>
          <a:xfrm>
            <a:off x="822960" y="3246120"/>
            <a:ext cx="5257800" cy="2788920"/>
          </a:xfrm>
          <a:prstGeom prst="rect">
            <a:avLst/>
          </a:prstGeom>
          <a:noFill/>
        </p:spPr>
        <p:txBody>
          <a:bodyPr wrap="square" lIns="36576" rIns="36576" tIns="18288" bIns="18288" anchor="t">
            <a:spAutoFit/>
          </a:bodyPr>
          <a:lstStyle/>
          <a:p>
            <a:pPr algn="l">
              <a:lnSpc>
                <a:spcPct val="120000"/>
              </a:lnSpc>
            </a:pPr>
            <a:r>
              <a:rPr sz="1400" b="0" i="0">
                <a:solidFill>
                  <a:srgbClr val="C9C4B9"/>
                </a:solidFill>
                <a:latin typeface="Calibri"/>
              </a:rPr>
              <a:t>You are Kopi Kaki Co.'s Marketing Lead. The Gula Melaka Cold Brew launches on 1 Dec and you have 60 unread customer reviews, a competitor list and no analyst. You 'hire' Mia — a Hermes Agent marketing analyst — onboard her with the company context, and ask for a research brief that tells you which campaign angle to run.</a:t>
            </a:r>
          </a:p>
        </p:txBody>
      </p:sp>
      <p:sp>
        <p:nvSpPr>
          <p:cNvPr id="13" name="Rounded Rectangle 12"/>
          <p:cNvSpPr/>
          <p:nvPr/>
        </p:nvSpPr>
        <p:spPr>
          <a:xfrm>
            <a:off x="6492240" y="2240280"/>
            <a:ext cx="5120640" cy="23317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720840" y="2404872"/>
            <a:ext cx="4663440" cy="365760"/>
          </a:xfrm>
          <a:prstGeom prst="rect">
            <a:avLst/>
          </a:prstGeom>
          <a:noFill/>
        </p:spPr>
        <p:txBody>
          <a:bodyPr wrap="square" lIns="36576" rIns="36576" tIns="18288" bIns="18288" anchor="t">
            <a:spAutoFit/>
          </a:bodyPr>
          <a:lstStyle/>
          <a:p>
            <a:pPr algn="l">
              <a:lnSpc>
                <a:spcPct val="112000"/>
              </a:lnSpc>
            </a:pPr>
            <a:r>
              <a:rPr sz="1600" b="1" i="0">
                <a:solidFill>
                  <a:srgbClr val="21201C"/>
                </a:solidFill>
                <a:latin typeface="Cambria"/>
              </a:rPr>
              <a:t>You will deliver</a:t>
            </a:r>
          </a:p>
        </p:txBody>
      </p:sp>
      <p:sp>
        <p:nvSpPr>
          <p:cNvPr id="15" name="TextBox 14"/>
          <p:cNvSpPr txBox="1"/>
          <p:nvPr/>
        </p:nvSpPr>
        <p:spPr>
          <a:xfrm>
            <a:off x="6720840" y="2807208"/>
            <a:ext cx="4709160" cy="1691640"/>
          </a:xfrm>
          <a:prstGeom prst="rect">
            <a:avLst/>
          </a:prstGeom>
          <a:noFill/>
        </p:spPr>
        <p:txBody>
          <a:bodyPr wrap="square" lIns="36576" rIns="36576" tIns="18288" bIns="18288" anchor="t">
            <a:spAutoFit/>
          </a:bodyPr>
          <a:lstStyle/>
          <a:p>
            <a:pPr algn="l">
              <a:lnSpc>
                <a:spcPct val="115000"/>
              </a:lnSpc>
            </a:pPr>
            <a:r>
              <a:rPr sz="1250" b="0" i="0">
                <a:solidFill>
                  <a:srgbClr val="6B6862"/>
                </a:solidFill>
                <a:latin typeface="Calibri"/>
              </a:rPr>
              <a:t>✓  outputs/lab01/review-insights.md — ratings, themes and evidence (review IDs)</a:t>
            </a:r>
          </a:p>
          <a:p>
            <a:pPr algn="l">
              <a:lnSpc>
                <a:spcPct val="115000"/>
              </a:lnSpc>
            </a:pPr>
            <a:r>
              <a:rPr sz="1250" b="0" i="0">
                <a:solidFill>
                  <a:srgbClr val="6B6862"/>
                </a:solidFill>
                <a:latin typeface="Calibri"/>
              </a:rPr>
              <a:t>✓  outputs/lab01/research-brief.md — trends, competitors, 3 campaign angles with evidence</a:t>
            </a:r>
          </a:p>
          <a:p>
            <a:pPr algn="l">
              <a:lnSpc>
                <a:spcPct val="115000"/>
              </a:lnSpc>
            </a:pPr>
            <a:r>
              <a:rPr sz="1250" b="0" i="0">
                <a:solidFill>
                  <a:srgbClr val="6B6862"/>
                </a:solidFill>
                <a:latin typeface="Calibri"/>
              </a:rPr>
              <a:t>✓  Mia's long-term memory holds the brand facts and YOUR chosen angle (recalled in a new session)</a:t>
            </a:r>
          </a:p>
        </p:txBody>
      </p:sp>
      <p:sp>
        <p:nvSpPr>
          <p:cNvPr id="16" name="Rounded Rectangle 15"/>
          <p:cNvSpPr/>
          <p:nvPr/>
        </p:nvSpPr>
        <p:spPr>
          <a:xfrm>
            <a:off x="6492240" y="4727448"/>
            <a:ext cx="5120640" cy="1444752"/>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720840" y="4855464"/>
            <a:ext cx="4709160" cy="1234440"/>
          </a:xfrm>
          <a:prstGeom prst="rect">
            <a:avLst/>
          </a:prstGeom>
          <a:noFill/>
        </p:spPr>
        <p:txBody>
          <a:bodyPr wrap="square" lIns="36576" rIns="36576" tIns="18288" bIns="18288" anchor="t">
            <a:spAutoFit/>
          </a:bodyPr>
          <a:lstStyle/>
          <a:p>
            <a:pPr algn="l">
              <a:lnSpc>
                <a:spcPct val="115000"/>
              </a:lnSpc>
              <a:spcAft>
                <a:spcPts val="300"/>
              </a:spcAft>
            </a:pPr>
            <a:r>
              <a:rPr sz="1250" b="1" i="0">
                <a:solidFill>
                  <a:srgbClr val="D97757"/>
                </a:solidFill>
                <a:latin typeface="Calibri"/>
              </a:rPr>
              <a:t>Agents  </a:t>
            </a:r>
            <a:r>
              <a:rPr sz="1250" b="0" i="0">
                <a:solidFill>
                  <a:srgbClr val="6B6862"/>
                </a:solidFill>
                <a:latin typeface="Calibri"/>
              </a:rPr>
              <a:t>1 Hermes agent — 'Mia', AI marketing analyst</a:t>
            </a:r>
          </a:p>
          <a:p>
            <a:pPr algn="l">
              <a:lnSpc>
                <a:spcPct val="115000"/>
              </a:lnSpc>
              <a:spcAft>
                <a:spcPts val="300"/>
              </a:spcAft>
            </a:pPr>
            <a:r>
              <a:rPr sz="1250" b="1" i="0">
                <a:solidFill>
                  <a:srgbClr val="D97757"/>
                </a:solidFill>
                <a:latin typeface="Calibri"/>
              </a:rPr>
              <a:t>Human role  </a:t>
            </a:r>
            <a:r>
              <a:rPr sz="1250" b="0" i="0">
                <a:solidFill>
                  <a:srgbClr val="6B6862"/>
                </a:solidFill>
                <a:latin typeface="Calibri"/>
              </a:rPr>
              <a:t>Set the goal, challenge the evidence, choose the campaign angle</a:t>
            </a:r>
          </a:p>
          <a:p>
            <a:pPr algn="l">
              <a:lnSpc>
                <a:spcPct val="115000"/>
              </a:lnSpc>
              <a:spcAft>
                <a:spcPts val="300"/>
              </a:spcAft>
            </a:pPr>
            <a:r>
              <a:rPr sz="1250" b="1" i="0">
                <a:solidFill>
                  <a:srgbClr val="D97757"/>
                </a:solidFill>
                <a:latin typeface="Calibri"/>
              </a:rPr>
              <a:t>Time  </a:t>
            </a:r>
            <a:r>
              <a:rPr sz="1250" b="0" i="0">
                <a:solidFill>
                  <a:srgbClr val="6B6862"/>
                </a:solidFill>
                <a:latin typeface="Calibri"/>
              </a:rPr>
              <a:t>55 min  ·  Single agent  ·  labs/lab01-hermes-first-ai-employee/</a:t>
            </a:r>
          </a:p>
        </p:txBody>
      </p:sp>
    </p:spTree>
  </p:cSld>
  <p:clrMapOvr>
    <a:masterClrMapping/>
  </p:clrMapOvr>
  <p:transition spd="med">
    <p:fade/>
  </p:transition>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LAB 1</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Lab 1 — How the workflow runs</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C9C4B9"/>
                </a:solidFill>
                <a:latin typeface="Calibri"/>
              </a:rPr>
              <a:t>Perception → reasoning → action, with you at the checkpoints.</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68</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sp>
        <p:nvSpPr>
          <p:cNvPr id="8" name="Rounded Rectangle 7"/>
          <p:cNvSpPr/>
          <p:nvPr/>
        </p:nvSpPr>
        <p:spPr>
          <a:xfrm>
            <a:off x="548640" y="2331720"/>
            <a:ext cx="1706879"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31520" y="2468879"/>
            <a:ext cx="1341119"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1</a:t>
            </a:r>
          </a:p>
        </p:txBody>
      </p:sp>
      <p:sp>
        <p:nvSpPr>
          <p:cNvPr id="10" name="Oval 9"/>
          <p:cNvSpPr/>
          <p:nvPr/>
        </p:nvSpPr>
        <p:spPr>
          <a:xfrm>
            <a:off x="731520"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download-FFFFFF.png"/>
          <p:cNvPicPr>
            <a:picLocks noChangeAspect="1"/>
          </p:cNvPicPr>
          <p:nvPr/>
        </p:nvPicPr>
        <p:blipFill>
          <a:blip r:embed="rId2"/>
          <a:stretch>
            <a:fillRect/>
          </a:stretch>
        </p:blipFill>
        <p:spPr>
          <a:xfrm>
            <a:off x="845637" y="2948757"/>
            <a:ext cx="247253" cy="247253"/>
          </a:xfrm>
          <a:prstGeom prst="rect">
            <a:avLst/>
          </a:prstGeom>
        </p:spPr>
      </p:pic>
      <p:sp>
        <p:nvSpPr>
          <p:cNvPr id="12" name="TextBox 11"/>
          <p:cNvSpPr txBox="1"/>
          <p:nvPr/>
        </p:nvSpPr>
        <p:spPr>
          <a:xfrm>
            <a:off x="731520" y="3410711"/>
            <a:ext cx="1386840"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Install &amp; onboard</a:t>
            </a:r>
          </a:p>
        </p:txBody>
      </p:sp>
      <p:sp>
        <p:nvSpPr>
          <p:cNvPr id="13" name="TextBox 12"/>
          <p:cNvSpPr txBox="1"/>
          <p:nvPr/>
        </p:nvSpPr>
        <p:spPr>
          <a:xfrm>
            <a:off x="731520" y="3977639"/>
            <a:ext cx="1386840"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Install Hermes, pick a ≥64k-context model, load AGENTS.md.</a:t>
            </a:r>
          </a:p>
        </p:txBody>
      </p:sp>
      <p:cxnSp>
        <p:nvCxnSpPr>
          <p:cNvPr id="14" name="Connector 13"/>
          <p:cNvCxnSpPr/>
          <p:nvPr/>
        </p:nvCxnSpPr>
        <p:spPr>
          <a:xfrm>
            <a:off x="2264663" y="3886200"/>
            <a:ext cx="146305"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2420112" y="2331720"/>
            <a:ext cx="1706879"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2602992" y="2468879"/>
            <a:ext cx="1341119"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2</a:t>
            </a:r>
          </a:p>
        </p:txBody>
      </p:sp>
      <p:sp>
        <p:nvSpPr>
          <p:cNvPr id="17" name="Oval 16"/>
          <p:cNvSpPr/>
          <p:nvPr/>
        </p:nvSpPr>
        <p:spPr>
          <a:xfrm>
            <a:off x="2602992"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memory-FFFFFF.png"/>
          <p:cNvPicPr>
            <a:picLocks noChangeAspect="1"/>
          </p:cNvPicPr>
          <p:nvPr/>
        </p:nvPicPr>
        <p:blipFill>
          <a:blip r:embed="rId3"/>
          <a:stretch>
            <a:fillRect/>
          </a:stretch>
        </p:blipFill>
        <p:spPr>
          <a:xfrm>
            <a:off x="2717109" y="2948757"/>
            <a:ext cx="247253" cy="247253"/>
          </a:xfrm>
          <a:prstGeom prst="rect">
            <a:avLst/>
          </a:prstGeom>
        </p:spPr>
      </p:pic>
      <p:sp>
        <p:nvSpPr>
          <p:cNvPr id="19" name="TextBox 18"/>
          <p:cNvSpPr txBox="1"/>
          <p:nvPr/>
        </p:nvSpPr>
        <p:spPr>
          <a:xfrm>
            <a:off x="2602992" y="3410711"/>
            <a:ext cx="1386840"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Remember the brand</a:t>
            </a:r>
          </a:p>
        </p:txBody>
      </p:sp>
      <p:sp>
        <p:nvSpPr>
          <p:cNvPr id="20" name="TextBox 19"/>
          <p:cNvSpPr txBox="1"/>
          <p:nvPr/>
        </p:nvSpPr>
        <p:spPr>
          <a:xfrm>
            <a:off x="2602992" y="3977639"/>
            <a:ext cx="1386840"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Save brand facts to long-term memory.</a:t>
            </a:r>
          </a:p>
        </p:txBody>
      </p:sp>
      <p:cxnSp>
        <p:nvCxnSpPr>
          <p:cNvPr id="21" name="Connector 20"/>
          <p:cNvCxnSpPr/>
          <p:nvPr/>
        </p:nvCxnSpPr>
        <p:spPr>
          <a:xfrm>
            <a:off x="4136135" y="3886200"/>
            <a:ext cx="146304"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4291583" y="2331720"/>
            <a:ext cx="1706879"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4474463" y="2468879"/>
            <a:ext cx="1341119"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3</a:t>
            </a:r>
          </a:p>
        </p:txBody>
      </p:sp>
      <p:sp>
        <p:nvSpPr>
          <p:cNvPr id="24" name="Oval 23"/>
          <p:cNvSpPr/>
          <p:nvPr/>
        </p:nvSpPr>
        <p:spPr>
          <a:xfrm>
            <a:off x="4474463"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Picture 24" descr="search-FFFFFF.png"/>
          <p:cNvPicPr>
            <a:picLocks noChangeAspect="1"/>
          </p:cNvPicPr>
          <p:nvPr/>
        </p:nvPicPr>
        <p:blipFill>
          <a:blip r:embed="rId4"/>
          <a:stretch>
            <a:fillRect/>
          </a:stretch>
        </p:blipFill>
        <p:spPr>
          <a:xfrm>
            <a:off x="4588581" y="2948757"/>
            <a:ext cx="247253" cy="247253"/>
          </a:xfrm>
          <a:prstGeom prst="rect">
            <a:avLst/>
          </a:prstGeom>
        </p:spPr>
      </p:pic>
      <p:sp>
        <p:nvSpPr>
          <p:cNvPr id="26" name="TextBox 25"/>
          <p:cNvSpPr txBox="1"/>
          <p:nvPr/>
        </p:nvSpPr>
        <p:spPr>
          <a:xfrm>
            <a:off x="4474463" y="3410711"/>
            <a:ext cx="1386840"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Perceive</a:t>
            </a:r>
          </a:p>
        </p:txBody>
      </p:sp>
      <p:sp>
        <p:nvSpPr>
          <p:cNvPr id="27" name="TextBox 26"/>
          <p:cNvSpPr txBox="1"/>
          <p:nvPr/>
        </p:nvSpPr>
        <p:spPr>
          <a:xfrm>
            <a:off x="4474463" y="3977639"/>
            <a:ext cx="1386840"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Read 60 reviews + search the web for 2026 trends.</a:t>
            </a:r>
          </a:p>
        </p:txBody>
      </p:sp>
      <p:cxnSp>
        <p:nvCxnSpPr>
          <p:cNvPr id="28" name="Connector 27"/>
          <p:cNvCxnSpPr/>
          <p:nvPr/>
        </p:nvCxnSpPr>
        <p:spPr>
          <a:xfrm>
            <a:off x="6007607" y="3886200"/>
            <a:ext cx="146304"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6163055" y="2331720"/>
            <a:ext cx="1706879"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6345935" y="2468879"/>
            <a:ext cx="1341119"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4</a:t>
            </a:r>
          </a:p>
        </p:txBody>
      </p:sp>
      <p:sp>
        <p:nvSpPr>
          <p:cNvPr id="31" name="Oval 30"/>
          <p:cNvSpPr/>
          <p:nvPr/>
        </p:nvSpPr>
        <p:spPr>
          <a:xfrm>
            <a:off x="6345935"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2" name="Picture 31" descr="brain-FFFFFF.png"/>
          <p:cNvPicPr>
            <a:picLocks noChangeAspect="1"/>
          </p:cNvPicPr>
          <p:nvPr/>
        </p:nvPicPr>
        <p:blipFill>
          <a:blip r:embed="rId5"/>
          <a:stretch>
            <a:fillRect/>
          </a:stretch>
        </p:blipFill>
        <p:spPr>
          <a:xfrm>
            <a:off x="6460053" y="2948757"/>
            <a:ext cx="247253" cy="247253"/>
          </a:xfrm>
          <a:prstGeom prst="rect">
            <a:avLst/>
          </a:prstGeom>
        </p:spPr>
      </p:pic>
      <p:sp>
        <p:nvSpPr>
          <p:cNvPr id="33" name="TextBox 32"/>
          <p:cNvSpPr txBox="1"/>
          <p:nvPr/>
        </p:nvSpPr>
        <p:spPr>
          <a:xfrm>
            <a:off x="6345935" y="3410711"/>
            <a:ext cx="1386840"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Reason</a:t>
            </a:r>
          </a:p>
        </p:txBody>
      </p:sp>
      <p:sp>
        <p:nvSpPr>
          <p:cNvPr id="34" name="TextBox 33"/>
          <p:cNvSpPr txBox="1"/>
          <p:nvPr/>
        </p:nvSpPr>
        <p:spPr>
          <a:xfrm>
            <a:off x="6345935" y="3977639"/>
            <a:ext cx="1386840"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Find themes, compare competitors, draft 3 angles.</a:t>
            </a:r>
          </a:p>
        </p:txBody>
      </p:sp>
      <p:cxnSp>
        <p:nvCxnSpPr>
          <p:cNvPr id="35" name="Connector 34"/>
          <p:cNvCxnSpPr/>
          <p:nvPr/>
        </p:nvCxnSpPr>
        <p:spPr>
          <a:xfrm>
            <a:off x="7879079" y="3886200"/>
            <a:ext cx="146304"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8034527" y="2331720"/>
            <a:ext cx="1706879" cy="3108960"/>
          </a:xfrm>
          <a:prstGeom prst="roundRect">
            <a:avLst>
              <a:gd name="adj" fmla="val 3500"/>
            </a:avLst>
          </a:prstGeom>
          <a:solidFill>
            <a:srgbClr val="C2603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8217407" y="2468879"/>
            <a:ext cx="1341119" cy="274320"/>
          </a:xfrm>
          <a:prstGeom prst="rect">
            <a:avLst/>
          </a:prstGeom>
          <a:noFill/>
        </p:spPr>
        <p:txBody>
          <a:bodyPr wrap="square" lIns="36576" rIns="36576" tIns="18288" bIns="18288" anchor="t">
            <a:spAutoFit/>
          </a:bodyPr>
          <a:lstStyle/>
          <a:p>
            <a:pPr algn="l">
              <a:lnSpc>
                <a:spcPct val="112000"/>
              </a:lnSpc>
            </a:pPr>
            <a:r>
              <a:rPr sz="950" b="1" i="0">
                <a:solidFill>
                  <a:srgbClr val="FFFFFF"/>
                </a:solidFill>
                <a:latin typeface="Calibri"/>
              </a:rPr>
              <a:t>HUMAN  ·  STEP 5</a:t>
            </a:r>
          </a:p>
        </p:txBody>
      </p:sp>
      <p:sp>
        <p:nvSpPr>
          <p:cNvPr id="38" name="Oval 37"/>
          <p:cNvSpPr/>
          <p:nvPr/>
        </p:nvSpPr>
        <p:spPr>
          <a:xfrm>
            <a:off x="8217407" y="2834639"/>
            <a:ext cx="475488" cy="475488"/>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9" name="Picture 38" descr="user-C2603F.png"/>
          <p:cNvPicPr>
            <a:picLocks noChangeAspect="1"/>
          </p:cNvPicPr>
          <p:nvPr/>
        </p:nvPicPr>
        <p:blipFill>
          <a:blip r:embed="rId6"/>
          <a:stretch>
            <a:fillRect/>
          </a:stretch>
        </p:blipFill>
        <p:spPr>
          <a:xfrm>
            <a:off x="8331525" y="2948757"/>
            <a:ext cx="247253" cy="247253"/>
          </a:xfrm>
          <a:prstGeom prst="rect">
            <a:avLst/>
          </a:prstGeom>
        </p:spPr>
      </p:pic>
      <p:sp>
        <p:nvSpPr>
          <p:cNvPr id="40" name="TextBox 39"/>
          <p:cNvSpPr txBox="1"/>
          <p:nvPr/>
        </p:nvSpPr>
        <p:spPr>
          <a:xfrm>
            <a:off x="8217407" y="3410711"/>
            <a:ext cx="1386840"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Decide</a:t>
            </a:r>
          </a:p>
        </p:txBody>
      </p:sp>
      <p:sp>
        <p:nvSpPr>
          <p:cNvPr id="41" name="TextBox 40"/>
          <p:cNvSpPr txBox="1"/>
          <p:nvPr/>
        </p:nvSpPr>
        <p:spPr>
          <a:xfrm>
            <a:off x="8217407" y="3977639"/>
            <a:ext cx="1386840" cy="1371600"/>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Challenge one claim, choose the angle.</a:t>
            </a:r>
          </a:p>
        </p:txBody>
      </p:sp>
      <p:cxnSp>
        <p:nvCxnSpPr>
          <p:cNvPr id="42" name="Connector 41"/>
          <p:cNvCxnSpPr/>
          <p:nvPr/>
        </p:nvCxnSpPr>
        <p:spPr>
          <a:xfrm>
            <a:off x="9750551" y="3886200"/>
            <a:ext cx="146305"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43" name="Rounded Rectangle 42"/>
          <p:cNvSpPr/>
          <p:nvPr/>
        </p:nvSpPr>
        <p:spPr>
          <a:xfrm>
            <a:off x="9905999" y="2331720"/>
            <a:ext cx="1706879"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10088879" y="2468879"/>
            <a:ext cx="1341119"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6</a:t>
            </a:r>
          </a:p>
        </p:txBody>
      </p:sp>
      <p:sp>
        <p:nvSpPr>
          <p:cNvPr id="45" name="Oval 44"/>
          <p:cNvSpPr/>
          <p:nvPr/>
        </p:nvSpPr>
        <p:spPr>
          <a:xfrm>
            <a:off x="10088879"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6" name="Picture 45" descr="check-FFFFFF.png"/>
          <p:cNvPicPr>
            <a:picLocks noChangeAspect="1"/>
          </p:cNvPicPr>
          <p:nvPr/>
        </p:nvPicPr>
        <p:blipFill>
          <a:blip r:embed="rId7"/>
          <a:stretch>
            <a:fillRect/>
          </a:stretch>
        </p:blipFill>
        <p:spPr>
          <a:xfrm>
            <a:off x="10202997" y="2948757"/>
            <a:ext cx="247253" cy="247253"/>
          </a:xfrm>
          <a:prstGeom prst="rect">
            <a:avLst/>
          </a:prstGeom>
        </p:spPr>
      </p:pic>
      <p:sp>
        <p:nvSpPr>
          <p:cNvPr id="47" name="TextBox 46"/>
          <p:cNvSpPr txBox="1"/>
          <p:nvPr/>
        </p:nvSpPr>
        <p:spPr>
          <a:xfrm>
            <a:off x="10088879" y="3410711"/>
            <a:ext cx="1386840"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Recall</a:t>
            </a:r>
          </a:p>
        </p:txBody>
      </p:sp>
      <p:sp>
        <p:nvSpPr>
          <p:cNvPr id="48" name="TextBox 47"/>
          <p:cNvSpPr txBox="1"/>
          <p:nvPr/>
        </p:nvSpPr>
        <p:spPr>
          <a:xfrm>
            <a:off x="10088879" y="3977639"/>
            <a:ext cx="1386840"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New session: Mia remembers your decision.</a:t>
            </a:r>
          </a:p>
        </p:txBody>
      </p:sp>
      <p:sp>
        <p:nvSpPr>
          <p:cNvPr id="49" name="TextBox 48"/>
          <p:cNvSpPr txBox="1"/>
          <p:nvPr/>
        </p:nvSpPr>
        <p:spPr>
          <a:xfrm>
            <a:off x="548640" y="5715000"/>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Checkpoint  </a:t>
            </a:r>
            <a:r>
              <a:rPr sz="1300" b="0" i="0">
                <a:solidFill>
                  <a:srgbClr val="C9C4B9"/>
                </a:solidFill>
                <a:latin typeface="Calibri"/>
              </a:rPr>
              <a:t>Every insight cites review IDs or a URL; the angle you chose is recalled in a brand-new session.</a:t>
            </a:r>
          </a:p>
        </p:txBody>
      </p:sp>
    </p:spTree>
  </p:cSld>
  <p:clrMapOvr>
    <a:masterClrMapping/>
  </p:clrMapOvr>
  <p:transition spd="med">
    <p:fade/>
  </p:transition>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LAB 1</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Install, Connect a Model, Start in the Workspace</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69</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37360"/>
            <a:ext cx="7040880" cy="4480560"/>
          </a:xfrm>
          <a:prstGeom prst="roundRect">
            <a:avLst>
              <a:gd name="adj" fmla="val 3500"/>
            </a:avLst>
          </a:prstGeom>
          <a:solidFill>
            <a:srgbClr val="2B2924"/>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49808" y="1901952"/>
            <a:ext cx="118872" cy="118872"/>
          </a:xfrm>
          <a:prstGeom prst="ellipse">
            <a:avLst/>
          </a:prstGeom>
          <a:solidFill>
            <a:srgbClr val="E06C5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69264" y="1901952"/>
            <a:ext cx="118872" cy="118872"/>
          </a:xfrm>
          <a:prstGeom prst="ellipse">
            <a:avLst/>
          </a:prstGeom>
          <a:solidFill>
            <a:srgbClr val="E5B45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88719" y="1901952"/>
            <a:ext cx="118872" cy="118872"/>
          </a:xfrm>
          <a:prstGeom prst="ellipse">
            <a:avLst/>
          </a:prstGeom>
          <a:solidFill>
            <a:srgbClr val="7DB36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463040" y="1828800"/>
            <a:ext cx="5943600" cy="274320"/>
          </a:xfrm>
          <a:prstGeom prst="rect">
            <a:avLst/>
          </a:prstGeom>
          <a:noFill/>
        </p:spPr>
        <p:txBody>
          <a:bodyPr wrap="square" lIns="36576" rIns="36576" tIns="18288" bIns="18288" anchor="t">
            <a:spAutoFit/>
          </a:bodyPr>
          <a:lstStyle/>
          <a:p>
            <a:pPr algn="l">
              <a:lnSpc>
                <a:spcPct val="112000"/>
              </a:lnSpc>
            </a:pPr>
            <a:r>
              <a:rPr sz="1000" b="0" i="0">
                <a:solidFill>
                  <a:srgbClr val="B9B4A9"/>
                </a:solidFill>
                <a:latin typeface="Calibri"/>
              </a:rPr>
              <a:t>TERMINAL  ·  copy from the Lab Prompts page</a:t>
            </a:r>
          </a:p>
        </p:txBody>
      </p:sp>
      <p:sp>
        <p:nvSpPr>
          <p:cNvPr id="12" name="TextBox 11"/>
          <p:cNvSpPr txBox="1"/>
          <p:nvPr/>
        </p:nvSpPr>
        <p:spPr>
          <a:xfrm>
            <a:off x="777240" y="2194560"/>
            <a:ext cx="6583680" cy="3913632"/>
          </a:xfrm>
          <a:prstGeom prst="rect">
            <a:avLst/>
          </a:prstGeom>
          <a:noFill/>
        </p:spPr>
        <p:txBody>
          <a:bodyPr wrap="square" lIns="36576" rIns="36576" tIns="18288" bIns="18288" anchor="t">
            <a:spAutoFit/>
          </a:bodyPr>
          <a:lstStyle/>
          <a:p>
            <a:pPr algn="l">
              <a:lnSpc>
                <a:spcPct val="110000"/>
              </a:lnSpc>
            </a:pPr>
            <a:r>
              <a:rPr sz="1300" b="0" i="0">
                <a:solidFill>
                  <a:srgbClr val="F1EDE4"/>
                </a:solidFill>
                <a:latin typeface="Consolas"/>
              </a:rPr>
              <a:t>curl -fsSL https://hermes-agent.nousresearch.com/install.sh | bash</a:t>
            </a:r>
          </a:p>
          <a:p>
            <a:pPr algn="l">
              <a:lnSpc>
                <a:spcPct val="110000"/>
              </a:lnSpc>
            </a:pPr>
            <a:r>
              <a:rPr sz="1300" b="0" i="0">
                <a:solidFill>
                  <a:srgbClr val="F1EDE4"/>
                </a:solidFill>
                <a:latin typeface="Consolas"/>
              </a:rPr>
              <a:t># Windows PowerShell:  iex (irm https://hermes-agent.nousresearch.com/install.ps1)</a:t>
            </a:r>
          </a:p>
          <a:p>
            <a:pPr algn="l">
              <a:lnSpc>
                <a:spcPct val="110000"/>
              </a:lnSpc>
            </a:pPr>
            <a:r>
              <a:rPr sz="1300" b="0" i="0">
                <a:solidFill>
                  <a:srgbClr val="F1EDE4"/>
                </a:solidFill>
                <a:latin typeface="Consolas"/>
              </a:rPr>
              <a:t>source ~/.zshrc    # or ~/.bashrc — puts 'hermes' on your PATH</a:t>
            </a:r>
          </a:p>
        </p:txBody>
      </p:sp>
      <p:sp>
        <p:nvSpPr>
          <p:cNvPr id="13" name="Oval 12"/>
          <p:cNvSpPr/>
          <p:nvPr/>
        </p:nvSpPr>
        <p:spPr>
          <a:xfrm>
            <a:off x="7863840" y="177393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download-FFFFFF.png"/>
          <p:cNvPicPr>
            <a:picLocks noChangeAspect="1"/>
          </p:cNvPicPr>
          <p:nvPr/>
        </p:nvPicPr>
        <p:blipFill>
          <a:blip r:embed="rId2"/>
          <a:stretch>
            <a:fillRect/>
          </a:stretch>
        </p:blipFill>
        <p:spPr>
          <a:xfrm>
            <a:off x="7973567" y="1883664"/>
            <a:ext cx="237744" cy="237744"/>
          </a:xfrm>
          <a:prstGeom prst="rect">
            <a:avLst/>
          </a:prstGeom>
        </p:spPr>
      </p:pic>
      <p:sp>
        <p:nvSpPr>
          <p:cNvPr id="15" name="TextBox 14"/>
          <p:cNvSpPr txBox="1"/>
          <p:nvPr/>
        </p:nvSpPr>
        <p:spPr>
          <a:xfrm>
            <a:off x="8458200" y="173736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Install</a:t>
            </a:r>
          </a:p>
        </p:txBody>
      </p:sp>
      <p:sp>
        <p:nvSpPr>
          <p:cNvPr id="16" name="TextBox 15"/>
          <p:cNvSpPr txBox="1"/>
          <p:nvPr/>
        </p:nvSpPr>
        <p:spPr>
          <a:xfrm>
            <a:off x="8458200" y="210312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macOS / Linux / WSL2 one-liner; Windows PowerShell installer.</a:t>
            </a:r>
          </a:p>
        </p:txBody>
      </p:sp>
      <p:sp>
        <p:nvSpPr>
          <p:cNvPr id="17" name="Oval 16"/>
          <p:cNvSpPr/>
          <p:nvPr/>
        </p:nvSpPr>
        <p:spPr>
          <a:xfrm>
            <a:off x="7863840" y="326745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gear-FFFFFF.png"/>
          <p:cNvPicPr>
            <a:picLocks noChangeAspect="1"/>
          </p:cNvPicPr>
          <p:nvPr/>
        </p:nvPicPr>
        <p:blipFill>
          <a:blip r:embed="rId3"/>
          <a:stretch>
            <a:fillRect/>
          </a:stretch>
        </p:blipFill>
        <p:spPr>
          <a:xfrm>
            <a:off x="7973567" y="3377184"/>
            <a:ext cx="237744" cy="237744"/>
          </a:xfrm>
          <a:prstGeom prst="rect">
            <a:avLst/>
          </a:prstGeom>
        </p:spPr>
      </p:pic>
      <p:sp>
        <p:nvSpPr>
          <p:cNvPr id="19" name="TextBox 18"/>
          <p:cNvSpPr txBox="1"/>
          <p:nvPr/>
        </p:nvSpPr>
        <p:spPr>
          <a:xfrm>
            <a:off x="8458200" y="323088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hermes setup</a:t>
            </a:r>
          </a:p>
        </p:txBody>
      </p:sp>
      <p:sp>
        <p:nvSpPr>
          <p:cNvPr id="20" name="TextBox 19"/>
          <p:cNvSpPr txBox="1"/>
          <p:nvPr/>
        </p:nvSpPr>
        <p:spPr>
          <a:xfrm>
            <a:off x="8458200" y="359664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Pick a provider and a model with ≥ 64k context; `hermes doctor` to check.</a:t>
            </a:r>
          </a:p>
        </p:txBody>
      </p:sp>
      <p:sp>
        <p:nvSpPr>
          <p:cNvPr id="21" name="Oval 20"/>
          <p:cNvSpPr/>
          <p:nvPr/>
        </p:nvSpPr>
        <p:spPr>
          <a:xfrm>
            <a:off x="7863840" y="476097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folder-FFFFFF.png"/>
          <p:cNvPicPr>
            <a:picLocks noChangeAspect="1"/>
          </p:cNvPicPr>
          <p:nvPr/>
        </p:nvPicPr>
        <p:blipFill>
          <a:blip r:embed="rId4"/>
          <a:stretch>
            <a:fillRect/>
          </a:stretch>
        </p:blipFill>
        <p:spPr>
          <a:xfrm>
            <a:off x="7973567" y="4870704"/>
            <a:ext cx="237744" cy="237744"/>
          </a:xfrm>
          <a:prstGeom prst="rect">
            <a:avLst/>
          </a:prstGeom>
        </p:spPr>
      </p:pic>
      <p:sp>
        <p:nvSpPr>
          <p:cNvPr id="23" name="TextBox 22"/>
          <p:cNvSpPr txBox="1"/>
          <p:nvPr/>
        </p:nvSpPr>
        <p:spPr>
          <a:xfrm>
            <a:off x="8458200" y="472440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Start in ~/kopi-kaki</a:t>
            </a:r>
          </a:p>
        </p:txBody>
      </p:sp>
      <p:sp>
        <p:nvSpPr>
          <p:cNvPr id="24" name="TextBox 23"/>
          <p:cNvSpPr txBox="1"/>
          <p:nvPr/>
        </p:nvSpPr>
        <p:spPr>
          <a:xfrm>
            <a:off x="8458200" y="509016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AGENTS.md there is loaded automatically.</a:t>
            </a:r>
          </a:p>
        </p:txBody>
      </p:sp>
    </p:spTree>
  </p:cSld>
  <p:clrMapOvr>
    <a:masterClrMapping/>
  </p:clrMapOvr>
  <p:transition spd="med">
    <p:fade/>
  </p:transition>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LAB 1</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Context &amp; Memory Files in Hermes</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70</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graphicFrame>
        <p:nvGraphicFramePr>
          <p:cNvPr id="7" name="Table 6"/>
          <p:cNvGraphicFramePr>
            <a:graphicFrameLocks noGrp="1"/>
          </p:cNvGraphicFramePr>
          <p:nvPr/>
        </p:nvGraphicFramePr>
        <p:xfrm>
          <a:off x="548640" y="1691640"/>
          <a:ext cx="11064240" cy="3771900"/>
        </p:xfrm>
        <a:graphic>
          <a:graphicData uri="http://schemas.openxmlformats.org/drawingml/2006/table">
            <a:tbl>
              <a:tblPr firstRow="0" bandRow="0">
                <a:tableStyleId>{5C22544A-7EE6-4342-B048-85BDC9FD1C3A}</a:tableStyleId>
              </a:tblPr>
              <a:tblGrid>
                <a:gridCol w="2103120"/>
                <a:gridCol w="2194560"/>
                <a:gridCol w="4206240"/>
                <a:gridCol w="2560320"/>
              </a:tblGrid>
              <a:tr h="457200">
                <a:tc>
                  <a:txBody>
                    <a:bodyPr wrap="square"/>
                    <a:lstStyle/>
                    <a:p>
                      <a:r>
                        <a:rPr b="1" sz="1550">
                          <a:solidFill>
                            <a:srgbClr val="FFFFFF"/>
                          </a:solidFill>
                          <a:latin typeface="Cambria"/>
                        </a:rPr>
                        <a:t>File</a:t>
                      </a:r>
                    </a:p>
                  </a:txBody>
                  <a:tcPr marL="64008" marR="64008" marT="27432" marB="27432" anchor="ctr">
                    <a:solidFill>
                      <a:srgbClr val="21201C"/>
                    </a:solidFill>
                  </a:tcPr>
                </a:tc>
                <a:tc>
                  <a:txBody>
                    <a:bodyPr wrap="square"/>
                    <a:lstStyle/>
                    <a:p>
                      <a:r>
                        <a:rPr b="1" sz="1550">
                          <a:solidFill>
                            <a:srgbClr val="FFFFFF"/>
                          </a:solidFill>
                          <a:latin typeface="Cambria"/>
                        </a:rPr>
                        <a:t>Scope</a:t>
                      </a:r>
                    </a:p>
                  </a:txBody>
                  <a:tcPr marL="64008" marR="64008" marT="27432" marB="27432" anchor="ctr">
                    <a:solidFill>
                      <a:srgbClr val="21201C"/>
                    </a:solidFill>
                  </a:tcPr>
                </a:tc>
                <a:tc>
                  <a:txBody>
                    <a:bodyPr wrap="square"/>
                    <a:lstStyle/>
                    <a:p>
                      <a:r>
                        <a:rPr b="1" sz="1550">
                          <a:solidFill>
                            <a:srgbClr val="FFFFFF"/>
                          </a:solidFill>
                          <a:latin typeface="Cambria"/>
                        </a:rPr>
                        <a:t>What goes in it</a:t>
                      </a:r>
                    </a:p>
                  </a:txBody>
                  <a:tcPr marL="64008" marR="64008" marT="27432" marB="27432" anchor="ctr">
                    <a:solidFill>
                      <a:srgbClr val="21201C"/>
                    </a:solidFill>
                  </a:tcPr>
                </a:tc>
                <a:tc>
                  <a:txBody>
                    <a:bodyPr wrap="square"/>
                    <a:lstStyle/>
                    <a:p>
                      <a:r>
                        <a:rPr b="1" sz="1550">
                          <a:solidFill>
                            <a:srgbClr val="FFFFFF"/>
                          </a:solidFill>
                          <a:latin typeface="Cambria"/>
                        </a:rPr>
                        <a:t>Loaded</a:t>
                      </a:r>
                    </a:p>
                  </a:txBody>
                  <a:tcPr marL="64008" marR="64008" marT="27432" marB="27432" anchor="ctr">
                    <a:solidFill>
                      <a:srgbClr val="21201C"/>
                    </a:solidFill>
                  </a:tcPr>
                </a:tc>
              </a:tr>
              <a:tr h="662940">
                <a:tc>
                  <a:txBody>
                    <a:bodyPr wrap="square"/>
                    <a:lstStyle/>
                    <a:p>
                      <a:r>
                        <a:rPr b="1" sz="1500">
                          <a:solidFill>
                            <a:srgbClr val="21201C"/>
                          </a:solidFill>
                          <a:latin typeface="Cambria"/>
                        </a:rPr>
                        <a:t>AGENTS.md (project)</a:t>
                      </a:r>
                    </a:p>
                  </a:txBody>
                  <a:tcPr marL="64008" marR="64008" marT="27432" marB="27432" anchor="ctr">
                    <a:solidFill>
                      <a:srgbClr val="FFFFFF"/>
                    </a:solidFill>
                  </a:tcPr>
                </a:tc>
                <a:tc>
                  <a:txBody>
                    <a:bodyPr wrap="square"/>
                    <a:lstStyle/>
                    <a:p>
                      <a:r>
                        <a:rPr b="0" sz="1500">
                          <a:solidFill>
                            <a:srgbClr val="6B6862"/>
                          </a:solidFill>
                          <a:latin typeface="Calibri"/>
                        </a:rPr>
                        <a:t>This folder</a:t>
                      </a:r>
                    </a:p>
                  </a:txBody>
                  <a:tcPr marL="64008" marR="64008" marT="27432" marB="27432" anchor="ctr">
                    <a:solidFill>
                      <a:srgbClr val="FFFFFF"/>
                    </a:solidFill>
                  </a:tcPr>
                </a:tc>
                <a:tc>
                  <a:txBody>
                    <a:bodyPr wrap="square"/>
                    <a:lstStyle/>
                    <a:p>
                      <a:r>
                        <a:rPr b="0" sz="1500">
                          <a:solidFill>
                            <a:srgbClr val="6B6862"/>
                          </a:solidFill>
                          <a:latin typeface="Calibri"/>
                        </a:rPr>
                        <a:t>Company facts, rules, current priority</a:t>
                      </a:r>
                    </a:p>
                  </a:txBody>
                  <a:tcPr marL="64008" marR="64008" marT="27432" marB="27432" anchor="ctr">
                    <a:solidFill>
                      <a:srgbClr val="FFFFFF"/>
                    </a:solidFill>
                  </a:tcPr>
                </a:tc>
                <a:tc>
                  <a:txBody>
                    <a:bodyPr wrap="square"/>
                    <a:lstStyle/>
                    <a:p>
                      <a:r>
                        <a:rPr b="0" sz="1500">
                          <a:solidFill>
                            <a:srgbClr val="6B6862"/>
                          </a:solidFill>
                          <a:latin typeface="Calibri"/>
                        </a:rPr>
                        <a:t>Every session started in the folder</a:t>
                      </a:r>
                    </a:p>
                  </a:txBody>
                  <a:tcPr marL="64008" marR="64008" marT="27432" marB="27432" anchor="ctr">
                    <a:solidFill>
                      <a:srgbClr val="FFFFFF"/>
                    </a:solidFill>
                  </a:tcPr>
                </a:tc>
              </a:tr>
              <a:tr h="662940">
                <a:tc>
                  <a:txBody>
                    <a:bodyPr wrap="square"/>
                    <a:lstStyle/>
                    <a:p>
                      <a:r>
                        <a:rPr b="1" sz="1500">
                          <a:solidFill>
                            <a:srgbClr val="21201C"/>
                          </a:solidFill>
                          <a:latin typeface="Cambria"/>
                        </a:rPr>
                        <a:t>SOUL.md</a:t>
                      </a:r>
                    </a:p>
                  </a:txBody>
                  <a:tcPr marL="64008" marR="64008" marT="27432" marB="27432" anchor="ctr">
                    <a:solidFill>
                      <a:srgbClr val="F3F1EB"/>
                    </a:solidFill>
                  </a:tcPr>
                </a:tc>
                <a:tc>
                  <a:txBody>
                    <a:bodyPr wrap="square"/>
                    <a:lstStyle/>
                    <a:p>
                      <a:r>
                        <a:rPr b="0" sz="1500">
                          <a:solidFill>
                            <a:srgbClr val="6B6862"/>
                          </a:solidFill>
                          <a:latin typeface="Calibri"/>
                        </a:rPr>
                        <a:t>~/.hermes/ (per profile)</a:t>
                      </a:r>
                    </a:p>
                  </a:txBody>
                  <a:tcPr marL="64008" marR="64008" marT="27432" marB="27432" anchor="ctr">
                    <a:solidFill>
                      <a:srgbClr val="F3F1EB"/>
                    </a:solidFill>
                  </a:tcPr>
                </a:tc>
                <a:tc>
                  <a:txBody>
                    <a:bodyPr wrap="square"/>
                    <a:lstStyle/>
                    <a:p>
                      <a:r>
                        <a:rPr b="0" sz="1500">
                          <a:solidFill>
                            <a:srgbClr val="6B6862"/>
                          </a:solidFill>
                          <a:latin typeface="Calibri"/>
                        </a:rPr>
                        <a:t>The agent's role, personality and standing rules</a:t>
                      </a:r>
                    </a:p>
                  </a:txBody>
                  <a:tcPr marL="64008" marR="64008" marT="27432" marB="27432" anchor="ctr">
                    <a:solidFill>
                      <a:srgbClr val="F3F1EB"/>
                    </a:solidFill>
                  </a:tcPr>
                </a:tc>
                <a:tc>
                  <a:txBody>
                    <a:bodyPr wrap="square"/>
                    <a:lstStyle/>
                    <a:p>
                      <a:r>
                        <a:rPr b="0" sz="1500">
                          <a:solidFill>
                            <a:srgbClr val="6B6862"/>
                          </a:solidFill>
                          <a:latin typeface="Calibri"/>
                        </a:rPr>
                        <a:t>Every session</a:t>
                      </a:r>
                    </a:p>
                  </a:txBody>
                  <a:tcPr marL="64008" marR="64008" marT="27432" marB="27432" anchor="ctr">
                    <a:solidFill>
                      <a:srgbClr val="F3F1EB"/>
                    </a:solidFill>
                  </a:tcPr>
                </a:tc>
              </a:tr>
              <a:tr h="662940">
                <a:tc>
                  <a:txBody>
                    <a:bodyPr wrap="square"/>
                    <a:lstStyle/>
                    <a:p>
                      <a:r>
                        <a:rPr b="1" sz="1500">
                          <a:solidFill>
                            <a:srgbClr val="21201C"/>
                          </a:solidFill>
                          <a:latin typeface="Cambria"/>
                        </a:rPr>
                        <a:t>MEMORY.md</a:t>
                      </a:r>
                    </a:p>
                  </a:txBody>
                  <a:tcPr marL="64008" marR="64008" marT="27432" marB="27432" anchor="ctr">
                    <a:solidFill>
                      <a:srgbClr val="FFFFFF"/>
                    </a:solidFill>
                  </a:tcPr>
                </a:tc>
                <a:tc>
                  <a:txBody>
                    <a:bodyPr wrap="square"/>
                    <a:lstStyle/>
                    <a:p>
                      <a:r>
                        <a:rPr b="0" sz="1500">
                          <a:solidFill>
                            <a:srgbClr val="6B6862"/>
                          </a:solidFill>
                          <a:latin typeface="Calibri"/>
                        </a:rPr>
                        <a:t>~/.hermes/memories/</a:t>
                      </a:r>
                    </a:p>
                  </a:txBody>
                  <a:tcPr marL="64008" marR="64008" marT="27432" marB="27432" anchor="ctr">
                    <a:solidFill>
                      <a:srgbClr val="FFFFFF"/>
                    </a:solidFill>
                  </a:tcPr>
                </a:tc>
                <a:tc>
                  <a:txBody>
                    <a:bodyPr wrap="square"/>
                    <a:lstStyle/>
                    <a:p>
                      <a:r>
                        <a:rPr b="0" sz="1500">
                          <a:solidFill>
                            <a:srgbClr val="6B6862"/>
                          </a:solidFill>
                          <a:latin typeface="Calibri"/>
                        </a:rPr>
                        <a:t>Facts the agent decides to remember (~2,200 chars)</a:t>
                      </a:r>
                    </a:p>
                  </a:txBody>
                  <a:tcPr marL="64008" marR="64008" marT="27432" marB="27432" anchor="ctr">
                    <a:solidFill>
                      <a:srgbClr val="FFFFFF"/>
                    </a:solidFill>
                  </a:tcPr>
                </a:tc>
                <a:tc>
                  <a:txBody>
                    <a:bodyPr wrap="square"/>
                    <a:lstStyle/>
                    <a:p>
                      <a:r>
                        <a:rPr b="0" sz="1500">
                          <a:solidFill>
                            <a:srgbClr val="6B6862"/>
                          </a:solidFill>
                          <a:latin typeface="Calibri"/>
                        </a:rPr>
                        <a:t>Session start</a:t>
                      </a:r>
                    </a:p>
                  </a:txBody>
                  <a:tcPr marL="64008" marR="64008" marT="27432" marB="27432" anchor="ctr">
                    <a:solidFill>
                      <a:srgbClr val="FFFFFF"/>
                    </a:solidFill>
                  </a:tcPr>
                </a:tc>
              </a:tr>
              <a:tr h="662940">
                <a:tc>
                  <a:txBody>
                    <a:bodyPr wrap="square"/>
                    <a:lstStyle/>
                    <a:p>
                      <a:r>
                        <a:rPr b="1" sz="1500">
                          <a:solidFill>
                            <a:srgbClr val="21201C"/>
                          </a:solidFill>
                          <a:latin typeface="Cambria"/>
                        </a:rPr>
                        <a:t>USER.md</a:t>
                      </a:r>
                    </a:p>
                  </a:txBody>
                  <a:tcPr marL="64008" marR="64008" marT="27432" marB="27432" anchor="ctr">
                    <a:solidFill>
                      <a:srgbClr val="F3F1EB"/>
                    </a:solidFill>
                  </a:tcPr>
                </a:tc>
                <a:tc>
                  <a:txBody>
                    <a:bodyPr wrap="square"/>
                    <a:lstStyle/>
                    <a:p>
                      <a:r>
                        <a:rPr b="0" sz="1500">
                          <a:solidFill>
                            <a:srgbClr val="6B6862"/>
                          </a:solidFill>
                          <a:latin typeface="Calibri"/>
                        </a:rPr>
                        <a:t>~/.hermes/memories/</a:t>
                      </a:r>
                    </a:p>
                  </a:txBody>
                  <a:tcPr marL="64008" marR="64008" marT="27432" marB="27432" anchor="ctr">
                    <a:solidFill>
                      <a:srgbClr val="F3F1EB"/>
                    </a:solidFill>
                  </a:tcPr>
                </a:tc>
                <a:tc>
                  <a:txBody>
                    <a:bodyPr wrap="square"/>
                    <a:lstStyle/>
                    <a:p>
                      <a:r>
                        <a:rPr b="0" sz="1500">
                          <a:solidFill>
                            <a:srgbClr val="6B6862"/>
                          </a:solidFill>
                          <a:latin typeface="Calibri"/>
                        </a:rPr>
                        <a:t>What it knows about you and your preferences</a:t>
                      </a:r>
                    </a:p>
                  </a:txBody>
                  <a:tcPr marL="64008" marR="64008" marT="27432" marB="27432" anchor="ctr">
                    <a:solidFill>
                      <a:srgbClr val="F3F1EB"/>
                    </a:solidFill>
                  </a:tcPr>
                </a:tc>
                <a:tc>
                  <a:txBody>
                    <a:bodyPr wrap="square"/>
                    <a:lstStyle/>
                    <a:p>
                      <a:r>
                        <a:rPr b="0" sz="1500">
                          <a:solidFill>
                            <a:srgbClr val="6B6862"/>
                          </a:solidFill>
                          <a:latin typeface="Calibri"/>
                        </a:rPr>
                        <a:t>Session start</a:t>
                      </a:r>
                    </a:p>
                  </a:txBody>
                  <a:tcPr marL="64008" marR="64008" marT="27432" marB="27432" anchor="ctr">
                    <a:solidFill>
                      <a:srgbClr val="F3F1EB"/>
                    </a:solidFill>
                  </a:tcPr>
                </a:tc>
              </a:tr>
              <a:tr h="662940">
                <a:tc>
                  <a:txBody>
                    <a:bodyPr wrap="square"/>
                    <a:lstStyle/>
                    <a:p>
                      <a:r>
                        <a:rPr b="1" sz="1500">
                          <a:solidFill>
                            <a:srgbClr val="21201C"/>
                          </a:solidFill>
                          <a:latin typeface="Cambria"/>
                        </a:rPr>
                        <a:t>Session history</a:t>
                      </a:r>
                    </a:p>
                  </a:txBody>
                  <a:tcPr marL="64008" marR="64008" marT="27432" marB="27432" anchor="ctr">
                    <a:solidFill>
                      <a:srgbClr val="FFFFFF"/>
                    </a:solidFill>
                  </a:tcPr>
                </a:tc>
                <a:tc>
                  <a:txBody>
                    <a:bodyPr wrap="square"/>
                    <a:lstStyle/>
                    <a:p>
                      <a:r>
                        <a:rPr b="0" sz="1500">
                          <a:solidFill>
                            <a:srgbClr val="6B6862"/>
                          </a:solidFill>
                          <a:latin typeface="Calibri"/>
                        </a:rPr>
                        <a:t>state database</a:t>
                      </a:r>
                    </a:p>
                  </a:txBody>
                  <a:tcPr marL="64008" marR="64008" marT="27432" marB="27432" anchor="ctr">
                    <a:solidFill>
                      <a:srgbClr val="FFFFFF"/>
                    </a:solidFill>
                  </a:tcPr>
                </a:tc>
                <a:tc>
                  <a:txBody>
                    <a:bodyPr wrap="square"/>
                    <a:lstStyle/>
                    <a:p>
                      <a:r>
                        <a:rPr b="0" sz="1500">
                          <a:solidFill>
                            <a:srgbClr val="6B6862"/>
                          </a:solidFill>
                          <a:latin typeface="Calibri"/>
                        </a:rPr>
                        <a:t>Every past conversation — searchable</a:t>
                      </a:r>
                    </a:p>
                  </a:txBody>
                  <a:tcPr marL="64008" marR="64008" marT="27432" marB="27432" anchor="ctr">
                    <a:solidFill>
                      <a:srgbClr val="FFFFFF"/>
                    </a:solidFill>
                  </a:tcPr>
                </a:tc>
                <a:tc>
                  <a:txBody>
                    <a:bodyPr wrap="square"/>
                    <a:lstStyle/>
                    <a:p>
                      <a:r>
                        <a:rPr b="0" sz="1500">
                          <a:solidFill>
                            <a:srgbClr val="6B6862"/>
                          </a:solidFill>
                          <a:latin typeface="Calibri"/>
                        </a:rPr>
                        <a:t>On demand (session search)</a:t>
                      </a:r>
                    </a:p>
                  </a:txBody>
                  <a:tcPr marL="64008" marR="64008" marT="27432" marB="27432" anchor="ctr">
                    <a:solidFill>
                      <a:srgbClr val="FFFFFF"/>
                    </a:solidFill>
                  </a:tcPr>
                </a:tc>
              </a:tr>
            </a:tbl>
          </a:graphicData>
        </a:graphic>
      </p:graphicFrame>
      <p:sp>
        <p:nvSpPr>
          <p:cNvPr id="8" name="TextBox 7"/>
          <p:cNvSpPr txBox="1"/>
          <p:nvPr/>
        </p:nvSpPr>
        <p:spPr>
          <a:xfrm>
            <a:off x="548640" y="5760720"/>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Short-term = this session's context window. Long-term = the files and history above.</a:t>
            </a:r>
          </a:p>
        </p:txBody>
      </p:sp>
    </p:spTree>
  </p:cSld>
  <p:clrMapOvr>
    <a:masterClrMapping/>
  </p:clrMapOvr>
  <p:transition spd="med">
    <p:fade/>
  </p:transition>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LAB 1</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Onboard Mia — persona and long-term memory</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71</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37360"/>
            <a:ext cx="7040880" cy="4480560"/>
          </a:xfrm>
          <a:prstGeom prst="roundRect">
            <a:avLst>
              <a:gd name="adj" fmla="val 3500"/>
            </a:avLst>
          </a:prstGeom>
          <a:solidFill>
            <a:srgbClr val="2B2924"/>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49808" y="1901952"/>
            <a:ext cx="118872" cy="118872"/>
          </a:xfrm>
          <a:prstGeom prst="ellipse">
            <a:avLst/>
          </a:prstGeom>
          <a:solidFill>
            <a:srgbClr val="E06C5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69264" y="1901952"/>
            <a:ext cx="118872" cy="118872"/>
          </a:xfrm>
          <a:prstGeom prst="ellipse">
            <a:avLst/>
          </a:prstGeom>
          <a:solidFill>
            <a:srgbClr val="E5B45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88719" y="1901952"/>
            <a:ext cx="118872" cy="118872"/>
          </a:xfrm>
          <a:prstGeom prst="ellipse">
            <a:avLst/>
          </a:prstGeom>
          <a:solidFill>
            <a:srgbClr val="7DB36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463040" y="1828800"/>
            <a:ext cx="5943600" cy="274320"/>
          </a:xfrm>
          <a:prstGeom prst="rect">
            <a:avLst/>
          </a:prstGeom>
          <a:noFill/>
        </p:spPr>
        <p:txBody>
          <a:bodyPr wrap="square" lIns="36576" rIns="36576" tIns="18288" bIns="18288" anchor="t">
            <a:spAutoFit/>
          </a:bodyPr>
          <a:lstStyle/>
          <a:p>
            <a:pPr algn="l">
              <a:lnSpc>
                <a:spcPct val="112000"/>
              </a:lnSpc>
            </a:pPr>
            <a:r>
              <a:rPr sz="1000" b="0" i="0">
                <a:solidFill>
                  <a:srgbClr val="B9B4A9"/>
                </a:solidFill>
                <a:latin typeface="Calibri"/>
              </a:rPr>
              <a:t>PROMPT  ·  copy from the Lab Prompts page</a:t>
            </a:r>
          </a:p>
        </p:txBody>
      </p:sp>
      <p:sp>
        <p:nvSpPr>
          <p:cNvPr id="12" name="TextBox 11"/>
          <p:cNvSpPr txBox="1"/>
          <p:nvPr/>
        </p:nvSpPr>
        <p:spPr>
          <a:xfrm>
            <a:off x="777240" y="2194560"/>
            <a:ext cx="6583680" cy="3913632"/>
          </a:xfrm>
          <a:prstGeom prst="rect">
            <a:avLst/>
          </a:prstGeom>
          <a:noFill/>
        </p:spPr>
        <p:txBody>
          <a:bodyPr wrap="square" lIns="36576" rIns="36576" tIns="18288" bIns="18288" anchor="t">
            <a:spAutoFit/>
          </a:bodyPr>
          <a:lstStyle/>
          <a:p>
            <a:pPr algn="l">
              <a:lnSpc>
                <a:spcPct val="110000"/>
              </a:lnSpc>
            </a:pPr>
            <a:r>
              <a:rPr sz="1300" b="0" i="0">
                <a:solidFill>
                  <a:srgbClr val="F1EDE4"/>
                </a:solidFill>
                <a:latin typeface="Consolas"/>
              </a:rPr>
              <a:t>You are Mia, Kopi Kaki Co.'s AI marketing analyst. Read AGENTS.md, brand-guide.md and campaign-brief.md in this folder.</a:t>
            </a:r>
          </a:p>
          <a:p>
            <a:pPr algn="l">
              <a:lnSpc>
                <a:spcPct val="110000"/>
              </a:lnSpc>
            </a:pPr>
          </a:p>
          <a:p>
            <a:pPr algn="l">
              <a:lnSpc>
                <a:spcPct val="110000"/>
              </a:lnSpc>
            </a:pPr>
            <a:r>
              <a:rPr sz="1300" b="0" i="0">
                <a:solidFill>
                  <a:srgbClr val="F1EDE4"/>
                </a:solidFill>
                <a:latin typeface="Consolas"/>
              </a:rPr>
              <a:t>Save these facts to your long-term memory:</a:t>
            </a:r>
          </a:p>
          <a:p>
            <a:pPr algn="l">
              <a:lnSpc>
                <a:spcPct val="110000"/>
              </a:lnSpc>
            </a:pPr>
            <a:r>
              <a:rPr sz="1300" b="0" i="0">
                <a:solidFill>
                  <a:srgbClr val="F1EDE4"/>
                </a:solidFill>
                <a:latin typeface="Consolas"/>
              </a:rPr>
              <a:t>- Kopi Kaki Co.: Singapore kopi chain, 12 outlets, positioning "Heritage kopi, modern craft".</a:t>
            </a:r>
          </a:p>
          <a:p>
            <a:pPr algn="l">
              <a:lnSpc>
                <a:spcPct val="110000"/>
              </a:lnSpc>
            </a:pPr>
            <a:r>
              <a:rPr sz="1300" b="0" i="0">
                <a:solidFill>
                  <a:srgbClr val="F1EDE4"/>
                </a:solidFill>
                <a:latin typeface="Consolas"/>
              </a:rPr>
              <a:t>- Launch: Gula Melaka Cold Brew, SGD 6.80, launches 1 Dec 2026, campaign #ShiokColdBrew 17 Nov - 14 Dec.</a:t>
            </a:r>
          </a:p>
          <a:p>
            <a:pPr algn="l">
              <a:lnSpc>
                <a:spcPct val="110000"/>
              </a:lnSpc>
            </a:pPr>
            <a:r>
              <a:rPr sz="1300" b="0" i="0">
                <a:solidFill>
                  <a:srgbClr val="F1EDE4"/>
                </a:solidFill>
                <a:latin typeface="Consolas"/>
              </a:rPr>
              <a:t>- Promo SHIOK20: 20% off the first Gula Melaka Cold Brew ordered in the app, valid 1-14 Dec 2026, one per customer.</a:t>
            </a:r>
          </a:p>
          <a:p>
            <a:pPr algn="l">
              <a:lnSpc>
                <a:spcPct val="110000"/>
              </a:lnSpc>
            </a:pPr>
            <a:r>
              <a:rPr sz="1300" b="0" i="0">
                <a:solidFill>
                  <a:srgbClr val="F1EDE4"/>
                </a:solidFill>
                <a:latin typeface="Consolas"/>
              </a:rPr>
              <a:t>- Never publish anything without my APPROVE. Never make health or halal claims.</a:t>
            </a:r>
          </a:p>
          <a:p>
            <a:pPr algn="l">
              <a:lnSpc>
                <a:spcPct val="110000"/>
              </a:lnSpc>
            </a:pPr>
          </a:p>
          <a:p>
            <a:pPr algn="l">
              <a:lnSpc>
                <a:spcPct val="110000"/>
              </a:lnSpc>
            </a:pPr>
            <a:r>
              <a:rPr sz="1300" b="0" i="0">
                <a:solidFill>
                  <a:srgbClr val="F1EDE4"/>
                </a:solidFill>
                <a:latin typeface="Consolas"/>
              </a:rPr>
              <a:t>Then summarise the company in 5 bullets and ask me the 3 questions a new analyst should ask on day one.</a:t>
            </a:r>
          </a:p>
        </p:txBody>
      </p:sp>
      <p:sp>
        <p:nvSpPr>
          <p:cNvPr id="13" name="Oval 12"/>
          <p:cNvSpPr/>
          <p:nvPr/>
        </p:nvSpPr>
        <p:spPr>
          <a:xfrm>
            <a:off x="7863840" y="177393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chat-FFFFFF.png"/>
          <p:cNvPicPr>
            <a:picLocks noChangeAspect="1"/>
          </p:cNvPicPr>
          <p:nvPr/>
        </p:nvPicPr>
        <p:blipFill>
          <a:blip r:embed="rId2"/>
          <a:stretch>
            <a:fillRect/>
          </a:stretch>
        </p:blipFill>
        <p:spPr>
          <a:xfrm>
            <a:off x="7973567" y="1883664"/>
            <a:ext cx="237744" cy="237744"/>
          </a:xfrm>
          <a:prstGeom prst="rect">
            <a:avLst/>
          </a:prstGeom>
        </p:spPr>
      </p:pic>
      <p:sp>
        <p:nvSpPr>
          <p:cNvPr id="15" name="TextBox 14"/>
          <p:cNvSpPr txBox="1"/>
          <p:nvPr/>
        </p:nvSpPr>
        <p:spPr>
          <a:xfrm>
            <a:off x="8458200" y="173736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Paste into</a:t>
            </a:r>
          </a:p>
        </p:txBody>
      </p:sp>
      <p:sp>
        <p:nvSpPr>
          <p:cNvPr id="16" name="TextBox 15"/>
          <p:cNvSpPr txBox="1"/>
          <p:nvPr/>
        </p:nvSpPr>
        <p:spPr>
          <a:xfrm>
            <a:off x="8458200" y="210312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Hermes chat (started inside ~/kopi-kaki)</a:t>
            </a:r>
          </a:p>
        </p:txBody>
      </p:sp>
      <p:sp>
        <p:nvSpPr>
          <p:cNvPr id="17" name="Oval 16"/>
          <p:cNvSpPr/>
          <p:nvPr/>
        </p:nvSpPr>
        <p:spPr>
          <a:xfrm>
            <a:off x="7863840" y="326745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check-FFFFFF.png"/>
          <p:cNvPicPr>
            <a:picLocks noChangeAspect="1"/>
          </p:cNvPicPr>
          <p:nvPr/>
        </p:nvPicPr>
        <p:blipFill>
          <a:blip r:embed="rId3"/>
          <a:stretch>
            <a:fillRect/>
          </a:stretch>
        </p:blipFill>
        <p:spPr>
          <a:xfrm>
            <a:off x="7973567" y="3377184"/>
            <a:ext cx="237744" cy="237744"/>
          </a:xfrm>
          <a:prstGeom prst="rect">
            <a:avLst/>
          </a:prstGeom>
        </p:spPr>
      </p:pic>
      <p:sp>
        <p:nvSpPr>
          <p:cNvPr id="19" name="TextBox 18"/>
          <p:cNvSpPr txBox="1"/>
          <p:nvPr/>
        </p:nvSpPr>
        <p:spPr>
          <a:xfrm>
            <a:off x="8458200" y="323088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Expect</a:t>
            </a:r>
          </a:p>
        </p:txBody>
      </p:sp>
      <p:sp>
        <p:nvSpPr>
          <p:cNvPr id="20" name="TextBox 19"/>
          <p:cNvSpPr txBox="1"/>
          <p:nvPr/>
        </p:nvSpPr>
        <p:spPr>
          <a:xfrm>
            <a:off x="8458200" y="359664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Mia confirms the memory was saved and returns 5 bullets + 3 questions. Check the file itself: `cat ~/.hermes/memories/MEMORY.md` shows the facts.</a:t>
            </a:r>
          </a:p>
        </p:txBody>
      </p:sp>
      <p:sp>
        <p:nvSpPr>
          <p:cNvPr id="21" name="Oval 20"/>
          <p:cNvSpPr/>
          <p:nvPr/>
        </p:nvSpPr>
        <p:spPr>
          <a:xfrm>
            <a:off x="7863840" y="476097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hand-FFFFFF.png"/>
          <p:cNvPicPr>
            <a:picLocks noChangeAspect="1"/>
          </p:cNvPicPr>
          <p:nvPr/>
        </p:nvPicPr>
        <p:blipFill>
          <a:blip r:embed="rId4"/>
          <a:stretch>
            <a:fillRect/>
          </a:stretch>
        </p:blipFill>
        <p:spPr>
          <a:xfrm>
            <a:off x="7973567" y="4870704"/>
            <a:ext cx="237744" cy="237744"/>
          </a:xfrm>
          <a:prstGeom prst="rect">
            <a:avLst/>
          </a:prstGeom>
        </p:spPr>
      </p:pic>
      <p:sp>
        <p:nvSpPr>
          <p:cNvPr id="23" name="TextBox 22"/>
          <p:cNvSpPr txBox="1"/>
          <p:nvPr/>
        </p:nvSpPr>
        <p:spPr>
          <a:xfrm>
            <a:off x="8458200" y="472440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You decide</a:t>
            </a:r>
          </a:p>
        </p:txBody>
      </p:sp>
      <p:sp>
        <p:nvSpPr>
          <p:cNvPr id="24" name="TextBox 23"/>
          <p:cNvSpPr txBox="1"/>
          <p:nvPr/>
        </p:nvSpPr>
        <p:spPr>
          <a:xfrm>
            <a:off x="8458200" y="509016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Set the goal, challenge the evidence, choose the campaign angle</a:t>
            </a:r>
          </a:p>
        </p:txBody>
      </p:sp>
    </p:spTree>
  </p:cSld>
  <p:clrMapOvr>
    <a:masterClrMapping/>
  </p:clrMapOvr>
  <p:transition spd="med">
    <p:fade/>
  </p:transition>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LAB 1</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Perceive the data — analyse 60 customer reviews</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72</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37360"/>
            <a:ext cx="7040880" cy="4480560"/>
          </a:xfrm>
          <a:prstGeom prst="roundRect">
            <a:avLst>
              <a:gd name="adj" fmla="val 3500"/>
            </a:avLst>
          </a:prstGeom>
          <a:solidFill>
            <a:srgbClr val="2B2924"/>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49808" y="1901952"/>
            <a:ext cx="118872" cy="118872"/>
          </a:xfrm>
          <a:prstGeom prst="ellipse">
            <a:avLst/>
          </a:prstGeom>
          <a:solidFill>
            <a:srgbClr val="E06C5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69264" y="1901952"/>
            <a:ext cx="118872" cy="118872"/>
          </a:xfrm>
          <a:prstGeom prst="ellipse">
            <a:avLst/>
          </a:prstGeom>
          <a:solidFill>
            <a:srgbClr val="E5B45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88719" y="1901952"/>
            <a:ext cx="118872" cy="118872"/>
          </a:xfrm>
          <a:prstGeom prst="ellipse">
            <a:avLst/>
          </a:prstGeom>
          <a:solidFill>
            <a:srgbClr val="7DB36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463040" y="1828800"/>
            <a:ext cx="5943600" cy="274320"/>
          </a:xfrm>
          <a:prstGeom prst="rect">
            <a:avLst/>
          </a:prstGeom>
          <a:noFill/>
        </p:spPr>
        <p:txBody>
          <a:bodyPr wrap="square" lIns="36576" rIns="36576" tIns="18288" bIns="18288" anchor="t">
            <a:spAutoFit/>
          </a:bodyPr>
          <a:lstStyle/>
          <a:p>
            <a:pPr algn="l">
              <a:lnSpc>
                <a:spcPct val="112000"/>
              </a:lnSpc>
            </a:pPr>
            <a:r>
              <a:rPr sz="1000" b="0" i="0">
                <a:solidFill>
                  <a:srgbClr val="B9B4A9"/>
                </a:solidFill>
                <a:latin typeface="Calibri"/>
              </a:rPr>
              <a:t>PROMPT  ·  copy from the Lab Prompts page</a:t>
            </a:r>
          </a:p>
        </p:txBody>
      </p:sp>
      <p:sp>
        <p:nvSpPr>
          <p:cNvPr id="12" name="TextBox 11"/>
          <p:cNvSpPr txBox="1"/>
          <p:nvPr/>
        </p:nvSpPr>
        <p:spPr>
          <a:xfrm>
            <a:off x="777240" y="2194560"/>
            <a:ext cx="6583680" cy="3913632"/>
          </a:xfrm>
          <a:prstGeom prst="rect">
            <a:avLst/>
          </a:prstGeom>
          <a:noFill/>
        </p:spPr>
        <p:txBody>
          <a:bodyPr wrap="square" lIns="36576" rIns="36576" tIns="18288" bIns="18288" anchor="t">
            <a:spAutoFit/>
          </a:bodyPr>
          <a:lstStyle/>
          <a:p>
            <a:pPr algn="l">
              <a:lnSpc>
                <a:spcPct val="110000"/>
              </a:lnSpc>
            </a:pPr>
            <a:r>
              <a:rPr sz="1300" b="0" i="0">
                <a:solidFill>
                  <a:srgbClr val="F1EDE4"/>
                </a:solidFill>
                <a:latin typeface="Consolas"/>
              </a:rPr>
              <a:t>Analyse customer-reviews.csv.</a:t>
            </a:r>
          </a:p>
          <a:p>
            <a:pPr algn="l">
              <a:lnSpc>
                <a:spcPct val="110000"/>
              </a:lnSpc>
            </a:pPr>
            <a:r>
              <a:rPr sz="1300" b="0" i="0">
                <a:solidFill>
                  <a:srgbClr val="F1EDE4"/>
                </a:solidFill>
                <a:latin typeface="Consolas"/>
              </a:rPr>
              <a:t>1. Rating distribution (count and % for 1-5 stars) and average rating per outlet.</a:t>
            </a:r>
          </a:p>
          <a:p>
            <a:pPr algn="l">
              <a:lnSpc>
                <a:spcPct val="110000"/>
              </a:lnSpc>
            </a:pPr>
            <a:r>
              <a:rPr sz="1300" b="0" i="0">
                <a:solidFill>
                  <a:srgbClr val="F1EDE4"/>
                </a:solidFill>
                <a:latin typeface="Consolas"/>
              </a:rPr>
              <a:t>2. The top 5 praise themes and top 5 complaint themes, each with a count and 2 example review_ids.</a:t>
            </a:r>
          </a:p>
          <a:p>
            <a:pPr algn="l">
              <a:lnSpc>
                <a:spcPct val="110000"/>
              </a:lnSpc>
            </a:pPr>
            <a:r>
              <a:rPr sz="1300" b="0" i="0">
                <a:solidFill>
                  <a:srgbClr val="F1EDE4"/>
                </a:solidFill>
                <a:latin typeface="Consolas"/>
              </a:rPr>
              <a:t>3. Anything relevant to a cold-brew launch (mentions of cold brew, sweetness, oat milk, app).</a:t>
            </a:r>
          </a:p>
          <a:p>
            <a:pPr algn="l">
              <a:lnSpc>
                <a:spcPct val="110000"/>
              </a:lnSpc>
            </a:pPr>
            <a:r>
              <a:rPr sz="1300" b="0" i="0">
                <a:solidFill>
                  <a:srgbClr val="F1EDE4"/>
                </a:solidFill>
                <a:latin typeface="Consolas"/>
              </a:rPr>
              <a:t>Show your calculation method. Save the result as outputs/lab01/review-insights.md.</a:t>
            </a:r>
          </a:p>
        </p:txBody>
      </p:sp>
      <p:sp>
        <p:nvSpPr>
          <p:cNvPr id="13" name="Oval 12"/>
          <p:cNvSpPr/>
          <p:nvPr/>
        </p:nvSpPr>
        <p:spPr>
          <a:xfrm>
            <a:off x="7863840" y="177393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chat-FFFFFF.png"/>
          <p:cNvPicPr>
            <a:picLocks noChangeAspect="1"/>
          </p:cNvPicPr>
          <p:nvPr/>
        </p:nvPicPr>
        <p:blipFill>
          <a:blip r:embed="rId2"/>
          <a:stretch>
            <a:fillRect/>
          </a:stretch>
        </p:blipFill>
        <p:spPr>
          <a:xfrm>
            <a:off x="7973567" y="1883664"/>
            <a:ext cx="237744" cy="237744"/>
          </a:xfrm>
          <a:prstGeom prst="rect">
            <a:avLst/>
          </a:prstGeom>
        </p:spPr>
      </p:pic>
      <p:sp>
        <p:nvSpPr>
          <p:cNvPr id="15" name="TextBox 14"/>
          <p:cNvSpPr txBox="1"/>
          <p:nvPr/>
        </p:nvSpPr>
        <p:spPr>
          <a:xfrm>
            <a:off x="8458200" y="173736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Paste into</a:t>
            </a:r>
          </a:p>
        </p:txBody>
      </p:sp>
      <p:sp>
        <p:nvSpPr>
          <p:cNvPr id="16" name="TextBox 15"/>
          <p:cNvSpPr txBox="1"/>
          <p:nvPr/>
        </p:nvSpPr>
        <p:spPr>
          <a:xfrm>
            <a:off x="8458200" y="210312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Hermes chat</a:t>
            </a:r>
          </a:p>
        </p:txBody>
      </p:sp>
      <p:sp>
        <p:nvSpPr>
          <p:cNvPr id="17" name="Oval 16"/>
          <p:cNvSpPr/>
          <p:nvPr/>
        </p:nvSpPr>
        <p:spPr>
          <a:xfrm>
            <a:off x="7863840" y="326745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check-FFFFFF.png"/>
          <p:cNvPicPr>
            <a:picLocks noChangeAspect="1"/>
          </p:cNvPicPr>
          <p:nvPr/>
        </p:nvPicPr>
        <p:blipFill>
          <a:blip r:embed="rId3"/>
          <a:stretch>
            <a:fillRect/>
          </a:stretch>
        </p:blipFill>
        <p:spPr>
          <a:xfrm>
            <a:off x="7973567" y="3377184"/>
            <a:ext cx="237744" cy="237744"/>
          </a:xfrm>
          <a:prstGeom prst="rect">
            <a:avLst/>
          </a:prstGeom>
        </p:spPr>
      </p:pic>
      <p:sp>
        <p:nvSpPr>
          <p:cNvPr id="19" name="TextBox 18"/>
          <p:cNvSpPr txBox="1"/>
          <p:nvPr/>
        </p:nvSpPr>
        <p:spPr>
          <a:xfrm>
            <a:off x="8458200" y="323088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Expect</a:t>
            </a:r>
          </a:p>
        </p:txBody>
      </p:sp>
      <p:sp>
        <p:nvSpPr>
          <p:cNvPr id="20" name="TextBox 19"/>
          <p:cNvSpPr txBox="1"/>
          <p:nvPr/>
        </p:nvSpPr>
        <p:spPr>
          <a:xfrm>
            <a:off x="8458200" y="359664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A Markdown report with a ratings table and themes that cite review IDs (e.g. R1012).</a:t>
            </a:r>
          </a:p>
        </p:txBody>
      </p:sp>
      <p:sp>
        <p:nvSpPr>
          <p:cNvPr id="21" name="Oval 20"/>
          <p:cNvSpPr/>
          <p:nvPr/>
        </p:nvSpPr>
        <p:spPr>
          <a:xfrm>
            <a:off x="7863840" y="476097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hand-FFFFFF.png"/>
          <p:cNvPicPr>
            <a:picLocks noChangeAspect="1"/>
          </p:cNvPicPr>
          <p:nvPr/>
        </p:nvPicPr>
        <p:blipFill>
          <a:blip r:embed="rId4"/>
          <a:stretch>
            <a:fillRect/>
          </a:stretch>
        </p:blipFill>
        <p:spPr>
          <a:xfrm>
            <a:off x="7973567" y="4870704"/>
            <a:ext cx="237744" cy="237744"/>
          </a:xfrm>
          <a:prstGeom prst="rect">
            <a:avLst/>
          </a:prstGeom>
        </p:spPr>
      </p:pic>
      <p:sp>
        <p:nvSpPr>
          <p:cNvPr id="23" name="TextBox 22"/>
          <p:cNvSpPr txBox="1"/>
          <p:nvPr/>
        </p:nvSpPr>
        <p:spPr>
          <a:xfrm>
            <a:off x="8458200" y="472440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You decide</a:t>
            </a:r>
          </a:p>
        </p:txBody>
      </p:sp>
      <p:sp>
        <p:nvSpPr>
          <p:cNvPr id="24" name="TextBox 23"/>
          <p:cNvSpPr txBox="1"/>
          <p:nvPr/>
        </p:nvSpPr>
        <p:spPr>
          <a:xfrm>
            <a:off x="8458200" y="509016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Set the goal, challenge the evidence, choose the campaign angle</a:t>
            </a:r>
          </a:p>
        </p:txBody>
      </p:sp>
    </p:spTree>
  </p:cSld>
  <p:clrMapOvr>
    <a:masterClrMapping/>
  </p:clrMapOvr>
  <p:transition spd="med">
    <p:fade/>
  </p:transition>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LAB 1</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Lab 1 — Checkpoint &amp; Reflection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73</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check-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Verify</a:t>
            </a:r>
          </a:p>
        </p:txBody>
      </p:sp>
      <p:sp>
        <p:nvSpPr>
          <p:cNvPr id="10" name="TextBox 9"/>
          <p:cNvSpPr txBox="1"/>
          <p:nvPr/>
        </p:nvSpPr>
        <p:spPr>
          <a:xfrm>
            <a:off x="1371600" y="2084831"/>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outputs/lab01/review-insights.md and research-brief.md exist and cite review IDs / URLs</a:t>
            </a:r>
          </a:p>
        </p:txBody>
      </p:sp>
      <p:sp>
        <p:nvSpPr>
          <p:cNvPr id="11" name="Oval 10"/>
          <p:cNvSpPr/>
          <p:nvPr/>
        </p:nvSpPr>
        <p:spPr>
          <a:xfrm>
            <a:off x="640080" y="2679191"/>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check-FFFFFF.png"/>
          <p:cNvPicPr>
            <a:picLocks noChangeAspect="1"/>
          </p:cNvPicPr>
          <p:nvPr/>
        </p:nvPicPr>
        <p:blipFill>
          <a:blip r:embed="rId2"/>
          <a:stretch>
            <a:fillRect/>
          </a:stretch>
        </p:blipFill>
        <p:spPr>
          <a:xfrm>
            <a:off x="771753" y="2810865"/>
            <a:ext cx="285292" cy="285292"/>
          </a:xfrm>
          <a:prstGeom prst="rect">
            <a:avLst/>
          </a:prstGeom>
        </p:spPr>
      </p:pic>
      <p:sp>
        <p:nvSpPr>
          <p:cNvPr id="13" name="TextBox 12"/>
          <p:cNvSpPr txBox="1"/>
          <p:nvPr/>
        </p:nvSpPr>
        <p:spPr>
          <a:xfrm>
            <a:off x="1371600" y="2624327"/>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Verify</a:t>
            </a:r>
          </a:p>
        </p:txBody>
      </p:sp>
      <p:sp>
        <p:nvSpPr>
          <p:cNvPr id="14" name="TextBox 13"/>
          <p:cNvSpPr txBox="1"/>
          <p:nvPr/>
        </p:nvSpPr>
        <p:spPr>
          <a:xfrm>
            <a:off x="1371600" y="2990087"/>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The brief ends with a decision log naming the angle you chose</a:t>
            </a:r>
          </a:p>
        </p:txBody>
      </p:sp>
      <p:sp>
        <p:nvSpPr>
          <p:cNvPr id="15" name="Oval 14"/>
          <p:cNvSpPr/>
          <p:nvPr/>
        </p:nvSpPr>
        <p:spPr>
          <a:xfrm>
            <a:off x="640080" y="358444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check-FFFFFF.png"/>
          <p:cNvPicPr>
            <a:picLocks noChangeAspect="1"/>
          </p:cNvPicPr>
          <p:nvPr/>
        </p:nvPicPr>
        <p:blipFill>
          <a:blip r:embed="rId2"/>
          <a:stretch>
            <a:fillRect/>
          </a:stretch>
        </p:blipFill>
        <p:spPr>
          <a:xfrm>
            <a:off x="771753" y="3716121"/>
            <a:ext cx="285292" cy="285292"/>
          </a:xfrm>
          <a:prstGeom prst="rect">
            <a:avLst/>
          </a:prstGeom>
        </p:spPr>
      </p:pic>
      <p:sp>
        <p:nvSpPr>
          <p:cNvPr id="17" name="TextBox 16"/>
          <p:cNvSpPr txBox="1"/>
          <p:nvPr/>
        </p:nvSpPr>
        <p:spPr>
          <a:xfrm>
            <a:off x="1371600" y="352958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Verify</a:t>
            </a:r>
          </a:p>
        </p:txBody>
      </p:sp>
      <p:sp>
        <p:nvSpPr>
          <p:cNvPr id="18" name="TextBox 17"/>
          <p:cNvSpPr txBox="1"/>
          <p:nvPr/>
        </p:nvSpPr>
        <p:spPr>
          <a:xfrm>
            <a:off x="1371600" y="3895344"/>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MEMORY.md contains the brand facts and your decision</a:t>
            </a:r>
          </a:p>
        </p:txBody>
      </p:sp>
      <p:sp>
        <p:nvSpPr>
          <p:cNvPr id="19" name="Oval 18"/>
          <p:cNvSpPr/>
          <p:nvPr/>
        </p:nvSpPr>
        <p:spPr>
          <a:xfrm>
            <a:off x="640080" y="4489703"/>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lightbulb-FFFFFF.png"/>
          <p:cNvPicPr>
            <a:picLocks noChangeAspect="1"/>
          </p:cNvPicPr>
          <p:nvPr/>
        </p:nvPicPr>
        <p:blipFill>
          <a:blip r:embed="rId3"/>
          <a:stretch>
            <a:fillRect/>
          </a:stretch>
        </p:blipFill>
        <p:spPr>
          <a:xfrm>
            <a:off x="771753" y="4621377"/>
            <a:ext cx="285292" cy="285292"/>
          </a:xfrm>
          <a:prstGeom prst="rect">
            <a:avLst/>
          </a:prstGeom>
        </p:spPr>
      </p:pic>
      <p:sp>
        <p:nvSpPr>
          <p:cNvPr id="21" name="TextBox 20"/>
          <p:cNvSpPr txBox="1"/>
          <p:nvPr/>
        </p:nvSpPr>
        <p:spPr>
          <a:xfrm>
            <a:off x="1371600" y="4434840"/>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Concepts in action</a:t>
            </a:r>
          </a:p>
        </p:txBody>
      </p:sp>
      <p:sp>
        <p:nvSpPr>
          <p:cNvPr id="22" name="TextBox 21"/>
          <p:cNvSpPr txBox="1"/>
          <p:nvPr/>
        </p:nvSpPr>
        <p:spPr>
          <a:xfrm>
            <a:off x="1371600" y="4800599"/>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Perception (files + web) → Brain (LLM reasoning, memory) → Action (write files)  ·  AGENTS.md = context the agent loads automatically (context engineering)</a:t>
            </a:r>
          </a:p>
        </p:txBody>
      </p:sp>
      <p:sp>
        <p:nvSpPr>
          <p:cNvPr id="23" name="Oval 22"/>
          <p:cNvSpPr/>
          <p:nvPr/>
        </p:nvSpPr>
        <p:spPr>
          <a:xfrm>
            <a:off x="640080" y="5394959"/>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rocket-FFFFFF.png"/>
          <p:cNvPicPr>
            <a:picLocks noChangeAspect="1"/>
          </p:cNvPicPr>
          <p:nvPr/>
        </p:nvPicPr>
        <p:blipFill>
          <a:blip r:embed="rId4"/>
          <a:stretch>
            <a:fillRect/>
          </a:stretch>
        </p:blipFill>
        <p:spPr>
          <a:xfrm>
            <a:off x="771753" y="5526633"/>
            <a:ext cx="285292" cy="285292"/>
          </a:xfrm>
          <a:prstGeom prst="rect">
            <a:avLst/>
          </a:prstGeom>
        </p:spPr>
      </p:pic>
      <p:sp>
        <p:nvSpPr>
          <p:cNvPr id="25" name="TextBox 24"/>
          <p:cNvSpPr txBox="1"/>
          <p:nvPr/>
        </p:nvSpPr>
        <p:spPr>
          <a:xfrm>
            <a:off x="1371600" y="534009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Stretch challenge</a:t>
            </a:r>
          </a:p>
        </p:txBody>
      </p:sp>
      <p:sp>
        <p:nvSpPr>
          <p:cNvPr id="26" name="TextBox 25"/>
          <p:cNvSpPr txBox="1"/>
          <p:nvPr/>
        </p:nvSpPr>
        <p:spPr>
          <a:xfrm>
            <a:off x="1371600" y="5705855"/>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Ask Mia: "Save the review-analysis procedure you just used as a reusable skill called review-insights." Then run `hermes skills list` — a self-improving agent turns experience into procedural memory.</a:t>
            </a:r>
          </a:p>
        </p:txBody>
      </p:sp>
    </p:spTree>
  </p:cSld>
  <p:clrMapOvr>
    <a:masterClrMapping/>
  </p:clrMapOvr>
  <p:transition spd="med">
    <p:fade/>
  </p:transition>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LAB 2</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Lab 2 — End-to-End Social Media Campaign with One Agent</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Give the agent two company skills and one tool chain, and turn the brief into a complete, dated, on-brand multi-platform campaign — then improve it with your feedback.</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74</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240280"/>
            <a:ext cx="5760720" cy="3931920"/>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822960" y="251460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megaphone-FFFFFF.png"/>
          <p:cNvPicPr>
            <a:picLocks noChangeAspect="1"/>
          </p:cNvPicPr>
          <p:nvPr/>
        </p:nvPicPr>
        <p:blipFill>
          <a:blip r:embed="rId2"/>
          <a:stretch>
            <a:fillRect/>
          </a:stretch>
        </p:blipFill>
        <p:spPr>
          <a:xfrm>
            <a:off x="954633" y="2646273"/>
            <a:ext cx="285292" cy="285292"/>
          </a:xfrm>
          <a:prstGeom prst="rect">
            <a:avLst/>
          </a:prstGeom>
        </p:spPr>
      </p:pic>
      <p:sp>
        <p:nvSpPr>
          <p:cNvPr id="11" name="TextBox 10"/>
          <p:cNvSpPr txBox="1"/>
          <p:nvPr/>
        </p:nvSpPr>
        <p:spPr>
          <a:xfrm>
            <a:off x="1508760" y="2532888"/>
            <a:ext cx="4572000" cy="512064"/>
          </a:xfrm>
          <a:prstGeom prst="rect">
            <a:avLst/>
          </a:prstGeom>
          <a:noFill/>
        </p:spPr>
        <p:txBody>
          <a:bodyPr wrap="square" lIns="36576" rIns="36576" tIns="18288" bIns="18288" anchor="ctr">
            <a:spAutoFit/>
          </a:bodyPr>
          <a:lstStyle/>
          <a:p>
            <a:pPr algn="l">
              <a:lnSpc>
                <a:spcPct val="112000"/>
              </a:lnSpc>
            </a:pPr>
            <a:r>
              <a:rPr sz="1800" b="1" i="0">
                <a:solidFill>
                  <a:srgbClr val="FFFFFF"/>
                </a:solidFill>
                <a:latin typeface="Cambria"/>
              </a:rPr>
              <a:t>The business scenario</a:t>
            </a:r>
          </a:p>
        </p:txBody>
      </p:sp>
      <p:sp>
        <p:nvSpPr>
          <p:cNvPr id="12" name="TextBox 11"/>
          <p:cNvSpPr txBox="1"/>
          <p:nvPr/>
        </p:nvSpPr>
        <p:spPr>
          <a:xfrm>
            <a:off x="822960" y="3246120"/>
            <a:ext cx="5257800" cy="2788920"/>
          </a:xfrm>
          <a:prstGeom prst="rect">
            <a:avLst/>
          </a:prstGeom>
          <a:noFill/>
        </p:spPr>
        <p:txBody>
          <a:bodyPr wrap="square" lIns="36576" rIns="36576" tIns="18288" bIns="18288" anchor="t">
            <a:spAutoFit/>
          </a:bodyPr>
          <a:lstStyle/>
          <a:p>
            <a:pPr algn="l">
              <a:lnSpc>
                <a:spcPct val="120000"/>
              </a:lnSpc>
            </a:pPr>
            <a:r>
              <a:rPr sz="1400" b="0" i="0">
                <a:solidFill>
                  <a:srgbClr val="C9C4B9"/>
                </a:solidFill>
                <a:latin typeface="Calibri"/>
              </a:rPr>
              <a:t>With the angle chosen, you need a campaign: strategy, a 14-day content calendar across Instagram, TikTok, Facebook and LinkedIn, captions in the Kopi Kaki voice, visuals and tracking links. Instead of a long prompt you give Mia two skills — the company's brand-voice skill and a campaign-planner skill — so the work is repeatable and self-checked.</a:t>
            </a:r>
          </a:p>
        </p:txBody>
      </p:sp>
      <p:sp>
        <p:nvSpPr>
          <p:cNvPr id="13" name="Rounded Rectangle 12"/>
          <p:cNvSpPr/>
          <p:nvPr/>
        </p:nvSpPr>
        <p:spPr>
          <a:xfrm>
            <a:off x="6492240" y="2240280"/>
            <a:ext cx="5120640" cy="23317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720840" y="2404872"/>
            <a:ext cx="4663440" cy="365760"/>
          </a:xfrm>
          <a:prstGeom prst="rect">
            <a:avLst/>
          </a:prstGeom>
          <a:noFill/>
        </p:spPr>
        <p:txBody>
          <a:bodyPr wrap="square" lIns="36576" rIns="36576" tIns="18288" bIns="18288" anchor="t">
            <a:spAutoFit/>
          </a:bodyPr>
          <a:lstStyle/>
          <a:p>
            <a:pPr algn="l">
              <a:lnSpc>
                <a:spcPct val="112000"/>
              </a:lnSpc>
            </a:pPr>
            <a:r>
              <a:rPr sz="1600" b="1" i="0">
                <a:solidFill>
                  <a:srgbClr val="21201C"/>
                </a:solidFill>
                <a:latin typeface="Cambria"/>
              </a:rPr>
              <a:t>You will deliver</a:t>
            </a:r>
          </a:p>
        </p:txBody>
      </p:sp>
      <p:sp>
        <p:nvSpPr>
          <p:cNvPr id="15" name="TextBox 14"/>
          <p:cNvSpPr txBox="1"/>
          <p:nvPr/>
        </p:nvSpPr>
        <p:spPr>
          <a:xfrm>
            <a:off x="6720840" y="2807208"/>
            <a:ext cx="4709160" cy="1691640"/>
          </a:xfrm>
          <a:prstGeom prst="rect">
            <a:avLst/>
          </a:prstGeom>
          <a:noFill/>
        </p:spPr>
        <p:txBody>
          <a:bodyPr wrap="square" lIns="36576" rIns="36576" tIns="18288" bIns="18288" anchor="t">
            <a:spAutoFit/>
          </a:bodyPr>
          <a:lstStyle/>
          <a:p>
            <a:pPr algn="l">
              <a:lnSpc>
                <a:spcPct val="115000"/>
              </a:lnSpc>
            </a:pPr>
            <a:r>
              <a:rPr sz="1200" b="0" i="0">
                <a:solidFill>
                  <a:srgbClr val="6B6862"/>
                </a:solidFill>
                <a:latin typeface="Calibri"/>
              </a:rPr>
              <a:t>✓  outputs/lab02/campaign-plan.md — strategy, pillars, phases, KPIs, budget split</a:t>
            </a:r>
          </a:p>
          <a:p>
            <a:pPr algn="l">
              <a:lnSpc>
                <a:spcPct val="115000"/>
              </a:lnSpc>
            </a:pPr>
            <a:r>
              <a:rPr sz="1200" b="0" i="0">
                <a:solidFill>
                  <a:srgbClr val="6B6862"/>
                </a:solidFill>
                <a:latin typeface="Calibri"/>
              </a:rPr>
              <a:t>✓  outputs/lab02/content-calendar.csv — ≥ 16 dated posts with UTM links</a:t>
            </a:r>
          </a:p>
          <a:p>
            <a:pPr algn="l">
              <a:lnSpc>
                <a:spcPct val="115000"/>
              </a:lnSpc>
            </a:pPr>
            <a:r>
              <a:rPr sz="1200" b="0" i="0">
                <a:solidFill>
                  <a:srgbClr val="6B6862"/>
                </a:solidFill>
                <a:latin typeface="Calibri"/>
              </a:rPr>
              <a:t>✓  outputs/lab02/captions.md — captions with a compliance self-check per post</a:t>
            </a:r>
          </a:p>
          <a:p>
            <a:pPr algn="l">
              <a:lnSpc>
                <a:spcPct val="115000"/>
              </a:lnSpc>
            </a:pPr>
            <a:r>
              <a:rPr sz="1200" b="0" i="0">
                <a:solidFill>
                  <a:srgbClr val="6B6862"/>
                </a:solidFill>
                <a:latin typeface="Calibri"/>
              </a:rPr>
              <a:t>✓  outputs/lab02/images/ — 3 hero visuals (or image prompts if no image tool)</a:t>
            </a:r>
          </a:p>
          <a:p>
            <a:pPr algn="l">
              <a:lnSpc>
                <a:spcPct val="115000"/>
              </a:lnSpc>
            </a:pPr>
            <a:r>
              <a:rPr sz="1200" b="0" i="0">
                <a:solidFill>
                  <a:srgbClr val="6B6862"/>
                </a:solidFill>
                <a:latin typeface="Calibri"/>
              </a:rPr>
              <a:t>✓  A revised v2 after your feedback</a:t>
            </a:r>
          </a:p>
        </p:txBody>
      </p:sp>
      <p:sp>
        <p:nvSpPr>
          <p:cNvPr id="16" name="Rounded Rectangle 15"/>
          <p:cNvSpPr/>
          <p:nvPr/>
        </p:nvSpPr>
        <p:spPr>
          <a:xfrm>
            <a:off x="6492240" y="4727448"/>
            <a:ext cx="5120640" cy="1444752"/>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720840" y="4855464"/>
            <a:ext cx="4709160" cy="1234440"/>
          </a:xfrm>
          <a:prstGeom prst="rect">
            <a:avLst/>
          </a:prstGeom>
          <a:noFill/>
        </p:spPr>
        <p:txBody>
          <a:bodyPr wrap="square" lIns="36576" rIns="36576" tIns="18288" bIns="18288" anchor="t">
            <a:spAutoFit/>
          </a:bodyPr>
          <a:lstStyle/>
          <a:p>
            <a:pPr algn="l">
              <a:lnSpc>
                <a:spcPct val="115000"/>
              </a:lnSpc>
              <a:spcAft>
                <a:spcPts val="300"/>
              </a:spcAft>
            </a:pPr>
            <a:r>
              <a:rPr sz="1250" b="1" i="0">
                <a:solidFill>
                  <a:srgbClr val="D97757"/>
                </a:solidFill>
                <a:latin typeface="Calibri"/>
              </a:rPr>
              <a:t>Agents  </a:t>
            </a:r>
            <a:r>
              <a:rPr sz="1250" b="0" i="0">
                <a:solidFill>
                  <a:srgbClr val="6B6862"/>
                </a:solidFill>
                <a:latin typeface="Calibri"/>
              </a:rPr>
              <a:t>1 Hermes agent (Mia) + 2 custom skills + image tool</a:t>
            </a:r>
          </a:p>
          <a:p>
            <a:pPr algn="l">
              <a:lnSpc>
                <a:spcPct val="115000"/>
              </a:lnSpc>
              <a:spcAft>
                <a:spcPts val="300"/>
              </a:spcAft>
            </a:pPr>
            <a:r>
              <a:rPr sz="1250" b="1" i="0">
                <a:solidFill>
                  <a:srgbClr val="D97757"/>
                </a:solidFill>
                <a:latin typeface="Calibri"/>
              </a:rPr>
              <a:t>Human role  </a:t>
            </a:r>
            <a:r>
              <a:rPr sz="1250" b="0" i="0">
                <a:solidFill>
                  <a:srgbClr val="6B6862"/>
                </a:solidFill>
                <a:latin typeface="Calibri"/>
              </a:rPr>
              <a:t>Review the draft, give concrete feedback, accept v2</a:t>
            </a:r>
          </a:p>
          <a:p>
            <a:pPr algn="l">
              <a:lnSpc>
                <a:spcPct val="115000"/>
              </a:lnSpc>
              <a:spcAft>
                <a:spcPts val="300"/>
              </a:spcAft>
            </a:pPr>
            <a:r>
              <a:rPr sz="1250" b="1" i="0">
                <a:solidFill>
                  <a:srgbClr val="D97757"/>
                </a:solidFill>
                <a:latin typeface="Calibri"/>
              </a:rPr>
              <a:t>Time  </a:t>
            </a:r>
            <a:r>
              <a:rPr sz="1250" b="0" i="0">
                <a:solidFill>
                  <a:srgbClr val="6B6862"/>
                </a:solidFill>
                <a:latin typeface="Calibri"/>
              </a:rPr>
              <a:t>60 min  ·  Single agent + skills  ·  labs/lab02-hermes-social-media-campaign/</a:t>
            </a:r>
          </a:p>
        </p:txBody>
      </p:sp>
    </p:spTree>
  </p:cSld>
  <p:clrMapOvr>
    <a:masterClrMapping/>
  </p:clrMapOvr>
  <p:transition spd="med">
    <p:fade/>
  </p:transition>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LAB 2</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Lab 2 — How the workflow runs</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C9C4B9"/>
                </a:solidFill>
                <a:latin typeface="Calibri"/>
              </a:rPr>
              <a:t>Perception → reasoning → action, with you at the checkpoints.</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75</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sp>
        <p:nvSpPr>
          <p:cNvPr id="8" name="Rounded Rectangle 7"/>
          <p:cNvSpPr/>
          <p:nvPr/>
        </p:nvSpPr>
        <p:spPr>
          <a:xfrm>
            <a:off x="548640" y="2331720"/>
            <a:ext cx="1706879"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31520" y="2468879"/>
            <a:ext cx="1341119"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1</a:t>
            </a:r>
          </a:p>
        </p:txBody>
      </p:sp>
      <p:sp>
        <p:nvSpPr>
          <p:cNvPr id="10" name="Oval 9"/>
          <p:cNvSpPr/>
          <p:nvPr/>
        </p:nvSpPr>
        <p:spPr>
          <a:xfrm>
            <a:off x="731520"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puzzle-FFFFFF.png"/>
          <p:cNvPicPr>
            <a:picLocks noChangeAspect="1"/>
          </p:cNvPicPr>
          <p:nvPr/>
        </p:nvPicPr>
        <p:blipFill>
          <a:blip r:embed="rId2"/>
          <a:stretch>
            <a:fillRect/>
          </a:stretch>
        </p:blipFill>
        <p:spPr>
          <a:xfrm>
            <a:off x="845637" y="2948757"/>
            <a:ext cx="247253" cy="247253"/>
          </a:xfrm>
          <a:prstGeom prst="rect">
            <a:avLst/>
          </a:prstGeom>
        </p:spPr>
      </p:pic>
      <p:sp>
        <p:nvSpPr>
          <p:cNvPr id="12" name="TextBox 11"/>
          <p:cNvSpPr txBox="1"/>
          <p:nvPr/>
        </p:nvSpPr>
        <p:spPr>
          <a:xfrm>
            <a:off x="731520" y="3410711"/>
            <a:ext cx="1386840"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Install skills</a:t>
            </a:r>
          </a:p>
        </p:txBody>
      </p:sp>
      <p:sp>
        <p:nvSpPr>
          <p:cNvPr id="13" name="TextBox 12"/>
          <p:cNvSpPr txBox="1"/>
          <p:nvPr/>
        </p:nvSpPr>
        <p:spPr>
          <a:xfrm>
            <a:off x="731520" y="3977639"/>
            <a:ext cx="1386840"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Add kopi-brand-voice and social-campaign-planner.</a:t>
            </a:r>
          </a:p>
        </p:txBody>
      </p:sp>
      <p:cxnSp>
        <p:nvCxnSpPr>
          <p:cNvPr id="14" name="Connector 13"/>
          <p:cNvCxnSpPr/>
          <p:nvPr/>
        </p:nvCxnSpPr>
        <p:spPr>
          <a:xfrm>
            <a:off x="2264663" y="3886200"/>
            <a:ext cx="146305"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2420112" y="2331720"/>
            <a:ext cx="1706879"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2602992" y="2468879"/>
            <a:ext cx="1341119"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2</a:t>
            </a:r>
          </a:p>
        </p:txBody>
      </p:sp>
      <p:sp>
        <p:nvSpPr>
          <p:cNvPr id="17" name="Oval 16"/>
          <p:cNvSpPr/>
          <p:nvPr/>
        </p:nvSpPr>
        <p:spPr>
          <a:xfrm>
            <a:off x="2602992"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target-FFFFFF.png"/>
          <p:cNvPicPr>
            <a:picLocks noChangeAspect="1"/>
          </p:cNvPicPr>
          <p:nvPr/>
        </p:nvPicPr>
        <p:blipFill>
          <a:blip r:embed="rId3"/>
          <a:stretch>
            <a:fillRect/>
          </a:stretch>
        </p:blipFill>
        <p:spPr>
          <a:xfrm>
            <a:off x="2717109" y="2948757"/>
            <a:ext cx="247253" cy="247253"/>
          </a:xfrm>
          <a:prstGeom prst="rect">
            <a:avLst/>
          </a:prstGeom>
        </p:spPr>
      </p:pic>
      <p:sp>
        <p:nvSpPr>
          <p:cNvPr id="19" name="TextBox 18"/>
          <p:cNvSpPr txBox="1"/>
          <p:nvPr/>
        </p:nvSpPr>
        <p:spPr>
          <a:xfrm>
            <a:off x="2602992" y="3410711"/>
            <a:ext cx="1386840"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Plan</a:t>
            </a:r>
          </a:p>
        </p:txBody>
      </p:sp>
      <p:sp>
        <p:nvSpPr>
          <p:cNvPr id="20" name="TextBox 19"/>
          <p:cNvSpPr txBox="1"/>
          <p:nvPr/>
        </p:nvSpPr>
        <p:spPr>
          <a:xfrm>
            <a:off x="2602992" y="3977639"/>
            <a:ext cx="1386840"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Strategy, pillars, phases, KPI mapping.</a:t>
            </a:r>
          </a:p>
        </p:txBody>
      </p:sp>
      <p:cxnSp>
        <p:nvCxnSpPr>
          <p:cNvPr id="21" name="Connector 20"/>
          <p:cNvCxnSpPr/>
          <p:nvPr/>
        </p:nvCxnSpPr>
        <p:spPr>
          <a:xfrm>
            <a:off x="4136135" y="3886200"/>
            <a:ext cx="146304"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4291583" y="2331720"/>
            <a:ext cx="1706879"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4474463" y="2468879"/>
            <a:ext cx="1341119"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3</a:t>
            </a:r>
          </a:p>
        </p:txBody>
      </p:sp>
      <p:sp>
        <p:nvSpPr>
          <p:cNvPr id="24" name="Oval 23"/>
          <p:cNvSpPr/>
          <p:nvPr/>
        </p:nvSpPr>
        <p:spPr>
          <a:xfrm>
            <a:off x="4474463"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Picture 24" descr="calendar-FFFFFF.png"/>
          <p:cNvPicPr>
            <a:picLocks noChangeAspect="1"/>
          </p:cNvPicPr>
          <p:nvPr/>
        </p:nvPicPr>
        <p:blipFill>
          <a:blip r:embed="rId4"/>
          <a:stretch>
            <a:fillRect/>
          </a:stretch>
        </p:blipFill>
        <p:spPr>
          <a:xfrm>
            <a:off x="4588581" y="2948757"/>
            <a:ext cx="247253" cy="247253"/>
          </a:xfrm>
          <a:prstGeom prst="rect">
            <a:avLst/>
          </a:prstGeom>
        </p:spPr>
      </p:pic>
      <p:sp>
        <p:nvSpPr>
          <p:cNvPr id="26" name="TextBox 25"/>
          <p:cNvSpPr txBox="1"/>
          <p:nvPr/>
        </p:nvSpPr>
        <p:spPr>
          <a:xfrm>
            <a:off x="4474463" y="3410711"/>
            <a:ext cx="1386840"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Calendar</a:t>
            </a:r>
          </a:p>
        </p:txBody>
      </p:sp>
      <p:sp>
        <p:nvSpPr>
          <p:cNvPr id="27" name="TextBox 26"/>
          <p:cNvSpPr txBox="1"/>
          <p:nvPr/>
        </p:nvSpPr>
        <p:spPr>
          <a:xfrm>
            <a:off x="4474463" y="3977639"/>
            <a:ext cx="1386840"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16+ dated posts, platform formats, UTMs.</a:t>
            </a:r>
          </a:p>
        </p:txBody>
      </p:sp>
      <p:cxnSp>
        <p:nvCxnSpPr>
          <p:cNvPr id="28" name="Connector 27"/>
          <p:cNvCxnSpPr/>
          <p:nvPr/>
        </p:nvCxnSpPr>
        <p:spPr>
          <a:xfrm>
            <a:off x="6007607" y="3886200"/>
            <a:ext cx="146304"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6163055" y="2331720"/>
            <a:ext cx="1706879"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6345935" y="2468879"/>
            <a:ext cx="1341119"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4</a:t>
            </a:r>
          </a:p>
        </p:txBody>
      </p:sp>
      <p:sp>
        <p:nvSpPr>
          <p:cNvPr id="31" name="Oval 30"/>
          <p:cNvSpPr/>
          <p:nvPr/>
        </p:nvSpPr>
        <p:spPr>
          <a:xfrm>
            <a:off x="6345935"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2" name="Picture 31" descr="image-FFFFFF.png"/>
          <p:cNvPicPr>
            <a:picLocks noChangeAspect="1"/>
          </p:cNvPicPr>
          <p:nvPr/>
        </p:nvPicPr>
        <p:blipFill>
          <a:blip r:embed="rId5"/>
          <a:stretch>
            <a:fillRect/>
          </a:stretch>
        </p:blipFill>
        <p:spPr>
          <a:xfrm>
            <a:off x="6460053" y="2948757"/>
            <a:ext cx="247253" cy="247253"/>
          </a:xfrm>
          <a:prstGeom prst="rect">
            <a:avLst/>
          </a:prstGeom>
        </p:spPr>
      </p:pic>
      <p:sp>
        <p:nvSpPr>
          <p:cNvPr id="33" name="TextBox 32"/>
          <p:cNvSpPr txBox="1"/>
          <p:nvPr/>
        </p:nvSpPr>
        <p:spPr>
          <a:xfrm>
            <a:off x="6345935" y="3410711"/>
            <a:ext cx="1386840"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Create</a:t>
            </a:r>
          </a:p>
        </p:txBody>
      </p:sp>
      <p:sp>
        <p:nvSpPr>
          <p:cNvPr id="34" name="TextBox 33"/>
          <p:cNvSpPr txBox="1"/>
          <p:nvPr/>
        </p:nvSpPr>
        <p:spPr>
          <a:xfrm>
            <a:off x="6345935" y="3977639"/>
            <a:ext cx="1386840"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Captions + hero visuals with self-check.</a:t>
            </a:r>
          </a:p>
        </p:txBody>
      </p:sp>
      <p:cxnSp>
        <p:nvCxnSpPr>
          <p:cNvPr id="35" name="Connector 34"/>
          <p:cNvCxnSpPr/>
          <p:nvPr/>
        </p:nvCxnSpPr>
        <p:spPr>
          <a:xfrm>
            <a:off x="7879079" y="3886200"/>
            <a:ext cx="146304"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8034527" y="2331720"/>
            <a:ext cx="1706879" cy="3108960"/>
          </a:xfrm>
          <a:prstGeom prst="roundRect">
            <a:avLst>
              <a:gd name="adj" fmla="val 3500"/>
            </a:avLst>
          </a:prstGeom>
          <a:solidFill>
            <a:srgbClr val="C2603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8217407" y="2468879"/>
            <a:ext cx="1341119" cy="274320"/>
          </a:xfrm>
          <a:prstGeom prst="rect">
            <a:avLst/>
          </a:prstGeom>
          <a:noFill/>
        </p:spPr>
        <p:txBody>
          <a:bodyPr wrap="square" lIns="36576" rIns="36576" tIns="18288" bIns="18288" anchor="t">
            <a:spAutoFit/>
          </a:bodyPr>
          <a:lstStyle/>
          <a:p>
            <a:pPr algn="l">
              <a:lnSpc>
                <a:spcPct val="112000"/>
              </a:lnSpc>
            </a:pPr>
            <a:r>
              <a:rPr sz="950" b="1" i="0">
                <a:solidFill>
                  <a:srgbClr val="FFFFFF"/>
                </a:solidFill>
                <a:latin typeface="Calibri"/>
              </a:rPr>
              <a:t>HUMAN  ·  STEP 5</a:t>
            </a:r>
          </a:p>
        </p:txBody>
      </p:sp>
      <p:sp>
        <p:nvSpPr>
          <p:cNvPr id="38" name="Oval 37"/>
          <p:cNvSpPr/>
          <p:nvPr/>
        </p:nvSpPr>
        <p:spPr>
          <a:xfrm>
            <a:off x="8217407" y="2834639"/>
            <a:ext cx="475488" cy="475488"/>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9" name="Picture 38" descr="user-C2603F.png"/>
          <p:cNvPicPr>
            <a:picLocks noChangeAspect="1"/>
          </p:cNvPicPr>
          <p:nvPr/>
        </p:nvPicPr>
        <p:blipFill>
          <a:blip r:embed="rId6"/>
          <a:stretch>
            <a:fillRect/>
          </a:stretch>
        </p:blipFill>
        <p:spPr>
          <a:xfrm>
            <a:off x="8331525" y="2948757"/>
            <a:ext cx="247253" cy="247253"/>
          </a:xfrm>
          <a:prstGeom prst="rect">
            <a:avLst/>
          </a:prstGeom>
        </p:spPr>
      </p:pic>
      <p:sp>
        <p:nvSpPr>
          <p:cNvPr id="40" name="TextBox 39"/>
          <p:cNvSpPr txBox="1"/>
          <p:nvPr/>
        </p:nvSpPr>
        <p:spPr>
          <a:xfrm>
            <a:off x="8217407" y="3410711"/>
            <a:ext cx="1386840"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Review</a:t>
            </a:r>
          </a:p>
        </p:txBody>
      </p:sp>
      <p:sp>
        <p:nvSpPr>
          <p:cNvPr id="41" name="TextBox 40"/>
          <p:cNvSpPr txBox="1"/>
          <p:nvPr/>
        </p:nvSpPr>
        <p:spPr>
          <a:xfrm>
            <a:off x="8217407" y="3977639"/>
            <a:ext cx="1386840" cy="1371600"/>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You give 3 concrete change requests.</a:t>
            </a:r>
          </a:p>
        </p:txBody>
      </p:sp>
      <p:cxnSp>
        <p:nvCxnSpPr>
          <p:cNvPr id="42" name="Connector 41"/>
          <p:cNvCxnSpPr/>
          <p:nvPr/>
        </p:nvCxnSpPr>
        <p:spPr>
          <a:xfrm>
            <a:off x="9750551" y="3886200"/>
            <a:ext cx="146305"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43" name="Rounded Rectangle 42"/>
          <p:cNvSpPr/>
          <p:nvPr/>
        </p:nvSpPr>
        <p:spPr>
          <a:xfrm>
            <a:off x="9905999" y="2331720"/>
            <a:ext cx="1706879"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10088879" y="2468879"/>
            <a:ext cx="1341119"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6</a:t>
            </a:r>
          </a:p>
        </p:txBody>
      </p:sp>
      <p:sp>
        <p:nvSpPr>
          <p:cNvPr id="45" name="Oval 44"/>
          <p:cNvSpPr/>
          <p:nvPr/>
        </p:nvSpPr>
        <p:spPr>
          <a:xfrm>
            <a:off x="10088879"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6" name="Picture 45" descr="loop-FFFFFF.png"/>
          <p:cNvPicPr>
            <a:picLocks noChangeAspect="1"/>
          </p:cNvPicPr>
          <p:nvPr/>
        </p:nvPicPr>
        <p:blipFill>
          <a:blip r:embed="rId7"/>
          <a:stretch>
            <a:fillRect/>
          </a:stretch>
        </p:blipFill>
        <p:spPr>
          <a:xfrm>
            <a:off x="10202997" y="2948757"/>
            <a:ext cx="247253" cy="247253"/>
          </a:xfrm>
          <a:prstGeom prst="rect">
            <a:avLst/>
          </a:prstGeom>
        </p:spPr>
      </p:pic>
      <p:sp>
        <p:nvSpPr>
          <p:cNvPr id="47" name="TextBox 46"/>
          <p:cNvSpPr txBox="1"/>
          <p:nvPr/>
        </p:nvSpPr>
        <p:spPr>
          <a:xfrm>
            <a:off x="10088879" y="3410711"/>
            <a:ext cx="1386840"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Revise</a:t>
            </a:r>
          </a:p>
        </p:txBody>
      </p:sp>
      <p:sp>
        <p:nvSpPr>
          <p:cNvPr id="48" name="TextBox 47"/>
          <p:cNvSpPr txBox="1"/>
          <p:nvPr/>
        </p:nvSpPr>
        <p:spPr>
          <a:xfrm>
            <a:off x="10088879" y="3977639"/>
            <a:ext cx="1386840"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v2 applies the feedback and re-checks.</a:t>
            </a:r>
          </a:p>
        </p:txBody>
      </p:sp>
      <p:sp>
        <p:nvSpPr>
          <p:cNvPr id="49" name="TextBox 48"/>
          <p:cNvSpPr txBox="1"/>
          <p:nvPr/>
        </p:nvSpPr>
        <p:spPr>
          <a:xfrm>
            <a:off x="548640" y="5715000"/>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Checkpoint  </a:t>
            </a:r>
            <a:r>
              <a:rPr sz="1300" b="0" i="0">
                <a:solidFill>
                  <a:srgbClr val="C9C4B9"/>
                </a:solidFill>
                <a:latin typeface="Calibri"/>
              </a:rPr>
              <a:t>Every caption carries a PASS self-check; no health/halal claims; SHIOK20 always shows its terms.</a:t>
            </a:r>
          </a:p>
        </p:txBody>
      </p:sp>
    </p:spTree>
  </p:cSld>
  <p:clrMapOvr>
    <a:masterClrMapping/>
  </p:clrMapOvr>
  <p:transition spd="med">
    <p:fade/>
  </p:transition>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LAB 2</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Skills on the Hermes Dashboard</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76</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2807208" y="1682496"/>
            <a:ext cx="6547104" cy="4133088"/>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hermes-skills.png"/>
          <p:cNvPicPr>
            <a:picLocks noChangeAspect="1"/>
          </p:cNvPicPr>
          <p:nvPr/>
        </p:nvPicPr>
        <p:blipFill>
          <a:blip r:embed="rId2"/>
          <a:stretch>
            <a:fillRect/>
          </a:stretch>
        </p:blipFill>
        <p:spPr>
          <a:xfrm>
            <a:off x="2862072" y="1737360"/>
            <a:ext cx="6437376" cy="4023360"/>
          </a:xfrm>
          <a:prstGeom prst="rect">
            <a:avLst/>
          </a:prstGeom>
        </p:spPr>
      </p:pic>
      <p:sp>
        <p:nvSpPr>
          <p:cNvPr id="9" name="TextBox 8"/>
          <p:cNvSpPr txBox="1"/>
          <p:nvPr/>
        </p:nvSpPr>
        <p:spPr>
          <a:xfrm>
            <a:off x="548640" y="5870448"/>
            <a:ext cx="11064240" cy="50292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  </a:t>
            </a:r>
            <a:r>
              <a:rPr sz="1250" b="0" i="0">
                <a:solidFill>
                  <a:srgbClr val="6B6862"/>
                </a:solidFill>
                <a:latin typeface="Calibri"/>
              </a:rPr>
              <a:t>Skills are folders with a SKILL.md — bundled, from the hub (`hermes skills install`), your own, or written by the agent itself.</a:t>
            </a:r>
          </a:p>
        </p:txBody>
      </p:sp>
    </p:spTree>
  </p:cSld>
  <p:clrMapOvr>
    <a:masterClrMapping/>
  </p:clrMapOvr>
  <p:transition spd="med">
    <p:fade/>
  </p:transition>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LAB 2</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Anatomy of a Skill — kopi-brand-voice/SKILL.md</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77</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37360"/>
            <a:ext cx="7040880" cy="4480560"/>
          </a:xfrm>
          <a:prstGeom prst="roundRect">
            <a:avLst>
              <a:gd name="adj" fmla="val 3500"/>
            </a:avLst>
          </a:prstGeom>
          <a:solidFill>
            <a:srgbClr val="2B2924"/>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49808" y="1901952"/>
            <a:ext cx="118872" cy="118872"/>
          </a:xfrm>
          <a:prstGeom prst="ellipse">
            <a:avLst/>
          </a:prstGeom>
          <a:solidFill>
            <a:srgbClr val="E06C5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69264" y="1901952"/>
            <a:ext cx="118872" cy="118872"/>
          </a:xfrm>
          <a:prstGeom prst="ellipse">
            <a:avLst/>
          </a:prstGeom>
          <a:solidFill>
            <a:srgbClr val="E5B45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88719" y="1901952"/>
            <a:ext cx="118872" cy="118872"/>
          </a:xfrm>
          <a:prstGeom prst="ellipse">
            <a:avLst/>
          </a:prstGeom>
          <a:solidFill>
            <a:srgbClr val="7DB36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463040" y="1828800"/>
            <a:ext cx="5943600" cy="274320"/>
          </a:xfrm>
          <a:prstGeom prst="rect">
            <a:avLst/>
          </a:prstGeom>
          <a:noFill/>
        </p:spPr>
        <p:txBody>
          <a:bodyPr wrap="square" lIns="36576" rIns="36576" tIns="18288" bIns="18288" anchor="t">
            <a:spAutoFit/>
          </a:bodyPr>
          <a:lstStyle/>
          <a:p>
            <a:pPr algn="l">
              <a:lnSpc>
                <a:spcPct val="112000"/>
              </a:lnSpc>
            </a:pPr>
            <a:r>
              <a:rPr sz="1000" b="0" i="0">
                <a:solidFill>
                  <a:srgbClr val="B9B4A9"/>
                </a:solidFill>
                <a:latin typeface="Calibri"/>
              </a:rPr>
              <a:t>SKILL.md  ·  in labs/lab02-…/data/skills/</a:t>
            </a:r>
          </a:p>
        </p:txBody>
      </p:sp>
      <p:sp>
        <p:nvSpPr>
          <p:cNvPr id="12" name="TextBox 11"/>
          <p:cNvSpPr txBox="1"/>
          <p:nvPr/>
        </p:nvSpPr>
        <p:spPr>
          <a:xfrm>
            <a:off x="777240" y="2194560"/>
            <a:ext cx="6583680" cy="3913632"/>
          </a:xfrm>
          <a:prstGeom prst="rect">
            <a:avLst/>
          </a:prstGeom>
          <a:noFill/>
        </p:spPr>
        <p:txBody>
          <a:bodyPr wrap="square" lIns="36576" rIns="36576" tIns="18288" bIns="18288" anchor="t">
            <a:spAutoFit/>
          </a:bodyPr>
          <a:lstStyle/>
          <a:p>
            <a:pPr algn="l">
              <a:lnSpc>
                <a:spcPct val="110000"/>
              </a:lnSpc>
            </a:pPr>
            <a:r>
              <a:rPr sz="1300" b="0" i="0">
                <a:solidFill>
                  <a:srgbClr val="F1EDE4"/>
                </a:solidFill>
                <a:latin typeface="Consolas"/>
              </a:rPr>
              <a:t>---</a:t>
            </a:r>
          </a:p>
          <a:p>
            <a:pPr algn="l">
              <a:lnSpc>
                <a:spcPct val="110000"/>
              </a:lnSpc>
            </a:pPr>
            <a:r>
              <a:rPr sz="1300" b="0" i="0">
                <a:solidFill>
                  <a:srgbClr val="F1EDE4"/>
                </a:solidFill>
                <a:latin typeface="Consolas"/>
              </a:rPr>
              <a:t>name: kopi-brand-voice</a:t>
            </a:r>
          </a:p>
          <a:p>
            <a:pPr algn="l">
              <a:lnSpc>
                <a:spcPct val="110000"/>
              </a:lnSpc>
            </a:pPr>
            <a:r>
              <a:rPr sz="1300" b="0" i="0">
                <a:solidFill>
                  <a:srgbClr val="F1EDE4"/>
                </a:solidFill>
                <a:latin typeface="Consolas"/>
              </a:rPr>
              <a:t>description: Write or rewrite public-facing copy in the</a:t>
            </a:r>
          </a:p>
          <a:p>
            <a:pPr algn="l">
              <a:lnSpc>
                <a:spcPct val="110000"/>
              </a:lnSpc>
            </a:pPr>
            <a:r>
              <a:rPr sz="1300" b="0" i="0">
                <a:solidFill>
                  <a:srgbClr val="F1EDE4"/>
                </a:solidFill>
                <a:latin typeface="Consolas"/>
              </a:rPr>
              <a:t>  Kopi Kaki voice and check it against the compliance rules.</a:t>
            </a:r>
          </a:p>
          <a:p>
            <a:pPr algn="l">
              <a:lnSpc>
                <a:spcPct val="110000"/>
              </a:lnSpc>
            </a:pPr>
            <a:r>
              <a:rPr sz="1300" b="0" i="0">
                <a:solidFill>
                  <a:srgbClr val="F1EDE4"/>
                </a:solidFill>
                <a:latin typeface="Consolas"/>
              </a:rPr>
              <a:t>---</a:t>
            </a:r>
          </a:p>
          <a:p>
            <a:pPr algn="l">
              <a:lnSpc>
                <a:spcPct val="110000"/>
              </a:lnSpc>
            </a:pPr>
            <a:r>
              <a:rPr sz="1300" b="0" i="0">
                <a:solidFill>
                  <a:srgbClr val="F1EDE4"/>
                </a:solidFill>
                <a:latin typeface="Consolas"/>
              </a:rPr>
              <a:t># Kopi Kaki brand voice</a:t>
            </a:r>
          </a:p>
          <a:p>
            <a:pPr algn="l">
              <a:lnSpc>
                <a:spcPct val="110000"/>
              </a:lnSpc>
            </a:pPr>
            <a:r>
              <a:rPr sz="1300" b="0" i="0">
                <a:solidFill>
                  <a:srgbClr val="F1EDE4"/>
                </a:solidFill>
                <a:latin typeface="Consolas"/>
              </a:rPr>
              <a:t>## Steps</a:t>
            </a:r>
          </a:p>
          <a:p>
            <a:pPr algn="l">
              <a:lnSpc>
                <a:spcPct val="110000"/>
              </a:lnSpc>
            </a:pPr>
            <a:r>
              <a:rPr sz="1300" b="0" i="0">
                <a:solidFill>
                  <a:srgbClr val="F1EDE4"/>
                </a:solidFill>
                <a:latin typeface="Consolas"/>
              </a:rPr>
              <a:t>1. Read brand-guide, campaign-brief, compliance-rules.</a:t>
            </a:r>
          </a:p>
          <a:p>
            <a:pPr algn="l">
              <a:lnSpc>
                <a:spcPct val="110000"/>
              </a:lnSpc>
            </a:pPr>
            <a:r>
              <a:rPr sz="1300" b="0" i="0">
                <a:solidFill>
                  <a:srgbClr val="F1EDE4"/>
                </a:solidFill>
                <a:latin typeface="Consolas"/>
              </a:rPr>
              <a:t>2. Warm and sensory; max 1 Singlish word, max 2 emojis.</a:t>
            </a:r>
          </a:p>
          <a:p>
            <a:pPr algn="l">
              <a:lnSpc>
                <a:spcPct val="110000"/>
              </a:lnSpc>
            </a:pPr>
            <a:r>
              <a:rPr sz="1300" b="0" i="0">
                <a:solidFill>
                  <a:srgbClr val="F1EDE4"/>
                </a:solidFill>
                <a:latin typeface="Consolas"/>
              </a:rPr>
              <a:t>3. Only facts and prices from the brief or catalogue.</a:t>
            </a:r>
          </a:p>
          <a:p>
            <a:pPr algn="l">
              <a:lnSpc>
                <a:spcPct val="110000"/>
              </a:lnSpc>
            </a:pPr>
            <a:r>
              <a:rPr sz="1300" b="0" i="0">
                <a:solidFill>
                  <a:srgbClr val="F1EDE4"/>
                </a:solidFill>
                <a:latin typeface="Consolas"/>
              </a:rPr>
              <a:t>4. Promo code shown? Add its terms.</a:t>
            </a:r>
          </a:p>
          <a:p>
            <a:pPr algn="l">
              <a:lnSpc>
                <a:spcPct val="110000"/>
              </a:lnSpc>
            </a:pPr>
            <a:r>
              <a:rPr sz="1300" b="0" i="0">
                <a:solidFill>
                  <a:srgbClr val="F1EDE4"/>
                </a:solidFill>
                <a:latin typeface="Consolas"/>
              </a:rPr>
              <a:t>5. Run the self-check; fix every FAIL.</a:t>
            </a:r>
          </a:p>
          <a:p>
            <a:pPr algn="l">
              <a:lnSpc>
                <a:spcPct val="110000"/>
              </a:lnSpc>
            </a:pPr>
            <a:r>
              <a:rPr sz="1300" b="0" i="0">
                <a:solidFill>
                  <a:srgbClr val="F1EDE4"/>
                </a:solidFill>
                <a:latin typeface="Consolas"/>
              </a:rPr>
              <a:t>## Self-check: C1 health · C3 promo · C4 halal · C9 AI</a:t>
            </a:r>
          </a:p>
        </p:txBody>
      </p:sp>
      <p:sp>
        <p:nvSpPr>
          <p:cNvPr id="13" name="Oval 12"/>
          <p:cNvSpPr/>
          <p:nvPr/>
        </p:nvSpPr>
        <p:spPr>
          <a:xfrm>
            <a:off x="7863840" y="177393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eye-FFFFFF.png"/>
          <p:cNvPicPr>
            <a:picLocks noChangeAspect="1"/>
          </p:cNvPicPr>
          <p:nvPr/>
        </p:nvPicPr>
        <p:blipFill>
          <a:blip r:embed="rId2"/>
          <a:stretch>
            <a:fillRect/>
          </a:stretch>
        </p:blipFill>
        <p:spPr>
          <a:xfrm>
            <a:off x="7973567" y="1883664"/>
            <a:ext cx="237744" cy="237744"/>
          </a:xfrm>
          <a:prstGeom prst="rect">
            <a:avLst/>
          </a:prstGeom>
        </p:spPr>
      </p:pic>
      <p:sp>
        <p:nvSpPr>
          <p:cNvPr id="15" name="TextBox 14"/>
          <p:cNvSpPr txBox="1"/>
          <p:nvPr/>
        </p:nvSpPr>
        <p:spPr>
          <a:xfrm>
            <a:off x="8458200" y="173736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description</a:t>
            </a:r>
          </a:p>
        </p:txBody>
      </p:sp>
      <p:sp>
        <p:nvSpPr>
          <p:cNvPr id="16" name="TextBox 15"/>
          <p:cNvSpPr txBox="1"/>
          <p:nvPr/>
        </p:nvSpPr>
        <p:spPr>
          <a:xfrm>
            <a:off x="8458200" y="210312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Tells the agent WHEN to load the skill — costs no context until used.</a:t>
            </a:r>
          </a:p>
        </p:txBody>
      </p:sp>
      <p:sp>
        <p:nvSpPr>
          <p:cNvPr id="17" name="Oval 16"/>
          <p:cNvSpPr/>
          <p:nvPr/>
        </p:nvSpPr>
        <p:spPr>
          <a:xfrm>
            <a:off x="7863840" y="326745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list-FFFFFF.png"/>
          <p:cNvPicPr>
            <a:picLocks noChangeAspect="1"/>
          </p:cNvPicPr>
          <p:nvPr/>
        </p:nvPicPr>
        <p:blipFill>
          <a:blip r:embed="rId3"/>
          <a:stretch>
            <a:fillRect/>
          </a:stretch>
        </p:blipFill>
        <p:spPr>
          <a:xfrm>
            <a:off x="7973567" y="3377184"/>
            <a:ext cx="237744" cy="237744"/>
          </a:xfrm>
          <a:prstGeom prst="rect">
            <a:avLst/>
          </a:prstGeom>
        </p:spPr>
      </p:pic>
      <p:sp>
        <p:nvSpPr>
          <p:cNvPr id="19" name="TextBox 18"/>
          <p:cNvSpPr txBox="1"/>
          <p:nvPr/>
        </p:nvSpPr>
        <p:spPr>
          <a:xfrm>
            <a:off x="8458200" y="323088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steps</a:t>
            </a:r>
          </a:p>
        </p:txBody>
      </p:sp>
      <p:sp>
        <p:nvSpPr>
          <p:cNvPr id="20" name="TextBox 19"/>
          <p:cNvSpPr txBox="1"/>
          <p:nvPr/>
        </p:nvSpPr>
        <p:spPr>
          <a:xfrm>
            <a:off x="8458200" y="359664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An SOP the agent follows the same way every time.</a:t>
            </a:r>
          </a:p>
        </p:txBody>
      </p:sp>
      <p:sp>
        <p:nvSpPr>
          <p:cNvPr id="21" name="Oval 20"/>
          <p:cNvSpPr/>
          <p:nvPr/>
        </p:nvSpPr>
        <p:spPr>
          <a:xfrm>
            <a:off x="7863840" y="476097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check-FFFFFF.png"/>
          <p:cNvPicPr>
            <a:picLocks noChangeAspect="1"/>
          </p:cNvPicPr>
          <p:nvPr/>
        </p:nvPicPr>
        <p:blipFill>
          <a:blip r:embed="rId4"/>
          <a:stretch>
            <a:fillRect/>
          </a:stretch>
        </p:blipFill>
        <p:spPr>
          <a:xfrm>
            <a:off x="7973567" y="4870704"/>
            <a:ext cx="237744" cy="237744"/>
          </a:xfrm>
          <a:prstGeom prst="rect">
            <a:avLst/>
          </a:prstGeom>
        </p:spPr>
      </p:pic>
      <p:sp>
        <p:nvSpPr>
          <p:cNvPr id="23" name="TextBox 22"/>
          <p:cNvSpPr txBox="1"/>
          <p:nvPr/>
        </p:nvSpPr>
        <p:spPr>
          <a:xfrm>
            <a:off x="8458200" y="472440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self-check</a:t>
            </a:r>
          </a:p>
        </p:txBody>
      </p:sp>
      <p:sp>
        <p:nvSpPr>
          <p:cNvPr id="24" name="TextBox 23"/>
          <p:cNvSpPr txBox="1"/>
          <p:nvPr/>
        </p:nvSpPr>
        <p:spPr>
          <a:xfrm>
            <a:off x="8458200" y="509016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Verification built into the skill — the loop checks itself.</a:t>
            </a:r>
          </a:p>
        </p:txBody>
      </p:sp>
    </p:spTree>
  </p:cSld>
  <p:clrMapOvr>
    <a:masterClrMapping/>
  </p:clrMapOvr>
  <p:transition spd="med">
    <p:fade/>
  </p:transition>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LAB 2</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Build the campaign plan and calendar</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78</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37360"/>
            <a:ext cx="7040880" cy="4480560"/>
          </a:xfrm>
          <a:prstGeom prst="roundRect">
            <a:avLst>
              <a:gd name="adj" fmla="val 3500"/>
            </a:avLst>
          </a:prstGeom>
          <a:solidFill>
            <a:srgbClr val="2B2924"/>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49808" y="1901952"/>
            <a:ext cx="118872" cy="118872"/>
          </a:xfrm>
          <a:prstGeom prst="ellipse">
            <a:avLst/>
          </a:prstGeom>
          <a:solidFill>
            <a:srgbClr val="E06C5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69264" y="1901952"/>
            <a:ext cx="118872" cy="118872"/>
          </a:xfrm>
          <a:prstGeom prst="ellipse">
            <a:avLst/>
          </a:prstGeom>
          <a:solidFill>
            <a:srgbClr val="E5B45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88719" y="1901952"/>
            <a:ext cx="118872" cy="118872"/>
          </a:xfrm>
          <a:prstGeom prst="ellipse">
            <a:avLst/>
          </a:prstGeom>
          <a:solidFill>
            <a:srgbClr val="7DB36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463040" y="1828800"/>
            <a:ext cx="5943600" cy="274320"/>
          </a:xfrm>
          <a:prstGeom prst="rect">
            <a:avLst/>
          </a:prstGeom>
          <a:noFill/>
        </p:spPr>
        <p:txBody>
          <a:bodyPr wrap="square" lIns="36576" rIns="36576" tIns="18288" bIns="18288" anchor="t">
            <a:spAutoFit/>
          </a:bodyPr>
          <a:lstStyle/>
          <a:p>
            <a:pPr algn="l">
              <a:lnSpc>
                <a:spcPct val="112000"/>
              </a:lnSpc>
            </a:pPr>
            <a:r>
              <a:rPr sz="1000" b="0" i="0">
                <a:solidFill>
                  <a:srgbClr val="B9B4A9"/>
                </a:solidFill>
                <a:latin typeface="Calibri"/>
              </a:rPr>
              <a:t>PROMPT  ·  copy from the Lab Prompts page</a:t>
            </a:r>
          </a:p>
        </p:txBody>
      </p:sp>
      <p:sp>
        <p:nvSpPr>
          <p:cNvPr id="12" name="TextBox 11"/>
          <p:cNvSpPr txBox="1"/>
          <p:nvPr/>
        </p:nvSpPr>
        <p:spPr>
          <a:xfrm>
            <a:off x="777240" y="2194560"/>
            <a:ext cx="6583680" cy="3913632"/>
          </a:xfrm>
          <a:prstGeom prst="rect">
            <a:avLst/>
          </a:prstGeom>
          <a:noFill/>
        </p:spPr>
        <p:txBody>
          <a:bodyPr wrap="square" lIns="36576" rIns="36576" tIns="18288" bIns="18288" anchor="t">
            <a:spAutoFit/>
          </a:bodyPr>
          <a:lstStyle/>
          <a:p>
            <a:pPr algn="l">
              <a:lnSpc>
                <a:spcPct val="110000"/>
              </a:lnSpc>
            </a:pPr>
            <a:r>
              <a:rPr sz="1300" b="0" i="0">
                <a:solidFill>
                  <a:srgbClr val="F1EDE4"/>
                </a:solidFill>
                <a:latin typeface="Consolas"/>
              </a:rPr>
              <a:t>Use the social-campaign-planner skill to build the #ShiokColdBrew campaign from campaign-brief.md, using the angle I chose in Lab 1 (check your memory).</a:t>
            </a:r>
          </a:p>
          <a:p>
            <a:pPr algn="l">
              <a:lnSpc>
                <a:spcPct val="110000"/>
              </a:lnSpc>
            </a:pPr>
            <a:r>
              <a:rPr sz="1300" b="0" i="0">
                <a:solidFill>
                  <a:srgbClr val="F1EDE4"/>
                </a:solidFill>
                <a:latin typeface="Consolas"/>
              </a:rPr>
              <a:t>Scope: teaser (17-23 Nov) and pre-order push (24-30 Nov) phases, Instagram, TikTok, Facebook and LinkedIn.</a:t>
            </a:r>
          </a:p>
          <a:p>
            <a:pPr algn="l">
              <a:lnSpc>
                <a:spcPct val="110000"/>
              </a:lnSpc>
            </a:pPr>
            <a:r>
              <a:rPr sz="1300" b="0" i="0">
                <a:solidFill>
                  <a:srgbClr val="F1EDE4"/>
                </a:solidFill>
                <a:latin typeface="Consolas"/>
              </a:rPr>
              <a:t>Deliver:</a:t>
            </a:r>
          </a:p>
          <a:p>
            <a:pPr algn="l">
              <a:lnSpc>
                <a:spcPct val="110000"/>
              </a:lnSpc>
            </a:pPr>
            <a:r>
              <a:rPr sz="1300" b="0" i="0">
                <a:solidFill>
                  <a:srgbClr val="F1EDE4"/>
                </a:solidFill>
                <a:latin typeface="Consolas"/>
              </a:rPr>
              <a:t>- outputs/lab02/campaign-plan.md</a:t>
            </a:r>
          </a:p>
          <a:p>
            <a:pPr algn="l">
              <a:lnSpc>
                <a:spcPct val="110000"/>
              </a:lnSpc>
            </a:pPr>
            <a:r>
              <a:rPr sz="1300" b="0" i="0">
                <a:solidFill>
                  <a:srgbClr val="F1EDE4"/>
                </a:solidFill>
                <a:latin typeface="Consolas"/>
              </a:rPr>
              <a:t>- outputs/lab02/content-calendar.csv with at least 16 posts (use the columns in the skill)</a:t>
            </a:r>
          </a:p>
          <a:p>
            <a:pPr algn="l">
              <a:lnSpc>
                <a:spcPct val="110000"/>
              </a:lnSpc>
            </a:pPr>
            <a:r>
              <a:rPr sz="1300" b="0" i="0">
                <a:solidFill>
                  <a:srgbClr val="F1EDE4"/>
                </a:solidFill>
                <a:latin typeface="Consolas"/>
              </a:rPr>
              <a:t>- outputs/lab02/captions.md with every caption checked by the kopi-brand-voice skill</a:t>
            </a:r>
          </a:p>
          <a:p>
            <a:pPr algn="l">
              <a:lnSpc>
                <a:spcPct val="110000"/>
              </a:lnSpc>
            </a:pPr>
            <a:r>
              <a:rPr sz="1300" b="0" i="0">
                <a:solidFill>
                  <a:srgbClr val="F1EDE4"/>
                </a:solidFill>
                <a:latin typeface="Consolas"/>
              </a:rPr>
              <a:t>End with a 5-line summary of decisions you need from me.</a:t>
            </a:r>
          </a:p>
        </p:txBody>
      </p:sp>
      <p:sp>
        <p:nvSpPr>
          <p:cNvPr id="13" name="Oval 12"/>
          <p:cNvSpPr/>
          <p:nvPr/>
        </p:nvSpPr>
        <p:spPr>
          <a:xfrm>
            <a:off x="7863840" y="177393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chat-FFFFFF.png"/>
          <p:cNvPicPr>
            <a:picLocks noChangeAspect="1"/>
          </p:cNvPicPr>
          <p:nvPr/>
        </p:nvPicPr>
        <p:blipFill>
          <a:blip r:embed="rId2"/>
          <a:stretch>
            <a:fillRect/>
          </a:stretch>
        </p:blipFill>
        <p:spPr>
          <a:xfrm>
            <a:off x="7973567" y="1883664"/>
            <a:ext cx="237744" cy="237744"/>
          </a:xfrm>
          <a:prstGeom prst="rect">
            <a:avLst/>
          </a:prstGeom>
        </p:spPr>
      </p:pic>
      <p:sp>
        <p:nvSpPr>
          <p:cNvPr id="15" name="TextBox 14"/>
          <p:cNvSpPr txBox="1"/>
          <p:nvPr/>
        </p:nvSpPr>
        <p:spPr>
          <a:xfrm>
            <a:off x="8458200" y="173736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Paste into</a:t>
            </a:r>
          </a:p>
        </p:txBody>
      </p:sp>
      <p:sp>
        <p:nvSpPr>
          <p:cNvPr id="16" name="TextBox 15"/>
          <p:cNvSpPr txBox="1"/>
          <p:nvPr/>
        </p:nvSpPr>
        <p:spPr>
          <a:xfrm>
            <a:off x="8458200" y="210312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Hermes chat in ~/kopi-kaki</a:t>
            </a:r>
          </a:p>
        </p:txBody>
      </p:sp>
      <p:sp>
        <p:nvSpPr>
          <p:cNvPr id="17" name="Oval 16"/>
          <p:cNvSpPr/>
          <p:nvPr/>
        </p:nvSpPr>
        <p:spPr>
          <a:xfrm>
            <a:off x="7863840" y="326745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check-FFFFFF.png"/>
          <p:cNvPicPr>
            <a:picLocks noChangeAspect="1"/>
          </p:cNvPicPr>
          <p:nvPr/>
        </p:nvPicPr>
        <p:blipFill>
          <a:blip r:embed="rId3"/>
          <a:stretch>
            <a:fillRect/>
          </a:stretch>
        </p:blipFill>
        <p:spPr>
          <a:xfrm>
            <a:off x="7973567" y="3377184"/>
            <a:ext cx="237744" cy="237744"/>
          </a:xfrm>
          <a:prstGeom prst="rect">
            <a:avLst/>
          </a:prstGeom>
        </p:spPr>
      </p:pic>
      <p:sp>
        <p:nvSpPr>
          <p:cNvPr id="19" name="TextBox 18"/>
          <p:cNvSpPr txBox="1"/>
          <p:nvPr/>
        </p:nvSpPr>
        <p:spPr>
          <a:xfrm>
            <a:off x="8458200" y="323088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Expect</a:t>
            </a:r>
          </a:p>
        </p:txBody>
      </p:sp>
      <p:sp>
        <p:nvSpPr>
          <p:cNvPr id="20" name="TextBox 19"/>
          <p:cNvSpPr txBox="1"/>
          <p:nvPr/>
        </p:nvSpPr>
        <p:spPr>
          <a:xfrm>
            <a:off x="8458200" y="359664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Three files in outputs/lab02 and a decisions summary.</a:t>
            </a:r>
          </a:p>
        </p:txBody>
      </p:sp>
      <p:sp>
        <p:nvSpPr>
          <p:cNvPr id="21" name="Oval 20"/>
          <p:cNvSpPr/>
          <p:nvPr/>
        </p:nvSpPr>
        <p:spPr>
          <a:xfrm>
            <a:off x="7863840" y="476097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hand-FFFFFF.png"/>
          <p:cNvPicPr>
            <a:picLocks noChangeAspect="1"/>
          </p:cNvPicPr>
          <p:nvPr/>
        </p:nvPicPr>
        <p:blipFill>
          <a:blip r:embed="rId4"/>
          <a:stretch>
            <a:fillRect/>
          </a:stretch>
        </p:blipFill>
        <p:spPr>
          <a:xfrm>
            <a:off x="7973567" y="4870704"/>
            <a:ext cx="237744" cy="237744"/>
          </a:xfrm>
          <a:prstGeom prst="rect">
            <a:avLst/>
          </a:prstGeom>
        </p:spPr>
      </p:pic>
      <p:sp>
        <p:nvSpPr>
          <p:cNvPr id="23" name="TextBox 22"/>
          <p:cNvSpPr txBox="1"/>
          <p:nvPr/>
        </p:nvSpPr>
        <p:spPr>
          <a:xfrm>
            <a:off x="8458200" y="472440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You decide</a:t>
            </a:r>
          </a:p>
        </p:txBody>
      </p:sp>
      <p:sp>
        <p:nvSpPr>
          <p:cNvPr id="24" name="TextBox 23"/>
          <p:cNvSpPr txBox="1"/>
          <p:nvPr/>
        </p:nvSpPr>
        <p:spPr>
          <a:xfrm>
            <a:off x="8458200" y="509016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Review the draft, give concrete feedback, accept v2</a:t>
            </a:r>
          </a:p>
        </p:txBody>
      </p:sp>
    </p:spTree>
  </p:cSld>
  <p:clrMapOvr>
    <a:masterClrMapping/>
  </p:clrMapOvr>
  <p:transition spd="med">
    <p:fade/>
  </p:transition>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LAB 2</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Create the hero visuals</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79</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37360"/>
            <a:ext cx="7040880" cy="4480560"/>
          </a:xfrm>
          <a:prstGeom prst="roundRect">
            <a:avLst>
              <a:gd name="adj" fmla="val 3500"/>
            </a:avLst>
          </a:prstGeom>
          <a:solidFill>
            <a:srgbClr val="2B2924"/>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49808" y="1901952"/>
            <a:ext cx="118872" cy="118872"/>
          </a:xfrm>
          <a:prstGeom prst="ellipse">
            <a:avLst/>
          </a:prstGeom>
          <a:solidFill>
            <a:srgbClr val="E06C5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69264" y="1901952"/>
            <a:ext cx="118872" cy="118872"/>
          </a:xfrm>
          <a:prstGeom prst="ellipse">
            <a:avLst/>
          </a:prstGeom>
          <a:solidFill>
            <a:srgbClr val="E5B45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88719" y="1901952"/>
            <a:ext cx="118872" cy="118872"/>
          </a:xfrm>
          <a:prstGeom prst="ellipse">
            <a:avLst/>
          </a:prstGeom>
          <a:solidFill>
            <a:srgbClr val="7DB36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463040" y="1828800"/>
            <a:ext cx="5943600" cy="274320"/>
          </a:xfrm>
          <a:prstGeom prst="rect">
            <a:avLst/>
          </a:prstGeom>
          <a:noFill/>
        </p:spPr>
        <p:txBody>
          <a:bodyPr wrap="square" lIns="36576" rIns="36576" tIns="18288" bIns="18288" anchor="t">
            <a:spAutoFit/>
          </a:bodyPr>
          <a:lstStyle/>
          <a:p>
            <a:pPr algn="l">
              <a:lnSpc>
                <a:spcPct val="112000"/>
              </a:lnSpc>
            </a:pPr>
            <a:r>
              <a:rPr sz="1000" b="0" i="0">
                <a:solidFill>
                  <a:srgbClr val="B9B4A9"/>
                </a:solidFill>
                <a:latin typeface="Calibri"/>
              </a:rPr>
              <a:t>PROMPT  ·  copy from the Lab Prompts page</a:t>
            </a:r>
          </a:p>
        </p:txBody>
      </p:sp>
      <p:sp>
        <p:nvSpPr>
          <p:cNvPr id="12" name="TextBox 11"/>
          <p:cNvSpPr txBox="1"/>
          <p:nvPr/>
        </p:nvSpPr>
        <p:spPr>
          <a:xfrm>
            <a:off x="777240" y="2194560"/>
            <a:ext cx="6583680" cy="3913632"/>
          </a:xfrm>
          <a:prstGeom prst="rect">
            <a:avLst/>
          </a:prstGeom>
          <a:noFill/>
        </p:spPr>
        <p:txBody>
          <a:bodyPr wrap="square" lIns="36576" rIns="36576" tIns="18288" bIns="18288" anchor="t">
            <a:spAutoFit/>
          </a:bodyPr>
          <a:lstStyle/>
          <a:p>
            <a:pPr algn="l">
              <a:lnSpc>
                <a:spcPct val="110000"/>
              </a:lnSpc>
            </a:pPr>
            <a:r>
              <a:rPr sz="1300" b="0" i="0">
                <a:solidFill>
                  <a:srgbClr val="F1EDE4"/>
                </a:solidFill>
                <a:latin typeface="Consolas"/>
              </a:rPr>
              <a:t>Create 3 hero visuals for the teaser posts using your image generation tool: square 1:1, brand colours (kopi brown #5B3A29, pandan green #4E8A3E, cream #F6EBD9, gula melaka amber #C7782A), natural light, a glass of iced cold brew with a gula melaka drizzle, kopitiam tiles, no people's faces, no text in the image. Save them to outputs/lab02/images/ and add the file names to content-calendar.csv. If you have no image tool, write the 3 prompts to outputs/lab02/images/prompts.md instead.</a:t>
            </a:r>
          </a:p>
        </p:txBody>
      </p:sp>
      <p:sp>
        <p:nvSpPr>
          <p:cNvPr id="13" name="Oval 12"/>
          <p:cNvSpPr/>
          <p:nvPr/>
        </p:nvSpPr>
        <p:spPr>
          <a:xfrm>
            <a:off x="7863840" y="177393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chat-FFFFFF.png"/>
          <p:cNvPicPr>
            <a:picLocks noChangeAspect="1"/>
          </p:cNvPicPr>
          <p:nvPr/>
        </p:nvPicPr>
        <p:blipFill>
          <a:blip r:embed="rId2"/>
          <a:stretch>
            <a:fillRect/>
          </a:stretch>
        </p:blipFill>
        <p:spPr>
          <a:xfrm>
            <a:off x="7973567" y="1883664"/>
            <a:ext cx="237744" cy="237744"/>
          </a:xfrm>
          <a:prstGeom prst="rect">
            <a:avLst/>
          </a:prstGeom>
        </p:spPr>
      </p:pic>
      <p:sp>
        <p:nvSpPr>
          <p:cNvPr id="15" name="TextBox 14"/>
          <p:cNvSpPr txBox="1"/>
          <p:nvPr/>
        </p:nvSpPr>
        <p:spPr>
          <a:xfrm>
            <a:off x="8458200" y="173736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Paste into</a:t>
            </a:r>
          </a:p>
        </p:txBody>
      </p:sp>
      <p:sp>
        <p:nvSpPr>
          <p:cNvPr id="16" name="TextBox 15"/>
          <p:cNvSpPr txBox="1"/>
          <p:nvPr/>
        </p:nvSpPr>
        <p:spPr>
          <a:xfrm>
            <a:off x="8458200" y="210312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Hermes chat</a:t>
            </a:r>
          </a:p>
        </p:txBody>
      </p:sp>
      <p:sp>
        <p:nvSpPr>
          <p:cNvPr id="17" name="Oval 16"/>
          <p:cNvSpPr/>
          <p:nvPr/>
        </p:nvSpPr>
        <p:spPr>
          <a:xfrm>
            <a:off x="7863840" y="326745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check-FFFFFF.png"/>
          <p:cNvPicPr>
            <a:picLocks noChangeAspect="1"/>
          </p:cNvPicPr>
          <p:nvPr/>
        </p:nvPicPr>
        <p:blipFill>
          <a:blip r:embed="rId3"/>
          <a:stretch>
            <a:fillRect/>
          </a:stretch>
        </p:blipFill>
        <p:spPr>
          <a:xfrm>
            <a:off x="7973567" y="3377184"/>
            <a:ext cx="237744" cy="237744"/>
          </a:xfrm>
          <a:prstGeom prst="rect">
            <a:avLst/>
          </a:prstGeom>
        </p:spPr>
      </p:pic>
      <p:sp>
        <p:nvSpPr>
          <p:cNvPr id="19" name="TextBox 18"/>
          <p:cNvSpPr txBox="1"/>
          <p:nvPr/>
        </p:nvSpPr>
        <p:spPr>
          <a:xfrm>
            <a:off x="8458200" y="323088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Expect</a:t>
            </a:r>
          </a:p>
        </p:txBody>
      </p:sp>
      <p:sp>
        <p:nvSpPr>
          <p:cNvPr id="20" name="TextBox 19"/>
          <p:cNvSpPr txBox="1"/>
          <p:nvPr/>
        </p:nvSpPr>
        <p:spPr>
          <a:xfrm>
            <a:off x="8458200" y="359664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3 PNGs (or a prompts file) linked from the calendar.</a:t>
            </a:r>
          </a:p>
        </p:txBody>
      </p:sp>
      <p:sp>
        <p:nvSpPr>
          <p:cNvPr id="21" name="Oval 20"/>
          <p:cNvSpPr/>
          <p:nvPr/>
        </p:nvSpPr>
        <p:spPr>
          <a:xfrm>
            <a:off x="7863840" y="476097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hand-FFFFFF.png"/>
          <p:cNvPicPr>
            <a:picLocks noChangeAspect="1"/>
          </p:cNvPicPr>
          <p:nvPr/>
        </p:nvPicPr>
        <p:blipFill>
          <a:blip r:embed="rId4"/>
          <a:stretch>
            <a:fillRect/>
          </a:stretch>
        </p:blipFill>
        <p:spPr>
          <a:xfrm>
            <a:off x="7973567" y="4870704"/>
            <a:ext cx="237744" cy="237744"/>
          </a:xfrm>
          <a:prstGeom prst="rect">
            <a:avLst/>
          </a:prstGeom>
        </p:spPr>
      </p:pic>
      <p:sp>
        <p:nvSpPr>
          <p:cNvPr id="23" name="TextBox 22"/>
          <p:cNvSpPr txBox="1"/>
          <p:nvPr/>
        </p:nvSpPr>
        <p:spPr>
          <a:xfrm>
            <a:off x="8458200" y="472440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You decide</a:t>
            </a:r>
          </a:p>
        </p:txBody>
      </p:sp>
      <p:sp>
        <p:nvSpPr>
          <p:cNvPr id="24" name="TextBox 23"/>
          <p:cNvSpPr txBox="1"/>
          <p:nvPr/>
        </p:nvSpPr>
        <p:spPr>
          <a:xfrm>
            <a:off x="8458200" y="509016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Review the draft, give concrete feedback, accept v2</a:t>
            </a:r>
          </a:p>
        </p:txBody>
      </p:sp>
    </p:spTree>
  </p:cSld>
  <p:clrMapOvr>
    <a:masterClrMapping/>
  </p:clrMapOvr>
  <p:transition spd="med">
    <p:fade/>
  </p:transition>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LAB 2</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Lab 2 — Checkpoint &amp; Reflection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80</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check-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Verify</a:t>
            </a:r>
          </a:p>
        </p:txBody>
      </p:sp>
      <p:sp>
        <p:nvSpPr>
          <p:cNvPr id="10" name="TextBox 9"/>
          <p:cNvSpPr txBox="1"/>
          <p:nvPr/>
        </p:nvSpPr>
        <p:spPr>
          <a:xfrm>
            <a:off x="1371600" y="2084831"/>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campaign-plan.md, content-calendar(-v2).csv and captions(-v2).md exist in outputs/lab02</a:t>
            </a:r>
          </a:p>
        </p:txBody>
      </p:sp>
      <p:sp>
        <p:nvSpPr>
          <p:cNvPr id="11" name="Oval 10"/>
          <p:cNvSpPr/>
          <p:nvPr/>
        </p:nvSpPr>
        <p:spPr>
          <a:xfrm>
            <a:off x="640080" y="2679191"/>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check-FFFFFF.png"/>
          <p:cNvPicPr>
            <a:picLocks noChangeAspect="1"/>
          </p:cNvPicPr>
          <p:nvPr/>
        </p:nvPicPr>
        <p:blipFill>
          <a:blip r:embed="rId2"/>
          <a:stretch>
            <a:fillRect/>
          </a:stretch>
        </p:blipFill>
        <p:spPr>
          <a:xfrm>
            <a:off x="771753" y="2810865"/>
            <a:ext cx="285292" cy="285292"/>
          </a:xfrm>
          <a:prstGeom prst="rect">
            <a:avLst/>
          </a:prstGeom>
        </p:spPr>
      </p:pic>
      <p:sp>
        <p:nvSpPr>
          <p:cNvPr id="13" name="TextBox 12"/>
          <p:cNvSpPr txBox="1"/>
          <p:nvPr/>
        </p:nvSpPr>
        <p:spPr>
          <a:xfrm>
            <a:off x="1371600" y="2624327"/>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Verify</a:t>
            </a:r>
          </a:p>
        </p:txBody>
      </p:sp>
      <p:sp>
        <p:nvSpPr>
          <p:cNvPr id="14" name="TextBox 13"/>
          <p:cNvSpPr txBox="1"/>
          <p:nvPr/>
        </p:nvSpPr>
        <p:spPr>
          <a:xfrm>
            <a:off x="1371600" y="2990087"/>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 16 posts across 4 platforms with UTM links; LinkedIn has no promo code</a:t>
            </a:r>
          </a:p>
        </p:txBody>
      </p:sp>
      <p:sp>
        <p:nvSpPr>
          <p:cNvPr id="15" name="Oval 14"/>
          <p:cNvSpPr/>
          <p:nvPr/>
        </p:nvSpPr>
        <p:spPr>
          <a:xfrm>
            <a:off x="640080" y="358444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check-FFFFFF.png"/>
          <p:cNvPicPr>
            <a:picLocks noChangeAspect="1"/>
          </p:cNvPicPr>
          <p:nvPr/>
        </p:nvPicPr>
        <p:blipFill>
          <a:blip r:embed="rId2"/>
          <a:stretch>
            <a:fillRect/>
          </a:stretch>
        </p:blipFill>
        <p:spPr>
          <a:xfrm>
            <a:off x="771753" y="3716121"/>
            <a:ext cx="285292" cy="285292"/>
          </a:xfrm>
          <a:prstGeom prst="rect">
            <a:avLst/>
          </a:prstGeom>
        </p:spPr>
      </p:pic>
      <p:sp>
        <p:nvSpPr>
          <p:cNvPr id="17" name="TextBox 16"/>
          <p:cNvSpPr txBox="1"/>
          <p:nvPr/>
        </p:nvSpPr>
        <p:spPr>
          <a:xfrm>
            <a:off x="1371600" y="352958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Verify</a:t>
            </a:r>
          </a:p>
        </p:txBody>
      </p:sp>
      <p:sp>
        <p:nvSpPr>
          <p:cNvPr id="18" name="TextBox 17"/>
          <p:cNvSpPr txBox="1"/>
          <p:nvPr/>
        </p:nvSpPr>
        <p:spPr>
          <a:xfrm>
            <a:off x="1371600" y="3895344"/>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Each caption has a PASS self-check table</a:t>
            </a:r>
          </a:p>
        </p:txBody>
      </p:sp>
      <p:sp>
        <p:nvSpPr>
          <p:cNvPr id="19" name="Oval 18"/>
          <p:cNvSpPr/>
          <p:nvPr/>
        </p:nvSpPr>
        <p:spPr>
          <a:xfrm>
            <a:off x="640080" y="4489703"/>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lightbulb-FFFFFF.png"/>
          <p:cNvPicPr>
            <a:picLocks noChangeAspect="1"/>
          </p:cNvPicPr>
          <p:nvPr/>
        </p:nvPicPr>
        <p:blipFill>
          <a:blip r:embed="rId3"/>
          <a:stretch>
            <a:fillRect/>
          </a:stretch>
        </p:blipFill>
        <p:spPr>
          <a:xfrm>
            <a:off x="771753" y="4621377"/>
            <a:ext cx="285292" cy="285292"/>
          </a:xfrm>
          <a:prstGeom prst="rect">
            <a:avLst/>
          </a:prstGeom>
        </p:spPr>
      </p:pic>
      <p:sp>
        <p:nvSpPr>
          <p:cNvPr id="21" name="TextBox 20"/>
          <p:cNvSpPr txBox="1"/>
          <p:nvPr/>
        </p:nvSpPr>
        <p:spPr>
          <a:xfrm>
            <a:off x="1371600" y="4434840"/>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Concepts in action</a:t>
            </a:r>
          </a:p>
        </p:txBody>
      </p:sp>
      <p:sp>
        <p:nvSpPr>
          <p:cNvPr id="22" name="TextBox 21"/>
          <p:cNvSpPr txBox="1"/>
          <p:nvPr/>
        </p:nvSpPr>
        <p:spPr>
          <a:xfrm>
            <a:off x="1371600" y="4800599"/>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Skills = procedural memory: a SKILL.md the agent loads on demand  ·  Tools = actions: file write, web search, image generation</a:t>
            </a:r>
          </a:p>
        </p:txBody>
      </p:sp>
      <p:sp>
        <p:nvSpPr>
          <p:cNvPr id="23" name="Oval 22"/>
          <p:cNvSpPr/>
          <p:nvPr/>
        </p:nvSpPr>
        <p:spPr>
          <a:xfrm>
            <a:off x="640080" y="5394959"/>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rocket-FFFFFF.png"/>
          <p:cNvPicPr>
            <a:picLocks noChangeAspect="1"/>
          </p:cNvPicPr>
          <p:nvPr/>
        </p:nvPicPr>
        <p:blipFill>
          <a:blip r:embed="rId4"/>
          <a:stretch>
            <a:fillRect/>
          </a:stretch>
        </p:blipFill>
        <p:spPr>
          <a:xfrm>
            <a:off x="771753" y="5526633"/>
            <a:ext cx="285292" cy="285292"/>
          </a:xfrm>
          <a:prstGeom prst="rect">
            <a:avLst/>
          </a:prstGeom>
        </p:spPr>
      </p:pic>
      <p:sp>
        <p:nvSpPr>
          <p:cNvPr id="25" name="TextBox 24"/>
          <p:cNvSpPr txBox="1"/>
          <p:nvPr/>
        </p:nvSpPr>
        <p:spPr>
          <a:xfrm>
            <a:off x="1371600" y="534009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Stretch challenge</a:t>
            </a:r>
          </a:p>
        </p:txBody>
      </p:sp>
      <p:sp>
        <p:nvSpPr>
          <p:cNvPr id="26" name="TextBox 25"/>
          <p:cNvSpPr txBox="1"/>
          <p:nvPr/>
        </p:nvSpPr>
        <p:spPr>
          <a:xfrm>
            <a:off x="1371600" y="5705855"/>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Ask Mia to turn your three review comments into permanent rules by patching the kopi-brand-voice skill ("update the skill so this mistake never happens again") — that is harness engineering in one sentence.</a:t>
            </a:r>
          </a:p>
        </p:txBody>
      </p:sp>
    </p:spTree>
  </p:cSld>
  <p:clrMapOvr>
    <a:masterClrMapping/>
  </p:clrMapOvr>
  <p:transition spd="med">
    <p:fade/>
  </p:transition>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LAB 3</a:t>
            </a:r>
          </a:p>
        </p:txBody>
      </p:sp>
      <p:sp>
        <p:nvSpPr>
          <p:cNvPr id="3" name="TextBox 2"/>
          <p:cNvSpPr txBox="1"/>
          <p:nvPr/>
        </p:nvSpPr>
        <p:spPr>
          <a:xfrm>
            <a:off x="548640" y="621792"/>
            <a:ext cx="11064240" cy="932688"/>
          </a:xfrm>
          <a:prstGeom prst="rect">
            <a:avLst/>
          </a:prstGeom>
          <a:noFill/>
        </p:spPr>
        <p:txBody>
          <a:bodyPr wrap="square" lIns="36576" rIns="36576" tIns="18288" bIns="18288" anchor="t">
            <a:spAutoFit/>
          </a:bodyPr>
          <a:lstStyle/>
          <a:p>
            <a:pPr algn="l">
              <a:lnSpc>
                <a:spcPct val="100000"/>
              </a:lnSpc>
            </a:pPr>
            <a:r>
              <a:rPr sz="2400" b="1" i="0">
                <a:solidFill>
                  <a:srgbClr val="21201C"/>
                </a:solidFill>
                <a:latin typeface="Cambria"/>
              </a:rPr>
              <a:t>Lab 3 — Human-in-the-Loop Publishing &amp; Community Care (Telegram + Cron)</a:t>
            </a:r>
          </a:p>
        </p:txBody>
      </p:sp>
      <p:sp>
        <p:nvSpPr>
          <p:cNvPr id="4" name="TextBox 3"/>
          <p:cNvSpPr txBox="1"/>
          <p:nvPr/>
        </p:nvSpPr>
        <p:spPr>
          <a:xfrm>
            <a:off x="548640" y="1609344"/>
            <a:ext cx="11064240" cy="548640"/>
          </a:xfrm>
          <a:prstGeom prst="rect">
            <a:avLst/>
          </a:prstGeom>
          <a:noFill/>
        </p:spPr>
        <p:txBody>
          <a:bodyPr wrap="square" lIns="36576" rIns="36576" tIns="18288" bIns="18288" anchor="t">
            <a:spAutoFit/>
          </a:bodyPr>
          <a:lstStyle/>
          <a:p>
            <a:pPr algn="l">
              <a:lnSpc>
                <a:spcPct val="112000"/>
              </a:lnSpc>
            </a:pPr>
            <a:r>
              <a:rPr sz="1500" b="0" i="0">
                <a:solidFill>
                  <a:srgbClr val="21201C"/>
                </a:solidFill>
                <a:latin typeface="Calibri"/>
              </a:rPr>
              <a:t>Put the agent on Telegram, make it ask for your APPROVE before anything goes public, schedule it every morning, and let it triage comments while escalating the risky ones to you.</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81</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240280"/>
            <a:ext cx="5760720" cy="3931920"/>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822960" y="251460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handshake-FFFFFF.png"/>
          <p:cNvPicPr>
            <a:picLocks noChangeAspect="1"/>
          </p:cNvPicPr>
          <p:nvPr/>
        </p:nvPicPr>
        <p:blipFill>
          <a:blip r:embed="rId2"/>
          <a:stretch>
            <a:fillRect/>
          </a:stretch>
        </p:blipFill>
        <p:spPr>
          <a:xfrm>
            <a:off x="954633" y="2646273"/>
            <a:ext cx="285292" cy="285292"/>
          </a:xfrm>
          <a:prstGeom prst="rect">
            <a:avLst/>
          </a:prstGeom>
        </p:spPr>
      </p:pic>
      <p:sp>
        <p:nvSpPr>
          <p:cNvPr id="11" name="TextBox 10"/>
          <p:cNvSpPr txBox="1"/>
          <p:nvPr/>
        </p:nvSpPr>
        <p:spPr>
          <a:xfrm>
            <a:off x="1508760" y="2532888"/>
            <a:ext cx="4572000" cy="512064"/>
          </a:xfrm>
          <a:prstGeom prst="rect">
            <a:avLst/>
          </a:prstGeom>
          <a:noFill/>
        </p:spPr>
        <p:txBody>
          <a:bodyPr wrap="square" lIns="36576" rIns="36576" tIns="18288" bIns="18288" anchor="ctr">
            <a:spAutoFit/>
          </a:bodyPr>
          <a:lstStyle/>
          <a:p>
            <a:pPr algn="l">
              <a:lnSpc>
                <a:spcPct val="112000"/>
              </a:lnSpc>
            </a:pPr>
            <a:r>
              <a:rPr sz="1800" b="1" i="0">
                <a:solidFill>
                  <a:srgbClr val="FFFFFF"/>
                </a:solidFill>
                <a:latin typeface="Cambria"/>
              </a:rPr>
              <a:t>The business scenario</a:t>
            </a:r>
          </a:p>
        </p:txBody>
      </p:sp>
      <p:sp>
        <p:nvSpPr>
          <p:cNvPr id="12" name="TextBox 11"/>
          <p:cNvSpPr txBox="1"/>
          <p:nvPr/>
        </p:nvSpPr>
        <p:spPr>
          <a:xfrm>
            <a:off x="822960" y="3246120"/>
            <a:ext cx="5257800" cy="2788920"/>
          </a:xfrm>
          <a:prstGeom prst="rect">
            <a:avLst/>
          </a:prstGeom>
          <a:noFill/>
        </p:spPr>
        <p:txBody>
          <a:bodyPr wrap="square" lIns="36576" rIns="36576" tIns="18288" bIns="18288" anchor="t">
            <a:spAutoFit/>
          </a:bodyPr>
          <a:lstStyle/>
          <a:p>
            <a:pPr algn="l">
              <a:lnSpc>
                <a:spcPct val="120000"/>
              </a:lnSpc>
            </a:pPr>
            <a:r>
              <a:rPr sz="1400" b="0" i="0">
                <a:solidFill>
                  <a:srgbClr val="C9C4B9"/>
                </a:solidFill>
                <a:latin typeface="Calibri"/>
              </a:rPr>
              <a:t>The campaign is planned; now it must run every day without you babysitting it. Each morning Mia sends you the day's post and image on Telegram. Only when you reply APPROVE does she publish it to the brand's Telegram channel and log it. She also works through the comment inbox — answering simple questions, but escalating food-safety, allergy, legal, billing, media and halal questions to you with personal data masked.</a:t>
            </a:r>
          </a:p>
        </p:txBody>
      </p:sp>
      <p:sp>
        <p:nvSpPr>
          <p:cNvPr id="13" name="Rounded Rectangle 12"/>
          <p:cNvSpPr/>
          <p:nvPr/>
        </p:nvSpPr>
        <p:spPr>
          <a:xfrm>
            <a:off x="6492240" y="2240280"/>
            <a:ext cx="5120640" cy="23317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720840" y="2404872"/>
            <a:ext cx="4663440" cy="365760"/>
          </a:xfrm>
          <a:prstGeom prst="rect">
            <a:avLst/>
          </a:prstGeom>
          <a:noFill/>
        </p:spPr>
        <p:txBody>
          <a:bodyPr wrap="square" lIns="36576" rIns="36576" tIns="18288" bIns="18288" anchor="t">
            <a:spAutoFit/>
          </a:bodyPr>
          <a:lstStyle/>
          <a:p>
            <a:pPr algn="l">
              <a:lnSpc>
                <a:spcPct val="112000"/>
              </a:lnSpc>
            </a:pPr>
            <a:r>
              <a:rPr sz="1600" b="1" i="0">
                <a:solidFill>
                  <a:srgbClr val="21201C"/>
                </a:solidFill>
                <a:latin typeface="Cambria"/>
              </a:rPr>
              <a:t>You will deliver</a:t>
            </a:r>
          </a:p>
        </p:txBody>
      </p:sp>
      <p:sp>
        <p:nvSpPr>
          <p:cNvPr id="15" name="TextBox 14"/>
          <p:cNvSpPr txBox="1"/>
          <p:nvPr/>
        </p:nvSpPr>
        <p:spPr>
          <a:xfrm>
            <a:off x="6720840" y="2807208"/>
            <a:ext cx="4709160" cy="1691640"/>
          </a:xfrm>
          <a:prstGeom prst="rect">
            <a:avLst/>
          </a:prstGeom>
          <a:noFill/>
        </p:spPr>
        <p:txBody>
          <a:bodyPr wrap="square" lIns="36576" rIns="36576" tIns="18288" bIns="18288" anchor="t">
            <a:spAutoFit/>
          </a:bodyPr>
          <a:lstStyle/>
          <a:p>
            <a:pPr algn="l">
              <a:lnSpc>
                <a:spcPct val="115000"/>
              </a:lnSpc>
            </a:pPr>
            <a:r>
              <a:rPr sz="1100" b="0" i="0">
                <a:solidFill>
                  <a:srgbClr val="6B6862"/>
                </a:solidFill>
                <a:latin typeface="Calibri"/>
              </a:rPr>
              <a:t>✓  A Telegram bot connected to Hermes (your private chat with Mia)</a:t>
            </a:r>
          </a:p>
          <a:p>
            <a:pPr algn="l">
              <a:lnSpc>
                <a:spcPct val="115000"/>
              </a:lnSpc>
            </a:pPr>
            <a:r>
              <a:rPr sz="1100" b="0" i="0">
                <a:solidFill>
                  <a:srgbClr val="6B6862"/>
                </a:solidFill>
                <a:latin typeface="Calibri"/>
              </a:rPr>
              <a:t>✓  A 'Kopi Kaki Feed (Training)' Telegram channel where approved posts are published</a:t>
            </a:r>
          </a:p>
          <a:p>
            <a:pPr algn="l">
              <a:lnSpc>
                <a:spcPct val="115000"/>
              </a:lnSpc>
            </a:pPr>
            <a:r>
              <a:rPr sz="1100" b="0" i="0">
                <a:solidFill>
                  <a:srgbClr val="6B6862"/>
                </a:solidFill>
                <a:latin typeface="Calibri"/>
              </a:rPr>
              <a:t>✓  outputs/lab03/approval-log.csv — every APPROVE / EDIT / REJECT decision</a:t>
            </a:r>
          </a:p>
          <a:p>
            <a:pPr algn="l">
              <a:lnSpc>
                <a:spcPct val="115000"/>
              </a:lnSpc>
            </a:pPr>
            <a:r>
              <a:rPr sz="1100" b="0" i="0">
                <a:solidFill>
                  <a:srgbClr val="6B6862"/>
                </a:solidFill>
                <a:latin typeface="Calibri"/>
              </a:rPr>
              <a:t>✓  A daily 09:00 cron job that sends the day's post for approval</a:t>
            </a:r>
          </a:p>
          <a:p>
            <a:pPr algn="l">
              <a:lnSpc>
                <a:spcPct val="115000"/>
              </a:lnSpc>
            </a:pPr>
            <a:r>
              <a:rPr sz="1100" b="0" i="0">
                <a:solidFill>
                  <a:srgbClr val="6B6862"/>
                </a:solidFill>
                <a:latin typeface="Calibri"/>
              </a:rPr>
              <a:t>✓  outputs/lab03/moderation-queue.csv + an escalation summary on Telegram</a:t>
            </a:r>
          </a:p>
        </p:txBody>
      </p:sp>
      <p:sp>
        <p:nvSpPr>
          <p:cNvPr id="16" name="Rounded Rectangle 15"/>
          <p:cNvSpPr/>
          <p:nvPr/>
        </p:nvSpPr>
        <p:spPr>
          <a:xfrm>
            <a:off x="6492240" y="4727448"/>
            <a:ext cx="5120640" cy="1444752"/>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720840" y="4855464"/>
            <a:ext cx="4709160" cy="1234440"/>
          </a:xfrm>
          <a:prstGeom prst="rect">
            <a:avLst/>
          </a:prstGeom>
          <a:noFill/>
        </p:spPr>
        <p:txBody>
          <a:bodyPr wrap="square" lIns="36576" rIns="36576" tIns="18288" bIns="18288" anchor="t">
            <a:spAutoFit/>
          </a:bodyPr>
          <a:lstStyle/>
          <a:p>
            <a:pPr algn="l">
              <a:lnSpc>
                <a:spcPct val="115000"/>
              </a:lnSpc>
              <a:spcAft>
                <a:spcPts val="300"/>
              </a:spcAft>
            </a:pPr>
            <a:r>
              <a:rPr sz="1250" b="1" i="0">
                <a:solidFill>
                  <a:srgbClr val="D97757"/>
                </a:solidFill>
                <a:latin typeface="Calibri"/>
              </a:rPr>
              <a:t>Agents  </a:t>
            </a:r>
            <a:r>
              <a:rPr sz="1250" b="0" i="0">
                <a:solidFill>
                  <a:srgbClr val="6B6862"/>
                </a:solidFill>
                <a:latin typeface="Calibri"/>
              </a:rPr>
              <a:t>1 Hermes agent (Mia) on the messaging gateway + cron scheduler</a:t>
            </a:r>
          </a:p>
          <a:p>
            <a:pPr algn="l">
              <a:lnSpc>
                <a:spcPct val="115000"/>
              </a:lnSpc>
              <a:spcAft>
                <a:spcPts val="300"/>
              </a:spcAft>
            </a:pPr>
            <a:r>
              <a:rPr sz="1250" b="1" i="0">
                <a:solidFill>
                  <a:srgbClr val="D97757"/>
                </a:solidFill>
                <a:latin typeface="Calibri"/>
              </a:rPr>
              <a:t>Human role  </a:t>
            </a:r>
            <a:r>
              <a:rPr sz="1250" b="0" i="0">
                <a:solidFill>
                  <a:srgbClr val="6B6862"/>
                </a:solidFill>
                <a:latin typeface="Calibri"/>
              </a:rPr>
              <a:t>Approve, edit or reject every post; decide every escalation</a:t>
            </a:r>
          </a:p>
          <a:p>
            <a:pPr algn="l">
              <a:lnSpc>
                <a:spcPct val="115000"/>
              </a:lnSpc>
              <a:spcAft>
                <a:spcPts val="300"/>
              </a:spcAft>
            </a:pPr>
            <a:r>
              <a:rPr sz="1250" b="1" i="0">
                <a:solidFill>
                  <a:srgbClr val="D97757"/>
                </a:solidFill>
                <a:latin typeface="Calibri"/>
              </a:rPr>
              <a:t>Time  </a:t>
            </a:r>
            <a:r>
              <a:rPr sz="1250" b="0" i="0">
                <a:solidFill>
                  <a:srgbClr val="6B6862"/>
                </a:solidFill>
                <a:latin typeface="Calibri"/>
              </a:rPr>
              <a:t>45 min  ·  Human–agent collaboration  ·  labs/lab03-hermes-human-in-the-loop/</a:t>
            </a:r>
          </a:p>
        </p:txBody>
      </p:sp>
    </p:spTree>
  </p:cSld>
  <p:clrMapOvr>
    <a:masterClrMapping/>
  </p:clrMapOvr>
  <p:transition spd="med">
    <p:fade/>
  </p:transition>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LAB 3</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Lab 3 — How the workflow runs</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C9C4B9"/>
                </a:solidFill>
                <a:latin typeface="Calibri"/>
              </a:rPr>
              <a:t>Perception → reasoning → action, with you at the checkpoints.</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82</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sp>
        <p:nvSpPr>
          <p:cNvPr id="8" name="Rounded Rectangle 7"/>
          <p:cNvSpPr/>
          <p:nvPr/>
        </p:nvSpPr>
        <p:spPr>
          <a:xfrm>
            <a:off x="548640" y="2331720"/>
            <a:ext cx="1706879"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31520" y="2468879"/>
            <a:ext cx="1341119"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1</a:t>
            </a:r>
          </a:p>
        </p:txBody>
      </p:sp>
      <p:sp>
        <p:nvSpPr>
          <p:cNvPr id="10" name="Oval 9"/>
          <p:cNvSpPr/>
          <p:nvPr/>
        </p:nvSpPr>
        <p:spPr>
          <a:xfrm>
            <a:off x="731520"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phone-FFFFFF.png"/>
          <p:cNvPicPr>
            <a:picLocks noChangeAspect="1"/>
          </p:cNvPicPr>
          <p:nvPr/>
        </p:nvPicPr>
        <p:blipFill>
          <a:blip r:embed="rId2"/>
          <a:stretch>
            <a:fillRect/>
          </a:stretch>
        </p:blipFill>
        <p:spPr>
          <a:xfrm>
            <a:off x="845637" y="2948757"/>
            <a:ext cx="247253" cy="247253"/>
          </a:xfrm>
          <a:prstGeom prst="rect">
            <a:avLst/>
          </a:prstGeom>
        </p:spPr>
      </p:pic>
      <p:sp>
        <p:nvSpPr>
          <p:cNvPr id="12" name="TextBox 11"/>
          <p:cNvSpPr txBox="1"/>
          <p:nvPr/>
        </p:nvSpPr>
        <p:spPr>
          <a:xfrm>
            <a:off x="731520" y="3410711"/>
            <a:ext cx="1386840"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Connect</a:t>
            </a:r>
          </a:p>
        </p:txBody>
      </p:sp>
      <p:sp>
        <p:nvSpPr>
          <p:cNvPr id="13" name="TextBox 12"/>
          <p:cNvSpPr txBox="1"/>
          <p:nvPr/>
        </p:nvSpPr>
        <p:spPr>
          <a:xfrm>
            <a:off x="731520" y="3977639"/>
            <a:ext cx="1386840"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Telegram bot + allow-listed user ID.</a:t>
            </a:r>
          </a:p>
        </p:txBody>
      </p:sp>
      <p:cxnSp>
        <p:nvCxnSpPr>
          <p:cNvPr id="14" name="Connector 13"/>
          <p:cNvCxnSpPr/>
          <p:nvPr/>
        </p:nvCxnSpPr>
        <p:spPr>
          <a:xfrm>
            <a:off x="2264663" y="3886200"/>
            <a:ext cx="146305"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2420112" y="2331720"/>
            <a:ext cx="1706879"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2602992" y="2468879"/>
            <a:ext cx="1341119"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2</a:t>
            </a:r>
          </a:p>
        </p:txBody>
      </p:sp>
      <p:sp>
        <p:nvSpPr>
          <p:cNvPr id="17" name="Oval 16"/>
          <p:cNvSpPr/>
          <p:nvPr/>
        </p:nvSpPr>
        <p:spPr>
          <a:xfrm>
            <a:off x="2602992"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send-FFFFFF.png"/>
          <p:cNvPicPr>
            <a:picLocks noChangeAspect="1"/>
          </p:cNvPicPr>
          <p:nvPr/>
        </p:nvPicPr>
        <p:blipFill>
          <a:blip r:embed="rId3"/>
          <a:stretch>
            <a:fillRect/>
          </a:stretch>
        </p:blipFill>
        <p:spPr>
          <a:xfrm>
            <a:off x="2717109" y="2948757"/>
            <a:ext cx="247253" cy="247253"/>
          </a:xfrm>
          <a:prstGeom prst="rect">
            <a:avLst/>
          </a:prstGeom>
        </p:spPr>
      </p:pic>
      <p:sp>
        <p:nvSpPr>
          <p:cNvPr id="19" name="TextBox 18"/>
          <p:cNvSpPr txBox="1"/>
          <p:nvPr/>
        </p:nvSpPr>
        <p:spPr>
          <a:xfrm>
            <a:off x="2602992" y="3410711"/>
            <a:ext cx="1386840"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Propose</a:t>
            </a:r>
          </a:p>
        </p:txBody>
      </p:sp>
      <p:sp>
        <p:nvSpPr>
          <p:cNvPr id="20" name="TextBox 19"/>
          <p:cNvSpPr txBox="1"/>
          <p:nvPr/>
        </p:nvSpPr>
        <p:spPr>
          <a:xfrm>
            <a:off x="2602992" y="3977639"/>
            <a:ext cx="1386840"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09:00 cron sends the day's post + image.</a:t>
            </a:r>
          </a:p>
        </p:txBody>
      </p:sp>
      <p:cxnSp>
        <p:nvCxnSpPr>
          <p:cNvPr id="21" name="Connector 20"/>
          <p:cNvCxnSpPr/>
          <p:nvPr/>
        </p:nvCxnSpPr>
        <p:spPr>
          <a:xfrm>
            <a:off x="4136135" y="3886200"/>
            <a:ext cx="146304"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4291583" y="2331720"/>
            <a:ext cx="1706879" cy="3108960"/>
          </a:xfrm>
          <a:prstGeom prst="roundRect">
            <a:avLst>
              <a:gd name="adj" fmla="val 3500"/>
            </a:avLst>
          </a:prstGeom>
          <a:solidFill>
            <a:srgbClr val="C2603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4474463" y="2468879"/>
            <a:ext cx="1341119" cy="274320"/>
          </a:xfrm>
          <a:prstGeom prst="rect">
            <a:avLst/>
          </a:prstGeom>
          <a:noFill/>
        </p:spPr>
        <p:txBody>
          <a:bodyPr wrap="square" lIns="36576" rIns="36576" tIns="18288" bIns="18288" anchor="t">
            <a:spAutoFit/>
          </a:bodyPr>
          <a:lstStyle/>
          <a:p>
            <a:pPr algn="l">
              <a:lnSpc>
                <a:spcPct val="112000"/>
              </a:lnSpc>
            </a:pPr>
            <a:r>
              <a:rPr sz="950" b="1" i="0">
                <a:solidFill>
                  <a:srgbClr val="FFFFFF"/>
                </a:solidFill>
                <a:latin typeface="Calibri"/>
              </a:rPr>
              <a:t>HUMAN  ·  STEP 3</a:t>
            </a:r>
          </a:p>
        </p:txBody>
      </p:sp>
      <p:sp>
        <p:nvSpPr>
          <p:cNvPr id="24" name="Oval 23"/>
          <p:cNvSpPr/>
          <p:nvPr/>
        </p:nvSpPr>
        <p:spPr>
          <a:xfrm>
            <a:off x="4474463" y="2834639"/>
            <a:ext cx="475488" cy="475488"/>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Picture 24" descr="user-C2603F.png"/>
          <p:cNvPicPr>
            <a:picLocks noChangeAspect="1"/>
          </p:cNvPicPr>
          <p:nvPr/>
        </p:nvPicPr>
        <p:blipFill>
          <a:blip r:embed="rId4"/>
          <a:stretch>
            <a:fillRect/>
          </a:stretch>
        </p:blipFill>
        <p:spPr>
          <a:xfrm>
            <a:off x="4588581" y="2948757"/>
            <a:ext cx="247253" cy="247253"/>
          </a:xfrm>
          <a:prstGeom prst="rect">
            <a:avLst/>
          </a:prstGeom>
        </p:spPr>
      </p:pic>
      <p:sp>
        <p:nvSpPr>
          <p:cNvPr id="26" name="TextBox 25"/>
          <p:cNvSpPr txBox="1"/>
          <p:nvPr/>
        </p:nvSpPr>
        <p:spPr>
          <a:xfrm>
            <a:off x="4474463" y="3410711"/>
            <a:ext cx="1386840"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Approve</a:t>
            </a:r>
          </a:p>
        </p:txBody>
      </p:sp>
      <p:sp>
        <p:nvSpPr>
          <p:cNvPr id="27" name="TextBox 26"/>
          <p:cNvSpPr txBox="1"/>
          <p:nvPr/>
        </p:nvSpPr>
        <p:spPr>
          <a:xfrm>
            <a:off x="4474463" y="3977639"/>
            <a:ext cx="1386840" cy="1371600"/>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You reply APPROVE / EDIT / REJECT.</a:t>
            </a:r>
          </a:p>
        </p:txBody>
      </p:sp>
      <p:cxnSp>
        <p:nvCxnSpPr>
          <p:cNvPr id="28" name="Connector 27"/>
          <p:cNvCxnSpPr/>
          <p:nvPr/>
        </p:nvCxnSpPr>
        <p:spPr>
          <a:xfrm>
            <a:off x="6007607" y="3886200"/>
            <a:ext cx="146304"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6163055" y="2331720"/>
            <a:ext cx="1706879"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6345935" y="2468879"/>
            <a:ext cx="1341119"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4</a:t>
            </a:r>
          </a:p>
        </p:txBody>
      </p:sp>
      <p:sp>
        <p:nvSpPr>
          <p:cNvPr id="31" name="Oval 30"/>
          <p:cNvSpPr/>
          <p:nvPr/>
        </p:nvSpPr>
        <p:spPr>
          <a:xfrm>
            <a:off x="6345935"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2" name="Picture 31" descr="megaphone-FFFFFF.png"/>
          <p:cNvPicPr>
            <a:picLocks noChangeAspect="1"/>
          </p:cNvPicPr>
          <p:nvPr/>
        </p:nvPicPr>
        <p:blipFill>
          <a:blip r:embed="rId5"/>
          <a:stretch>
            <a:fillRect/>
          </a:stretch>
        </p:blipFill>
        <p:spPr>
          <a:xfrm>
            <a:off x="6460053" y="2948757"/>
            <a:ext cx="247253" cy="247253"/>
          </a:xfrm>
          <a:prstGeom prst="rect">
            <a:avLst/>
          </a:prstGeom>
        </p:spPr>
      </p:pic>
      <p:sp>
        <p:nvSpPr>
          <p:cNvPr id="33" name="TextBox 32"/>
          <p:cNvSpPr txBox="1"/>
          <p:nvPr/>
        </p:nvSpPr>
        <p:spPr>
          <a:xfrm>
            <a:off x="6345935" y="3410711"/>
            <a:ext cx="1386840"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Publish</a:t>
            </a:r>
          </a:p>
        </p:txBody>
      </p:sp>
      <p:sp>
        <p:nvSpPr>
          <p:cNvPr id="34" name="TextBox 33"/>
          <p:cNvSpPr txBox="1"/>
          <p:nvPr/>
        </p:nvSpPr>
        <p:spPr>
          <a:xfrm>
            <a:off x="6345935" y="3977639"/>
            <a:ext cx="1386840"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Approved post goes to the channel; logged.</a:t>
            </a:r>
          </a:p>
        </p:txBody>
      </p:sp>
      <p:cxnSp>
        <p:nvCxnSpPr>
          <p:cNvPr id="35" name="Connector 34"/>
          <p:cNvCxnSpPr/>
          <p:nvPr/>
        </p:nvCxnSpPr>
        <p:spPr>
          <a:xfrm>
            <a:off x="7879079" y="3886200"/>
            <a:ext cx="146304"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8034527" y="2331720"/>
            <a:ext cx="1706879"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8217407" y="2468879"/>
            <a:ext cx="1341119"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5</a:t>
            </a:r>
          </a:p>
        </p:txBody>
      </p:sp>
      <p:sp>
        <p:nvSpPr>
          <p:cNvPr id="38" name="Oval 37"/>
          <p:cNvSpPr/>
          <p:nvPr/>
        </p:nvSpPr>
        <p:spPr>
          <a:xfrm>
            <a:off x="8217407"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9" name="Picture 38" descr="shield-FFFFFF.png"/>
          <p:cNvPicPr>
            <a:picLocks noChangeAspect="1"/>
          </p:cNvPicPr>
          <p:nvPr/>
        </p:nvPicPr>
        <p:blipFill>
          <a:blip r:embed="rId6"/>
          <a:stretch>
            <a:fillRect/>
          </a:stretch>
        </p:blipFill>
        <p:spPr>
          <a:xfrm>
            <a:off x="8331525" y="2948757"/>
            <a:ext cx="247253" cy="247253"/>
          </a:xfrm>
          <a:prstGeom prst="rect">
            <a:avLst/>
          </a:prstGeom>
        </p:spPr>
      </p:pic>
      <p:sp>
        <p:nvSpPr>
          <p:cNvPr id="40" name="TextBox 39"/>
          <p:cNvSpPr txBox="1"/>
          <p:nvPr/>
        </p:nvSpPr>
        <p:spPr>
          <a:xfrm>
            <a:off x="8217407" y="3410711"/>
            <a:ext cx="1386840"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Triage</a:t>
            </a:r>
          </a:p>
        </p:txBody>
      </p:sp>
      <p:sp>
        <p:nvSpPr>
          <p:cNvPr id="41" name="TextBox 40"/>
          <p:cNvSpPr txBox="1"/>
          <p:nvPr/>
        </p:nvSpPr>
        <p:spPr>
          <a:xfrm>
            <a:off x="8217407" y="3977639"/>
            <a:ext cx="1386840"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Answer FAQs, mask PII, escalate risks.</a:t>
            </a:r>
          </a:p>
        </p:txBody>
      </p:sp>
      <p:cxnSp>
        <p:nvCxnSpPr>
          <p:cNvPr id="42" name="Connector 41"/>
          <p:cNvCxnSpPr/>
          <p:nvPr/>
        </p:nvCxnSpPr>
        <p:spPr>
          <a:xfrm>
            <a:off x="9750551" y="3886200"/>
            <a:ext cx="146305"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43" name="Rounded Rectangle 42"/>
          <p:cNvSpPr/>
          <p:nvPr/>
        </p:nvSpPr>
        <p:spPr>
          <a:xfrm>
            <a:off x="9905999" y="2331720"/>
            <a:ext cx="1706879" cy="3108960"/>
          </a:xfrm>
          <a:prstGeom prst="roundRect">
            <a:avLst>
              <a:gd name="adj" fmla="val 3500"/>
            </a:avLst>
          </a:prstGeom>
          <a:solidFill>
            <a:srgbClr val="C2603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10088879" y="2468879"/>
            <a:ext cx="1341119" cy="274320"/>
          </a:xfrm>
          <a:prstGeom prst="rect">
            <a:avLst/>
          </a:prstGeom>
          <a:noFill/>
        </p:spPr>
        <p:txBody>
          <a:bodyPr wrap="square" lIns="36576" rIns="36576" tIns="18288" bIns="18288" anchor="t">
            <a:spAutoFit/>
          </a:bodyPr>
          <a:lstStyle/>
          <a:p>
            <a:pPr algn="l">
              <a:lnSpc>
                <a:spcPct val="112000"/>
              </a:lnSpc>
            </a:pPr>
            <a:r>
              <a:rPr sz="950" b="1" i="0">
                <a:solidFill>
                  <a:srgbClr val="FFFFFF"/>
                </a:solidFill>
                <a:latin typeface="Calibri"/>
              </a:rPr>
              <a:t>HUMAN  ·  STEP 6</a:t>
            </a:r>
          </a:p>
        </p:txBody>
      </p:sp>
      <p:sp>
        <p:nvSpPr>
          <p:cNvPr id="45" name="Oval 44"/>
          <p:cNvSpPr/>
          <p:nvPr/>
        </p:nvSpPr>
        <p:spPr>
          <a:xfrm>
            <a:off x="10088879" y="2834639"/>
            <a:ext cx="475488" cy="475488"/>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6" name="Picture 45" descr="gavel-C2603F.png"/>
          <p:cNvPicPr>
            <a:picLocks noChangeAspect="1"/>
          </p:cNvPicPr>
          <p:nvPr/>
        </p:nvPicPr>
        <p:blipFill>
          <a:blip r:embed="rId7"/>
          <a:stretch>
            <a:fillRect/>
          </a:stretch>
        </p:blipFill>
        <p:spPr>
          <a:xfrm>
            <a:off x="10202997" y="2948757"/>
            <a:ext cx="247253" cy="247253"/>
          </a:xfrm>
          <a:prstGeom prst="rect">
            <a:avLst/>
          </a:prstGeom>
        </p:spPr>
      </p:pic>
      <p:sp>
        <p:nvSpPr>
          <p:cNvPr id="47" name="TextBox 46"/>
          <p:cNvSpPr txBox="1"/>
          <p:nvPr/>
        </p:nvSpPr>
        <p:spPr>
          <a:xfrm>
            <a:off x="10088879" y="3410711"/>
            <a:ext cx="1386840"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Decide</a:t>
            </a:r>
          </a:p>
        </p:txBody>
      </p:sp>
      <p:sp>
        <p:nvSpPr>
          <p:cNvPr id="48" name="TextBox 47"/>
          <p:cNvSpPr txBox="1"/>
          <p:nvPr/>
        </p:nvSpPr>
        <p:spPr>
          <a:xfrm>
            <a:off x="10088879" y="3977639"/>
            <a:ext cx="1386840" cy="1371600"/>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You resolve each escalation.</a:t>
            </a:r>
          </a:p>
        </p:txBody>
      </p:sp>
      <p:sp>
        <p:nvSpPr>
          <p:cNvPr id="49" name="TextBox 48"/>
          <p:cNvSpPr txBox="1"/>
          <p:nvPr/>
        </p:nvSpPr>
        <p:spPr>
          <a:xfrm>
            <a:off x="548640" y="5715000"/>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Checkpoint  </a:t>
            </a:r>
            <a:r>
              <a:rPr sz="1300" b="0" i="0">
                <a:solidFill>
                  <a:srgbClr val="C9C4B9"/>
                </a:solidFill>
                <a:latin typeface="Calibri"/>
              </a:rPr>
              <a:t>Nothing reaches the channel without an APPROVE in approval-log.csv; all 7 risky comments are escalated, none answered.</a:t>
            </a:r>
          </a:p>
        </p:txBody>
      </p:sp>
    </p:spTree>
  </p:cSld>
  <p:clrMapOvr>
    <a:masterClrMapping/>
  </p:clrMapOvr>
  <p:transition spd="med">
    <p:fade/>
  </p:transition>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LAB 3</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Connect Telegram in Five Steps</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83</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1993392"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1627632"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chat-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1627632"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@BotFather</a:t>
            </a:r>
          </a:p>
        </p:txBody>
      </p:sp>
      <p:sp>
        <p:nvSpPr>
          <p:cNvPr id="12" name="TextBox 11"/>
          <p:cNvSpPr txBox="1"/>
          <p:nvPr/>
        </p:nvSpPr>
        <p:spPr>
          <a:xfrm>
            <a:off x="749808" y="3611880"/>
            <a:ext cx="1627632"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/newbot → name → copy the token (keep it secret).</a:t>
            </a:r>
          </a:p>
        </p:txBody>
      </p:sp>
      <p:cxnSp>
        <p:nvCxnSpPr>
          <p:cNvPr id="13" name="Connector 12"/>
          <p:cNvCxnSpPr/>
          <p:nvPr/>
        </p:nvCxnSpPr>
        <p:spPr>
          <a:xfrm>
            <a:off x="2569464" y="3337560"/>
            <a:ext cx="219456" cy="0"/>
          </a:xfrm>
          <a:prstGeom prst="line">
            <a:avLst/>
          </a:prstGeom>
          <a:ln w="2540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816352" y="2011680"/>
            <a:ext cx="1993392"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017520" y="2176272"/>
            <a:ext cx="1627632"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6" name="Oval 15"/>
          <p:cNvSpPr/>
          <p:nvPr/>
        </p:nvSpPr>
        <p:spPr>
          <a:xfrm>
            <a:off x="3017520"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user-FFFFFF.png"/>
          <p:cNvPicPr>
            <a:picLocks noChangeAspect="1"/>
          </p:cNvPicPr>
          <p:nvPr/>
        </p:nvPicPr>
        <p:blipFill>
          <a:blip r:embed="rId3"/>
          <a:stretch>
            <a:fillRect/>
          </a:stretch>
        </p:blipFill>
        <p:spPr>
          <a:xfrm>
            <a:off x="3140415" y="2637495"/>
            <a:ext cx="266273" cy="266273"/>
          </a:xfrm>
          <a:prstGeom prst="rect">
            <a:avLst/>
          </a:prstGeom>
        </p:spPr>
      </p:pic>
      <p:sp>
        <p:nvSpPr>
          <p:cNvPr id="18" name="TextBox 17"/>
          <p:cNvSpPr txBox="1"/>
          <p:nvPr/>
        </p:nvSpPr>
        <p:spPr>
          <a:xfrm>
            <a:off x="3017520" y="3154680"/>
            <a:ext cx="1627632"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@userinfobot</a:t>
            </a:r>
          </a:p>
        </p:txBody>
      </p:sp>
      <p:sp>
        <p:nvSpPr>
          <p:cNvPr id="19" name="TextBox 18"/>
          <p:cNvSpPr txBox="1"/>
          <p:nvPr/>
        </p:nvSpPr>
        <p:spPr>
          <a:xfrm>
            <a:off x="3017520" y="3611880"/>
            <a:ext cx="1627632"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Copy your numeric Telegram user ID.</a:t>
            </a:r>
          </a:p>
        </p:txBody>
      </p:sp>
      <p:cxnSp>
        <p:nvCxnSpPr>
          <p:cNvPr id="20" name="Connector 19"/>
          <p:cNvCxnSpPr/>
          <p:nvPr/>
        </p:nvCxnSpPr>
        <p:spPr>
          <a:xfrm>
            <a:off x="4837176" y="3337560"/>
            <a:ext cx="219455" cy="0"/>
          </a:xfrm>
          <a:prstGeom prst="line">
            <a:avLst/>
          </a:prstGeom>
          <a:ln w="2540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084064" y="2011680"/>
            <a:ext cx="1993392"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5285231" y="2176272"/>
            <a:ext cx="1627632"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3" name="Oval 22"/>
          <p:cNvSpPr/>
          <p:nvPr/>
        </p:nvSpPr>
        <p:spPr>
          <a:xfrm>
            <a:off x="5285231"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gear-FFFFFF.png"/>
          <p:cNvPicPr>
            <a:picLocks noChangeAspect="1"/>
          </p:cNvPicPr>
          <p:nvPr/>
        </p:nvPicPr>
        <p:blipFill>
          <a:blip r:embed="rId4"/>
          <a:stretch>
            <a:fillRect/>
          </a:stretch>
        </p:blipFill>
        <p:spPr>
          <a:xfrm>
            <a:off x="5408127" y="2637495"/>
            <a:ext cx="266273" cy="266273"/>
          </a:xfrm>
          <a:prstGeom prst="rect">
            <a:avLst/>
          </a:prstGeom>
        </p:spPr>
      </p:pic>
      <p:sp>
        <p:nvSpPr>
          <p:cNvPr id="25" name="TextBox 24"/>
          <p:cNvSpPr txBox="1"/>
          <p:nvPr/>
        </p:nvSpPr>
        <p:spPr>
          <a:xfrm>
            <a:off x="5285231" y="3154680"/>
            <a:ext cx="1627632" cy="457200"/>
          </a:xfrm>
          <a:prstGeom prst="rect">
            <a:avLst/>
          </a:prstGeom>
          <a:noFill/>
        </p:spPr>
        <p:txBody>
          <a:bodyPr wrap="square" lIns="36576" rIns="36576" tIns="18288" bIns="18288" anchor="t">
            <a:spAutoFit/>
          </a:bodyPr>
          <a:lstStyle/>
          <a:p>
            <a:pPr algn="l">
              <a:lnSpc>
                <a:spcPct val="112000"/>
              </a:lnSpc>
            </a:pPr>
            <a:r>
              <a:rPr sz="1300" b="1" i="0">
                <a:solidFill>
                  <a:srgbClr val="21201C"/>
                </a:solidFill>
                <a:latin typeface="Cambria"/>
              </a:rPr>
              <a:t>hermes gateway setup</a:t>
            </a:r>
          </a:p>
        </p:txBody>
      </p:sp>
      <p:sp>
        <p:nvSpPr>
          <p:cNvPr id="26" name="TextBox 25"/>
          <p:cNvSpPr txBox="1"/>
          <p:nvPr/>
        </p:nvSpPr>
        <p:spPr>
          <a:xfrm>
            <a:off x="5285231" y="3611880"/>
            <a:ext cx="1627632"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Choose Telegram, paste token + your ID as the only allowed user.</a:t>
            </a:r>
          </a:p>
        </p:txBody>
      </p:sp>
      <p:cxnSp>
        <p:nvCxnSpPr>
          <p:cNvPr id="27" name="Connector 26"/>
          <p:cNvCxnSpPr/>
          <p:nvPr/>
        </p:nvCxnSpPr>
        <p:spPr>
          <a:xfrm>
            <a:off x="7104888" y="3337560"/>
            <a:ext cx="219456" cy="0"/>
          </a:xfrm>
          <a:prstGeom prst="line">
            <a:avLst/>
          </a:prstGeom>
          <a:ln w="2540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51775" y="2011680"/>
            <a:ext cx="1993392"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7552944" y="2176272"/>
            <a:ext cx="1627632"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30" name="Oval 29"/>
          <p:cNvSpPr/>
          <p:nvPr/>
        </p:nvSpPr>
        <p:spPr>
          <a:xfrm>
            <a:off x="7552944"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1" name="Picture 30" descr="server-FFFFFF.png"/>
          <p:cNvPicPr>
            <a:picLocks noChangeAspect="1"/>
          </p:cNvPicPr>
          <p:nvPr/>
        </p:nvPicPr>
        <p:blipFill>
          <a:blip r:embed="rId5"/>
          <a:stretch>
            <a:fillRect/>
          </a:stretch>
        </p:blipFill>
        <p:spPr>
          <a:xfrm>
            <a:off x="7675839" y="2637495"/>
            <a:ext cx="266273" cy="266273"/>
          </a:xfrm>
          <a:prstGeom prst="rect">
            <a:avLst/>
          </a:prstGeom>
        </p:spPr>
      </p:pic>
      <p:sp>
        <p:nvSpPr>
          <p:cNvPr id="32" name="TextBox 31"/>
          <p:cNvSpPr txBox="1"/>
          <p:nvPr/>
        </p:nvSpPr>
        <p:spPr>
          <a:xfrm>
            <a:off x="7552944" y="3154680"/>
            <a:ext cx="1627632" cy="457200"/>
          </a:xfrm>
          <a:prstGeom prst="rect">
            <a:avLst/>
          </a:prstGeom>
          <a:noFill/>
        </p:spPr>
        <p:txBody>
          <a:bodyPr wrap="square" lIns="36576" rIns="36576" tIns="18288" bIns="18288" anchor="t">
            <a:spAutoFit/>
          </a:bodyPr>
          <a:lstStyle/>
          <a:p>
            <a:pPr algn="l">
              <a:lnSpc>
                <a:spcPct val="112000"/>
              </a:lnSpc>
            </a:pPr>
            <a:r>
              <a:rPr sz="1300" b="1" i="0">
                <a:solidFill>
                  <a:srgbClr val="21201C"/>
                </a:solidFill>
                <a:latin typeface="Cambria"/>
              </a:rPr>
              <a:t>hermes gateway run</a:t>
            </a:r>
          </a:p>
        </p:txBody>
      </p:sp>
      <p:sp>
        <p:nvSpPr>
          <p:cNvPr id="33" name="TextBox 32"/>
          <p:cNvSpPr txBox="1"/>
          <p:nvPr/>
        </p:nvSpPr>
        <p:spPr>
          <a:xfrm>
            <a:off x="7552944" y="3611880"/>
            <a:ext cx="1627632"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Leave it running — it hosts chat, cron and Kanban dispatch.</a:t>
            </a:r>
          </a:p>
        </p:txBody>
      </p:sp>
      <p:cxnSp>
        <p:nvCxnSpPr>
          <p:cNvPr id="34" name="Connector 33"/>
          <p:cNvCxnSpPr/>
          <p:nvPr/>
        </p:nvCxnSpPr>
        <p:spPr>
          <a:xfrm>
            <a:off x="9372599" y="3337560"/>
            <a:ext cx="219457" cy="0"/>
          </a:xfrm>
          <a:prstGeom prst="line">
            <a:avLst/>
          </a:prstGeom>
          <a:ln w="2540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619488" y="2011680"/>
            <a:ext cx="1993392"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9820656" y="2176272"/>
            <a:ext cx="1627632"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5</a:t>
            </a:r>
          </a:p>
        </p:txBody>
      </p:sp>
      <p:sp>
        <p:nvSpPr>
          <p:cNvPr id="37" name="Oval 36"/>
          <p:cNvSpPr/>
          <p:nvPr/>
        </p:nvSpPr>
        <p:spPr>
          <a:xfrm>
            <a:off x="9820656"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8" name="Picture 37" descr="megaphone-FFFFFF.png"/>
          <p:cNvPicPr>
            <a:picLocks noChangeAspect="1"/>
          </p:cNvPicPr>
          <p:nvPr/>
        </p:nvPicPr>
        <p:blipFill>
          <a:blip r:embed="rId6"/>
          <a:stretch>
            <a:fillRect/>
          </a:stretch>
        </p:blipFill>
        <p:spPr>
          <a:xfrm>
            <a:off x="9943551" y="2637495"/>
            <a:ext cx="266273" cy="266273"/>
          </a:xfrm>
          <a:prstGeom prst="rect">
            <a:avLst/>
          </a:prstGeom>
        </p:spPr>
      </p:pic>
      <p:sp>
        <p:nvSpPr>
          <p:cNvPr id="39" name="TextBox 38"/>
          <p:cNvSpPr txBox="1"/>
          <p:nvPr/>
        </p:nvSpPr>
        <p:spPr>
          <a:xfrm>
            <a:off x="9820656" y="3154680"/>
            <a:ext cx="1627632"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Brand channel</a:t>
            </a:r>
          </a:p>
        </p:txBody>
      </p:sp>
      <p:sp>
        <p:nvSpPr>
          <p:cNvPr id="40" name="TextBox 39"/>
          <p:cNvSpPr txBox="1"/>
          <p:nvPr/>
        </p:nvSpPr>
        <p:spPr>
          <a:xfrm>
            <a:off x="9820656" y="3611880"/>
            <a:ext cx="1627632"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Create 'Kopi Kaki Feed (Training)'; add the bot as admin.</a:t>
            </a:r>
          </a:p>
        </p:txBody>
      </p:sp>
      <p:sp>
        <p:nvSpPr>
          <p:cNvPr id="41" name="TextBox 40"/>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Shortcut: Dashboard → Messaging → Telegram → 'Create with QR'. NEVER share the bot token.</a:t>
            </a:r>
          </a:p>
        </p:txBody>
      </p:sp>
    </p:spTree>
  </p:cSld>
  <p:clrMapOvr>
    <a:masterClrMapping/>
  </p:clrMapOvr>
  <p:transition spd="med">
    <p:fade/>
  </p:transition>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LAB 3</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Escalation Rules — Policy Becomes Agent Behaviour</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84</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graphicFrame>
        <p:nvGraphicFramePr>
          <p:cNvPr id="7" name="Table 6"/>
          <p:cNvGraphicFramePr>
            <a:graphicFrameLocks noGrp="1"/>
          </p:cNvGraphicFramePr>
          <p:nvPr/>
        </p:nvGraphicFramePr>
        <p:xfrm>
          <a:off x="548640" y="1691640"/>
          <a:ext cx="11064239" cy="3866604"/>
        </p:xfrm>
        <a:graphic>
          <a:graphicData uri="http://schemas.openxmlformats.org/drawingml/2006/table">
            <a:tbl>
              <a:tblPr firstRow="0" bandRow="0">
                <a:tableStyleId>{5C22544A-7EE6-4342-B048-85BDC9FD1C3A}</a:tableStyleId>
              </a:tblPr>
              <a:tblGrid>
                <a:gridCol w="3840480"/>
                <a:gridCol w="3749039"/>
                <a:gridCol w="3474720"/>
              </a:tblGrid>
              <a:tr h="457200">
                <a:tc>
                  <a:txBody>
                    <a:bodyPr wrap="square"/>
                    <a:lstStyle/>
                    <a:p>
                      <a:r>
                        <a:rPr b="1" sz="1550">
                          <a:solidFill>
                            <a:srgbClr val="FFFFFF"/>
                          </a:solidFill>
                          <a:latin typeface="Cambria"/>
                        </a:rPr>
                        <a:t>Comment type</a:t>
                      </a:r>
                    </a:p>
                  </a:txBody>
                  <a:tcPr marL="64008" marR="64008" marT="27432" marB="27432" anchor="ctr">
                    <a:solidFill>
                      <a:srgbClr val="21201C"/>
                    </a:solidFill>
                  </a:tcPr>
                </a:tc>
                <a:tc>
                  <a:txBody>
                    <a:bodyPr wrap="square"/>
                    <a:lstStyle/>
                    <a:p>
                      <a:r>
                        <a:rPr b="1" sz="1550">
                          <a:solidFill>
                            <a:srgbClr val="FFFFFF"/>
                          </a:solidFill>
                          <a:latin typeface="Cambria"/>
                        </a:rPr>
                        <a:t>Agent action</a:t>
                      </a:r>
                    </a:p>
                  </a:txBody>
                  <a:tcPr marL="64008" marR="64008" marT="27432" marB="27432" anchor="ctr">
                    <a:solidFill>
                      <a:srgbClr val="21201C"/>
                    </a:solidFill>
                  </a:tcPr>
                </a:tc>
                <a:tc>
                  <a:txBody>
                    <a:bodyPr wrap="square"/>
                    <a:lstStyle/>
                    <a:p>
                      <a:r>
                        <a:rPr b="1" sz="1550">
                          <a:solidFill>
                            <a:srgbClr val="FFFFFF"/>
                          </a:solidFill>
                          <a:latin typeface="Cambria"/>
                        </a:rPr>
                        <a:t>Why</a:t>
                      </a:r>
                    </a:p>
                  </a:txBody>
                  <a:tcPr marL="64008" marR="64008" marT="27432" marB="27432" anchor="ctr">
                    <a:solidFill>
                      <a:srgbClr val="21201C"/>
                    </a:solidFill>
                  </a:tcPr>
                </a:tc>
              </a:tr>
              <a:tr h="568234">
                <a:tc>
                  <a:txBody>
                    <a:bodyPr wrap="square"/>
                    <a:lstStyle/>
                    <a:p>
                      <a:r>
                        <a:rPr b="1" sz="1500">
                          <a:solidFill>
                            <a:srgbClr val="21201C"/>
                          </a:solidFill>
                          <a:latin typeface="Cambria"/>
                        </a:rPr>
                        <a:t>FAQ (availability, oat milk, outlets)</a:t>
                      </a:r>
                    </a:p>
                  </a:txBody>
                  <a:tcPr marL="64008" marR="64008" marT="27432" marB="27432" anchor="ctr">
                    <a:solidFill>
                      <a:srgbClr val="FFFFFF"/>
                    </a:solidFill>
                  </a:tcPr>
                </a:tc>
                <a:tc>
                  <a:txBody>
                    <a:bodyPr wrap="square"/>
                    <a:lstStyle/>
                    <a:p>
                      <a:r>
                        <a:rPr b="0" sz="1500">
                          <a:solidFill>
                            <a:srgbClr val="6B6862"/>
                          </a:solidFill>
                          <a:latin typeface="Calibri"/>
                        </a:rPr>
                        <a:t>REPLY — draft in brand voice</a:t>
                      </a:r>
                    </a:p>
                  </a:txBody>
                  <a:tcPr marL="64008" marR="64008" marT="27432" marB="27432" anchor="ctr">
                    <a:solidFill>
                      <a:srgbClr val="FFFFFF"/>
                    </a:solidFill>
                  </a:tcPr>
                </a:tc>
                <a:tc>
                  <a:txBody>
                    <a:bodyPr wrap="square"/>
                    <a:lstStyle/>
                    <a:p>
                      <a:r>
                        <a:rPr b="0" sz="1500">
                          <a:solidFill>
                            <a:srgbClr val="6B6862"/>
                          </a:solidFill>
                          <a:latin typeface="Calibri"/>
                        </a:rPr>
                        <a:t>Low risk, high volume</a:t>
                      </a:r>
                    </a:p>
                  </a:txBody>
                  <a:tcPr marL="64008" marR="64008" marT="27432" marB="27432" anchor="ctr">
                    <a:solidFill>
                      <a:srgbClr val="FFFFFF"/>
                    </a:solidFill>
                  </a:tcPr>
                </a:tc>
              </a:tr>
              <a:tr h="568234">
                <a:tc>
                  <a:txBody>
                    <a:bodyPr wrap="square"/>
                    <a:lstStyle/>
                    <a:p>
                      <a:r>
                        <a:rPr b="1" sz="1500">
                          <a:solidFill>
                            <a:srgbClr val="21201C"/>
                          </a:solidFill>
                          <a:latin typeface="Cambria"/>
                        </a:rPr>
                        <a:t>Spam</a:t>
                      </a:r>
                    </a:p>
                  </a:txBody>
                  <a:tcPr marL="64008" marR="64008" marT="27432" marB="27432" anchor="ctr">
                    <a:solidFill>
                      <a:srgbClr val="F3F1EB"/>
                    </a:solidFill>
                  </a:tcPr>
                </a:tc>
                <a:tc>
                  <a:txBody>
                    <a:bodyPr wrap="square"/>
                    <a:lstStyle/>
                    <a:p>
                      <a:r>
                        <a:rPr b="0" sz="1500">
                          <a:solidFill>
                            <a:srgbClr val="6B6862"/>
                          </a:solidFill>
                          <a:latin typeface="Calibri"/>
                        </a:rPr>
                        <a:t>IGNORE</a:t>
                      </a:r>
                    </a:p>
                  </a:txBody>
                  <a:tcPr marL="64008" marR="64008" marT="27432" marB="27432" anchor="ctr">
                    <a:solidFill>
                      <a:srgbClr val="F3F1EB"/>
                    </a:solidFill>
                  </a:tcPr>
                </a:tc>
                <a:tc>
                  <a:txBody>
                    <a:bodyPr wrap="square"/>
                    <a:lstStyle/>
                    <a:p>
                      <a:r>
                        <a:rPr b="0" sz="1500">
                          <a:solidFill>
                            <a:srgbClr val="6B6862"/>
                          </a:solidFill>
                          <a:latin typeface="Calibri"/>
                        </a:rPr>
                        <a:t>No value; don't engage</a:t>
                      </a:r>
                    </a:p>
                  </a:txBody>
                  <a:tcPr marL="64008" marR="64008" marT="27432" marB="27432" anchor="ctr">
                    <a:solidFill>
                      <a:srgbClr val="F3F1EB"/>
                    </a:solidFill>
                  </a:tcPr>
                </a:tc>
              </a:tr>
              <a:tr h="568234">
                <a:tc>
                  <a:txBody>
                    <a:bodyPr wrap="square"/>
                    <a:lstStyle/>
                    <a:p>
                      <a:r>
                        <a:rPr b="1" sz="1500">
                          <a:solidFill>
                            <a:srgbClr val="21201C"/>
                          </a:solidFill>
                          <a:latin typeface="Cambria"/>
                        </a:rPr>
                        <a:t>Food safety / allergy (C06, C16)</a:t>
                      </a:r>
                    </a:p>
                  </a:txBody>
                  <a:tcPr marL="64008" marR="64008" marT="27432" marB="27432" anchor="ctr">
                    <a:solidFill>
                      <a:srgbClr val="FFFFFF"/>
                    </a:solidFill>
                  </a:tcPr>
                </a:tc>
                <a:tc>
                  <a:txBody>
                    <a:bodyPr wrap="square"/>
                    <a:lstStyle/>
                    <a:p>
                      <a:r>
                        <a:rPr b="0" sz="1500">
                          <a:solidFill>
                            <a:srgbClr val="6B6862"/>
                          </a:solidFill>
                          <a:latin typeface="Calibri"/>
                        </a:rPr>
                        <a:t>ESCALATE — no public reply</a:t>
                      </a:r>
                    </a:p>
                  </a:txBody>
                  <a:tcPr marL="64008" marR="64008" marT="27432" marB="27432" anchor="ctr">
                    <a:solidFill>
                      <a:srgbClr val="FFFFFF"/>
                    </a:solidFill>
                  </a:tcPr>
                </a:tc>
                <a:tc>
                  <a:txBody>
                    <a:bodyPr wrap="square"/>
                    <a:lstStyle/>
                    <a:p>
                      <a:r>
                        <a:rPr b="0" sz="1500">
                          <a:solidFill>
                            <a:srgbClr val="6B6862"/>
                          </a:solidFill>
                          <a:latin typeface="Calibri"/>
                        </a:rPr>
                        <a:t>Health and legal risk</a:t>
                      </a:r>
                    </a:p>
                  </a:txBody>
                  <a:tcPr marL="64008" marR="64008" marT="27432" marB="27432" anchor="ctr">
                    <a:solidFill>
                      <a:srgbClr val="FFFFFF"/>
                    </a:solidFill>
                  </a:tcPr>
                </a:tc>
              </a:tr>
              <a:tr h="568234">
                <a:tc>
                  <a:txBody>
                    <a:bodyPr wrap="square"/>
                    <a:lstStyle/>
                    <a:p>
                      <a:r>
                        <a:rPr b="1" sz="1500">
                          <a:solidFill>
                            <a:srgbClr val="21201C"/>
                          </a:solidFill>
                          <a:latin typeface="Cambria"/>
                        </a:rPr>
                        <a:t>Legal threat / media (C18, C11)</a:t>
                      </a:r>
                    </a:p>
                  </a:txBody>
                  <a:tcPr marL="64008" marR="64008" marT="27432" marB="27432" anchor="ctr">
                    <a:solidFill>
                      <a:srgbClr val="F3F1EB"/>
                    </a:solidFill>
                  </a:tcPr>
                </a:tc>
                <a:tc>
                  <a:txBody>
                    <a:bodyPr wrap="square"/>
                    <a:lstStyle/>
                    <a:p>
                      <a:r>
                        <a:rPr b="0" sz="1500">
                          <a:solidFill>
                            <a:srgbClr val="6B6862"/>
                          </a:solidFill>
                          <a:latin typeface="Calibri"/>
                        </a:rPr>
                        <a:t>ESCALATE</a:t>
                      </a:r>
                    </a:p>
                  </a:txBody>
                  <a:tcPr marL="64008" marR="64008" marT="27432" marB="27432" anchor="ctr">
                    <a:solidFill>
                      <a:srgbClr val="F3F1EB"/>
                    </a:solidFill>
                  </a:tcPr>
                </a:tc>
                <a:tc>
                  <a:txBody>
                    <a:bodyPr wrap="square"/>
                    <a:lstStyle/>
                    <a:p>
                      <a:r>
                        <a:rPr b="0" sz="1500">
                          <a:solidFill>
                            <a:srgbClr val="6B6862"/>
                          </a:solidFill>
                          <a:latin typeface="Calibri"/>
                        </a:rPr>
                        <a:t>Needs a human spokesperson</a:t>
                      </a:r>
                    </a:p>
                  </a:txBody>
                  <a:tcPr marL="64008" marR="64008" marT="27432" marB="27432" anchor="ctr">
                    <a:solidFill>
                      <a:srgbClr val="F3F1EB"/>
                    </a:solidFill>
                  </a:tcPr>
                </a:tc>
              </a:tr>
              <a:tr h="568234">
                <a:tc>
                  <a:txBody>
                    <a:bodyPr wrap="square"/>
                    <a:lstStyle/>
                    <a:p>
                      <a:r>
                        <a:rPr b="1" sz="1500">
                          <a:solidFill>
                            <a:srgbClr val="21201C"/>
                          </a:solidFill>
                          <a:latin typeface="Cambria"/>
                        </a:rPr>
                        <a:t>Billing / refund (C09)</a:t>
                      </a:r>
                    </a:p>
                  </a:txBody>
                  <a:tcPr marL="64008" marR="64008" marT="27432" marB="27432" anchor="ctr">
                    <a:solidFill>
                      <a:srgbClr val="FFFFFF"/>
                    </a:solidFill>
                  </a:tcPr>
                </a:tc>
                <a:tc>
                  <a:txBody>
                    <a:bodyPr wrap="square"/>
                    <a:lstStyle/>
                    <a:p>
                      <a:r>
                        <a:rPr b="0" sz="1500">
                          <a:solidFill>
                            <a:srgbClr val="6B6862"/>
                          </a:solidFill>
                          <a:latin typeface="Calibri"/>
                        </a:rPr>
                        <a:t>ESCALATE</a:t>
                      </a:r>
                    </a:p>
                  </a:txBody>
                  <a:tcPr marL="64008" marR="64008" marT="27432" marB="27432" anchor="ctr">
                    <a:solidFill>
                      <a:srgbClr val="FFFFFF"/>
                    </a:solidFill>
                  </a:tcPr>
                </a:tc>
                <a:tc>
                  <a:txBody>
                    <a:bodyPr wrap="square"/>
                    <a:lstStyle/>
                    <a:p>
                      <a:r>
                        <a:rPr b="0" sz="1500">
                          <a:solidFill>
                            <a:srgbClr val="6B6862"/>
                          </a:solidFill>
                          <a:latin typeface="Calibri"/>
                        </a:rPr>
                        <a:t>Money and policy decisions</a:t>
                      </a:r>
                    </a:p>
                  </a:txBody>
                  <a:tcPr marL="64008" marR="64008" marT="27432" marB="27432" anchor="ctr">
                    <a:solidFill>
                      <a:srgbClr val="FFFFFF"/>
                    </a:solidFill>
                  </a:tcPr>
                </a:tc>
              </a:tr>
              <a:tr h="568234">
                <a:tc>
                  <a:txBody>
                    <a:bodyPr wrap="square"/>
                    <a:lstStyle/>
                    <a:p>
                      <a:r>
                        <a:rPr b="1" sz="1500">
                          <a:solidFill>
                            <a:srgbClr val="21201C"/>
                          </a:solidFill>
                          <a:latin typeface="Cambria"/>
                        </a:rPr>
                        <a:t>Halal / health questions (C03, C15)</a:t>
                      </a:r>
                    </a:p>
                  </a:txBody>
                  <a:tcPr marL="64008" marR="64008" marT="27432" marB="27432" anchor="ctr">
                    <a:solidFill>
                      <a:srgbClr val="F3F1EB"/>
                    </a:solidFill>
                  </a:tcPr>
                </a:tc>
                <a:tc>
                  <a:txBody>
                    <a:bodyPr wrap="square"/>
                    <a:lstStyle/>
                    <a:p>
                      <a:r>
                        <a:rPr b="0" sz="1500">
                          <a:solidFill>
                            <a:srgbClr val="6B6862"/>
                          </a:solidFill>
                          <a:latin typeface="Calibri"/>
                        </a:rPr>
                        <a:t>ESCALATE</a:t>
                      </a:r>
                    </a:p>
                  </a:txBody>
                  <a:tcPr marL="64008" marR="64008" marT="27432" marB="27432" anchor="ctr">
                    <a:solidFill>
                      <a:srgbClr val="F3F1EB"/>
                    </a:solidFill>
                  </a:tcPr>
                </a:tc>
                <a:tc>
                  <a:txBody>
                    <a:bodyPr wrap="square"/>
                    <a:lstStyle/>
                    <a:p>
                      <a:r>
                        <a:rPr b="0" sz="1500">
                          <a:solidFill>
                            <a:srgbClr val="6B6862"/>
                          </a:solidFill>
                          <a:latin typeface="Calibri"/>
                        </a:rPr>
                        <a:t>Claims we must not make (C1, C4)</a:t>
                      </a:r>
                    </a:p>
                  </a:txBody>
                  <a:tcPr marL="64008" marR="64008" marT="27432" marB="27432" anchor="ctr">
                    <a:solidFill>
                      <a:srgbClr val="F3F1EB"/>
                    </a:solidFill>
                  </a:tcPr>
                </a:tc>
              </a:tr>
            </a:tbl>
          </a:graphicData>
        </a:graphic>
      </p:graphicFrame>
      <p:sp>
        <p:nvSpPr>
          <p:cNvPr id="8" name="TextBox 7"/>
          <p:cNvSpPr txBox="1"/>
          <p:nvPr/>
        </p:nvSpPr>
        <p:spPr>
          <a:xfrm>
            <a:off x="548640" y="5760720"/>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Personal data (names, phone numbers) is masked before anything reaches you or a public reply.</a:t>
            </a:r>
          </a:p>
        </p:txBody>
      </p:sp>
    </p:spTree>
  </p:cSld>
  <p:clrMapOvr>
    <a:masterClrMapping/>
  </p:clrMapOvr>
  <p:transition spd="med">
    <p:fade/>
  </p:transition>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LAB 3</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Make It Proactive — the 09:00 Approval Cron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85</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37360"/>
            <a:ext cx="7040880" cy="4480560"/>
          </a:xfrm>
          <a:prstGeom prst="roundRect">
            <a:avLst>
              <a:gd name="adj" fmla="val 3500"/>
            </a:avLst>
          </a:prstGeom>
          <a:solidFill>
            <a:srgbClr val="2B2924"/>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49808" y="1901952"/>
            <a:ext cx="118872" cy="118872"/>
          </a:xfrm>
          <a:prstGeom prst="ellipse">
            <a:avLst/>
          </a:prstGeom>
          <a:solidFill>
            <a:srgbClr val="E06C5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69264" y="1901952"/>
            <a:ext cx="118872" cy="118872"/>
          </a:xfrm>
          <a:prstGeom prst="ellipse">
            <a:avLst/>
          </a:prstGeom>
          <a:solidFill>
            <a:srgbClr val="E5B45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88719" y="1901952"/>
            <a:ext cx="118872" cy="118872"/>
          </a:xfrm>
          <a:prstGeom prst="ellipse">
            <a:avLst/>
          </a:prstGeom>
          <a:solidFill>
            <a:srgbClr val="7DB36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463040" y="1828800"/>
            <a:ext cx="5943600" cy="274320"/>
          </a:xfrm>
          <a:prstGeom prst="rect">
            <a:avLst/>
          </a:prstGeom>
          <a:noFill/>
        </p:spPr>
        <p:txBody>
          <a:bodyPr wrap="square" lIns="36576" rIns="36576" tIns="18288" bIns="18288" anchor="t">
            <a:spAutoFit/>
          </a:bodyPr>
          <a:lstStyle/>
          <a:p>
            <a:pPr algn="l">
              <a:lnSpc>
                <a:spcPct val="112000"/>
              </a:lnSpc>
            </a:pPr>
            <a:r>
              <a:rPr sz="1000" b="0" i="0">
                <a:solidFill>
                  <a:srgbClr val="B9B4A9"/>
                </a:solidFill>
                <a:latin typeface="Calibri"/>
              </a:rPr>
              <a:t>TERMINAL  ·  copy from the Lab Prompts page</a:t>
            </a:r>
          </a:p>
        </p:txBody>
      </p:sp>
      <p:sp>
        <p:nvSpPr>
          <p:cNvPr id="12" name="TextBox 11"/>
          <p:cNvSpPr txBox="1"/>
          <p:nvPr/>
        </p:nvSpPr>
        <p:spPr>
          <a:xfrm>
            <a:off x="777240" y="2194560"/>
            <a:ext cx="6583680" cy="3913632"/>
          </a:xfrm>
          <a:prstGeom prst="rect">
            <a:avLst/>
          </a:prstGeom>
          <a:noFill/>
        </p:spPr>
        <p:txBody>
          <a:bodyPr wrap="square" lIns="36576" rIns="36576" tIns="18288" bIns="18288" anchor="t">
            <a:spAutoFit/>
          </a:bodyPr>
          <a:lstStyle/>
          <a:p>
            <a:pPr algn="l">
              <a:lnSpc>
                <a:spcPct val="110000"/>
              </a:lnSpc>
            </a:pPr>
            <a:r>
              <a:rPr sz="1300" b="0" i="0">
                <a:solidFill>
                  <a:srgbClr val="F1EDE4"/>
                </a:solidFill>
                <a:latin typeface="Consolas"/>
              </a:rPr>
              <a:t>hermes cron create "0 9 * * *" "Proposal only - never publish. Take the next post with status draft from ~/kopi-kaki/outputs/lab02/content-calendar-v2.csv, set it to pending-approval and send me its post id, image, platform, date and caption, ending with: Reply APPROVE &lt;post_id&gt;, EDIT &lt;post_id&gt;: &lt;changes&gt; or REJECT &lt;post_id&gt;." --name daily-post-approval --deliver telegram</a:t>
            </a:r>
          </a:p>
          <a:p>
            <a:pPr algn="l">
              <a:lnSpc>
                <a:spcPct val="110000"/>
              </a:lnSpc>
            </a:pPr>
            <a:r>
              <a:rPr sz="1300" b="0" i="0">
                <a:solidFill>
                  <a:srgbClr val="F1EDE4"/>
                </a:solidFill>
                <a:latin typeface="Consolas"/>
              </a:rPr>
              <a:t>hermes cron list</a:t>
            </a:r>
          </a:p>
          <a:p>
            <a:pPr algn="l">
              <a:lnSpc>
                <a:spcPct val="110000"/>
              </a:lnSpc>
            </a:pPr>
            <a:r>
              <a:rPr sz="1300" b="0" i="0">
                <a:solidFill>
                  <a:srgbClr val="F1EDE4"/>
                </a:solidFill>
                <a:latin typeface="Consolas"/>
              </a:rPr>
              <a:t>hermes cron run &lt;job_id&gt;</a:t>
            </a:r>
          </a:p>
        </p:txBody>
      </p:sp>
      <p:sp>
        <p:nvSpPr>
          <p:cNvPr id="13" name="Oval 12"/>
          <p:cNvSpPr/>
          <p:nvPr/>
        </p:nvSpPr>
        <p:spPr>
          <a:xfrm>
            <a:off x="7863840" y="177393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clock-FFFFFF.png"/>
          <p:cNvPicPr>
            <a:picLocks noChangeAspect="1"/>
          </p:cNvPicPr>
          <p:nvPr/>
        </p:nvPicPr>
        <p:blipFill>
          <a:blip r:embed="rId2"/>
          <a:stretch>
            <a:fillRect/>
          </a:stretch>
        </p:blipFill>
        <p:spPr>
          <a:xfrm>
            <a:off x="7973567" y="1883664"/>
            <a:ext cx="237744" cy="237744"/>
          </a:xfrm>
          <a:prstGeom prst="rect">
            <a:avLst/>
          </a:prstGeom>
        </p:spPr>
      </p:pic>
      <p:sp>
        <p:nvSpPr>
          <p:cNvPr id="15" name="TextBox 14"/>
          <p:cNvSpPr txBox="1"/>
          <p:nvPr/>
        </p:nvSpPr>
        <p:spPr>
          <a:xfrm>
            <a:off x="8458200" y="173736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Schedule</a:t>
            </a:r>
          </a:p>
        </p:txBody>
      </p:sp>
      <p:sp>
        <p:nvSpPr>
          <p:cNvPr id="16" name="TextBox 15"/>
          <p:cNvSpPr txBox="1"/>
          <p:nvPr/>
        </p:nvSpPr>
        <p:spPr>
          <a:xfrm>
            <a:off x="8458200" y="210312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Cron syntax '0 9 * * *' = every day at 09:00.</a:t>
            </a:r>
          </a:p>
        </p:txBody>
      </p:sp>
      <p:sp>
        <p:nvSpPr>
          <p:cNvPr id="17" name="Oval 16"/>
          <p:cNvSpPr/>
          <p:nvPr/>
        </p:nvSpPr>
        <p:spPr>
          <a:xfrm>
            <a:off x="7863840" y="326745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send-FFFFFF.png"/>
          <p:cNvPicPr>
            <a:picLocks noChangeAspect="1"/>
          </p:cNvPicPr>
          <p:nvPr/>
        </p:nvPicPr>
        <p:blipFill>
          <a:blip r:embed="rId3"/>
          <a:stretch>
            <a:fillRect/>
          </a:stretch>
        </p:blipFill>
        <p:spPr>
          <a:xfrm>
            <a:off x="7973567" y="3377184"/>
            <a:ext cx="237744" cy="237744"/>
          </a:xfrm>
          <a:prstGeom prst="rect">
            <a:avLst/>
          </a:prstGeom>
        </p:spPr>
      </p:pic>
      <p:sp>
        <p:nvSpPr>
          <p:cNvPr id="19" name="TextBox 18"/>
          <p:cNvSpPr txBox="1"/>
          <p:nvPr/>
        </p:nvSpPr>
        <p:spPr>
          <a:xfrm>
            <a:off x="8458200" y="323088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--deliver telegram</a:t>
            </a:r>
          </a:p>
        </p:txBody>
      </p:sp>
      <p:sp>
        <p:nvSpPr>
          <p:cNvPr id="20" name="TextBox 19"/>
          <p:cNvSpPr txBox="1"/>
          <p:nvPr/>
        </p:nvSpPr>
        <p:spPr>
          <a:xfrm>
            <a:off x="8458200" y="359664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Results arrive in your Telegram chat.</a:t>
            </a:r>
          </a:p>
        </p:txBody>
      </p:sp>
      <p:sp>
        <p:nvSpPr>
          <p:cNvPr id="21" name="Oval 20"/>
          <p:cNvSpPr/>
          <p:nvPr/>
        </p:nvSpPr>
        <p:spPr>
          <a:xfrm>
            <a:off x="7863840" y="476097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hand-FFFFFF.png"/>
          <p:cNvPicPr>
            <a:picLocks noChangeAspect="1"/>
          </p:cNvPicPr>
          <p:nvPr/>
        </p:nvPicPr>
        <p:blipFill>
          <a:blip r:embed="rId4"/>
          <a:stretch>
            <a:fillRect/>
          </a:stretch>
        </p:blipFill>
        <p:spPr>
          <a:xfrm>
            <a:off x="7973567" y="4870704"/>
            <a:ext cx="237744" cy="237744"/>
          </a:xfrm>
          <a:prstGeom prst="rect">
            <a:avLst/>
          </a:prstGeom>
        </p:spPr>
      </p:pic>
      <p:sp>
        <p:nvSpPr>
          <p:cNvPr id="23" name="TextBox 22"/>
          <p:cNvSpPr txBox="1"/>
          <p:nvPr/>
        </p:nvSpPr>
        <p:spPr>
          <a:xfrm>
            <a:off x="8458200" y="472440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Still gated</a:t>
            </a:r>
          </a:p>
        </p:txBody>
      </p:sp>
      <p:sp>
        <p:nvSpPr>
          <p:cNvPr id="24" name="TextBox 23"/>
          <p:cNvSpPr txBox="1"/>
          <p:nvPr/>
        </p:nvSpPr>
        <p:spPr>
          <a:xfrm>
            <a:off x="8458200" y="509016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The job proposes; only your APPROVE publishes.</a:t>
            </a:r>
          </a:p>
        </p:txBody>
      </p:sp>
    </p:spTree>
  </p:cSld>
  <p:clrMapOvr>
    <a:masterClrMapping/>
  </p:clrMapOvr>
  <p:transition spd="med">
    <p:fade/>
  </p:transition>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LAB 3</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Run one approval cycle by hand</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86</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37360"/>
            <a:ext cx="7040880" cy="4480560"/>
          </a:xfrm>
          <a:prstGeom prst="roundRect">
            <a:avLst>
              <a:gd name="adj" fmla="val 3500"/>
            </a:avLst>
          </a:prstGeom>
          <a:solidFill>
            <a:srgbClr val="2B2924"/>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49808" y="1901952"/>
            <a:ext cx="118872" cy="118872"/>
          </a:xfrm>
          <a:prstGeom prst="ellipse">
            <a:avLst/>
          </a:prstGeom>
          <a:solidFill>
            <a:srgbClr val="E06C5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69264" y="1901952"/>
            <a:ext cx="118872" cy="118872"/>
          </a:xfrm>
          <a:prstGeom prst="ellipse">
            <a:avLst/>
          </a:prstGeom>
          <a:solidFill>
            <a:srgbClr val="E5B45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88719" y="1901952"/>
            <a:ext cx="118872" cy="118872"/>
          </a:xfrm>
          <a:prstGeom prst="ellipse">
            <a:avLst/>
          </a:prstGeom>
          <a:solidFill>
            <a:srgbClr val="7DB36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463040" y="1828800"/>
            <a:ext cx="5943600" cy="274320"/>
          </a:xfrm>
          <a:prstGeom prst="rect">
            <a:avLst/>
          </a:prstGeom>
          <a:noFill/>
        </p:spPr>
        <p:txBody>
          <a:bodyPr wrap="square" lIns="36576" rIns="36576" tIns="18288" bIns="18288" anchor="t">
            <a:spAutoFit/>
          </a:bodyPr>
          <a:lstStyle/>
          <a:p>
            <a:pPr algn="l">
              <a:lnSpc>
                <a:spcPct val="112000"/>
              </a:lnSpc>
            </a:pPr>
            <a:r>
              <a:rPr sz="1000" b="0" i="0">
                <a:solidFill>
                  <a:srgbClr val="B9B4A9"/>
                </a:solidFill>
                <a:latin typeface="Calibri"/>
              </a:rPr>
              <a:t>PROMPT  ·  copy from the Lab Prompts page</a:t>
            </a:r>
          </a:p>
        </p:txBody>
      </p:sp>
      <p:sp>
        <p:nvSpPr>
          <p:cNvPr id="12" name="TextBox 11"/>
          <p:cNvSpPr txBox="1"/>
          <p:nvPr/>
        </p:nvSpPr>
        <p:spPr>
          <a:xfrm>
            <a:off x="777240" y="2194560"/>
            <a:ext cx="6583680" cy="3913632"/>
          </a:xfrm>
          <a:prstGeom prst="rect">
            <a:avLst/>
          </a:prstGeom>
          <a:noFill/>
        </p:spPr>
        <p:txBody>
          <a:bodyPr wrap="square" lIns="36576" rIns="36576" tIns="18288" bIns="18288" anchor="t">
            <a:spAutoFit/>
          </a:bodyPr>
          <a:lstStyle/>
          <a:p>
            <a:pPr algn="l">
              <a:lnSpc>
                <a:spcPct val="110000"/>
              </a:lnSpc>
            </a:pPr>
            <a:r>
              <a:rPr sz="1300" b="0" i="0">
                <a:solidFill>
                  <a:srgbClr val="F1EDE4"/>
                </a:solidFill>
                <a:latin typeface="Consolas"/>
              </a:rPr>
              <a:t>Approval workflow for #ShiokColdBrew (standing rule - add it to ~/kopi-kaki/AGENTS.md too):</a:t>
            </a:r>
          </a:p>
          <a:p>
            <a:pPr algn="l">
              <a:lnSpc>
                <a:spcPct val="110000"/>
              </a:lnSpc>
            </a:pPr>
            <a:r>
              <a:rPr sz="1300" b="0" i="0">
                <a:solidFill>
                  <a:srgbClr val="F1EDE4"/>
                </a:solidFill>
                <a:latin typeface="Consolas"/>
              </a:rPr>
              <a:t>1. Take the next post with status "draft" from ~/kopi-kaki/outputs/lab02/content-calendar-v2.csv, set its status to "pending-approval" and send it to me here with its post id, image, platform and date. End with: Reply APPROVE &lt;post_id&gt;, EDIT &lt;post_id&gt;: &lt;changes&gt; or REJECT &lt;post_id&gt;.</a:t>
            </a:r>
          </a:p>
          <a:p>
            <a:pPr algn="l">
              <a:lnSpc>
                <a:spcPct val="110000"/>
              </a:lnSpc>
            </a:pPr>
            <a:r>
              <a:rPr sz="1300" b="0" i="0">
                <a:solidFill>
                  <a:srgbClr val="F1EDE4"/>
                </a:solidFill>
                <a:latin typeface="Consolas"/>
              </a:rPr>
              <a:t>2. Whenever I reply APPROVE &lt;post_id&gt;, read that row from the CSV - it must say "pending-approval" - then post the caption and image to telegram:&lt;channel_id&gt;, set the status to "published" and append a row to ~/kopi-kaki/outputs/lab03/approval-log.csv.</a:t>
            </a:r>
          </a:p>
          <a:p>
            <a:pPr algn="l">
              <a:lnSpc>
                <a:spcPct val="110000"/>
              </a:lnSpc>
            </a:pPr>
            <a:r>
              <a:rPr sz="1300" b="0" i="0">
                <a:solidFill>
                  <a:srgbClr val="F1EDE4"/>
                </a:solidFill>
                <a:latin typeface="Consolas"/>
              </a:rPr>
              <a:t>3. EDIT: apply my changes, re-check with kopi-brand-voice, keep "pending-approval" and send it again. REJECT: set "rejected" and log it.</a:t>
            </a:r>
          </a:p>
          <a:p>
            <a:pPr algn="l">
              <a:lnSpc>
                <a:spcPct val="110000"/>
              </a:lnSpc>
            </a:pPr>
            <a:r>
              <a:rPr sz="1300" b="0" i="0">
                <a:solidFill>
                  <a:srgbClr val="F1EDE4"/>
                </a:solidFill>
                <a:latin typeface="Consolas"/>
              </a:rPr>
              <a:t>4. Never publish a row that is not "pending-approval" and never without my APPROVE.</a:t>
            </a:r>
          </a:p>
        </p:txBody>
      </p:sp>
      <p:sp>
        <p:nvSpPr>
          <p:cNvPr id="13" name="Oval 12"/>
          <p:cNvSpPr/>
          <p:nvPr/>
        </p:nvSpPr>
        <p:spPr>
          <a:xfrm>
            <a:off x="7863840" y="177393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chat-FFFFFF.png"/>
          <p:cNvPicPr>
            <a:picLocks noChangeAspect="1"/>
          </p:cNvPicPr>
          <p:nvPr/>
        </p:nvPicPr>
        <p:blipFill>
          <a:blip r:embed="rId2"/>
          <a:stretch>
            <a:fillRect/>
          </a:stretch>
        </p:blipFill>
        <p:spPr>
          <a:xfrm>
            <a:off x="7973567" y="1883664"/>
            <a:ext cx="237744" cy="237744"/>
          </a:xfrm>
          <a:prstGeom prst="rect">
            <a:avLst/>
          </a:prstGeom>
        </p:spPr>
      </p:pic>
      <p:sp>
        <p:nvSpPr>
          <p:cNvPr id="15" name="TextBox 14"/>
          <p:cNvSpPr txBox="1"/>
          <p:nvPr/>
        </p:nvSpPr>
        <p:spPr>
          <a:xfrm>
            <a:off x="8458200" y="173736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Paste into</a:t>
            </a:r>
          </a:p>
        </p:txBody>
      </p:sp>
      <p:sp>
        <p:nvSpPr>
          <p:cNvPr id="16" name="TextBox 15"/>
          <p:cNvSpPr txBox="1"/>
          <p:nvPr/>
        </p:nvSpPr>
        <p:spPr>
          <a:xfrm>
            <a:off x="8458200" y="210312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Telegram → your bot</a:t>
            </a:r>
          </a:p>
        </p:txBody>
      </p:sp>
      <p:sp>
        <p:nvSpPr>
          <p:cNvPr id="17" name="Oval 16"/>
          <p:cNvSpPr/>
          <p:nvPr/>
        </p:nvSpPr>
        <p:spPr>
          <a:xfrm>
            <a:off x="7863840" y="326745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check-FFFFFF.png"/>
          <p:cNvPicPr>
            <a:picLocks noChangeAspect="1"/>
          </p:cNvPicPr>
          <p:nvPr/>
        </p:nvPicPr>
        <p:blipFill>
          <a:blip r:embed="rId3"/>
          <a:stretch>
            <a:fillRect/>
          </a:stretch>
        </p:blipFill>
        <p:spPr>
          <a:xfrm>
            <a:off x="7973567" y="3377184"/>
            <a:ext cx="237744" cy="237744"/>
          </a:xfrm>
          <a:prstGeom prst="rect">
            <a:avLst/>
          </a:prstGeom>
        </p:spPr>
      </p:pic>
      <p:sp>
        <p:nvSpPr>
          <p:cNvPr id="19" name="TextBox 18"/>
          <p:cNvSpPr txBox="1"/>
          <p:nvPr/>
        </p:nvSpPr>
        <p:spPr>
          <a:xfrm>
            <a:off x="8458200" y="323088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Expect</a:t>
            </a:r>
          </a:p>
        </p:txBody>
      </p:sp>
      <p:sp>
        <p:nvSpPr>
          <p:cNvPr id="20" name="TextBox 19"/>
          <p:cNvSpPr txBox="1"/>
          <p:nvPr/>
        </p:nvSpPr>
        <p:spPr>
          <a:xfrm>
            <a:off x="8458200" y="359664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You receive the draft with its post id; after APPROVE &lt;post_id&gt; it appears in the channel, the CSV says published and approval-log.csv has a row.</a:t>
            </a:r>
          </a:p>
        </p:txBody>
      </p:sp>
      <p:sp>
        <p:nvSpPr>
          <p:cNvPr id="21" name="Oval 20"/>
          <p:cNvSpPr/>
          <p:nvPr/>
        </p:nvSpPr>
        <p:spPr>
          <a:xfrm>
            <a:off x="7863840" y="476097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hand-FFFFFF.png"/>
          <p:cNvPicPr>
            <a:picLocks noChangeAspect="1"/>
          </p:cNvPicPr>
          <p:nvPr/>
        </p:nvPicPr>
        <p:blipFill>
          <a:blip r:embed="rId4"/>
          <a:stretch>
            <a:fillRect/>
          </a:stretch>
        </p:blipFill>
        <p:spPr>
          <a:xfrm>
            <a:off x="7973567" y="4870704"/>
            <a:ext cx="237744" cy="237744"/>
          </a:xfrm>
          <a:prstGeom prst="rect">
            <a:avLst/>
          </a:prstGeom>
        </p:spPr>
      </p:pic>
      <p:sp>
        <p:nvSpPr>
          <p:cNvPr id="23" name="TextBox 22"/>
          <p:cNvSpPr txBox="1"/>
          <p:nvPr/>
        </p:nvSpPr>
        <p:spPr>
          <a:xfrm>
            <a:off x="8458200" y="472440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You decide</a:t>
            </a:r>
          </a:p>
        </p:txBody>
      </p:sp>
      <p:sp>
        <p:nvSpPr>
          <p:cNvPr id="24" name="TextBox 23"/>
          <p:cNvSpPr txBox="1"/>
          <p:nvPr/>
        </p:nvSpPr>
        <p:spPr>
          <a:xfrm>
            <a:off x="8458200" y="509016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Approve, edit or reject every post; decide every escalation</a:t>
            </a:r>
          </a:p>
        </p:txBody>
      </p:sp>
    </p:spTree>
  </p:cSld>
  <p:clrMapOvr>
    <a:masterClrMapping/>
  </p:clrMapOvr>
  <p:transition spd="med">
    <p:fade/>
  </p:transition>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LAB 3</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Triage the comment inbox with escalation rules</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87</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37360"/>
            <a:ext cx="7040880" cy="4480560"/>
          </a:xfrm>
          <a:prstGeom prst="roundRect">
            <a:avLst>
              <a:gd name="adj" fmla="val 3500"/>
            </a:avLst>
          </a:prstGeom>
          <a:solidFill>
            <a:srgbClr val="2B2924"/>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49808" y="1901952"/>
            <a:ext cx="118872" cy="118872"/>
          </a:xfrm>
          <a:prstGeom prst="ellipse">
            <a:avLst/>
          </a:prstGeom>
          <a:solidFill>
            <a:srgbClr val="E06C5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69264" y="1901952"/>
            <a:ext cx="118872" cy="118872"/>
          </a:xfrm>
          <a:prstGeom prst="ellipse">
            <a:avLst/>
          </a:prstGeom>
          <a:solidFill>
            <a:srgbClr val="E5B45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88719" y="1901952"/>
            <a:ext cx="118872" cy="118872"/>
          </a:xfrm>
          <a:prstGeom prst="ellipse">
            <a:avLst/>
          </a:prstGeom>
          <a:solidFill>
            <a:srgbClr val="7DB36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463040" y="1828800"/>
            <a:ext cx="5943600" cy="274320"/>
          </a:xfrm>
          <a:prstGeom prst="rect">
            <a:avLst/>
          </a:prstGeom>
          <a:noFill/>
        </p:spPr>
        <p:txBody>
          <a:bodyPr wrap="square" lIns="36576" rIns="36576" tIns="18288" bIns="18288" anchor="t">
            <a:spAutoFit/>
          </a:bodyPr>
          <a:lstStyle/>
          <a:p>
            <a:pPr algn="l">
              <a:lnSpc>
                <a:spcPct val="112000"/>
              </a:lnSpc>
            </a:pPr>
            <a:r>
              <a:rPr sz="1000" b="0" i="0">
                <a:solidFill>
                  <a:srgbClr val="B9B4A9"/>
                </a:solidFill>
                <a:latin typeface="Calibri"/>
              </a:rPr>
              <a:t>PROMPT  ·  copy from the Lab Prompts page</a:t>
            </a:r>
          </a:p>
        </p:txBody>
      </p:sp>
      <p:sp>
        <p:nvSpPr>
          <p:cNvPr id="12" name="TextBox 11"/>
          <p:cNvSpPr txBox="1"/>
          <p:nvPr/>
        </p:nvSpPr>
        <p:spPr>
          <a:xfrm>
            <a:off x="777240" y="2194560"/>
            <a:ext cx="6583680" cy="3913632"/>
          </a:xfrm>
          <a:prstGeom prst="rect">
            <a:avLst/>
          </a:prstGeom>
          <a:noFill/>
        </p:spPr>
        <p:txBody>
          <a:bodyPr wrap="square" lIns="36576" rIns="36576" tIns="18288" bIns="18288" anchor="t">
            <a:spAutoFit/>
          </a:bodyPr>
          <a:lstStyle/>
          <a:p>
            <a:pPr algn="l">
              <a:lnSpc>
                <a:spcPct val="110000"/>
              </a:lnSpc>
            </a:pPr>
            <a:r>
              <a:rPr sz="1300" b="0" i="0">
                <a:solidFill>
                  <a:srgbClr val="F1EDE4"/>
                </a:solidFill>
                <a:latin typeface="Consolas"/>
              </a:rPr>
              <a:t>Triage ~/kopi-kaki/social-comments.csv using compliance-rules.md.</a:t>
            </a:r>
          </a:p>
          <a:p>
            <a:pPr algn="l">
              <a:lnSpc>
                <a:spcPct val="110000"/>
              </a:lnSpc>
            </a:pPr>
            <a:r>
              <a:rPr sz="1300" b="0" i="0">
                <a:solidFill>
                  <a:srgbClr val="F1EDE4"/>
                </a:solidFill>
                <a:latin typeface="Consolas"/>
              </a:rPr>
              <a:t>For each comment decide: REPLY (safe FAQ), IGNORE (spam) or ESCALATE (food safety, allergy, legal threat, billing/refund, media enquiry, halal question, health claim question, anything uncertain).</a:t>
            </a:r>
          </a:p>
          <a:p>
            <a:pPr algn="l">
              <a:lnSpc>
                <a:spcPct val="110000"/>
              </a:lnSpc>
            </a:pPr>
            <a:r>
              <a:rPr sz="1300" b="0" i="0">
                <a:solidFill>
                  <a:srgbClr val="F1EDE4"/>
                </a:solidFill>
                <a:latin typeface="Consolas"/>
              </a:rPr>
              <a:t>- For REPLY: draft a reply in the kopi-brand-voice skill.</a:t>
            </a:r>
          </a:p>
          <a:p>
            <a:pPr algn="l">
              <a:lnSpc>
                <a:spcPct val="110000"/>
              </a:lnSpc>
            </a:pPr>
            <a:r>
              <a:rPr sz="1300" b="0" i="0">
                <a:solidFill>
                  <a:srgbClr val="F1EDE4"/>
                </a:solidFill>
                <a:latin typeface="Consolas"/>
              </a:rPr>
              <a:t>- For ESCALATE: do NOT draft a public reply. Mask all personal data (names, phone numbers) and recommend the next step.</a:t>
            </a:r>
          </a:p>
          <a:p>
            <a:pPr algn="l">
              <a:lnSpc>
                <a:spcPct val="110000"/>
              </a:lnSpc>
            </a:pPr>
            <a:r>
              <a:rPr sz="1300" b="0" i="0">
                <a:solidFill>
                  <a:srgbClr val="F1EDE4"/>
                </a:solidFill>
                <a:latin typeface="Consolas"/>
              </a:rPr>
              <a:t>Save outputs/lab03/moderation-queue.csv (comment_id, decision, reason, draft_reply) and send me an escalation summary here.</a:t>
            </a:r>
          </a:p>
        </p:txBody>
      </p:sp>
      <p:sp>
        <p:nvSpPr>
          <p:cNvPr id="13" name="Oval 12"/>
          <p:cNvSpPr/>
          <p:nvPr/>
        </p:nvSpPr>
        <p:spPr>
          <a:xfrm>
            <a:off x="7863840" y="177393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chat-FFFFFF.png"/>
          <p:cNvPicPr>
            <a:picLocks noChangeAspect="1"/>
          </p:cNvPicPr>
          <p:nvPr/>
        </p:nvPicPr>
        <p:blipFill>
          <a:blip r:embed="rId2"/>
          <a:stretch>
            <a:fillRect/>
          </a:stretch>
        </p:blipFill>
        <p:spPr>
          <a:xfrm>
            <a:off x="7973567" y="1883664"/>
            <a:ext cx="237744" cy="237744"/>
          </a:xfrm>
          <a:prstGeom prst="rect">
            <a:avLst/>
          </a:prstGeom>
        </p:spPr>
      </p:pic>
      <p:sp>
        <p:nvSpPr>
          <p:cNvPr id="15" name="TextBox 14"/>
          <p:cNvSpPr txBox="1"/>
          <p:nvPr/>
        </p:nvSpPr>
        <p:spPr>
          <a:xfrm>
            <a:off x="8458200" y="173736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Paste into</a:t>
            </a:r>
          </a:p>
        </p:txBody>
      </p:sp>
      <p:sp>
        <p:nvSpPr>
          <p:cNvPr id="16" name="TextBox 15"/>
          <p:cNvSpPr txBox="1"/>
          <p:nvPr/>
        </p:nvSpPr>
        <p:spPr>
          <a:xfrm>
            <a:off x="8458200" y="210312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Telegram → your bot (or Hermes chat in ~/kopi-kaki)</a:t>
            </a:r>
          </a:p>
        </p:txBody>
      </p:sp>
      <p:sp>
        <p:nvSpPr>
          <p:cNvPr id="17" name="Oval 16"/>
          <p:cNvSpPr/>
          <p:nvPr/>
        </p:nvSpPr>
        <p:spPr>
          <a:xfrm>
            <a:off x="7863840" y="326745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check-FFFFFF.png"/>
          <p:cNvPicPr>
            <a:picLocks noChangeAspect="1"/>
          </p:cNvPicPr>
          <p:nvPr/>
        </p:nvPicPr>
        <p:blipFill>
          <a:blip r:embed="rId3"/>
          <a:stretch>
            <a:fillRect/>
          </a:stretch>
        </p:blipFill>
        <p:spPr>
          <a:xfrm>
            <a:off x="7973567" y="3377184"/>
            <a:ext cx="237744" cy="237744"/>
          </a:xfrm>
          <a:prstGeom prst="rect">
            <a:avLst/>
          </a:prstGeom>
        </p:spPr>
      </p:pic>
      <p:sp>
        <p:nvSpPr>
          <p:cNvPr id="19" name="TextBox 18"/>
          <p:cNvSpPr txBox="1"/>
          <p:nvPr/>
        </p:nvSpPr>
        <p:spPr>
          <a:xfrm>
            <a:off x="8458200" y="323088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Expect</a:t>
            </a:r>
          </a:p>
        </p:txBody>
      </p:sp>
      <p:sp>
        <p:nvSpPr>
          <p:cNvPr id="20" name="TextBox 19"/>
          <p:cNvSpPr txBox="1"/>
          <p:nvPr/>
        </p:nvSpPr>
        <p:spPr>
          <a:xfrm>
            <a:off x="8458200" y="359664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7 escalations summarised on Telegram with phone numbers masked; safe replies drafted.</a:t>
            </a:r>
          </a:p>
        </p:txBody>
      </p:sp>
      <p:sp>
        <p:nvSpPr>
          <p:cNvPr id="21" name="Oval 20"/>
          <p:cNvSpPr/>
          <p:nvPr/>
        </p:nvSpPr>
        <p:spPr>
          <a:xfrm>
            <a:off x="7863840" y="476097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hand-FFFFFF.png"/>
          <p:cNvPicPr>
            <a:picLocks noChangeAspect="1"/>
          </p:cNvPicPr>
          <p:nvPr/>
        </p:nvPicPr>
        <p:blipFill>
          <a:blip r:embed="rId4"/>
          <a:stretch>
            <a:fillRect/>
          </a:stretch>
        </p:blipFill>
        <p:spPr>
          <a:xfrm>
            <a:off x="7973567" y="4870704"/>
            <a:ext cx="237744" cy="237744"/>
          </a:xfrm>
          <a:prstGeom prst="rect">
            <a:avLst/>
          </a:prstGeom>
        </p:spPr>
      </p:pic>
      <p:sp>
        <p:nvSpPr>
          <p:cNvPr id="23" name="TextBox 22"/>
          <p:cNvSpPr txBox="1"/>
          <p:nvPr/>
        </p:nvSpPr>
        <p:spPr>
          <a:xfrm>
            <a:off x="8458200" y="472440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You decide</a:t>
            </a:r>
          </a:p>
        </p:txBody>
      </p:sp>
      <p:sp>
        <p:nvSpPr>
          <p:cNvPr id="24" name="TextBox 23"/>
          <p:cNvSpPr txBox="1"/>
          <p:nvPr/>
        </p:nvSpPr>
        <p:spPr>
          <a:xfrm>
            <a:off x="8458200" y="509016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Approve, edit or reject every post; decide every escalation</a:t>
            </a:r>
          </a:p>
        </p:txBody>
      </p:sp>
    </p:spTree>
  </p:cSld>
  <p:clrMapOvr>
    <a:masterClrMapping/>
  </p:clrMapOvr>
  <p:transition spd="med">
    <p:fade/>
  </p:transition>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LAB 3</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Lab 3 — Checkpoint &amp; Reflection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88</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check-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Verify</a:t>
            </a:r>
          </a:p>
        </p:txBody>
      </p:sp>
      <p:sp>
        <p:nvSpPr>
          <p:cNvPr id="10" name="TextBox 9"/>
          <p:cNvSpPr txBox="1"/>
          <p:nvPr/>
        </p:nvSpPr>
        <p:spPr>
          <a:xfrm>
            <a:off x="1371600" y="2084831"/>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Bot replies only to your allow-listed user ID</a:t>
            </a:r>
          </a:p>
        </p:txBody>
      </p:sp>
      <p:sp>
        <p:nvSpPr>
          <p:cNvPr id="11" name="Oval 10"/>
          <p:cNvSpPr/>
          <p:nvPr/>
        </p:nvSpPr>
        <p:spPr>
          <a:xfrm>
            <a:off x="640080" y="2679191"/>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check-FFFFFF.png"/>
          <p:cNvPicPr>
            <a:picLocks noChangeAspect="1"/>
          </p:cNvPicPr>
          <p:nvPr/>
        </p:nvPicPr>
        <p:blipFill>
          <a:blip r:embed="rId2"/>
          <a:stretch>
            <a:fillRect/>
          </a:stretch>
        </p:blipFill>
        <p:spPr>
          <a:xfrm>
            <a:off x="771753" y="2810865"/>
            <a:ext cx="285292" cy="285292"/>
          </a:xfrm>
          <a:prstGeom prst="rect">
            <a:avLst/>
          </a:prstGeom>
        </p:spPr>
      </p:pic>
      <p:sp>
        <p:nvSpPr>
          <p:cNvPr id="13" name="TextBox 12"/>
          <p:cNvSpPr txBox="1"/>
          <p:nvPr/>
        </p:nvSpPr>
        <p:spPr>
          <a:xfrm>
            <a:off x="1371600" y="2624327"/>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Verify</a:t>
            </a:r>
          </a:p>
        </p:txBody>
      </p:sp>
      <p:sp>
        <p:nvSpPr>
          <p:cNvPr id="14" name="TextBox 13"/>
          <p:cNvSpPr txBox="1"/>
          <p:nvPr/>
        </p:nvSpPr>
        <p:spPr>
          <a:xfrm>
            <a:off x="1371600" y="2990087"/>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Every published post has an APPROVE row in approval-log.csv and its CSV status went pending-approval → published</a:t>
            </a:r>
          </a:p>
        </p:txBody>
      </p:sp>
      <p:sp>
        <p:nvSpPr>
          <p:cNvPr id="15" name="Oval 14"/>
          <p:cNvSpPr/>
          <p:nvPr/>
        </p:nvSpPr>
        <p:spPr>
          <a:xfrm>
            <a:off x="640080" y="358444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check-FFFFFF.png"/>
          <p:cNvPicPr>
            <a:picLocks noChangeAspect="1"/>
          </p:cNvPicPr>
          <p:nvPr/>
        </p:nvPicPr>
        <p:blipFill>
          <a:blip r:embed="rId2"/>
          <a:stretch>
            <a:fillRect/>
          </a:stretch>
        </p:blipFill>
        <p:spPr>
          <a:xfrm>
            <a:off x="771753" y="3716121"/>
            <a:ext cx="285292" cy="285292"/>
          </a:xfrm>
          <a:prstGeom prst="rect">
            <a:avLst/>
          </a:prstGeom>
        </p:spPr>
      </p:pic>
      <p:sp>
        <p:nvSpPr>
          <p:cNvPr id="17" name="TextBox 16"/>
          <p:cNvSpPr txBox="1"/>
          <p:nvPr/>
        </p:nvSpPr>
        <p:spPr>
          <a:xfrm>
            <a:off x="1371600" y="352958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Verify</a:t>
            </a:r>
          </a:p>
        </p:txBody>
      </p:sp>
      <p:sp>
        <p:nvSpPr>
          <p:cNvPr id="18" name="TextBox 17"/>
          <p:cNvSpPr txBox="1"/>
          <p:nvPr/>
        </p:nvSpPr>
        <p:spPr>
          <a:xfrm>
            <a:off x="1371600" y="3895344"/>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`hermes cron list` shows daily-post-approval</a:t>
            </a:r>
          </a:p>
        </p:txBody>
      </p:sp>
      <p:sp>
        <p:nvSpPr>
          <p:cNvPr id="19" name="Oval 18"/>
          <p:cNvSpPr/>
          <p:nvPr/>
        </p:nvSpPr>
        <p:spPr>
          <a:xfrm>
            <a:off x="640080" y="4489703"/>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lightbulb-FFFFFF.png"/>
          <p:cNvPicPr>
            <a:picLocks noChangeAspect="1"/>
          </p:cNvPicPr>
          <p:nvPr/>
        </p:nvPicPr>
        <p:blipFill>
          <a:blip r:embed="rId3"/>
          <a:stretch>
            <a:fillRect/>
          </a:stretch>
        </p:blipFill>
        <p:spPr>
          <a:xfrm>
            <a:off x="771753" y="4621377"/>
            <a:ext cx="285292" cy="285292"/>
          </a:xfrm>
          <a:prstGeom prst="rect">
            <a:avLst/>
          </a:prstGeom>
        </p:spPr>
      </p:pic>
      <p:sp>
        <p:nvSpPr>
          <p:cNvPr id="21" name="TextBox 20"/>
          <p:cNvSpPr txBox="1"/>
          <p:nvPr/>
        </p:nvSpPr>
        <p:spPr>
          <a:xfrm>
            <a:off x="1371600" y="4434840"/>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Concepts in action</a:t>
            </a:r>
          </a:p>
        </p:txBody>
      </p:sp>
      <p:sp>
        <p:nvSpPr>
          <p:cNvPr id="22" name="TextBox 21"/>
          <p:cNvSpPr txBox="1"/>
          <p:nvPr/>
        </p:nvSpPr>
        <p:spPr>
          <a:xfrm>
            <a:off x="1371600" y="4800599"/>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Human-in-the-loop (approve before acting) vs human-on-the-loop (monitor and intervene)  ·  Escalation rules turn policy into agent behaviour</a:t>
            </a:r>
          </a:p>
        </p:txBody>
      </p:sp>
      <p:sp>
        <p:nvSpPr>
          <p:cNvPr id="23" name="Oval 22"/>
          <p:cNvSpPr/>
          <p:nvPr/>
        </p:nvSpPr>
        <p:spPr>
          <a:xfrm>
            <a:off x="640080" y="5394959"/>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rocket-FFFFFF.png"/>
          <p:cNvPicPr>
            <a:picLocks noChangeAspect="1"/>
          </p:cNvPicPr>
          <p:nvPr/>
        </p:nvPicPr>
        <p:blipFill>
          <a:blip r:embed="rId4"/>
          <a:stretch>
            <a:fillRect/>
          </a:stretch>
        </p:blipFill>
        <p:spPr>
          <a:xfrm>
            <a:off x="771753" y="5526633"/>
            <a:ext cx="285292" cy="285292"/>
          </a:xfrm>
          <a:prstGeom prst="rect">
            <a:avLst/>
          </a:prstGeom>
        </p:spPr>
      </p:pic>
      <p:sp>
        <p:nvSpPr>
          <p:cNvPr id="25" name="TextBox 24"/>
          <p:cNvSpPr txBox="1"/>
          <p:nvPr/>
        </p:nvSpPr>
        <p:spPr>
          <a:xfrm>
            <a:off x="1371600" y="534009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Stretch challenge</a:t>
            </a:r>
          </a:p>
        </p:txBody>
      </p:sp>
      <p:sp>
        <p:nvSpPr>
          <p:cNvPr id="26" name="TextBox 25"/>
          <p:cNvSpPr txBox="1"/>
          <p:nvPr/>
        </p:nvSpPr>
        <p:spPr>
          <a:xfrm>
            <a:off x="1371600" y="5705855"/>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Add a second gate: a post that mentions a price or promo must be approved twice (you and a colleague's Telegram ID). How would you express that rule, and what does it cost in speed?</a:t>
            </a:r>
          </a:p>
        </p:txBody>
      </p:sp>
    </p:spTree>
  </p:cSld>
  <p:clrMapOvr>
    <a:masterClrMapping/>
  </p:clrMapOvr>
  <p:transition spd="med">
    <p:fade/>
  </p:transition>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LAB 4</a:t>
            </a:r>
          </a:p>
        </p:txBody>
      </p:sp>
      <p:sp>
        <p:nvSpPr>
          <p:cNvPr id="3" name="TextBox 2"/>
          <p:cNvSpPr txBox="1"/>
          <p:nvPr/>
        </p:nvSpPr>
        <p:spPr>
          <a:xfrm>
            <a:off x="548640" y="621792"/>
            <a:ext cx="11064240" cy="932688"/>
          </a:xfrm>
          <a:prstGeom prst="rect">
            <a:avLst/>
          </a:prstGeom>
          <a:noFill/>
        </p:spPr>
        <p:txBody>
          <a:bodyPr wrap="square" lIns="36576" rIns="36576" tIns="18288" bIns="18288" anchor="t">
            <a:spAutoFit/>
          </a:bodyPr>
          <a:lstStyle/>
          <a:p>
            <a:pPr algn="l">
              <a:lnSpc>
                <a:spcPct val="100000"/>
              </a:lnSpc>
            </a:pPr>
            <a:r>
              <a:rPr sz="2400" b="1" i="0">
                <a:solidFill>
                  <a:srgbClr val="21201C"/>
                </a:solidFill>
                <a:latin typeface="Cambria"/>
              </a:rPr>
              <a:t>Lab 4 — Multi-Agent Video Studio — Research </a:t>
            </a:r>
            <a:r>
              <a:rPr sz="2400" b="1" i="0">
                <a:solidFill>
                  <a:srgbClr val="21201C"/>
                </a:solidFill>
                <a:latin typeface="Calibri"/>
              </a:rPr>
              <a:t>→</a:t>
            </a:r>
            <a:r>
              <a:rPr sz="2400" b="1" i="0">
                <a:solidFill>
                  <a:srgbClr val="21201C"/>
                </a:solidFill>
                <a:latin typeface="Cambria"/>
              </a:rPr>
              <a:t> Script </a:t>
            </a:r>
            <a:r>
              <a:rPr sz="2400" b="1" i="0">
                <a:solidFill>
                  <a:srgbClr val="21201C"/>
                </a:solidFill>
                <a:latin typeface="Calibri"/>
              </a:rPr>
              <a:t>→</a:t>
            </a:r>
            <a:r>
              <a:rPr sz="2400" b="1" i="0">
                <a:solidFill>
                  <a:srgbClr val="21201C"/>
                </a:solidFill>
                <a:latin typeface="Cambria"/>
              </a:rPr>
              <a:t> Production </a:t>
            </a:r>
            <a:r>
              <a:rPr sz="2400" b="1" i="0">
                <a:solidFill>
                  <a:srgbClr val="21201C"/>
                </a:solidFill>
                <a:latin typeface="Calibri"/>
              </a:rPr>
              <a:t>→</a:t>
            </a:r>
            <a:r>
              <a:rPr sz="2400" b="1" i="0">
                <a:solidFill>
                  <a:srgbClr val="21201C"/>
                </a:solidFill>
                <a:latin typeface="Cambria"/>
              </a:rPr>
              <a:t> Audit </a:t>
            </a:r>
            <a:r>
              <a:rPr sz="2400" b="1" i="0">
                <a:solidFill>
                  <a:srgbClr val="21201C"/>
                </a:solidFill>
                <a:latin typeface="Calibri"/>
              </a:rPr>
              <a:t>→</a:t>
            </a:r>
            <a:r>
              <a:rPr sz="2400" b="1" i="0">
                <a:solidFill>
                  <a:srgbClr val="21201C"/>
                </a:solidFill>
                <a:latin typeface="Cambria"/>
              </a:rPr>
              <a:t> Publish</a:t>
            </a:r>
          </a:p>
        </p:txBody>
      </p:sp>
      <p:sp>
        <p:nvSpPr>
          <p:cNvPr id="4" name="TextBox 3"/>
          <p:cNvSpPr txBox="1"/>
          <p:nvPr/>
        </p:nvSpPr>
        <p:spPr>
          <a:xfrm>
            <a:off x="548640" y="1609344"/>
            <a:ext cx="11064240" cy="548640"/>
          </a:xfrm>
          <a:prstGeom prst="rect">
            <a:avLst/>
          </a:prstGeom>
          <a:noFill/>
        </p:spPr>
        <p:txBody>
          <a:bodyPr wrap="square" lIns="36576" rIns="36576" tIns="18288" bIns="18288" anchor="t">
            <a:spAutoFit/>
          </a:bodyPr>
          <a:lstStyle/>
          <a:p>
            <a:pPr algn="l">
              <a:lnSpc>
                <a:spcPct val="112000"/>
              </a:lnSpc>
            </a:pPr>
            <a:r>
              <a:rPr sz="1500" b="0" i="0">
                <a:solidFill>
                  <a:srgbClr val="21201C"/>
                </a:solidFill>
                <a:latin typeface="Calibri"/>
              </a:rPr>
              <a:t>Build a five-agent production team on the Kanban board, render a real 25-second vertical video with HyperFrames, let an auditor agent check it, and approve it yourself before it publishes.</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89</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240280"/>
            <a:ext cx="5760720" cy="3931920"/>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822960" y="251460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video-FFFFFF.png"/>
          <p:cNvPicPr>
            <a:picLocks noChangeAspect="1"/>
          </p:cNvPicPr>
          <p:nvPr/>
        </p:nvPicPr>
        <p:blipFill>
          <a:blip r:embed="rId2"/>
          <a:stretch>
            <a:fillRect/>
          </a:stretch>
        </p:blipFill>
        <p:spPr>
          <a:xfrm>
            <a:off x="954633" y="2646273"/>
            <a:ext cx="285292" cy="285292"/>
          </a:xfrm>
          <a:prstGeom prst="rect">
            <a:avLst/>
          </a:prstGeom>
        </p:spPr>
      </p:pic>
      <p:sp>
        <p:nvSpPr>
          <p:cNvPr id="11" name="TextBox 10"/>
          <p:cNvSpPr txBox="1"/>
          <p:nvPr/>
        </p:nvSpPr>
        <p:spPr>
          <a:xfrm>
            <a:off x="1508760" y="2532888"/>
            <a:ext cx="4572000" cy="512064"/>
          </a:xfrm>
          <a:prstGeom prst="rect">
            <a:avLst/>
          </a:prstGeom>
          <a:noFill/>
        </p:spPr>
        <p:txBody>
          <a:bodyPr wrap="square" lIns="36576" rIns="36576" tIns="18288" bIns="18288" anchor="ctr">
            <a:spAutoFit/>
          </a:bodyPr>
          <a:lstStyle/>
          <a:p>
            <a:pPr algn="l">
              <a:lnSpc>
                <a:spcPct val="112000"/>
              </a:lnSpc>
            </a:pPr>
            <a:r>
              <a:rPr sz="1800" b="1" i="0">
                <a:solidFill>
                  <a:srgbClr val="FFFFFF"/>
                </a:solidFill>
                <a:latin typeface="Cambria"/>
              </a:rPr>
              <a:t>The business scenario</a:t>
            </a:r>
          </a:p>
        </p:txBody>
      </p:sp>
      <p:sp>
        <p:nvSpPr>
          <p:cNvPr id="12" name="TextBox 11"/>
          <p:cNvSpPr txBox="1"/>
          <p:nvPr/>
        </p:nvSpPr>
        <p:spPr>
          <a:xfrm>
            <a:off x="822960" y="3246120"/>
            <a:ext cx="5257800" cy="2788920"/>
          </a:xfrm>
          <a:prstGeom prst="rect">
            <a:avLst/>
          </a:prstGeom>
          <a:noFill/>
        </p:spPr>
        <p:txBody>
          <a:bodyPr wrap="square" lIns="36576" rIns="36576" tIns="18288" bIns="18288" anchor="t">
            <a:spAutoFit/>
          </a:bodyPr>
          <a:lstStyle/>
          <a:p>
            <a:pPr algn="l">
              <a:lnSpc>
                <a:spcPct val="120000"/>
              </a:lnSpc>
            </a:pPr>
            <a:r>
              <a:rPr sz="1400" b="0" i="0">
                <a:solidFill>
                  <a:srgbClr val="C9C4B9"/>
                </a:solidFill>
                <a:latin typeface="Calibri"/>
              </a:rPr>
              <a:t>The campaign needs a 25-second TikTok/Reels launch video. One agent doing everything is slow, expensive and hard to review, so you staff a studio: a researcher finds the hook, a scriptwriter writes it, a producer renders it, an auditor checks it against the brand and compliance rules, and a publisher prepares and posts it — but only after you approve the cut.</a:t>
            </a:r>
          </a:p>
        </p:txBody>
      </p:sp>
      <p:sp>
        <p:nvSpPr>
          <p:cNvPr id="13" name="Rounded Rectangle 12"/>
          <p:cNvSpPr/>
          <p:nvPr/>
        </p:nvSpPr>
        <p:spPr>
          <a:xfrm>
            <a:off x="6492240" y="2240280"/>
            <a:ext cx="5120640" cy="23317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720840" y="2404872"/>
            <a:ext cx="4663440" cy="365760"/>
          </a:xfrm>
          <a:prstGeom prst="rect">
            <a:avLst/>
          </a:prstGeom>
          <a:noFill/>
        </p:spPr>
        <p:txBody>
          <a:bodyPr wrap="square" lIns="36576" rIns="36576" tIns="18288" bIns="18288" anchor="t">
            <a:spAutoFit/>
          </a:bodyPr>
          <a:lstStyle/>
          <a:p>
            <a:pPr algn="l">
              <a:lnSpc>
                <a:spcPct val="112000"/>
              </a:lnSpc>
            </a:pPr>
            <a:r>
              <a:rPr sz="1600" b="1" i="0">
                <a:solidFill>
                  <a:srgbClr val="21201C"/>
                </a:solidFill>
                <a:latin typeface="Cambria"/>
              </a:rPr>
              <a:t>You will deliver</a:t>
            </a:r>
          </a:p>
        </p:txBody>
      </p:sp>
      <p:sp>
        <p:nvSpPr>
          <p:cNvPr id="15" name="TextBox 14"/>
          <p:cNvSpPr txBox="1"/>
          <p:nvPr/>
        </p:nvSpPr>
        <p:spPr>
          <a:xfrm>
            <a:off x="6720840" y="2807208"/>
            <a:ext cx="4709160" cy="1691640"/>
          </a:xfrm>
          <a:prstGeom prst="rect">
            <a:avLst/>
          </a:prstGeom>
          <a:noFill/>
        </p:spPr>
        <p:txBody>
          <a:bodyPr wrap="square" lIns="36576" rIns="36576" tIns="18288" bIns="18288" anchor="t">
            <a:spAutoFit/>
          </a:bodyPr>
          <a:lstStyle/>
          <a:p>
            <a:pPr algn="l">
              <a:lnSpc>
                <a:spcPct val="115000"/>
              </a:lnSpc>
            </a:pPr>
            <a:r>
              <a:rPr sz="1150" b="0" i="0">
                <a:solidFill>
                  <a:srgbClr val="6B6862"/>
                </a:solidFill>
                <a:latin typeface="Calibri"/>
              </a:rPr>
              <a:t>✓  5 Hermes profiles with routing descriptions (researcher, scriptwriter, producer, auditor, publisher)</a:t>
            </a:r>
          </a:p>
          <a:p>
            <a:pPr algn="l">
              <a:lnSpc>
                <a:spcPct val="115000"/>
              </a:lnSpc>
            </a:pPr>
            <a:r>
              <a:rPr sz="1150" b="0" i="0">
                <a:solidFill>
                  <a:srgbClr val="6B6862"/>
                </a:solidFill>
                <a:latin typeface="Calibri"/>
              </a:rPr>
              <a:t>✓  A Kanban task graph with dependencies and a human gate before publishing</a:t>
            </a:r>
          </a:p>
          <a:p>
            <a:pPr algn="l">
              <a:lnSpc>
                <a:spcPct val="115000"/>
              </a:lnSpc>
            </a:pPr>
            <a:r>
              <a:rPr sz="1150" b="0" i="0">
                <a:solidFill>
                  <a:srgbClr val="6B6862"/>
                </a:solidFill>
                <a:latin typeface="Calibri"/>
              </a:rPr>
              <a:t>✓  video-studio/research.md, script.md (scene list), output/final.mp4 (9:16)</a:t>
            </a:r>
          </a:p>
          <a:p>
            <a:pPr algn="l">
              <a:lnSpc>
                <a:spcPct val="115000"/>
              </a:lnSpc>
            </a:pPr>
            <a:r>
              <a:rPr sz="1150" b="0" i="0">
                <a:solidFill>
                  <a:srgbClr val="6B6862"/>
                </a:solidFill>
                <a:latin typeface="Calibri"/>
              </a:rPr>
              <a:t>✓  video-studio/audit-report.md — PASS/FAIL on V1–V9 and C1–C10</a:t>
            </a:r>
          </a:p>
          <a:p>
            <a:pPr algn="l">
              <a:lnSpc>
                <a:spcPct val="115000"/>
              </a:lnSpc>
            </a:pPr>
            <a:r>
              <a:rPr sz="1150" b="0" i="0">
                <a:solidFill>
                  <a:srgbClr val="6B6862"/>
                </a:solidFill>
                <a:latin typeface="Calibri"/>
              </a:rPr>
              <a:t>✓  video-studio/publish-package.md, reviewed by you, then the video posted once to your Telegram channel</a:t>
            </a:r>
          </a:p>
        </p:txBody>
      </p:sp>
      <p:sp>
        <p:nvSpPr>
          <p:cNvPr id="16" name="Rounded Rectangle 15"/>
          <p:cNvSpPr/>
          <p:nvPr/>
        </p:nvSpPr>
        <p:spPr>
          <a:xfrm>
            <a:off x="6492240" y="4727448"/>
            <a:ext cx="5120640" cy="1444752"/>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720840" y="4855464"/>
            <a:ext cx="4709160" cy="1234440"/>
          </a:xfrm>
          <a:prstGeom prst="rect">
            <a:avLst/>
          </a:prstGeom>
          <a:noFill/>
        </p:spPr>
        <p:txBody>
          <a:bodyPr wrap="square" lIns="36576" rIns="36576" tIns="18288" bIns="18288" anchor="t">
            <a:spAutoFit/>
          </a:bodyPr>
          <a:lstStyle/>
          <a:p>
            <a:pPr algn="l">
              <a:lnSpc>
                <a:spcPct val="115000"/>
              </a:lnSpc>
              <a:spcAft>
                <a:spcPts val="300"/>
              </a:spcAft>
            </a:pPr>
            <a:r>
              <a:rPr sz="1250" b="1" i="0">
                <a:solidFill>
                  <a:srgbClr val="D97757"/>
                </a:solidFill>
                <a:latin typeface="Calibri"/>
              </a:rPr>
              <a:t>Agents  </a:t>
            </a:r>
            <a:r>
              <a:rPr sz="1250" b="0" i="0">
                <a:solidFill>
                  <a:srgbClr val="6B6862"/>
                </a:solidFill>
                <a:latin typeface="Calibri"/>
              </a:rPr>
              <a:t>5 Hermes profiles coordinated by the Kanban board</a:t>
            </a:r>
          </a:p>
          <a:p>
            <a:pPr algn="l">
              <a:lnSpc>
                <a:spcPct val="115000"/>
              </a:lnSpc>
              <a:spcAft>
                <a:spcPts val="300"/>
              </a:spcAft>
            </a:pPr>
            <a:r>
              <a:rPr sz="1250" b="1" i="0">
                <a:solidFill>
                  <a:srgbClr val="D97757"/>
                </a:solidFill>
                <a:latin typeface="Calibri"/>
              </a:rPr>
              <a:t>Human role  </a:t>
            </a:r>
            <a:r>
              <a:rPr sz="1250" b="0" i="0">
                <a:solidFill>
                  <a:srgbClr val="6B6862"/>
                </a:solidFill>
                <a:latin typeface="Calibri"/>
              </a:rPr>
              <a:t>Review the cut and the publish package, then release the posting task (or send it back with comments)</a:t>
            </a:r>
          </a:p>
          <a:p>
            <a:pPr algn="l">
              <a:lnSpc>
                <a:spcPct val="115000"/>
              </a:lnSpc>
              <a:spcAft>
                <a:spcPts val="300"/>
              </a:spcAft>
            </a:pPr>
            <a:r>
              <a:rPr sz="1250" b="1" i="0">
                <a:solidFill>
                  <a:srgbClr val="D97757"/>
                </a:solidFill>
                <a:latin typeface="Calibri"/>
              </a:rPr>
              <a:t>Time  </a:t>
            </a:r>
            <a:r>
              <a:rPr sz="1250" b="0" i="0">
                <a:solidFill>
                  <a:srgbClr val="6B6862"/>
                </a:solidFill>
                <a:latin typeface="Calibri"/>
              </a:rPr>
              <a:t>60 min  ·  Multi-agent (ordered pipeline)  ·  labs/lab04-hermes-multi-agent-video-studio/</a:t>
            </a:r>
          </a:p>
        </p:txBody>
      </p:sp>
    </p:spTree>
  </p:cSld>
  <p:clrMapOvr>
    <a:masterClrMapping/>
  </p:clrMapOvr>
  <p:transition spd="med">
    <p:fade/>
  </p:transition>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LAB 4</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Lab 4 — How the workflow runs</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C9C4B9"/>
                </a:solidFill>
                <a:latin typeface="Calibri"/>
              </a:rPr>
              <a:t>Perception → reasoning → action, with you at the checkpoints.</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90</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sp>
        <p:nvSpPr>
          <p:cNvPr id="8" name="Rounded Rectangle 7"/>
          <p:cNvSpPr/>
          <p:nvPr/>
        </p:nvSpPr>
        <p:spPr>
          <a:xfrm>
            <a:off x="548640" y="2331720"/>
            <a:ext cx="1706879"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31520" y="2468879"/>
            <a:ext cx="1341119"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1</a:t>
            </a:r>
          </a:p>
        </p:txBody>
      </p:sp>
      <p:sp>
        <p:nvSpPr>
          <p:cNvPr id="10" name="Oval 9"/>
          <p:cNvSpPr/>
          <p:nvPr/>
        </p:nvSpPr>
        <p:spPr>
          <a:xfrm>
            <a:off x="731520"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search-FFFFFF.png"/>
          <p:cNvPicPr>
            <a:picLocks noChangeAspect="1"/>
          </p:cNvPicPr>
          <p:nvPr/>
        </p:nvPicPr>
        <p:blipFill>
          <a:blip r:embed="rId2"/>
          <a:stretch>
            <a:fillRect/>
          </a:stretch>
        </p:blipFill>
        <p:spPr>
          <a:xfrm>
            <a:off x="845637" y="2948757"/>
            <a:ext cx="247253" cy="247253"/>
          </a:xfrm>
          <a:prstGeom prst="rect">
            <a:avLst/>
          </a:prstGeom>
        </p:spPr>
      </p:pic>
      <p:sp>
        <p:nvSpPr>
          <p:cNvPr id="12" name="TextBox 11"/>
          <p:cNvSpPr txBox="1"/>
          <p:nvPr/>
        </p:nvSpPr>
        <p:spPr>
          <a:xfrm>
            <a:off x="731520" y="3410711"/>
            <a:ext cx="1386840"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Research</a:t>
            </a:r>
          </a:p>
        </p:txBody>
      </p:sp>
      <p:sp>
        <p:nvSpPr>
          <p:cNvPr id="13" name="TextBox 12"/>
          <p:cNvSpPr txBox="1"/>
          <p:nvPr/>
        </p:nvSpPr>
        <p:spPr>
          <a:xfrm>
            <a:off x="731520" y="3977639"/>
            <a:ext cx="1386840"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Hooks, trends, proof points (cited).</a:t>
            </a:r>
          </a:p>
        </p:txBody>
      </p:sp>
      <p:cxnSp>
        <p:nvCxnSpPr>
          <p:cNvPr id="14" name="Connector 13"/>
          <p:cNvCxnSpPr/>
          <p:nvPr/>
        </p:nvCxnSpPr>
        <p:spPr>
          <a:xfrm>
            <a:off x="2264663" y="3886200"/>
            <a:ext cx="146305"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2420112" y="2331720"/>
            <a:ext cx="1706879"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2602992" y="2468879"/>
            <a:ext cx="1341119"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2</a:t>
            </a:r>
          </a:p>
        </p:txBody>
      </p:sp>
      <p:sp>
        <p:nvSpPr>
          <p:cNvPr id="17" name="Oval 16"/>
          <p:cNvSpPr/>
          <p:nvPr/>
        </p:nvSpPr>
        <p:spPr>
          <a:xfrm>
            <a:off x="2602992"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pen-FFFFFF.png"/>
          <p:cNvPicPr>
            <a:picLocks noChangeAspect="1"/>
          </p:cNvPicPr>
          <p:nvPr/>
        </p:nvPicPr>
        <p:blipFill>
          <a:blip r:embed="rId3"/>
          <a:stretch>
            <a:fillRect/>
          </a:stretch>
        </p:blipFill>
        <p:spPr>
          <a:xfrm>
            <a:off x="2717109" y="2948757"/>
            <a:ext cx="247253" cy="247253"/>
          </a:xfrm>
          <a:prstGeom prst="rect">
            <a:avLst/>
          </a:prstGeom>
        </p:spPr>
      </p:pic>
      <p:sp>
        <p:nvSpPr>
          <p:cNvPr id="19" name="TextBox 18"/>
          <p:cNvSpPr txBox="1"/>
          <p:nvPr/>
        </p:nvSpPr>
        <p:spPr>
          <a:xfrm>
            <a:off x="2602992" y="3410711"/>
            <a:ext cx="1386840"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Script</a:t>
            </a:r>
          </a:p>
        </p:txBody>
      </p:sp>
      <p:sp>
        <p:nvSpPr>
          <p:cNvPr id="20" name="TextBox 19"/>
          <p:cNvSpPr txBox="1"/>
          <p:nvPr/>
        </p:nvSpPr>
        <p:spPr>
          <a:xfrm>
            <a:off x="2602992" y="3977639"/>
            <a:ext cx="1386840"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25 s script + 6-scene list.</a:t>
            </a:r>
          </a:p>
        </p:txBody>
      </p:sp>
      <p:cxnSp>
        <p:nvCxnSpPr>
          <p:cNvPr id="21" name="Connector 20"/>
          <p:cNvCxnSpPr/>
          <p:nvPr/>
        </p:nvCxnSpPr>
        <p:spPr>
          <a:xfrm>
            <a:off x="4136135" y="3886200"/>
            <a:ext cx="146304"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4291583" y="2331720"/>
            <a:ext cx="1706879"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4474463" y="2468879"/>
            <a:ext cx="1341119"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3</a:t>
            </a:r>
          </a:p>
        </p:txBody>
      </p:sp>
      <p:sp>
        <p:nvSpPr>
          <p:cNvPr id="24" name="Oval 23"/>
          <p:cNvSpPr/>
          <p:nvPr/>
        </p:nvSpPr>
        <p:spPr>
          <a:xfrm>
            <a:off x="4474463"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Picture 24" descr="film-FFFFFF.png"/>
          <p:cNvPicPr>
            <a:picLocks noChangeAspect="1"/>
          </p:cNvPicPr>
          <p:nvPr/>
        </p:nvPicPr>
        <p:blipFill>
          <a:blip r:embed="rId4"/>
          <a:stretch>
            <a:fillRect/>
          </a:stretch>
        </p:blipFill>
        <p:spPr>
          <a:xfrm>
            <a:off x="4588581" y="2948757"/>
            <a:ext cx="247253" cy="247253"/>
          </a:xfrm>
          <a:prstGeom prst="rect">
            <a:avLst/>
          </a:prstGeom>
        </p:spPr>
      </p:pic>
      <p:sp>
        <p:nvSpPr>
          <p:cNvPr id="26" name="TextBox 25"/>
          <p:cNvSpPr txBox="1"/>
          <p:nvPr/>
        </p:nvSpPr>
        <p:spPr>
          <a:xfrm>
            <a:off x="4474463" y="3410711"/>
            <a:ext cx="1386840"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Produce</a:t>
            </a:r>
          </a:p>
        </p:txBody>
      </p:sp>
      <p:sp>
        <p:nvSpPr>
          <p:cNvPr id="27" name="TextBox 26"/>
          <p:cNvSpPr txBox="1"/>
          <p:nvPr/>
        </p:nvSpPr>
        <p:spPr>
          <a:xfrm>
            <a:off x="4474463" y="3977639"/>
            <a:ext cx="1386840"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HyperFrames render → final.mp4.</a:t>
            </a:r>
          </a:p>
        </p:txBody>
      </p:sp>
      <p:cxnSp>
        <p:nvCxnSpPr>
          <p:cNvPr id="28" name="Connector 27"/>
          <p:cNvCxnSpPr/>
          <p:nvPr/>
        </p:nvCxnSpPr>
        <p:spPr>
          <a:xfrm>
            <a:off x="6007607" y="3886200"/>
            <a:ext cx="146304"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6163055" y="2331720"/>
            <a:ext cx="1706879"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6345935" y="2468879"/>
            <a:ext cx="1341119"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4</a:t>
            </a:r>
          </a:p>
        </p:txBody>
      </p:sp>
      <p:sp>
        <p:nvSpPr>
          <p:cNvPr id="31" name="Oval 30"/>
          <p:cNvSpPr/>
          <p:nvPr/>
        </p:nvSpPr>
        <p:spPr>
          <a:xfrm>
            <a:off x="6345935"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2" name="Picture 31" descr="eyecheck-FFFFFF.png"/>
          <p:cNvPicPr>
            <a:picLocks noChangeAspect="1"/>
          </p:cNvPicPr>
          <p:nvPr/>
        </p:nvPicPr>
        <p:blipFill>
          <a:blip r:embed="rId5"/>
          <a:stretch>
            <a:fillRect/>
          </a:stretch>
        </p:blipFill>
        <p:spPr>
          <a:xfrm>
            <a:off x="6460053" y="2948757"/>
            <a:ext cx="247253" cy="247253"/>
          </a:xfrm>
          <a:prstGeom prst="rect">
            <a:avLst/>
          </a:prstGeom>
        </p:spPr>
      </p:pic>
      <p:sp>
        <p:nvSpPr>
          <p:cNvPr id="33" name="TextBox 32"/>
          <p:cNvSpPr txBox="1"/>
          <p:nvPr/>
        </p:nvSpPr>
        <p:spPr>
          <a:xfrm>
            <a:off x="6345935" y="3410711"/>
            <a:ext cx="1386840"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Audit</a:t>
            </a:r>
          </a:p>
        </p:txBody>
      </p:sp>
      <p:sp>
        <p:nvSpPr>
          <p:cNvPr id="34" name="TextBox 33"/>
          <p:cNvSpPr txBox="1"/>
          <p:nvPr/>
        </p:nvSpPr>
        <p:spPr>
          <a:xfrm>
            <a:off x="6345935" y="3977639"/>
            <a:ext cx="1386840"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V1–V9, C1–C10 → PASS / FAIL.</a:t>
            </a:r>
          </a:p>
        </p:txBody>
      </p:sp>
      <p:cxnSp>
        <p:nvCxnSpPr>
          <p:cNvPr id="35" name="Connector 34"/>
          <p:cNvCxnSpPr/>
          <p:nvPr/>
        </p:nvCxnSpPr>
        <p:spPr>
          <a:xfrm>
            <a:off x="7879079" y="3886200"/>
            <a:ext cx="146304"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8034527" y="2331720"/>
            <a:ext cx="1706879" cy="3108960"/>
          </a:xfrm>
          <a:prstGeom prst="roundRect">
            <a:avLst>
              <a:gd name="adj" fmla="val 3500"/>
            </a:avLst>
          </a:prstGeom>
          <a:solidFill>
            <a:srgbClr val="C2603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8217407" y="2468879"/>
            <a:ext cx="1341119" cy="274320"/>
          </a:xfrm>
          <a:prstGeom prst="rect">
            <a:avLst/>
          </a:prstGeom>
          <a:noFill/>
        </p:spPr>
        <p:txBody>
          <a:bodyPr wrap="square" lIns="36576" rIns="36576" tIns="18288" bIns="18288" anchor="t">
            <a:spAutoFit/>
          </a:bodyPr>
          <a:lstStyle/>
          <a:p>
            <a:pPr algn="l">
              <a:lnSpc>
                <a:spcPct val="112000"/>
              </a:lnSpc>
            </a:pPr>
            <a:r>
              <a:rPr sz="950" b="1" i="0">
                <a:solidFill>
                  <a:srgbClr val="FFFFFF"/>
                </a:solidFill>
                <a:latin typeface="Calibri"/>
              </a:rPr>
              <a:t>HUMAN  ·  STEP 5</a:t>
            </a:r>
          </a:p>
        </p:txBody>
      </p:sp>
      <p:sp>
        <p:nvSpPr>
          <p:cNvPr id="38" name="Oval 37"/>
          <p:cNvSpPr/>
          <p:nvPr/>
        </p:nvSpPr>
        <p:spPr>
          <a:xfrm>
            <a:off x="8217407" y="2834639"/>
            <a:ext cx="475488" cy="475488"/>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9" name="Picture 38" descr="user-C2603F.png"/>
          <p:cNvPicPr>
            <a:picLocks noChangeAspect="1"/>
          </p:cNvPicPr>
          <p:nvPr/>
        </p:nvPicPr>
        <p:blipFill>
          <a:blip r:embed="rId6"/>
          <a:stretch>
            <a:fillRect/>
          </a:stretch>
        </p:blipFill>
        <p:spPr>
          <a:xfrm>
            <a:off x="8331525" y="2948757"/>
            <a:ext cx="247253" cy="247253"/>
          </a:xfrm>
          <a:prstGeom prst="rect">
            <a:avLst/>
          </a:prstGeom>
        </p:spPr>
      </p:pic>
      <p:sp>
        <p:nvSpPr>
          <p:cNvPr id="40" name="TextBox 39"/>
          <p:cNvSpPr txBox="1"/>
          <p:nvPr/>
        </p:nvSpPr>
        <p:spPr>
          <a:xfrm>
            <a:off x="8217407" y="3410711"/>
            <a:ext cx="1386840"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Approve</a:t>
            </a:r>
          </a:p>
        </p:txBody>
      </p:sp>
      <p:sp>
        <p:nvSpPr>
          <p:cNvPr id="41" name="TextBox 40"/>
          <p:cNvSpPr txBox="1"/>
          <p:nvPr/>
        </p:nvSpPr>
        <p:spPr>
          <a:xfrm>
            <a:off x="8217407" y="3977639"/>
            <a:ext cx="1386840" cy="1371600"/>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Review cut + package; unblock.</a:t>
            </a:r>
          </a:p>
        </p:txBody>
      </p:sp>
      <p:cxnSp>
        <p:nvCxnSpPr>
          <p:cNvPr id="42" name="Connector 41"/>
          <p:cNvCxnSpPr/>
          <p:nvPr/>
        </p:nvCxnSpPr>
        <p:spPr>
          <a:xfrm>
            <a:off x="9750551" y="3886200"/>
            <a:ext cx="146305"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43" name="Rounded Rectangle 42"/>
          <p:cNvSpPr/>
          <p:nvPr/>
        </p:nvSpPr>
        <p:spPr>
          <a:xfrm>
            <a:off x="9905999" y="2331720"/>
            <a:ext cx="1706879"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10088879" y="2468879"/>
            <a:ext cx="1341119"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6</a:t>
            </a:r>
          </a:p>
        </p:txBody>
      </p:sp>
      <p:sp>
        <p:nvSpPr>
          <p:cNvPr id="45" name="Oval 44"/>
          <p:cNvSpPr/>
          <p:nvPr/>
        </p:nvSpPr>
        <p:spPr>
          <a:xfrm>
            <a:off x="10088879"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6" name="Picture 45" descr="send-FFFFFF.png"/>
          <p:cNvPicPr>
            <a:picLocks noChangeAspect="1"/>
          </p:cNvPicPr>
          <p:nvPr/>
        </p:nvPicPr>
        <p:blipFill>
          <a:blip r:embed="rId7"/>
          <a:stretch>
            <a:fillRect/>
          </a:stretch>
        </p:blipFill>
        <p:spPr>
          <a:xfrm>
            <a:off x="10202997" y="2948757"/>
            <a:ext cx="247253" cy="247253"/>
          </a:xfrm>
          <a:prstGeom prst="rect">
            <a:avLst/>
          </a:prstGeom>
        </p:spPr>
      </p:pic>
      <p:sp>
        <p:nvSpPr>
          <p:cNvPr id="47" name="TextBox 46"/>
          <p:cNvSpPr txBox="1"/>
          <p:nvPr/>
        </p:nvSpPr>
        <p:spPr>
          <a:xfrm>
            <a:off x="10088879" y="3410711"/>
            <a:ext cx="1386840"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Post</a:t>
            </a:r>
          </a:p>
        </p:txBody>
      </p:sp>
      <p:sp>
        <p:nvSpPr>
          <p:cNvPr id="48" name="TextBox 47"/>
          <p:cNvSpPr txBox="1"/>
          <p:nvPr/>
        </p:nvSpPr>
        <p:spPr>
          <a:xfrm>
            <a:off x="10088879" y="3977639"/>
            <a:ext cx="1386840"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Posted once to the channel.</a:t>
            </a:r>
          </a:p>
        </p:txBody>
      </p:sp>
      <p:sp>
        <p:nvSpPr>
          <p:cNvPr id="49" name="TextBox 48"/>
          <p:cNvSpPr txBox="1"/>
          <p:nvPr/>
        </p:nvSpPr>
        <p:spPr>
          <a:xfrm>
            <a:off x="548640" y="5715000"/>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Checkpoint  </a:t>
            </a:r>
            <a:r>
              <a:rPr sz="1300" b="0" i="0">
                <a:solidFill>
                  <a:srgbClr val="C9C4B9"/>
                </a:solidFill>
                <a:latin typeface="Calibri"/>
              </a:rPr>
              <a:t>final.mp4 is 9:16 and 20–30 s, the audit is PASS, and the posting task only ran after you reviewed the package and unblocked it.</a:t>
            </a:r>
          </a:p>
        </p:txBody>
      </p:sp>
    </p:spTree>
  </p:cSld>
  <p:clrMapOvr>
    <a:masterClrMapping/>
  </p:clrMapOvr>
  <p:transition spd="med">
    <p:fade/>
  </p:transition>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LAB 4</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Your Video Studio Team</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91</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cxnSp>
        <p:nvCxnSpPr>
          <p:cNvPr id="7" name="Connector 6"/>
          <p:cNvCxnSpPr/>
          <p:nvPr/>
        </p:nvCxnSpPr>
        <p:spPr>
          <a:xfrm flipV="1">
            <a:off x="6099048" y="2148839"/>
            <a:ext cx="0" cy="1600200"/>
          </a:xfrm>
          <a:prstGeom prst="line">
            <a:avLst/>
          </a:prstGeom>
          <a:ln w="19050">
            <a:solidFill>
              <a:srgbClr val="C9C4B9"/>
            </a:solidFill>
            <a:prstDash val="dash"/>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6099048" y="2948939"/>
            <a:ext cx="3444737" cy="800100"/>
          </a:xfrm>
          <a:prstGeom prst="line">
            <a:avLst/>
          </a:prstGeom>
          <a:ln w="19050">
            <a:solidFill>
              <a:srgbClr val="C9C4B9"/>
            </a:solidFill>
            <a:prstDash val="dash"/>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099048" y="3749039"/>
            <a:ext cx="3444737" cy="800101"/>
          </a:xfrm>
          <a:prstGeom prst="line">
            <a:avLst/>
          </a:prstGeom>
          <a:ln w="19050">
            <a:solidFill>
              <a:srgbClr val="C9C4B9"/>
            </a:solidFill>
            <a:prstDash val="dash"/>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6099048" y="3749039"/>
            <a:ext cx="0" cy="1600201"/>
          </a:xfrm>
          <a:prstGeom prst="line">
            <a:avLst/>
          </a:prstGeom>
          <a:ln w="19050">
            <a:solidFill>
              <a:srgbClr val="C9C4B9"/>
            </a:solidFill>
            <a:prstDash val="dash"/>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H="1">
            <a:off x="2654310" y="3749039"/>
            <a:ext cx="3444738" cy="800101"/>
          </a:xfrm>
          <a:prstGeom prst="line">
            <a:avLst/>
          </a:prstGeom>
          <a:ln w="19050">
            <a:solidFill>
              <a:srgbClr val="C9C4B9"/>
            </a:solidFill>
            <a:prstDash val="dash"/>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flipV="1">
            <a:off x="2654310" y="2948939"/>
            <a:ext cx="3444738" cy="800100"/>
          </a:xfrm>
          <a:prstGeom prst="line">
            <a:avLst/>
          </a:prstGeom>
          <a:ln w="19050">
            <a:solidFill>
              <a:srgbClr val="C9C4B9"/>
            </a:solidFill>
            <a:prstDash val="dash"/>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4773168" y="3291839"/>
            <a:ext cx="2651760" cy="914400"/>
          </a:xfrm>
          <a:prstGeom prst="roundRect">
            <a:avLst>
              <a:gd name="adj" fmla="val 3500"/>
            </a:avLst>
          </a:prstGeom>
          <a:solidFill>
            <a:srgbClr val="D97757"/>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773168" y="3291839"/>
            <a:ext cx="2651760" cy="914400"/>
          </a:xfrm>
          <a:prstGeom prst="rect">
            <a:avLst/>
          </a:prstGeom>
          <a:noFill/>
        </p:spPr>
        <p:txBody>
          <a:bodyPr wrap="square" lIns="36576" rIns="36576" tIns="18288" bIns="18288" anchor="ctr">
            <a:spAutoFit/>
          </a:bodyPr>
          <a:lstStyle/>
          <a:p>
            <a:pPr algn="ctr">
              <a:lnSpc>
                <a:spcPct val="112000"/>
              </a:lnSpc>
            </a:pPr>
            <a:r>
              <a:rPr sz="1600" b="1" i="0">
                <a:solidFill>
                  <a:srgbClr val="FFFFFF"/>
                </a:solidFill>
                <a:latin typeface="Cambria"/>
              </a:rPr>
              <a:t>Kanban board</a:t>
            </a:r>
          </a:p>
          <a:p>
            <a:pPr algn="ctr">
              <a:lnSpc>
                <a:spcPct val="112000"/>
              </a:lnSpc>
            </a:pPr>
            <a:r>
              <a:rPr sz="1600" b="1" i="0">
                <a:solidFill>
                  <a:srgbClr val="FFFFFF"/>
                </a:solidFill>
                <a:latin typeface="Cambria"/>
              </a:rPr>
              <a:t>(orchestrator)</a:t>
            </a:r>
          </a:p>
        </p:txBody>
      </p:sp>
      <p:sp>
        <p:nvSpPr>
          <p:cNvPr id="15" name="Rounded Rectangle 14"/>
          <p:cNvSpPr/>
          <p:nvPr/>
        </p:nvSpPr>
        <p:spPr>
          <a:xfrm>
            <a:off x="4841748" y="1668779"/>
            <a:ext cx="2514600" cy="9601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4969764" y="1796795"/>
            <a:ext cx="384048" cy="384048"/>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search-FFFFFF.png"/>
          <p:cNvPicPr>
            <a:picLocks noChangeAspect="1"/>
          </p:cNvPicPr>
          <p:nvPr/>
        </p:nvPicPr>
        <p:blipFill>
          <a:blip r:embed="rId2"/>
          <a:stretch>
            <a:fillRect/>
          </a:stretch>
        </p:blipFill>
        <p:spPr>
          <a:xfrm>
            <a:off x="5061935" y="1888967"/>
            <a:ext cx="199704" cy="199704"/>
          </a:xfrm>
          <a:prstGeom prst="rect">
            <a:avLst/>
          </a:prstGeom>
        </p:spPr>
      </p:pic>
      <p:sp>
        <p:nvSpPr>
          <p:cNvPr id="18" name="TextBox 17"/>
          <p:cNvSpPr txBox="1"/>
          <p:nvPr/>
        </p:nvSpPr>
        <p:spPr>
          <a:xfrm>
            <a:off x="5426964" y="1760219"/>
            <a:ext cx="1837943" cy="329184"/>
          </a:xfrm>
          <a:prstGeom prst="rect">
            <a:avLst/>
          </a:prstGeom>
          <a:noFill/>
        </p:spPr>
        <p:txBody>
          <a:bodyPr wrap="square" lIns="36576" rIns="36576" tIns="18288" bIns="18288" anchor="t">
            <a:spAutoFit/>
          </a:bodyPr>
          <a:lstStyle/>
          <a:p>
            <a:pPr algn="l">
              <a:lnSpc>
                <a:spcPct val="112000"/>
              </a:lnSpc>
            </a:pPr>
            <a:r>
              <a:rPr sz="1300" b="1" i="0">
                <a:solidFill>
                  <a:srgbClr val="21201C"/>
                </a:solidFill>
                <a:latin typeface="Cambria"/>
              </a:rPr>
              <a:t>researcher</a:t>
            </a:r>
          </a:p>
        </p:txBody>
      </p:sp>
      <p:sp>
        <p:nvSpPr>
          <p:cNvPr id="19" name="TextBox 18"/>
          <p:cNvSpPr txBox="1"/>
          <p:nvPr/>
        </p:nvSpPr>
        <p:spPr>
          <a:xfrm>
            <a:off x="4969764" y="2199132"/>
            <a:ext cx="2276856" cy="411480"/>
          </a:xfrm>
          <a:prstGeom prst="rect">
            <a:avLst/>
          </a:prstGeom>
          <a:noFill/>
        </p:spPr>
        <p:txBody>
          <a:bodyPr wrap="square" lIns="36576" rIns="36576" tIns="18288" bIns="18288" anchor="t">
            <a:spAutoFit/>
          </a:bodyPr>
          <a:lstStyle/>
          <a:p>
            <a:pPr algn="l">
              <a:lnSpc>
                <a:spcPct val="112000"/>
              </a:lnSpc>
            </a:pPr>
            <a:r>
              <a:rPr sz="1000" b="0" i="0">
                <a:solidFill>
                  <a:srgbClr val="6B6862"/>
                </a:solidFill>
                <a:latin typeface="Calibri"/>
              </a:rPr>
              <a:t>hooks + proof points → research.md</a:t>
            </a:r>
          </a:p>
        </p:txBody>
      </p:sp>
      <p:sp>
        <p:nvSpPr>
          <p:cNvPr id="20" name="Rounded Rectangle 19"/>
          <p:cNvSpPr/>
          <p:nvPr/>
        </p:nvSpPr>
        <p:spPr>
          <a:xfrm>
            <a:off x="8286485" y="2468879"/>
            <a:ext cx="2514600" cy="9601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8414501" y="2596896"/>
            <a:ext cx="384048" cy="384048"/>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pen-FFFFFF.png"/>
          <p:cNvPicPr>
            <a:picLocks noChangeAspect="1"/>
          </p:cNvPicPr>
          <p:nvPr/>
        </p:nvPicPr>
        <p:blipFill>
          <a:blip r:embed="rId3"/>
          <a:stretch>
            <a:fillRect/>
          </a:stretch>
        </p:blipFill>
        <p:spPr>
          <a:xfrm>
            <a:off x="8506672" y="2689067"/>
            <a:ext cx="199704" cy="199704"/>
          </a:xfrm>
          <a:prstGeom prst="rect">
            <a:avLst/>
          </a:prstGeom>
        </p:spPr>
      </p:pic>
      <p:sp>
        <p:nvSpPr>
          <p:cNvPr id="23" name="TextBox 22"/>
          <p:cNvSpPr txBox="1"/>
          <p:nvPr/>
        </p:nvSpPr>
        <p:spPr>
          <a:xfrm>
            <a:off x="8871701" y="2560320"/>
            <a:ext cx="1837943" cy="329184"/>
          </a:xfrm>
          <a:prstGeom prst="rect">
            <a:avLst/>
          </a:prstGeom>
          <a:noFill/>
        </p:spPr>
        <p:txBody>
          <a:bodyPr wrap="square" lIns="36576" rIns="36576" tIns="18288" bIns="18288" anchor="t">
            <a:spAutoFit/>
          </a:bodyPr>
          <a:lstStyle/>
          <a:p>
            <a:pPr algn="l">
              <a:lnSpc>
                <a:spcPct val="112000"/>
              </a:lnSpc>
            </a:pPr>
            <a:r>
              <a:rPr sz="1300" b="1" i="0">
                <a:solidFill>
                  <a:srgbClr val="21201C"/>
                </a:solidFill>
                <a:latin typeface="Cambria"/>
              </a:rPr>
              <a:t>scriptwriter</a:t>
            </a:r>
          </a:p>
        </p:txBody>
      </p:sp>
      <p:sp>
        <p:nvSpPr>
          <p:cNvPr id="24" name="TextBox 23"/>
          <p:cNvSpPr txBox="1"/>
          <p:nvPr/>
        </p:nvSpPr>
        <p:spPr>
          <a:xfrm>
            <a:off x="8414501" y="2999232"/>
            <a:ext cx="2276856" cy="411480"/>
          </a:xfrm>
          <a:prstGeom prst="rect">
            <a:avLst/>
          </a:prstGeom>
          <a:noFill/>
        </p:spPr>
        <p:txBody>
          <a:bodyPr wrap="square" lIns="36576" rIns="36576" tIns="18288" bIns="18288" anchor="t">
            <a:spAutoFit/>
          </a:bodyPr>
          <a:lstStyle/>
          <a:p>
            <a:pPr algn="l">
              <a:lnSpc>
                <a:spcPct val="112000"/>
              </a:lnSpc>
            </a:pPr>
            <a:r>
              <a:rPr sz="1000" b="0" i="0">
                <a:solidFill>
                  <a:srgbClr val="6B6862"/>
                </a:solidFill>
                <a:latin typeface="Calibri"/>
              </a:rPr>
              <a:t>25-s script + 6 scenes → script.md</a:t>
            </a:r>
          </a:p>
        </p:txBody>
      </p:sp>
      <p:sp>
        <p:nvSpPr>
          <p:cNvPr id="25" name="Rounded Rectangle 24"/>
          <p:cNvSpPr/>
          <p:nvPr/>
        </p:nvSpPr>
        <p:spPr>
          <a:xfrm>
            <a:off x="8286485" y="4069079"/>
            <a:ext cx="2514600" cy="9601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8414501" y="4197095"/>
            <a:ext cx="384048" cy="384048"/>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7" name="Picture 26" descr="film-FFFFFF.png"/>
          <p:cNvPicPr>
            <a:picLocks noChangeAspect="1"/>
          </p:cNvPicPr>
          <p:nvPr/>
        </p:nvPicPr>
        <p:blipFill>
          <a:blip r:embed="rId4"/>
          <a:stretch>
            <a:fillRect/>
          </a:stretch>
        </p:blipFill>
        <p:spPr>
          <a:xfrm>
            <a:off x="8506672" y="4289267"/>
            <a:ext cx="199704" cy="199704"/>
          </a:xfrm>
          <a:prstGeom prst="rect">
            <a:avLst/>
          </a:prstGeom>
        </p:spPr>
      </p:pic>
      <p:sp>
        <p:nvSpPr>
          <p:cNvPr id="28" name="TextBox 27"/>
          <p:cNvSpPr txBox="1"/>
          <p:nvPr/>
        </p:nvSpPr>
        <p:spPr>
          <a:xfrm>
            <a:off x="8871701" y="4160519"/>
            <a:ext cx="1837943" cy="329184"/>
          </a:xfrm>
          <a:prstGeom prst="rect">
            <a:avLst/>
          </a:prstGeom>
          <a:noFill/>
        </p:spPr>
        <p:txBody>
          <a:bodyPr wrap="square" lIns="36576" rIns="36576" tIns="18288" bIns="18288" anchor="t">
            <a:spAutoFit/>
          </a:bodyPr>
          <a:lstStyle/>
          <a:p>
            <a:pPr algn="l">
              <a:lnSpc>
                <a:spcPct val="112000"/>
              </a:lnSpc>
            </a:pPr>
            <a:r>
              <a:rPr sz="1300" b="1" i="0">
                <a:solidFill>
                  <a:srgbClr val="21201C"/>
                </a:solidFill>
                <a:latin typeface="Cambria"/>
              </a:rPr>
              <a:t>producer</a:t>
            </a:r>
          </a:p>
        </p:txBody>
      </p:sp>
      <p:sp>
        <p:nvSpPr>
          <p:cNvPr id="29" name="TextBox 28"/>
          <p:cNvSpPr txBox="1"/>
          <p:nvPr/>
        </p:nvSpPr>
        <p:spPr>
          <a:xfrm>
            <a:off x="8414501" y="4599431"/>
            <a:ext cx="2276856" cy="411480"/>
          </a:xfrm>
          <a:prstGeom prst="rect">
            <a:avLst/>
          </a:prstGeom>
          <a:noFill/>
        </p:spPr>
        <p:txBody>
          <a:bodyPr wrap="square" lIns="36576" rIns="36576" tIns="18288" bIns="18288" anchor="t">
            <a:spAutoFit/>
          </a:bodyPr>
          <a:lstStyle/>
          <a:p>
            <a:pPr algn="l">
              <a:lnSpc>
                <a:spcPct val="112000"/>
              </a:lnSpc>
            </a:pPr>
            <a:r>
              <a:rPr sz="1000" b="0" i="0">
                <a:solidFill>
                  <a:srgbClr val="6B6862"/>
                </a:solidFill>
                <a:latin typeface="Calibri"/>
              </a:rPr>
              <a:t>HyperFrames → output/final.mp4</a:t>
            </a:r>
          </a:p>
        </p:txBody>
      </p:sp>
      <p:sp>
        <p:nvSpPr>
          <p:cNvPr id="30" name="Rounded Rectangle 29"/>
          <p:cNvSpPr/>
          <p:nvPr/>
        </p:nvSpPr>
        <p:spPr>
          <a:xfrm>
            <a:off x="4841748" y="4869179"/>
            <a:ext cx="2514600" cy="9601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Oval 30"/>
          <p:cNvSpPr/>
          <p:nvPr/>
        </p:nvSpPr>
        <p:spPr>
          <a:xfrm>
            <a:off x="4969764" y="4997195"/>
            <a:ext cx="384048" cy="384048"/>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2" name="Picture 31" descr="eyecheck-FFFFFF.png"/>
          <p:cNvPicPr>
            <a:picLocks noChangeAspect="1"/>
          </p:cNvPicPr>
          <p:nvPr/>
        </p:nvPicPr>
        <p:blipFill>
          <a:blip r:embed="rId5"/>
          <a:stretch>
            <a:fillRect/>
          </a:stretch>
        </p:blipFill>
        <p:spPr>
          <a:xfrm>
            <a:off x="5061935" y="5089367"/>
            <a:ext cx="199704" cy="199704"/>
          </a:xfrm>
          <a:prstGeom prst="rect">
            <a:avLst/>
          </a:prstGeom>
        </p:spPr>
      </p:pic>
      <p:sp>
        <p:nvSpPr>
          <p:cNvPr id="33" name="TextBox 32"/>
          <p:cNvSpPr txBox="1"/>
          <p:nvPr/>
        </p:nvSpPr>
        <p:spPr>
          <a:xfrm>
            <a:off x="5426964" y="4960619"/>
            <a:ext cx="1837943" cy="329184"/>
          </a:xfrm>
          <a:prstGeom prst="rect">
            <a:avLst/>
          </a:prstGeom>
          <a:noFill/>
        </p:spPr>
        <p:txBody>
          <a:bodyPr wrap="square" lIns="36576" rIns="36576" tIns="18288" bIns="18288" anchor="t">
            <a:spAutoFit/>
          </a:bodyPr>
          <a:lstStyle/>
          <a:p>
            <a:pPr algn="l">
              <a:lnSpc>
                <a:spcPct val="112000"/>
              </a:lnSpc>
            </a:pPr>
            <a:r>
              <a:rPr sz="1300" b="1" i="0">
                <a:solidFill>
                  <a:srgbClr val="21201C"/>
                </a:solidFill>
                <a:latin typeface="Cambria"/>
              </a:rPr>
              <a:t>auditor</a:t>
            </a:r>
          </a:p>
        </p:txBody>
      </p:sp>
      <p:sp>
        <p:nvSpPr>
          <p:cNvPr id="34" name="TextBox 33"/>
          <p:cNvSpPr txBox="1"/>
          <p:nvPr/>
        </p:nvSpPr>
        <p:spPr>
          <a:xfrm>
            <a:off x="4969764" y="5399531"/>
            <a:ext cx="2276856" cy="411480"/>
          </a:xfrm>
          <a:prstGeom prst="rect">
            <a:avLst/>
          </a:prstGeom>
          <a:noFill/>
        </p:spPr>
        <p:txBody>
          <a:bodyPr wrap="square" lIns="36576" rIns="36576" tIns="18288" bIns="18288" anchor="t">
            <a:spAutoFit/>
          </a:bodyPr>
          <a:lstStyle/>
          <a:p>
            <a:pPr algn="l">
              <a:lnSpc>
                <a:spcPct val="112000"/>
              </a:lnSpc>
            </a:pPr>
            <a:r>
              <a:rPr sz="1000" b="0" i="0">
                <a:solidFill>
                  <a:srgbClr val="6B6862"/>
                </a:solidFill>
                <a:latin typeface="Calibri"/>
              </a:rPr>
              <a:t>V1–V9, C1–C10 → audit-report.md</a:t>
            </a:r>
          </a:p>
        </p:txBody>
      </p:sp>
      <p:sp>
        <p:nvSpPr>
          <p:cNvPr id="35" name="Rounded Rectangle 34"/>
          <p:cNvSpPr/>
          <p:nvPr/>
        </p:nvSpPr>
        <p:spPr>
          <a:xfrm>
            <a:off x="1397010" y="4069080"/>
            <a:ext cx="2514600" cy="9601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Oval 35"/>
          <p:cNvSpPr/>
          <p:nvPr/>
        </p:nvSpPr>
        <p:spPr>
          <a:xfrm>
            <a:off x="1525026" y="4197096"/>
            <a:ext cx="384048" cy="384048"/>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7" name="Picture 36" descr="send-FFFFFF.png"/>
          <p:cNvPicPr>
            <a:picLocks noChangeAspect="1"/>
          </p:cNvPicPr>
          <p:nvPr/>
        </p:nvPicPr>
        <p:blipFill>
          <a:blip r:embed="rId6"/>
          <a:stretch>
            <a:fillRect/>
          </a:stretch>
        </p:blipFill>
        <p:spPr>
          <a:xfrm>
            <a:off x="1617198" y="4289267"/>
            <a:ext cx="199704" cy="199704"/>
          </a:xfrm>
          <a:prstGeom prst="rect">
            <a:avLst/>
          </a:prstGeom>
        </p:spPr>
      </p:pic>
      <p:sp>
        <p:nvSpPr>
          <p:cNvPr id="38" name="TextBox 37"/>
          <p:cNvSpPr txBox="1"/>
          <p:nvPr/>
        </p:nvSpPr>
        <p:spPr>
          <a:xfrm>
            <a:off x="1982226" y="4160520"/>
            <a:ext cx="1837943" cy="329184"/>
          </a:xfrm>
          <a:prstGeom prst="rect">
            <a:avLst/>
          </a:prstGeom>
          <a:noFill/>
        </p:spPr>
        <p:txBody>
          <a:bodyPr wrap="square" lIns="36576" rIns="36576" tIns="18288" bIns="18288" anchor="t">
            <a:spAutoFit/>
          </a:bodyPr>
          <a:lstStyle/>
          <a:p>
            <a:pPr algn="l">
              <a:lnSpc>
                <a:spcPct val="112000"/>
              </a:lnSpc>
            </a:pPr>
            <a:r>
              <a:rPr sz="1300" b="1" i="0">
                <a:solidFill>
                  <a:srgbClr val="21201C"/>
                </a:solidFill>
                <a:latin typeface="Cambria"/>
              </a:rPr>
              <a:t>publisher</a:t>
            </a:r>
          </a:p>
        </p:txBody>
      </p:sp>
      <p:sp>
        <p:nvSpPr>
          <p:cNvPr id="39" name="TextBox 38"/>
          <p:cNvSpPr txBox="1"/>
          <p:nvPr/>
        </p:nvSpPr>
        <p:spPr>
          <a:xfrm>
            <a:off x="1525026" y="4599432"/>
            <a:ext cx="2276856" cy="411480"/>
          </a:xfrm>
          <a:prstGeom prst="rect">
            <a:avLst/>
          </a:prstGeom>
          <a:noFill/>
        </p:spPr>
        <p:txBody>
          <a:bodyPr wrap="square" lIns="36576" rIns="36576" tIns="18288" bIns="18288" anchor="t">
            <a:spAutoFit/>
          </a:bodyPr>
          <a:lstStyle/>
          <a:p>
            <a:pPr algn="l">
              <a:lnSpc>
                <a:spcPct val="112000"/>
              </a:lnSpc>
            </a:pPr>
            <a:r>
              <a:rPr sz="1000" b="0" i="0">
                <a:solidFill>
                  <a:srgbClr val="6B6862"/>
                </a:solidFill>
                <a:latin typeface="Calibri"/>
              </a:rPr>
              <a:t>runs only after you unblock</a:t>
            </a:r>
          </a:p>
        </p:txBody>
      </p:sp>
      <p:sp>
        <p:nvSpPr>
          <p:cNvPr id="40" name="Rounded Rectangle 39"/>
          <p:cNvSpPr/>
          <p:nvPr/>
        </p:nvSpPr>
        <p:spPr>
          <a:xfrm>
            <a:off x="1397010" y="2468879"/>
            <a:ext cx="2514600" cy="9601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Oval 40"/>
          <p:cNvSpPr/>
          <p:nvPr/>
        </p:nvSpPr>
        <p:spPr>
          <a:xfrm>
            <a:off x="1525026" y="2596896"/>
            <a:ext cx="384048" cy="384048"/>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2" name="Picture 41" descr="user-FFFFFF.png"/>
          <p:cNvPicPr>
            <a:picLocks noChangeAspect="1"/>
          </p:cNvPicPr>
          <p:nvPr/>
        </p:nvPicPr>
        <p:blipFill>
          <a:blip r:embed="rId7"/>
          <a:stretch>
            <a:fillRect/>
          </a:stretch>
        </p:blipFill>
        <p:spPr>
          <a:xfrm>
            <a:off x="1617198" y="2689067"/>
            <a:ext cx="199704" cy="199704"/>
          </a:xfrm>
          <a:prstGeom prst="rect">
            <a:avLst/>
          </a:prstGeom>
        </p:spPr>
      </p:pic>
      <p:sp>
        <p:nvSpPr>
          <p:cNvPr id="43" name="TextBox 42"/>
          <p:cNvSpPr txBox="1"/>
          <p:nvPr/>
        </p:nvSpPr>
        <p:spPr>
          <a:xfrm>
            <a:off x="1982226" y="2560320"/>
            <a:ext cx="1837943" cy="329184"/>
          </a:xfrm>
          <a:prstGeom prst="rect">
            <a:avLst/>
          </a:prstGeom>
          <a:noFill/>
        </p:spPr>
        <p:txBody>
          <a:bodyPr wrap="square" lIns="36576" rIns="36576" tIns="18288" bIns="18288" anchor="t">
            <a:spAutoFit/>
          </a:bodyPr>
          <a:lstStyle/>
          <a:p>
            <a:pPr algn="l">
              <a:lnSpc>
                <a:spcPct val="112000"/>
              </a:lnSpc>
            </a:pPr>
            <a:r>
              <a:rPr sz="1300" b="1" i="0">
                <a:solidFill>
                  <a:srgbClr val="21201C"/>
                </a:solidFill>
                <a:latin typeface="Cambria"/>
              </a:rPr>
              <a:t>You</a:t>
            </a:r>
          </a:p>
        </p:txBody>
      </p:sp>
      <p:sp>
        <p:nvSpPr>
          <p:cNvPr id="44" name="TextBox 43"/>
          <p:cNvSpPr txBox="1"/>
          <p:nvPr/>
        </p:nvSpPr>
        <p:spPr>
          <a:xfrm>
            <a:off x="1525026" y="2999232"/>
            <a:ext cx="2276856" cy="411480"/>
          </a:xfrm>
          <a:prstGeom prst="rect">
            <a:avLst/>
          </a:prstGeom>
          <a:noFill/>
        </p:spPr>
        <p:txBody>
          <a:bodyPr wrap="square" lIns="36576" rIns="36576" tIns="18288" bIns="18288" anchor="t">
            <a:spAutoFit/>
          </a:bodyPr>
          <a:lstStyle/>
          <a:p>
            <a:pPr algn="l">
              <a:lnSpc>
                <a:spcPct val="112000"/>
              </a:lnSpc>
            </a:pPr>
            <a:r>
              <a:rPr sz="1000" b="0" i="0">
                <a:solidFill>
                  <a:srgbClr val="6B6862"/>
                </a:solidFill>
                <a:latin typeface="Calibri"/>
              </a:rPr>
              <a:t>watch the cut · unblock or comment</a:t>
            </a:r>
          </a:p>
        </p:txBody>
      </p:sp>
      <p:sp>
        <p:nvSpPr>
          <p:cNvPr id="45" name="TextBox 44"/>
          <p:cNvSpPr txBox="1"/>
          <p:nvPr/>
        </p:nvSpPr>
        <p:spPr>
          <a:xfrm>
            <a:off x="548640" y="5989320"/>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The profile --description is the routing contract; SOUL.md holds each role's rules.</a:t>
            </a:r>
          </a:p>
        </p:txBody>
      </p:sp>
    </p:spTree>
  </p:cSld>
  <p:clrMapOvr>
    <a:masterClrMapping/>
  </p:clrMapOvr>
  <p:transition spd="med">
    <p:fade/>
  </p:transition>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LAB 4</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Profiles — Isolated Agents with Their Own Memory</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92</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2807208" y="1682496"/>
            <a:ext cx="6547104" cy="4133088"/>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hermes-profiles.png"/>
          <p:cNvPicPr>
            <a:picLocks noChangeAspect="1"/>
          </p:cNvPicPr>
          <p:nvPr/>
        </p:nvPicPr>
        <p:blipFill>
          <a:blip r:embed="rId2"/>
          <a:stretch>
            <a:fillRect/>
          </a:stretch>
        </p:blipFill>
        <p:spPr>
          <a:xfrm>
            <a:off x="2862072" y="1737360"/>
            <a:ext cx="6437376" cy="4023360"/>
          </a:xfrm>
          <a:prstGeom prst="rect">
            <a:avLst/>
          </a:prstGeom>
        </p:spPr>
      </p:pic>
      <p:sp>
        <p:nvSpPr>
          <p:cNvPr id="9" name="TextBox 8"/>
          <p:cNvSpPr txBox="1"/>
          <p:nvPr/>
        </p:nvSpPr>
        <p:spPr>
          <a:xfrm>
            <a:off x="548640" y="5870448"/>
            <a:ext cx="11064240" cy="50292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  </a:t>
            </a:r>
            <a:r>
              <a:rPr sz="1250" b="0" i="0">
                <a:solidFill>
                  <a:srgbClr val="6B6862"/>
                </a:solidFill>
                <a:latin typeface="Calibri"/>
              </a:rPr>
              <a:t>`hermes profile create &lt;name&gt; --clone --description "…"` — each profile has its own SOUL.md, memory, skills and sessions.</a:t>
            </a:r>
          </a:p>
        </p:txBody>
      </p:sp>
    </p:spTree>
  </p:cSld>
  <p:clrMapOvr>
    <a:masterClrMapping/>
  </p:clrMapOvr>
  <p:transition spd="med">
    <p:fade/>
  </p:transition>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LAB 4</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Build the Task Graph with a Human Gate</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93</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37360"/>
            <a:ext cx="7040880" cy="4480560"/>
          </a:xfrm>
          <a:prstGeom prst="roundRect">
            <a:avLst>
              <a:gd name="adj" fmla="val 3500"/>
            </a:avLst>
          </a:prstGeom>
          <a:solidFill>
            <a:srgbClr val="2B2924"/>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49808" y="1901952"/>
            <a:ext cx="118872" cy="118872"/>
          </a:xfrm>
          <a:prstGeom prst="ellipse">
            <a:avLst/>
          </a:prstGeom>
          <a:solidFill>
            <a:srgbClr val="E06C5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69264" y="1901952"/>
            <a:ext cx="118872" cy="118872"/>
          </a:xfrm>
          <a:prstGeom prst="ellipse">
            <a:avLst/>
          </a:prstGeom>
          <a:solidFill>
            <a:srgbClr val="E5B45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88719" y="1901952"/>
            <a:ext cx="118872" cy="118872"/>
          </a:xfrm>
          <a:prstGeom prst="ellipse">
            <a:avLst/>
          </a:prstGeom>
          <a:solidFill>
            <a:srgbClr val="7DB36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463040" y="1828800"/>
            <a:ext cx="5943600" cy="274320"/>
          </a:xfrm>
          <a:prstGeom prst="rect">
            <a:avLst/>
          </a:prstGeom>
          <a:noFill/>
        </p:spPr>
        <p:txBody>
          <a:bodyPr wrap="square" lIns="36576" rIns="36576" tIns="18288" bIns="18288" anchor="t">
            <a:spAutoFit/>
          </a:bodyPr>
          <a:lstStyle/>
          <a:p>
            <a:pPr algn="l">
              <a:lnSpc>
                <a:spcPct val="112000"/>
              </a:lnSpc>
            </a:pPr>
            <a:r>
              <a:rPr sz="1000" b="0" i="0">
                <a:solidFill>
                  <a:srgbClr val="B9B4A9"/>
                </a:solidFill>
                <a:latin typeface="Calibri"/>
              </a:rPr>
              <a:t>TERMINAL  ·  copy from the Lab Prompts page</a:t>
            </a:r>
          </a:p>
        </p:txBody>
      </p:sp>
      <p:sp>
        <p:nvSpPr>
          <p:cNvPr id="12" name="TextBox 11"/>
          <p:cNvSpPr txBox="1"/>
          <p:nvPr/>
        </p:nvSpPr>
        <p:spPr>
          <a:xfrm>
            <a:off x="777240" y="2194560"/>
            <a:ext cx="6583680" cy="3913632"/>
          </a:xfrm>
          <a:prstGeom prst="rect">
            <a:avLst/>
          </a:prstGeom>
          <a:noFill/>
        </p:spPr>
        <p:txBody>
          <a:bodyPr wrap="square" lIns="36576" rIns="36576" tIns="18288" bIns="18288" anchor="t">
            <a:spAutoFit/>
          </a:bodyPr>
          <a:lstStyle/>
          <a:p>
            <a:pPr algn="l">
              <a:lnSpc>
                <a:spcPct val="110000"/>
              </a:lnSpc>
            </a:pPr>
            <a:r>
              <a:rPr sz="1150" b="0" i="0">
                <a:solidFill>
                  <a:srgbClr val="F1EDE4"/>
                </a:solidFill>
                <a:latin typeface="Consolas"/>
              </a:rPr>
              <a:t>S=dir:$HOME/kopi-kaki/video-studio</a:t>
            </a:r>
          </a:p>
          <a:p>
            <a:pPr algn="l">
              <a:lnSpc>
                <a:spcPct val="110000"/>
              </a:lnSpc>
            </a:pPr>
            <a:r>
              <a:rPr sz="1150" b="0" i="0">
                <a:solidFill>
                  <a:srgbClr val="F1EDE4"/>
                </a:solidFill>
                <a:latin typeface="Consolas"/>
              </a:rPr>
              <a:t>hermes kanban create "Research hooks for the Gula Melaka Cold Brew launch short" --assignee researcher --workspace $S --tenant kopi-video --body-file ~/kopi-kaki/tasks/t1-research.md</a:t>
            </a:r>
          </a:p>
          <a:p>
            <a:pPr algn="l">
              <a:lnSpc>
                <a:spcPct val="110000"/>
              </a:lnSpc>
            </a:pPr>
            <a:r>
              <a:rPr sz="1150" b="0" i="0">
                <a:solidFill>
                  <a:srgbClr val="F1EDE4"/>
                </a:solidFill>
                <a:latin typeface="Consolas"/>
              </a:rPr>
              <a:t>hermes kanban create "Write the 25-second script and scene list" --assignee scriptwriter --parent &lt;T1&gt; --workspace $S --tenant kopi-video --body-file ~/kopi-kaki/tasks/t2-script.md</a:t>
            </a:r>
          </a:p>
          <a:p>
            <a:pPr algn="l">
              <a:lnSpc>
                <a:spcPct val="110000"/>
              </a:lnSpc>
            </a:pPr>
            <a:r>
              <a:rPr sz="1150" b="0" i="0">
                <a:solidFill>
                  <a:srgbClr val="F1EDE4"/>
                </a:solidFill>
                <a:latin typeface="Consolas"/>
              </a:rPr>
              <a:t>hermes kanban create "Render the 9:16 launch video with HyperFrames" --assignee producer --parent &lt;T2&gt; --workspace $S --tenant kopi-video --skill hyperframes --max-runtime 45m --body-file ~/kopi-kaki/tasks/t3-produce.md</a:t>
            </a:r>
          </a:p>
          <a:p>
            <a:pPr algn="l">
              <a:lnSpc>
                <a:spcPct val="110000"/>
              </a:lnSpc>
            </a:pPr>
            <a:r>
              <a:rPr sz="1150" b="0" i="0">
                <a:solidFill>
                  <a:srgbClr val="F1EDE4"/>
                </a:solidFill>
                <a:latin typeface="Consolas"/>
              </a:rPr>
              <a:t>hermes kanban create "Audit the video and copy (V1-V9, C1-C10)" --assignee auditor --parent &lt;T3&gt; --workspace $S --tenant kopi-video --skill brand-compliance-audit --body-file ~/kopi-kaki/tasks/t4-audit.md</a:t>
            </a:r>
          </a:p>
          <a:p>
            <a:pPr algn="l">
              <a:lnSpc>
                <a:spcPct val="110000"/>
              </a:lnSpc>
            </a:pPr>
            <a:r>
              <a:rPr sz="1150" b="0" i="0">
                <a:solidFill>
                  <a:srgbClr val="F1EDE4"/>
                </a:solidFill>
                <a:latin typeface="Consolas"/>
              </a:rPr>
              <a:t>hermes kanban create "Build the publish package (do not post)" --assignee publisher --parent &lt;T4&gt; --workspace $S --tenant kopi-video --body-file ~/kopi-kaki/tasks/t5-package.md</a:t>
            </a:r>
          </a:p>
          <a:p>
            <a:pPr algn="l">
              <a:lnSpc>
                <a:spcPct val="110000"/>
              </a:lnSpc>
            </a:pPr>
            <a:r>
              <a:rPr sz="1150" b="0" i="0">
                <a:solidFill>
                  <a:srgbClr val="F1EDE4"/>
                </a:solidFill>
                <a:latin typeface="Consolas"/>
              </a:rPr>
              <a:t>hermes kanban create "Post the approved video to the channel" --assignee publisher --parent &lt;T5&gt; --workspace $S --tenant kopi-video --initial-status blocked --body-file ~/kopi-kaki/tasks/t6-post.md</a:t>
            </a:r>
          </a:p>
        </p:txBody>
      </p:sp>
      <p:sp>
        <p:nvSpPr>
          <p:cNvPr id="13" name="Oval 12"/>
          <p:cNvSpPr/>
          <p:nvPr/>
        </p:nvSpPr>
        <p:spPr>
          <a:xfrm>
            <a:off x="7863840" y="177393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route-FFFFFF.png"/>
          <p:cNvPicPr>
            <a:picLocks noChangeAspect="1"/>
          </p:cNvPicPr>
          <p:nvPr/>
        </p:nvPicPr>
        <p:blipFill>
          <a:blip r:embed="rId2"/>
          <a:stretch>
            <a:fillRect/>
          </a:stretch>
        </p:blipFill>
        <p:spPr>
          <a:xfrm>
            <a:off x="7973567" y="1883664"/>
            <a:ext cx="237744" cy="237744"/>
          </a:xfrm>
          <a:prstGeom prst="rect">
            <a:avLst/>
          </a:prstGeom>
        </p:spPr>
      </p:pic>
      <p:sp>
        <p:nvSpPr>
          <p:cNvPr id="15" name="TextBox 14"/>
          <p:cNvSpPr txBox="1"/>
          <p:nvPr/>
        </p:nvSpPr>
        <p:spPr>
          <a:xfrm>
            <a:off x="8458200" y="173736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--parent</a:t>
            </a:r>
          </a:p>
        </p:txBody>
      </p:sp>
      <p:sp>
        <p:nvSpPr>
          <p:cNvPr id="16" name="TextBox 15"/>
          <p:cNvSpPr txBox="1"/>
          <p:nvPr/>
        </p:nvSpPr>
        <p:spPr>
          <a:xfrm>
            <a:off x="8458200" y="210312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Each task waits for the one before — an ordered SOP.</a:t>
            </a:r>
          </a:p>
        </p:txBody>
      </p:sp>
      <p:sp>
        <p:nvSpPr>
          <p:cNvPr id="17" name="Oval 16"/>
          <p:cNvSpPr/>
          <p:nvPr/>
        </p:nvSpPr>
        <p:spPr>
          <a:xfrm>
            <a:off x="7863840" y="326745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folder-FFFFFF.png"/>
          <p:cNvPicPr>
            <a:picLocks noChangeAspect="1"/>
          </p:cNvPicPr>
          <p:nvPr/>
        </p:nvPicPr>
        <p:blipFill>
          <a:blip r:embed="rId3"/>
          <a:stretch>
            <a:fillRect/>
          </a:stretch>
        </p:blipFill>
        <p:spPr>
          <a:xfrm>
            <a:off x="7973567" y="3377184"/>
            <a:ext cx="237744" cy="237744"/>
          </a:xfrm>
          <a:prstGeom prst="rect">
            <a:avLst/>
          </a:prstGeom>
        </p:spPr>
      </p:pic>
      <p:sp>
        <p:nvSpPr>
          <p:cNvPr id="19" name="TextBox 18"/>
          <p:cNvSpPr txBox="1"/>
          <p:nvPr/>
        </p:nvSpPr>
        <p:spPr>
          <a:xfrm>
            <a:off x="8458200" y="323088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dir: workspace</a:t>
            </a:r>
          </a:p>
        </p:txBody>
      </p:sp>
      <p:sp>
        <p:nvSpPr>
          <p:cNvPr id="20" name="TextBox 19"/>
          <p:cNvSpPr txBox="1"/>
          <p:nvPr/>
        </p:nvSpPr>
        <p:spPr>
          <a:xfrm>
            <a:off x="8458200" y="359664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All stages share ~/kopi-kaki/video-studio.</a:t>
            </a:r>
          </a:p>
        </p:txBody>
      </p:sp>
      <p:sp>
        <p:nvSpPr>
          <p:cNvPr id="21" name="Oval 20"/>
          <p:cNvSpPr/>
          <p:nvPr/>
        </p:nvSpPr>
        <p:spPr>
          <a:xfrm>
            <a:off x="7863840" y="476097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stop-FFFFFF.png"/>
          <p:cNvPicPr>
            <a:picLocks noChangeAspect="1"/>
          </p:cNvPicPr>
          <p:nvPr/>
        </p:nvPicPr>
        <p:blipFill>
          <a:blip r:embed="rId4"/>
          <a:stretch>
            <a:fillRect/>
          </a:stretch>
        </p:blipFill>
        <p:spPr>
          <a:xfrm>
            <a:off x="7973567" y="4870704"/>
            <a:ext cx="237744" cy="237744"/>
          </a:xfrm>
          <a:prstGeom prst="rect">
            <a:avLst/>
          </a:prstGeom>
        </p:spPr>
      </p:pic>
      <p:sp>
        <p:nvSpPr>
          <p:cNvPr id="23" name="TextBox 22"/>
          <p:cNvSpPr txBox="1"/>
          <p:nvPr/>
        </p:nvSpPr>
        <p:spPr>
          <a:xfrm>
            <a:off x="8458200" y="472440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--initial-status blocked</a:t>
            </a:r>
          </a:p>
        </p:txBody>
      </p:sp>
      <p:sp>
        <p:nvSpPr>
          <p:cNvPr id="24" name="TextBox 23"/>
          <p:cNvSpPr txBox="1"/>
          <p:nvPr/>
        </p:nvSpPr>
        <p:spPr>
          <a:xfrm>
            <a:off x="8458200" y="509016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Publishing waits for your `hermes kanban unblock`.</a:t>
            </a:r>
          </a:p>
        </p:txBody>
      </p:sp>
    </p:spTree>
  </p:cSld>
  <p:clrMapOvr>
    <a:masterClrMapping/>
  </p:clrMapOvr>
  <p:transition spd="med">
    <p:fade/>
  </p:transition>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LAB 4</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Watch the Board</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94</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2807208" y="1682496"/>
            <a:ext cx="6547104" cy="4133088"/>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hermes-kanban.png"/>
          <p:cNvPicPr>
            <a:picLocks noChangeAspect="1"/>
          </p:cNvPicPr>
          <p:nvPr/>
        </p:nvPicPr>
        <p:blipFill>
          <a:blip r:embed="rId2"/>
          <a:stretch>
            <a:fillRect/>
          </a:stretch>
        </p:blipFill>
        <p:spPr>
          <a:xfrm>
            <a:off x="2862072" y="1737360"/>
            <a:ext cx="6437376" cy="4023360"/>
          </a:xfrm>
          <a:prstGeom prst="rect">
            <a:avLst/>
          </a:prstGeom>
        </p:spPr>
      </p:pic>
      <p:sp>
        <p:nvSpPr>
          <p:cNvPr id="9" name="TextBox 8"/>
          <p:cNvSpPr txBox="1"/>
          <p:nvPr/>
        </p:nvSpPr>
        <p:spPr>
          <a:xfrm>
            <a:off x="548640" y="5870448"/>
            <a:ext cx="11064240" cy="50292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  </a:t>
            </a:r>
            <a:r>
              <a:rPr sz="1250" b="0" i="0">
                <a:solidFill>
                  <a:srgbClr val="6B6862"/>
                </a:solidFill>
                <a:latin typeface="Calibri"/>
              </a:rPr>
              <a:t>Lanes: triage → todo → ready → running → review → done. A FAIL goes back with `hermes kanban request-changes`.</a:t>
            </a:r>
          </a:p>
        </p:txBody>
      </p:sp>
    </p:spTree>
  </p:cSld>
  <p:clrMapOvr>
    <a:masterClrMapping/>
  </p:clrMapOvr>
  <p:transition spd="med">
    <p:fade/>
  </p:transition>
</p:sld>
</file>

<file path=ppt/slides/slide9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LAB 4</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Reflect — why a team beats one big agent</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95</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37360"/>
            <a:ext cx="7040880" cy="4480560"/>
          </a:xfrm>
          <a:prstGeom prst="roundRect">
            <a:avLst>
              <a:gd name="adj" fmla="val 3500"/>
            </a:avLst>
          </a:prstGeom>
          <a:solidFill>
            <a:srgbClr val="2B2924"/>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49808" y="1901952"/>
            <a:ext cx="118872" cy="118872"/>
          </a:xfrm>
          <a:prstGeom prst="ellipse">
            <a:avLst/>
          </a:prstGeom>
          <a:solidFill>
            <a:srgbClr val="E06C5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69264" y="1901952"/>
            <a:ext cx="118872" cy="118872"/>
          </a:xfrm>
          <a:prstGeom prst="ellipse">
            <a:avLst/>
          </a:prstGeom>
          <a:solidFill>
            <a:srgbClr val="E5B45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88719" y="1901952"/>
            <a:ext cx="118872" cy="118872"/>
          </a:xfrm>
          <a:prstGeom prst="ellipse">
            <a:avLst/>
          </a:prstGeom>
          <a:solidFill>
            <a:srgbClr val="7DB36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463040" y="1828800"/>
            <a:ext cx="5943600" cy="274320"/>
          </a:xfrm>
          <a:prstGeom prst="rect">
            <a:avLst/>
          </a:prstGeom>
          <a:noFill/>
        </p:spPr>
        <p:txBody>
          <a:bodyPr wrap="square" lIns="36576" rIns="36576" tIns="18288" bIns="18288" anchor="t">
            <a:spAutoFit/>
          </a:bodyPr>
          <a:lstStyle/>
          <a:p>
            <a:pPr algn="l">
              <a:lnSpc>
                <a:spcPct val="112000"/>
              </a:lnSpc>
            </a:pPr>
            <a:r>
              <a:rPr sz="1000" b="0" i="0">
                <a:solidFill>
                  <a:srgbClr val="B9B4A9"/>
                </a:solidFill>
                <a:latin typeface="Calibri"/>
              </a:rPr>
              <a:t>PROMPT  ·  copy from the Lab Prompts page</a:t>
            </a:r>
          </a:p>
        </p:txBody>
      </p:sp>
      <p:sp>
        <p:nvSpPr>
          <p:cNvPr id="12" name="TextBox 11"/>
          <p:cNvSpPr txBox="1"/>
          <p:nvPr/>
        </p:nvSpPr>
        <p:spPr>
          <a:xfrm>
            <a:off x="777240" y="2194560"/>
            <a:ext cx="6583680" cy="3913632"/>
          </a:xfrm>
          <a:prstGeom prst="rect">
            <a:avLst/>
          </a:prstGeom>
          <a:noFill/>
        </p:spPr>
        <p:txBody>
          <a:bodyPr wrap="square" lIns="36576" rIns="36576" tIns="18288" bIns="18288" anchor="t">
            <a:spAutoFit/>
          </a:bodyPr>
          <a:lstStyle/>
          <a:p>
            <a:pPr algn="l">
              <a:lnSpc>
                <a:spcPct val="110000"/>
              </a:lnSpc>
            </a:pPr>
            <a:r>
              <a:rPr sz="1300" b="0" i="0">
                <a:solidFill>
                  <a:srgbClr val="F1EDE4"/>
                </a:solidFill>
                <a:latin typeface="Consolas"/>
              </a:rPr>
              <a:t>Read the Kanban history for tenant kopi-video (hermes kanban show for each task). Report per stage: which profile ran it, how long it took, how many retries or change requests it needed, and what was handed to the next stage. Then compare this five-agent design with a single agent doing everything: quality, cost, speed, reviewability.</a:t>
            </a:r>
          </a:p>
        </p:txBody>
      </p:sp>
      <p:sp>
        <p:nvSpPr>
          <p:cNvPr id="13" name="Oval 12"/>
          <p:cNvSpPr/>
          <p:nvPr/>
        </p:nvSpPr>
        <p:spPr>
          <a:xfrm>
            <a:off x="7863840" y="177393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chat-FFFFFF.png"/>
          <p:cNvPicPr>
            <a:picLocks noChangeAspect="1"/>
          </p:cNvPicPr>
          <p:nvPr/>
        </p:nvPicPr>
        <p:blipFill>
          <a:blip r:embed="rId2"/>
          <a:stretch>
            <a:fillRect/>
          </a:stretch>
        </p:blipFill>
        <p:spPr>
          <a:xfrm>
            <a:off x="7973567" y="1883664"/>
            <a:ext cx="237744" cy="237744"/>
          </a:xfrm>
          <a:prstGeom prst="rect">
            <a:avLst/>
          </a:prstGeom>
        </p:spPr>
      </p:pic>
      <p:sp>
        <p:nvSpPr>
          <p:cNvPr id="15" name="TextBox 14"/>
          <p:cNvSpPr txBox="1"/>
          <p:nvPr/>
        </p:nvSpPr>
        <p:spPr>
          <a:xfrm>
            <a:off x="8458200" y="173736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Paste into</a:t>
            </a:r>
          </a:p>
        </p:txBody>
      </p:sp>
      <p:sp>
        <p:nvSpPr>
          <p:cNvPr id="16" name="TextBox 15"/>
          <p:cNvSpPr txBox="1"/>
          <p:nvPr/>
        </p:nvSpPr>
        <p:spPr>
          <a:xfrm>
            <a:off x="8458200" y="210312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Hermes chat</a:t>
            </a:r>
          </a:p>
        </p:txBody>
      </p:sp>
      <p:sp>
        <p:nvSpPr>
          <p:cNvPr id="17" name="Oval 16"/>
          <p:cNvSpPr/>
          <p:nvPr/>
        </p:nvSpPr>
        <p:spPr>
          <a:xfrm>
            <a:off x="7863840" y="326745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check-FFFFFF.png"/>
          <p:cNvPicPr>
            <a:picLocks noChangeAspect="1"/>
          </p:cNvPicPr>
          <p:nvPr/>
        </p:nvPicPr>
        <p:blipFill>
          <a:blip r:embed="rId3"/>
          <a:stretch>
            <a:fillRect/>
          </a:stretch>
        </p:blipFill>
        <p:spPr>
          <a:xfrm>
            <a:off x="7973567" y="3377184"/>
            <a:ext cx="237744" cy="237744"/>
          </a:xfrm>
          <a:prstGeom prst="rect">
            <a:avLst/>
          </a:prstGeom>
        </p:spPr>
      </p:pic>
      <p:sp>
        <p:nvSpPr>
          <p:cNvPr id="19" name="TextBox 18"/>
          <p:cNvSpPr txBox="1"/>
          <p:nvPr/>
        </p:nvSpPr>
        <p:spPr>
          <a:xfrm>
            <a:off x="8458200" y="323088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Expect</a:t>
            </a:r>
          </a:p>
        </p:txBody>
      </p:sp>
      <p:sp>
        <p:nvSpPr>
          <p:cNvPr id="20" name="TextBox 19"/>
          <p:cNvSpPr txBox="1"/>
          <p:nvPr/>
        </p:nvSpPr>
        <p:spPr>
          <a:xfrm>
            <a:off x="8458200" y="359664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A stage-by-stage table you can use in the assessment.</a:t>
            </a:r>
          </a:p>
        </p:txBody>
      </p:sp>
      <p:sp>
        <p:nvSpPr>
          <p:cNvPr id="21" name="Oval 20"/>
          <p:cNvSpPr/>
          <p:nvPr/>
        </p:nvSpPr>
        <p:spPr>
          <a:xfrm>
            <a:off x="7863840" y="476097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hand-FFFFFF.png"/>
          <p:cNvPicPr>
            <a:picLocks noChangeAspect="1"/>
          </p:cNvPicPr>
          <p:nvPr/>
        </p:nvPicPr>
        <p:blipFill>
          <a:blip r:embed="rId4"/>
          <a:stretch>
            <a:fillRect/>
          </a:stretch>
        </p:blipFill>
        <p:spPr>
          <a:xfrm>
            <a:off x="7973567" y="4870704"/>
            <a:ext cx="237744" cy="237744"/>
          </a:xfrm>
          <a:prstGeom prst="rect">
            <a:avLst/>
          </a:prstGeom>
        </p:spPr>
      </p:pic>
      <p:sp>
        <p:nvSpPr>
          <p:cNvPr id="23" name="TextBox 22"/>
          <p:cNvSpPr txBox="1"/>
          <p:nvPr/>
        </p:nvSpPr>
        <p:spPr>
          <a:xfrm>
            <a:off x="8458200" y="472440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You decide</a:t>
            </a:r>
          </a:p>
        </p:txBody>
      </p:sp>
      <p:sp>
        <p:nvSpPr>
          <p:cNvPr id="24" name="TextBox 23"/>
          <p:cNvSpPr txBox="1"/>
          <p:nvPr/>
        </p:nvSpPr>
        <p:spPr>
          <a:xfrm>
            <a:off x="8458200" y="509016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Review the cut and the publish package, then release the posting task (or send it back with comments)</a:t>
            </a:r>
          </a:p>
        </p:txBody>
      </p:sp>
    </p:spTree>
  </p:cSld>
  <p:clrMapOvr>
    <a:masterClrMapping/>
  </p:clrMapOvr>
  <p:transition spd="med">
    <p:fade/>
  </p:transition>
</p:sld>
</file>

<file path=ppt/slides/slide96.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LAB 4</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Lab 4 — Checkpoint &amp; Reflection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96</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check-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Verify</a:t>
            </a:r>
          </a:p>
        </p:txBody>
      </p:sp>
      <p:sp>
        <p:nvSpPr>
          <p:cNvPr id="10" name="TextBox 9"/>
          <p:cNvSpPr txBox="1"/>
          <p:nvPr/>
        </p:nvSpPr>
        <p:spPr>
          <a:xfrm>
            <a:off x="1371600" y="2084831"/>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`hermes profile list` shows the five roles</a:t>
            </a:r>
          </a:p>
        </p:txBody>
      </p:sp>
      <p:sp>
        <p:nvSpPr>
          <p:cNvPr id="11" name="Oval 10"/>
          <p:cNvSpPr/>
          <p:nvPr/>
        </p:nvSpPr>
        <p:spPr>
          <a:xfrm>
            <a:off x="640080" y="2679191"/>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check-FFFFFF.png"/>
          <p:cNvPicPr>
            <a:picLocks noChangeAspect="1"/>
          </p:cNvPicPr>
          <p:nvPr/>
        </p:nvPicPr>
        <p:blipFill>
          <a:blip r:embed="rId2"/>
          <a:stretch>
            <a:fillRect/>
          </a:stretch>
        </p:blipFill>
        <p:spPr>
          <a:xfrm>
            <a:off x="771753" y="2810865"/>
            <a:ext cx="285292" cy="285292"/>
          </a:xfrm>
          <a:prstGeom prst="rect">
            <a:avLst/>
          </a:prstGeom>
        </p:spPr>
      </p:pic>
      <p:sp>
        <p:nvSpPr>
          <p:cNvPr id="13" name="TextBox 12"/>
          <p:cNvSpPr txBox="1"/>
          <p:nvPr/>
        </p:nvSpPr>
        <p:spPr>
          <a:xfrm>
            <a:off x="1371600" y="2624327"/>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Verify</a:t>
            </a:r>
          </a:p>
        </p:txBody>
      </p:sp>
      <p:sp>
        <p:nvSpPr>
          <p:cNvPr id="14" name="TextBox 13"/>
          <p:cNvSpPr txBox="1"/>
          <p:nvPr/>
        </p:nvSpPr>
        <p:spPr>
          <a:xfrm>
            <a:off x="1371600" y="2990087"/>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final.mp4 is 1080×1920, 20–30 s (`ffprobe` or the auditor's report)</a:t>
            </a:r>
          </a:p>
        </p:txBody>
      </p:sp>
      <p:sp>
        <p:nvSpPr>
          <p:cNvPr id="15" name="Oval 14"/>
          <p:cNvSpPr/>
          <p:nvPr/>
        </p:nvSpPr>
        <p:spPr>
          <a:xfrm>
            <a:off x="640080" y="358444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check-FFFFFF.png"/>
          <p:cNvPicPr>
            <a:picLocks noChangeAspect="1"/>
          </p:cNvPicPr>
          <p:nvPr/>
        </p:nvPicPr>
        <p:blipFill>
          <a:blip r:embed="rId2"/>
          <a:stretch>
            <a:fillRect/>
          </a:stretch>
        </p:blipFill>
        <p:spPr>
          <a:xfrm>
            <a:off x="771753" y="3716121"/>
            <a:ext cx="285292" cy="285292"/>
          </a:xfrm>
          <a:prstGeom prst="rect">
            <a:avLst/>
          </a:prstGeom>
        </p:spPr>
      </p:pic>
      <p:sp>
        <p:nvSpPr>
          <p:cNvPr id="17" name="TextBox 16"/>
          <p:cNvSpPr txBox="1"/>
          <p:nvPr/>
        </p:nvSpPr>
        <p:spPr>
          <a:xfrm>
            <a:off x="1371600" y="352958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Verify</a:t>
            </a:r>
          </a:p>
        </p:txBody>
      </p:sp>
      <p:sp>
        <p:nvSpPr>
          <p:cNvPr id="18" name="TextBox 17"/>
          <p:cNvSpPr txBox="1"/>
          <p:nvPr/>
        </p:nvSpPr>
        <p:spPr>
          <a:xfrm>
            <a:off x="1371600" y="3895344"/>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audit-report.md is PASS (or shows a FAIL that was fixed via request-changes)</a:t>
            </a:r>
          </a:p>
        </p:txBody>
      </p:sp>
      <p:sp>
        <p:nvSpPr>
          <p:cNvPr id="19" name="Oval 18"/>
          <p:cNvSpPr/>
          <p:nvPr/>
        </p:nvSpPr>
        <p:spPr>
          <a:xfrm>
            <a:off x="640080" y="4489703"/>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lightbulb-FFFFFF.png"/>
          <p:cNvPicPr>
            <a:picLocks noChangeAspect="1"/>
          </p:cNvPicPr>
          <p:nvPr/>
        </p:nvPicPr>
        <p:blipFill>
          <a:blip r:embed="rId3"/>
          <a:stretch>
            <a:fillRect/>
          </a:stretch>
        </p:blipFill>
        <p:spPr>
          <a:xfrm>
            <a:off x="771753" y="4621377"/>
            <a:ext cx="285292" cy="285292"/>
          </a:xfrm>
          <a:prstGeom prst="rect">
            <a:avLst/>
          </a:prstGeom>
        </p:spPr>
      </p:pic>
      <p:sp>
        <p:nvSpPr>
          <p:cNvPr id="21" name="TextBox 20"/>
          <p:cNvSpPr txBox="1"/>
          <p:nvPr/>
        </p:nvSpPr>
        <p:spPr>
          <a:xfrm>
            <a:off x="1371600" y="4434840"/>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Concepts in action</a:t>
            </a:r>
          </a:p>
        </p:txBody>
      </p:sp>
      <p:sp>
        <p:nvSpPr>
          <p:cNvPr id="22" name="TextBox 21"/>
          <p:cNvSpPr txBox="1"/>
          <p:nvPr/>
        </p:nvSpPr>
        <p:spPr>
          <a:xfrm>
            <a:off x="1371600" y="4800599"/>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Agentic AI = several specialised agents + orchestration (vs one AI agent)  ·  Profile description = routing contract; SOUL.md = role + rules</a:t>
            </a:r>
          </a:p>
        </p:txBody>
      </p:sp>
      <p:sp>
        <p:nvSpPr>
          <p:cNvPr id="23" name="Oval 22"/>
          <p:cNvSpPr/>
          <p:nvPr/>
        </p:nvSpPr>
        <p:spPr>
          <a:xfrm>
            <a:off x="640080" y="5394959"/>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rocket-FFFFFF.png"/>
          <p:cNvPicPr>
            <a:picLocks noChangeAspect="1"/>
          </p:cNvPicPr>
          <p:nvPr/>
        </p:nvPicPr>
        <p:blipFill>
          <a:blip r:embed="rId4"/>
          <a:stretch>
            <a:fillRect/>
          </a:stretch>
        </p:blipFill>
        <p:spPr>
          <a:xfrm>
            <a:off x="771753" y="5526633"/>
            <a:ext cx="285292" cy="285292"/>
          </a:xfrm>
          <a:prstGeom prst="rect">
            <a:avLst/>
          </a:prstGeom>
        </p:spPr>
      </p:pic>
      <p:sp>
        <p:nvSpPr>
          <p:cNvPr id="25" name="TextBox 24"/>
          <p:cNvSpPr txBox="1"/>
          <p:nvPr/>
        </p:nvSpPr>
        <p:spPr>
          <a:xfrm>
            <a:off x="1371600" y="534009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Stretch challenge</a:t>
            </a:r>
          </a:p>
        </p:txBody>
      </p:sp>
      <p:sp>
        <p:nvSpPr>
          <p:cNvPr id="26" name="TextBox 25"/>
          <p:cNvSpPr txBox="1"/>
          <p:nvPr/>
        </p:nvSpPr>
        <p:spPr>
          <a:xfrm>
            <a:off x="1371600" y="5705855"/>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Shortcut: install `official/creative/kanban-video-orchestrator`, give it the brief, and compare the team it designs with yours. Which roles did it add or merge?</a:t>
            </a:r>
          </a:p>
        </p:txBody>
      </p:sp>
    </p:spTree>
  </p:cSld>
  <p:clrMapOvr>
    <a:masterClrMapping/>
  </p:clrMapOvr>
  <p:transition spd="med">
    <p:fade/>
  </p:transition>
</p:sld>
</file>

<file path=ppt/slides/slide9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LAB 5</a:t>
            </a:r>
          </a:p>
        </p:txBody>
      </p:sp>
      <p:sp>
        <p:nvSpPr>
          <p:cNvPr id="3" name="TextBox 2"/>
          <p:cNvSpPr txBox="1"/>
          <p:nvPr/>
        </p:nvSpPr>
        <p:spPr>
          <a:xfrm>
            <a:off x="548640" y="621792"/>
            <a:ext cx="11064240" cy="932688"/>
          </a:xfrm>
          <a:prstGeom prst="rect">
            <a:avLst/>
          </a:prstGeom>
          <a:noFill/>
        </p:spPr>
        <p:txBody>
          <a:bodyPr wrap="square" lIns="36576" rIns="36576" tIns="18288" bIns="18288" anchor="t">
            <a:spAutoFit/>
          </a:bodyPr>
          <a:lstStyle/>
          <a:p>
            <a:pPr algn="l">
              <a:lnSpc>
                <a:spcPct val="100000"/>
              </a:lnSpc>
            </a:pPr>
            <a:r>
              <a:rPr sz="2400" b="1" i="0">
                <a:solidFill>
                  <a:srgbClr val="21201C"/>
                </a:solidFill>
                <a:latin typeface="Cambria"/>
              </a:rPr>
              <a:t>Lab 5 — Multi-Agent Campaign Command Centre — Measure, Optimise &amp; Report</a:t>
            </a:r>
          </a:p>
        </p:txBody>
      </p:sp>
      <p:sp>
        <p:nvSpPr>
          <p:cNvPr id="4" name="TextBox 3"/>
          <p:cNvSpPr txBox="1"/>
          <p:nvPr/>
        </p:nvSpPr>
        <p:spPr>
          <a:xfrm>
            <a:off x="548640" y="1609344"/>
            <a:ext cx="11064240" cy="548640"/>
          </a:xfrm>
          <a:prstGeom prst="rect">
            <a:avLst/>
          </a:prstGeom>
          <a:noFill/>
        </p:spPr>
        <p:txBody>
          <a:bodyPr wrap="square" lIns="36576" rIns="36576" tIns="18288" bIns="18288" anchor="t">
            <a:spAutoFit/>
          </a:bodyPr>
          <a:lstStyle/>
          <a:p>
            <a:pPr algn="l">
              <a:lnSpc>
                <a:spcPct val="112000"/>
              </a:lnSpc>
            </a:pPr>
            <a:r>
              <a:rPr sz="1500" b="0" i="0">
                <a:solidFill>
                  <a:srgbClr val="21201C"/>
                </a:solidFill>
                <a:latin typeface="Calibri"/>
              </a:rPr>
              <a:t>Run three analysts in parallel, have a verifier check their numbers, and get a dashboard plus an optimisation plan you approve — then schedule it every Monday.</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97</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240280"/>
            <a:ext cx="5760720" cy="3931920"/>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822960" y="251460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chart-FFFFFF.png"/>
          <p:cNvPicPr>
            <a:picLocks noChangeAspect="1"/>
          </p:cNvPicPr>
          <p:nvPr/>
        </p:nvPicPr>
        <p:blipFill>
          <a:blip r:embed="rId2"/>
          <a:stretch>
            <a:fillRect/>
          </a:stretch>
        </p:blipFill>
        <p:spPr>
          <a:xfrm>
            <a:off x="954633" y="2646273"/>
            <a:ext cx="285292" cy="285292"/>
          </a:xfrm>
          <a:prstGeom prst="rect">
            <a:avLst/>
          </a:prstGeom>
        </p:spPr>
      </p:pic>
      <p:sp>
        <p:nvSpPr>
          <p:cNvPr id="11" name="TextBox 10"/>
          <p:cNvSpPr txBox="1"/>
          <p:nvPr/>
        </p:nvSpPr>
        <p:spPr>
          <a:xfrm>
            <a:off x="1508760" y="2532888"/>
            <a:ext cx="4572000" cy="512064"/>
          </a:xfrm>
          <a:prstGeom prst="rect">
            <a:avLst/>
          </a:prstGeom>
          <a:noFill/>
        </p:spPr>
        <p:txBody>
          <a:bodyPr wrap="square" lIns="36576" rIns="36576" tIns="18288" bIns="18288" anchor="ctr">
            <a:spAutoFit/>
          </a:bodyPr>
          <a:lstStyle/>
          <a:p>
            <a:pPr algn="l">
              <a:lnSpc>
                <a:spcPct val="112000"/>
              </a:lnSpc>
            </a:pPr>
            <a:r>
              <a:rPr sz="1800" b="1" i="0">
                <a:solidFill>
                  <a:srgbClr val="FFFFFF"/>
                </a:solidFill>
                <a:latin typeface="Cambria"/>
              </a:rPr>
              <a:t>The business scenario</a:t>
            </a:r>
          </a:p>
        </p:txBody>
      </p:sp>
      <p:sp>
        <p:nvSpPr>
          <p:cNvPr id="12" name="TextBox 11"/>
          <p:cNvSpPr txBox="1"/>
          <p:nvPr/>
        </p:nvSpPr>
        <p:spPr>
          <a:xfrm>
            <a:off x="822960" y="3246120"/>
            <a:ext cx="5257800" cy="2788920"/>
          </a:xfrm>
          <a:prstGeom prst="rect">
            <a:avLst/>
          </a:prstGeom>
          <a:noFill/>
        </p:spPr>
        <p:txBody>
          <a:bodyPr wrap="square" lIns="36576" rIns="36576" tIns="18288" bIns="18288" anchor="t">
            <a:spAutoFit/>
          </a:bodyPr>
          <a:lstStyle/>
          <a:p>
            <a:pPr algn="l">
              <a:lnSpc>
                <a:spcPct val="120000"/>
              </a:lnSpc>
            </a:pPr>
            <a:r>
              <a:rPr sz="1400" b="0" i="0">
                <a:solidFill>
                  <a:srgbClr val="C9C4B9"/>
                </a:solidFill>
                <a:latin typeface="Calibri"/>
              </a:rPr>
              <a:t>Week 1 of #ShiokColdBrew is over. Leadership wants to know: are we on track for 2,500 pre-orders, which posts work, what customers are saying and what competitors are doing? You launch a Kanban swarm — three parallel workers, a verifier that re-checks their numbers, and a synthesiser that builds the dashboard and recommendations. You decide which optimisations to apply.</a:t>
            </a:r>
          </a:p>
        </p:txBody>
      </p:sp>
      <p:sp>
        <p:nvSpPr>
          <p:cNvPr id="13" name="Rounded Rectangle 12"/>
          <p:cNvSpPr/>
          <p:nvPr/>
        </p:nvSpPr>
        <p:spPr>
          <a:xfrm>
            <a:off x="6492240" y="2240280"/>
            <a:ext cx="5120640" cy="23317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720840" y="2404872"/>
            <a:ext cx="4663440" cy="365760"/>
          </a:xfrm>
          <a:prstGeom prst="rect">
            <a:avLst/>
          </a:prstGeom>
          <a:noFill/>
        </p:spPr>
        <p:txBody>
          <a:bodyPr wrap="square" lIns="36576" rIns="36576" tIns="18288" bIns="18288" anchor="t">
            <a:spAutoFit/>
          </a:bodyPr>
          <a:lstStyle/>
          <a:p>
            <a:pPr algn="l">
              <a:lnSpc>
                <a:spcPct val="112000"/>
              </a:lnSpc>
            </a:pPr>
            <a:r>
              <a:rPr sz="1600" b="1" i="0">
                <a:solidFill>
                  <a:srgbClr val="21201C"/>
                </a:solidFill>
                <a:latin typeface="Cambria"/>
              </a:rPr>
              <a:t>You will deliver</a:t>
            </a:r>
          </a:p>
        </p:txBody>
      </p:sp>
      <p:sp>
        <p:nvSpPr>
          <p:cNvPr id="15" name="TextBox 14"/>
          <p:cNvSpPr txBox="1"/>
          <p:nvPr/>
        </p:nvSpPr>
        <p:spPr>
          <a:xfrm>
            <a:off x="6720840" y="2807208"/>
            <a:ext cx="4709160" cy="1691640"/>
          </a:xfrm>
          <a:prstGeom prst="rect">
            <a:avLst/>
          </a:prstGeom>
          <a:noFill/>
        </p:spPr>
        <p:txBody>
          <a:bodyPr wrap="square" lIns="36576" rIns="36576" tIns="18288" bIns="18288" anchor="t">
            <a:spAutoFit/>
          </a:bodyPr>
          <a:lstStyle/>
          <a:p>
            <a:pPr algn="l">
              <a:lnSpc>
                <a:spcPct val="115000"/>
              </a:lnSpc>
            </a:pPr>
            <a:r>
              <a:rPr sz="1200" b="0" i="0">
                <a:solidFill>
                  <a:srgbClr val="6B6862"/>
                </a:solidFill>
                <a:latin typeface="Calibri"/>
              </a:rPr>
              <a:t>✓  outputs/lab05/dashboard.html — KPI cards + charts (opens in a browser)</a:t>
            </a:r>
          </a:p>
          <a:p>
            <a:pPr algn="l">
              <a:lnSpc>
                <a:spcPct val="115000"/>
              </a:lnSpc>
            </a:pPr>
            <a:r>
              <a:rPr sz="1200" b="0" i="0">
                <a:solidFill>
                  <a:srgbClr val="6B6862"/>
                </a:solidFill>
                <a:latin typeface="Calibri"/>
              </a:rPr>
              <a:t>✓  outputs/lab05/optimisation-plan.md — 3 proposals with evidence, impact, risk</a:t>
            </a:r>
          </a:p>
          <a:p>
            <a:pPr algn="l">
              <a:lnSpc>
                <a:spcPct val="115000"/>
              </a:lnSpc>
            </a:pPr>
            <a:r>
              <a:rPr sz="1200" b="0" i="0">
                <a:solidFill>
                  <a:srgbClr val="6B6862"/>
                </a:solidFill>
                <a:latin typeface="Calibri"/>
              </a:rPr>
              <a:t>✓  outputs/lab05/verification.md — the verifier's re-calculation of the key numbers</a:t>
            </a:r>
          </a:p>
          <a:p>
            <a:pPr algn="l">
              <a:lnSpc>
                <a:spcPct val="115000"/>
              </a:lnSpc>
            </a:pPr>
            <a:r>
              <a:rPr sz="1200" b="0" i="0">
                <a:solidFill>
                  <a:srgbClr val="6B6862"/>
                </a:solidFill>
                <a:latin typeface="Calibri"/>
              </a:rPr>
              <a:t>✓  Your decision recorded on the swarm task</a:t>
            </a:r>
          </a:p>
          <a:p>
            <a:pPr algn="l">
              <a:lnSpc>
                <a:spcPct val="115000"/>
              </a:lnSpc>
            </a:pPr>
            <a:r>
              <a:rPr sz="1200" b="0" i="0">
                <a:solidFill>
                  <a:srgbClr val="6B6862"/>
                </a:solidFill>
                <a:latin typeface="Calibri"/>
              </a:rPr>
              <a:t>✓  A Monday 09:00 cron that delivers the weekly report to Telegram</a:t>
            </a:r>
          </a:p>
        </p:txBody>
      </p:sp>
      <p:sp>
        <p:nvSpPr>
          <p:cNvPr id="16" name="Rounded Rectangle 15"/>
          <p:cNvSpPr/>
          <p:nvPr/>
        </p:nvSpPr>
        <p:spPr>
          <a:xfrm>
            <a:off x="6492240" y="4727448"/>
            <a:ext cx="5120640" cy="1444752"/>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720840" y="4855464"/>
            <a:ext cx="4709160" cy="1234440"/>
          </a:xfrm>
          <a:prstGeom prst="rect">
            <a:avLst/>
          </a:prstGeom>
          <a:noFill/>
        </p:spPr>
        <p:txBody>
          <a:bodyPr wrap="square" lIns="36576" rIns="36576" tIns="18288" bIns="18288" anchor="t">
            <a:spAutoFit/>
          </a:bodyPr>
          <a:lstStyle/>
          <a:p>
            <a:pPr algn="l">
              <a:lnSpc>
                <a:spcPct val="115000"/>
              </a:lnSpc>
              <a:spcAft>
                <a:spcPts val="300"/>
              </a:spcAft>
            </a:pPr>
            <a:r>
              <a:rPr sz="1250" b="1" i="0">
                <a:solidFill>
                  <a:srgbClr val="D97757"/>
                </a:solidFill>
                <a:latin typeface="Calibri"/>
              </a:rPr>
              <a:t>Agents  </a:t>
            </a:r>
            <a:r>
              <a:rPr sz="1250" b="0" i="0">
                <a:solidFill>
                  <a:srgbClr val="6B6862"/>
                </a:solidFill>
                <a:latin typeface="Calibri"/>
              </a:rPr>
              <a:t>3 parallel workers + verifier + synthesiser (Kanban swarm)</a:t>
            </a:r>
          </a:p>
          <a:p>
            <a:pPr algn="l">
              <a:lnSpc>
                <a:spcPct val="115000"/>
              </a:lnSpc>
              <a:spcAft>
                <a:spcPts val="300"/>
              </a:spcAft>
            </a:pPr>
            <a:r>
              <a:rPr sz="1250" b="1" i="0">
                <a:solidFill>
                  <a:srgbClr val="D97757"/>
                </a:solidFill>
                <a:latin typeface="Calibri"/>
              </a:rPr>
              <a:t>Human role  </a:t>
            </a:r>
            <a:r>
              <a:rPr sz="1250" b="0" i="0">
                <a:solidFill>
                  <a:srgbClr val="6B6862"/>
                </a:solidFill>
                <a:latin typeface="Calibri"/>
              </a:rPr>
              <a:t>Spot-check one number yourself; approve which optimisations to run</a:t>
            </a:r>
          </a:p>
          <a:p>
            <a:pPr algn="l">
              <a:lnSpc>
                <a:spcPct val="115000"/>
              </a:lnSpc>
              <a:spcAft>
                <a:spcPts val="300"/>
              </a:spcAft>
            </a:pPr>
            <a:r>
              <a:rPr sz="1250" b="1" i="0">
                <a:solidFill>
                  <a:srgbClr val="D97757"/>
                </a:solidFill>
                <a:latin typeface="Calibri"/>
              </a:rPr>
              <a:t>Time  </a:t>
            </a:r>
            <a:r>
              <a:rPr sz="1250" b="0" i="0">
                <a:solidFill>
                  <a:srgbClr val="6B6862"/>
                </a:solidFill>
                <a:latin typeface="Calibri"/>
              </a:rPr>
              <a:t>45 min  ·  Multi-agent (parallel swarm)  ·  labs/lab05-hermes-campaign-command-centre/</a:t>
            </a:r>
          </a:p>
        </p:txBody>
      </p:sp>
    </p:spTree>
  </p:cSld>
  <p:clrMapOvr>
    <a:masterClrMapping/>
  </p:clrMapOvr>
  <p:transition spd="med">
    <p:fade/>
  </p:transition>
</p:sld>
</file>

<file path=ppt/slides/slide98.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LAB 5</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Lab 5 — How the workflow runs</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C9C4B9"/>
                </a:solidFill>
                <a:latin typeface="Calibri"/>
              </a:rPr>
              <a:t>Perception → reasoning → action, with you at the checkpoints.</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98</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sp>
        <p:nvSpPr>
          <p:cNvPr id="8" name="Rounded Rectangle 7"/>
          <p:cNvSpPr/>
          <p:nvPr/>
        </p:nvSpPr>
        <p:spPr>
          <a:xfrm>
            <a:off x="548640" y="2331720"/>
            <a:ext cx="1706879"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31520" y="2468879"/>
            <a:ext cx="1341119"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1</a:t>
            </a:r>
          </a:p>
        </p:txBody>
      </p:sp>
      <p:sp>
        <p:nvSpPr>
          <p:cNvPr id="10" name="Oval 9"/>
          <p:cNvSpPr/>
          <p:nvPr/>
        </p:nvSpPr>
        <p:spPr>
          <a:xfrm>
            <a:off x="731520"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chart-FFFFFF.png"/>
          <p:cNvPicPr>
            <a:picLocks noChangeAspect="1"/>
          </p:cNvPicPr>
          <p:nvPr/>
        </p:nvPicPr>
        <p:blipFill>
          <a:blip r:embed="rId2"/>
          <a:stretch>
            <a:fillRect/>
          </a:stretch>
        </p:blipFill>
        <p:spPr>
          <a:xfrm>
            <a:off x="845637" y="2948757"/>
            <a:ext cx="247253" cy="247253"/>
          </a:xfrm>
          <a:prstGeom prst="rect">
            <a:avLst/>
          </a:prstGeom>
        </p:spPr>
      </p:pic>
      <p:sp>
        <p:nvSpPr>
          <p:cNvPr id="12" name="TextBox 11"/>
          <p:cNvSpPr txBox="1"/>
          <p:nvPr/>
        </p:nvSpPr>
        <p:spPr>
          <a:xfrm>
            <a:off x="731520" y="3410711"/>
            <a:ext cx="1386840"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Analyse</a:t>
            </a:r>
          </a:p>
        </p:txBody>
      </p:sp>
      <p:sp>
        <p:nvSpPr>
          <p:cNvPr id="13" name="TextBox 12"/>
          <p:cNvSpPr txBox="1"/>
          <p:nvPr/>
        </p:nvSpPr>
        <p:spPr>
          <a:xfrm>
            <a:off x="731520" y="3977639"/>
            <a:ext cx="1386840"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KPIs vs targets from metrics + sales CSVs.</a:t>
            </a:r>
          </a:p>
        </p:txBody>
      </p:sp>
      <p:cxnSp>
        <p:nvCxnSpPr>
          <p:cNvPr id="14" name="Connector 13"/>
          <p:cNvCxnSpPr/>
          <p:nvPr/>
        </p:nvCxnSpPr>
        <p:spPr>
          <a:xfrm>
            <a:off x="2264663" y="3886200"/>
            <a:ext cx="146305"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2420112" y="2331720"/>
            <a:ext cx="1706879"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2602992" y="2468879"/>
            <a:ext cx="1341119"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2</a:t>
            </a:r>
          </a:p>
        </p:txBody>
      </p:sp>
      <p:sp>
        <p:nvSpPr>
          <p:cNvPr id="17" name="Oval 16"/>
          <p:cNvSpPr/>
          <p:nvPr/>
        </p:nvSpPr>
        <p:spPr>
          <a:xfrm>
            <a:off x="2602992"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chat-FFFFFF.png"/>
          <p:cNvPicPr>
            <a:picLocks noChangeAspect="1"/>
          </p:cNvPicPr>
          <p:nvPr/>
        </p:nvPicPr>
        <p:blipFill>
          <a:blip r:embed="rId3"/>
          <a:stretch>
            <a:fillRect/>
          </a:stretch>
        </p:blipFill>
        <p:spPr>
          <a:xfrm>
            <a:off x="2717109" y="2948757"/>
            <a:ext cx="247253" cy="247253"/>
          </a:xfrm>
          <a:prstGeom prst="rect">
            <a:avLst/>
          </a:prstGeom>
        </p:spPr>
      </p:pic>
      <p:sp>
        <p:nvSpPr>
          <p:cNvPr id="19" name="TextBox 18"/>
          <p:cNvSpPr txBox="1"/>
          <p:nvPr/>
        </p:nvSpPr>
        <p:spPr>
          <a:xfrm>
            <a:off x="2602992" y="3410711"/>
            <a:ext cx="1386840"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Listen</a:t>
            </a:r>
          </a:p>
        </p:txBody>
      </p:sp>
      <p:sp>
        <p:nvSpPr>
          <p:cNvPr id="20" name="TextBox 19"/>
          <p:cNvSpPr txBox="1"/>
          <p:nvPr/>
        </p:nvSpPr>
        <p:spPr>
          <a:xfrm>
            <a:off x="2602992" y="3977639"/>
            <a:ext cx="1386840"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Sentiment and risks in comments.</a:t>
            </a:r>
          </a:p>
        </p:txBody>
      </p:sp>
      <p:cxnSp>
        <p:nvCxnSpPr>
          <p:cNvPr id="21" name="Connector 20"/>
          <p:cNvCxnSpPr/>
          <p:nvPr/>
        </p:nvCxnSpPr>
        <p:spPr>
          <a:xfrm>
            <a:off x="4136135" y="3886200"/>
            <a:ext cx="146304"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4291583" y="2331720"/>
            <a:ext cx="1706879"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4474463" y="2468879"/>
            <a:ext cx="1341119"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3</a:t>
            </a:r>
          </a:p>
        </p:txBody>
      </p:sp>
      <p:sp>
        <p:nvSpPr>
          <p:cNvPr id="24" name="Oval 23"/>
          <p:cNvSpPr/>
          <p:nvPr/>
        </p:nvSpPr>
        <p:spPr>
          <a:xfrm>
            <a:off x="4474463"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Picture 24" descr="search-FFFFFF.png"/>
          <p:cNvPicPr>
            <a:picLocks noChangeAspect="1"/>
          </p:cNvPicPr>
          <p:nvPr/>
        </p:nvPicPr>
        <p:blipFill>
          <a:blip r:embed="rId4"/>
          <a:stretch>
            <a:fillRect/>
          </a:stretch>
        </p:blipFill>
        <p:spPr>
          <a:xfrm>
            <a:off x="4588581" y="2948757"/>
            <a:ext cx="247253" cy="247253"/>
          </a:xfrm>
          <a:prstGeom prst="rect">
            <a:avLst/>
          </a:prstGeom>
        </p:spPr>
      </p:pic>
      <p:sp>
        <p:nvSpPr>
          <p:cNvPr id="26" name="TextBox 25"/>
          <p:cNvSpPr txBox="1"/>
          <p:nvPr/>
        </p:nvSpPr>
        <p:spPr>
          <a:xfrm>
            <a:off x="4474463" y="3410711"/>
            <a:ext cx="1386840"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Watch</a:t>
            </a:r>
          </a:p>
        </p:txBody>
      </p:sp>
      <p:sp>
        <p:nvSpPr>
          <p:cNvPr id="27" name="TextBox 26"/>
          <p:cNvSpPr txBox="1"/>
          <p:nvPr/>
        </p:nvSpPr>
        <p:spPr>
          <a:xfrm>
            <a:off x="4474463" y="3977639"/>
            <a:ext cx="1386840"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Competitor &amp; trend scan (cited).</a:t>
            </a:r>
          </a:p>
        </p:txBody>
      </p:sp>
      <p:cxnSp>
        <p:nvCxnSpPr>
          <p:cNvPr id="28" name="Connector 27"/>
          <p:cNvCxnSpPr/>
          <p:nvPr/>
        </p:nvCxnSpPr>
        <p:spPr>
          <a:xfrm>
            <a:off x="6007607" y="3886200"/>
            <a:ext cx="146304"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6163055" y="2331720"/>
            <a:ext cx="1706879"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6345935" y="2468879"/>
            <a:ext cx="1341119"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4</a:t>
            </a:r>
          </a:p>
        </p:txBody>
      </p:sp>
      <p:sp>
        <p:nvSpPr>
          <p:cNvPr id="31" name="Oval 30"/>
          <p:cNvSpPr/>
          <p:nvPr/>
        </p:nvSpPr>
        <p:spPr>
          <a:xfrm>
            <a:off x="6345935"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2" name="Picture 31" descr="check-FFFFFF.png"/>
          <p:cNvPicPr>
            <a:picLocks noChangeAspect="1"/>
          </p:cNvPicPr>
          <p:nvPr/>
        </p:nvPicPr>
        <p:blipFill>
          <a:blip r:embed="rId5"/>
          <a:stretch>
            <a:fillRect/>
          </a:stretch>
        </p:blipFill>
        <p:spPr>
          <a:xfrm>
            <a:off x="6460053" y="2948757"/>
            <a:ext cx="247253" cy="247253"/>
          </a:xfrm>
          <a:prstGeom prst="rect">
            <a:avLst/>
          </a:prstGeom>
        </p:spPr>
      </p:pic>
      <p:sp>
        <p:nvSpPr>
          <p:cNvPr id="33" name="TextBox 32"/>
          <p:cNvSpPr txBox="1"/>
          <p:nvPr/>
        </p:nvSpPr>
        <p:spPr>
          <a:xfrm>
            <a:off x="6345935" y="3410711"/>
            <a:ext cx="1386840"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Verify</a:t>
            </a:r>
          </a:p>
        </p:txBody>
      </p:sp>
      <p:sp>
        <p:nvSpPr>
          <p:cNvPr id="34" name="TextBox 33"/>
          <p:cNvSpPr txBox="1"/>
          <p:nvPr/>
        </p:nvSpPr>
        <p:spPr>
          <a:xfrm>
            <a:off x="6345935" y="3977639"/>
            <a:ext cx="1386840"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Re-compute key numbers; flag gaps.</a:t>
            </a:r>
          </a:p>
        </p:txBody>
      </p:sp>
      <p:cxnSp>
        <p:nvCxnSpPr>
          <p:cNvPr id="35" name="Connector 34"/>
          <p:cNvCxnSpPr/>
          <p:nvPr/>
        </p:nvCxnSpPr>
        <p:spPr>
          <a:xfrm>
            <a:off x="7879079" y="3886200"/>
            <a:ext cx="146304"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8034527" y="2331720"/>
            <a:ext cx="1706879"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8217407" y="2468879"/>
            <a:ext cx="1341119"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5</a:t>
            </a:r>
          </a:p>
        </p:txBody>
      </p:sp>
      <p:sp>
        <p:nvSpPr>
          <p:cNvPr id="38" name="Oval 37"/>
          <p:cNvSpPr/>
          <p:nvPr/>
        </p:nvSpPr>
        <p:spPr>
          <a:xfrm>
            <a:off x="8217407"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9" name="Picture 38" descr="layers-FFFFFF.png"/>
          <p:cNvPicPr>
            <a:picLocks noChangeAspect="1"/>
          </p:cNvPicPr>
          <p:nvPr/>
        </p:nvPicPr>
        <p:blipFill>
          <a:blip r:embed="rId6"/>
          <a:stretch>
            <a:fillRect/>
          </a:stretch>
        </p:blipFill>
        <p:spPr>
          <a:xfrm>
            <a:off x="8331525" y="2948757"/>
            <a:ext cx="247253" cy="247253"/>
          </a:xfrm>
          <a:prstGeom prst="rect">
            <a:avLst/>
          </a:prstGeom>
        </p:spPr>
      </p:pic>
      <p:sp>
        <p:nvSpPr>
          <p:cNvPr id="40" name="TextBox 39"/>
          <p:cNvSpPr txBox="1"/>
          <p:nvPr/>
        </p:nvSpPr>
        <p:spPr>
          <a:xfrm>
            <a:off x="8217407" y="3410711"/>
            <a:ext cx="1386840"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Synthesise</a:t>
            </a:r>
          </a:p>
        </p:txBody>
      </p:sp>
      <p:sp>
        <p:nvSpPr>
          <p:cNvPr id="41" name="TextBox 40"/>
          <p:cNvSpPr txBox="1"/>
          <p:nvPr/>
        </p:nvSpPr>
        <p:spPr>
          <a:xfrm>
            <a:off x="8217407" y="3977639"/>
            <a:ext cx="1386840"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Dashboard + optimisation plan.</a:t>
            </a:r>
          </a:p>
        </p:txBody>
      </p:sp>
      <p:cxnSp>
        <p:nvCxnSpPr>
          <p:cNvPr id="42" name="Connector 41"/>
          <p:cNvCxnSpPr/>
          <p:nvPr/>
        </p:nvCxnSpPr>
        <p:spPr>
          <a:xfrm>
            <a:off x="9750551" y="3886200"/>
            <a:ext cx="146305"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43" name="Rounded Rectangle 42"/>
          <p:cNvSpPr/>
          <p:nvPr/>
        </p:nvSpPr>
        <p:spPr>
          <a:xfrm>
            <a:off x="9905999" y="2331720"/>
            <a:ext cx="1706879" cy="3108960"/>
          </a:xfrm>
          <a:prstGeom prst="roundRect">
            <a:avLst>
              <a:gd name="adj" fmla="val 3500"/>
            </a:avLst>
          </a:prstGeom>
          <a:solidFill>
            <a:srgbClr val="C2603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10088879" y="2468879"/>
            <a:ext cx="1341119" cy="274320"/>
          </a:xfrm>
          <a:prstGeom prst="rect">
            <a:avLst/>
          </a:prstGeom>
          <a:noFill/>
        </p:spPr>
        <p:txBody>
          <a:bodyPr wrap="square" lIns="36576" rIns="36576" tIns="18288" bIns="18288" anchor="t">
            <a:spAutoFit/>
          </a:bodyPr>
          <a:lstStyle/>
          <a:p>
            <a:pPr algn="l">
              <a:lnSpc>
                <a:spcPct val="112000"/>
              </a:lnSpc>
            </a:pPr>
            <a:r>
              <a:rPr sz="950" b="1" i="0">
                <a:solidFill>
                  <a:srgbClr val="FFFFFF"/>
                </a:solidFill>
                <a:latin typeface="Calibri"/>
              </a:rPr>
              <a:t>HUMAN  ·  STEP 6</a:t>
            </a:r>
          </a:p>
        </p:txBody>
      </p:sp>
      <p:sp>
        <p:nvSpPr>
          <p:cNvPr id="45" name="Oval 44"/>
          <p:cNvSpPr/>
          <p:nvPr/>
        </p:nvSpPr>
        <p:spPr>
          <a:xfrm>
            <a:off x="10088879" y="2834639"/>
            <a:ext cx="475488" cy="475488"/>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6" name="Picture 45" descr="user-C2603F.png"/>
          <p:cNvPicPr>
            <a:picLocks noChangeAspect="1"/>
          </p:cNvPicPr>
          <p:nvPr/>
        </p:nvPicPr>
        <p:blipFill>
          <a:blip r:embed="rId7"/>
          <a:stretch>
            <a:fillRect/>
          </a:stretch>
        </p:blipFill>
        <p:spPr>
          <a:xfrm>
            <a:off x="10202997" y="2948757"/>
            <a:ext cx="247253" cy="247253"/>
          </a:xfrm>
          <a:prstGeom prst="rect">
            <a:avLst/>
          </a:prstGeom>
        </p:spPr>
      </p:pic>
      <p:sp>
        <p:nvSpPr>
          <p:cNvPr id="47" name="TextBox 46"/>
          <p:cNvSpPr txBox="1"/>
          <p:nvPr/>
        </p:nvSpPr>
        <p:spPr>
          <a:xfrm>
            <a:off x="10088879" y="3410711"/>
            <a:ext cx="1386840"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Decide</a:t>
            </a:r>
          </a:p>
        </p:txBody>
      </p:sp>
      <p:sp>
        <p:nvSpPr>
          <p:cNvPr id="48" name="TextBox 47"/>
          <p:cNvSpPr txBox="1"/>
          <p:nvPr/>
        </p:nvSpPr>
        <p:spPr>
          <a:xfrm>
            <a:off x="10088879" y="3977639"/>
            <a:ext cx="1386840" cy="1371600"/>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Spot-check, approve 1–2 changes.</a:t>
            </a:r>
          </a:p>
        </p:txBody>
      </p:sp>
      <p:sp>
        <p:nvSpPr>
          <p:cNvPr id="49" name="TextBox 48"/>
          <p:cNvSpPr txBox="1"/>
          <p:nvPr/>
        </p:nvSpPr>
        <p:spPr>
          <a:xfrm>
            <a:off x="548640" y="5715000"/>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Checkpoint  </a:t>
            </a:r>
            <a:r>
              <a:rPr sz="1300" b="0" i="0">
                <a:solidFill>
                  <a:srgbClr val="C9C4B9"/>
                </a:solidFill>
                <a:latin typeface="Calibri"/>
              </a:rPr>
              <a:t>Your own calculation of pre-orders and cost per pre-order matches the dashboard; the plan you approved is recorded on the task.</a:t>
            </a:r>
          </a:p>
        </p:txBody>
      </p:sp>
    </p:spTree>
  </p:cSld>
  <p:clrMapOvr>
    <a:masterClrMapping/>
  </p:clrMapOvr>
  <p:transition spd="med">
    <p:fade/>
  </p:transition>
</p:sld>
</file>

<file path=ppt/slides/slide9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LAB 5</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Parallel Swarm with a Verifier</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99</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cxnSp>
        <p:nvCxnSpPr>
          <p:cNvPr id="7" name="Connector 6"/>
          <p:cNvCxnSpPr/>
          <p:nvPr/>
        </p:nvCxnSpPr>
        <p:spPr>
          <a:xfrm flipV="1">
            <a:off x="6099048" y="2148839"/>
            <a:ext cx="0" cy="1600200"/>
          </a:xfrm>
          <a:prstGeom prst="line">
            <a:avLst/>
          </a:prstGeom>
          <a:ln w="19050">
            <a:solidFill>
              <a:srgbClr val="C9C4B9"/>
            </a:solidFill>
            <a:prstDash val="dash"/>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6099048" y="2948939"/>
            <a:ext cx="3444737" cy="800100"/>
          </a:xfrm>
          <a:prstGeom prst="line">
            <a:avLst/>
          </a:prstGeom>
          <a:ln w="19050">
            <a:solidFill>
              <a:srgbClr val="C9C4B9"/>
            </a:solidFill>
            <a:prstDash val="dash"/>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099048" y="3749039"/>
            <a:ext cx="3444737" cy="800101"/>
          </a:xfrm>
          <a:prstGeom prst="line">
            <a:avLst/>
          </a:prstGeom>
          <a:ln w="19050">
            <a:solidFill>
              <a:srgbClr val="C9C4B9"/>
            </a:solidFill>
            <a:prstDash val="dash"/>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6099048" y="3749039"/>
            <a:ext cx="0" cy="1600201"/>
          </a:xfrm>
          <a:prstGeom prst="line">
            <a:avLst/>
          </a:prstGeom>
          <a:ln w="19050">
            <a:solidFill>
              <a:srgbClr val="C9C4B9"/>
            </a:solidFill>
            <a:prstDash val="dash"/>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H="1">
            <a:off x="2654310" y="3749039"/>
            <a:ext cx="3444738" cy="800101"/>
          </a:xfrm>
          <a:prstGeom prst="line">
            <a:avLst/>
          </a:prstGeom>
          <a:ln w="19050">
            <a:solidFill>
              <a:srgbClr val="C9C4B9"/>
            </a:solidFill>
            <a:prstDash val="dash"/>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flipV="1">
            <a:off x="2654310" y="2948939"/>
            <a:ext cx="3444738" cy="800100"/>
          </a:xfrm>
          <a:prstGeom prst="line">
            <a:avLst/>
          </a:prstGeom>
          <a:ln w="19050">
            <a:solidFill>
              <a:srgbClr val="C9C4B9"/>
            </a:solidFill>
            <a:prstDash val="dash"/>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4773168" y="3291839"/>
            <a:ext cx="2651760" cy="914400"/>
          </a:xfrm>
          <a:prstGeom prst="roundRect">
            <a:avLst>
              <a:gd name="adj" fmla="val 3500"/>
            </a:avLst>
          </a:prstGeom>
          <a:solidFill>
            <a:srgbClr val="D97757"/>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773168" y="3291839"/>
            <a:ext cx="2651760" cy="914400"/>
          </a:xfrm>
          <a:prstGeom prst="rect">
            <a:avLst/>
          </a:prstGeom>
          <a:noFill/>
        </p:spPr>
        <p:txBody>
          <a:bodyPr wrap="square" lIns="36576" rIns="36576" tIns="18288" bIns="18288" anchor="ctr">
            <a:spAutoFit/>
          </a:bodyPr>
          <a:lstStyle/>
          <a:p>
            <a:pPr algn="ctr">
              <a:lnSpc>
                <a:spcPct val="112000"/>
              </a:lnSpc>
            </a:pPr>
            <a:r>
              <a:rPr sz="1600" b="1" i="0">
                <a:solidFill>
                  <a:srgbClr val="FFFFFF"/>
                </a:solidFill>
                <a:latin typeface="Cambria"/>
              </a:rPr>
              <a:t>Swarm root:</a:t>
            </a:r>
          </a:p>
          <a:p>
            <a:pPr algn="ctr">
              <a:lnSpc>
                <a:spcPct val="112000"/>
              </a:lnSpc>
            </a:pPr>
            <a:r>
              <a:rPr sz="1600" b="1" i="0">
                <a:solidFill>
                  <a:srgbClr val="FFFFFF"/>
                </a:solidFill>
                <a:latin typeface="Cambria"/>
              </a:rPr>
              <a:t>week-1 review</a:t>
            </a:r>
          </a:p>
        </p:txBody>
      </p:sp>
      <p:sp>
        <p:nvSpPr>
          <p:cNvPr id="15" name="Rounded Rectangle 14"/>
          <p:cNvSpPr/>
          <p:nvPr/>
        </p:nvSpPr>
        <p:spPr>
          <a:xfrm>
            <a:off x="4841748" y="1668779"/>
            <a:ext cx="2514600" cy="9601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4969764" y="1796795"/>
            <a:ext cx="384048" cy="384048"/>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chart-FFFFFF.png"/>
          <p:cNvPicPr>
            <a:picLocks noChangeAspect="1"/>
          </p:cNvPicPr>
          <p:nvPr/>
        </p:nvPicPr>
        <p:blipFill>
          <a:blip r:embed="rId2"/>
          <a:stretch>
            <a:fillRect/>
          </a:stretch>
        </p:blipFill>
        <p:spPr>
          <a:xfrm>
            <a:off x="5061935" y="1888967"/>
            <a:ext cx="199704" cy="199704"/>
          </a:xfrm>
          <a:prstGeom prst="rect">
            <a:avLst/>
          </a:prstGeom>
        </p:spPr>
      </p:pic>
      <p:sp>
        <p:nvSpPr>
          <p:cNvPr id="18" name="TextBox 17"/>
          <p:cNvSpPr txBox="1"/>
          <p:nvPr/>
        </p:nvSpPr>
        <p:spPr>
          <a:xfrm>
            <a:off x="5426964" y="1760219"/>
            <a:ext cx="1837943" cy="329184"/>
          </a:xfrm>
          <a:prstGeom prst="rect">
            <a:avLst/>
          </a:prstGeom>
          <a:noFill/>
        </p:spPr>
        <p:txBody>
          <a:bodyPr wrap="square" lIns="36576" rIns="36576" tIns="18288" bIns="18288" anchor="t">
            <a:spAutoFit/>
          </a:bodyPr>
          <a:lstStyle/>
          <a:p>
            <a:pPr algn="l">
              <a:lnSpc>
                <a:spcPct val="112000"/>
              </a:lnSpc>
            </a:pPr>
            <a:r>
              <a:rPr sz="1300" b="1" i="0">
                <a:solidFill>
                  <a:srgbClr val="21201C"/>
                </a:solidFill>
                <a:latin typeface="Cambria"/>
              </a:rPr>
              <a:t>analyst</a:t>
            </a:r>
          </a:p>
        </p:txBody>
      </p:sp>
      <p:sp>
        <p:nvSpPr>
          <p:cNvPr id="19" name="TextBox 18"/>
          <p:cNvSpPr txBox="1"/>
          <p:nvPr/>
        </p:nvSpPr>
        <p:spPr>
          <a:xfrm>
            <a:off x="4969764" y="2199132"/>
            <a:ext cx="2276856" cy="411480"/>
          </a:xfrm>
          <a:prstGeom prst="rect">
            <a:avLst/>
          </a:prstGeom>
          <a:noFill/>
        </p:spPr>
        <p:txBody>
          <a:bodyPr wrap="square" lIns="36576" rIns="36576" tIns="18288" bIns="18288" anchor="t">
            <a:spAutoFit/>
          </a:bodyPr>
          <a:lstStyle/>
          <a:p>
            <a:pPr algn="l">
              <a:lnSpc>
                <a:spcPct val="112000"/>
              </a:lnSpc>
            </a:pPr>
            <a:r>
              <a:rPr sz="1000" b="0" i="0">
                <a:solidFill>
                  <a:srgbClr val="6B6862"/>
                </a:solidFill>
                <a:latin typeface="Calibri"/>
              </a:rPr>
              <a:t>KPIs vs targets (CSV)</a:t>
            </a:r>
          </a:p>
        </p:txBody>
      </p:sp>
      <p:sp>
        <p:nvSpPr>
          <p:cNvPr id="20" name="Rounded Rectangle 19"/>
          <p:cNvSpPr/>
          <p:nvPr/>
        </p:nvSpPr>
        <p:spPr>
          <a:xfrm>
            <a:off x="8286485" y="2468879"/>
            <a:ext cx="2514600" cy="9601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8414501" y="2596896"/>
            <a:ext cx="384048" cy="384048"/>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chat-FFFFFF.png"/>
          <p:cNvPicPr>
            <a:picLocks noChangeAspect="1"/>
          </p:cNvPicPr>
          <p:nvPr/>
        </p:nvPicPr>
        <p:blipFill>
          <a:blip r:embed="rId3"/>
          <a:stretch>
            <a:fillRect/>
          </a:stretch>
        </p:blipFill>
        <p:spPr>
          <a:xfrm>
            <a:off x="8506672" y="2689067"/>
            <a:ext cx="199704" cy="199704"/>
          </a:xfrm>
          <a:prstGeom prst="rect">
            <a:avLst/>
          </a:prstGeom>
        </p:spPr>
      </p:pic>
      <p:sp>
        <p:nvSpPr>
          <p:cNvPr id="23" name="TextBox 22"/>
          <p:cNvSpPr txBox="1"/>
          <p:nvPr/>
        </p:nvSpPr>
        <p:spPr>
          <a:xfrm>
            <a:off x="8871701" y="2560320"/>
            <a:ext cx="1837943" cy="329184"/>
          </a:xfrm>
          <a:prstGeom prst="rect">
            <a:avLst/>
          </a:prstGeom>
          <a:noFill/>
        </p:spPr>
        <p:txBody>
          <a:bodyPr wrap="square" lIns="36576" rIns="36576" tIns="18288" bIns="18288" anchor="t">
            <a:spAutoFit/>
          </a:bodyPr>
          <a:lstStyle/>
          <a:p>
            <a:pPr algn="l">
              <a:lnSpc>
                <a:spcPct val="112000"/>
              </a:lnSpc>
            </a:pPr>
            <a:r>
              <a:rPr sz="1300" b="1" i="0">
                <a:solidFill>
                  <a:srgbClr val="21201C"/>
                </a:solidFill>
                <a:latin typeface="Cambria"/>
              </a:rPr>
              <a:t>listener</a:t>
            </a:r>
          </a:p>
        </p:txBody>
      </p:sp>
      <p:sp>
        <p:nvSpPr>
          <p:cNvPr id="24" name="TextBox 23"/>
          <p:cNvSpPr txBox="1"/>
          <p:nvPr/>
        </p:nvSpPr>
        <p:spPr>
          <a:xfrm>
            <a:off x="8414501" y="2999232"/>
            <a:ext cx="2276856" cy="411480"/>
          </a:xfrm>
          <a:prstGeom prst="rect">
            <a:avLst/>
          </a:prstGeom>
          <a:noFill/>
        </p:spPr>
        <p:txBody>
          <a:bodyPr wrap="square" lIns="36576" rIns="36576" tIns="18288" bIns="18288" anchor="t">
            <a:spAutoFit/>
          </a:bodyPr>
          <a:lstStyle/>
          <a:p>
            <a:pPr algn="l">
              <a:lnSpc>
                <a:spcPct val="112000"/>
              </a:lnSpc>
            </a:pPr>
            <a:r>
              <a:rPr sz="1000" b="0" i="0">
                <a:solidFill>
                  <a:srgbClr val="6B6862"/>
                </a:solidFill>
                <a:latin typeface="Calibri"/>
              </a:rPr>
              <a:t>sentiment &amp; risks</a:t>
            </a:r>
          </a:p>
        </p:txBody>
      </p:sp>
      <p:sp>
        <p:nvSpPr>
          <p:cNvPr id="25" name="Rounded Rectangle 24"/>
          <p:cNvSpPr/>
          <p:nvPr/>
        </p:nvSpPr>
        <p:spPr>
          <a:xfrm>
            <a:off x="8286485" y="4069079"/>
            <a:ext cx="2514600" cy="9601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8414501" y="4197095"/>
            <a:ext cx="384048" cy="384048"/>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7" name="Picture 26" descr="search-FFFFFF.png"/>
          <p:cNvPicPr>
            <a:picLocks noChangeAspect="1"/>
          </p:cNvPicPr>
          <p:nvPr/>
        </p:nvPicPr>
        <p:blipFill>
          <a:blip r:embed="rId4"/>
          <a:stretch>
            <a:fillRect/>
          </a:stretch>
        </p:blipFill>
        <p:spPr>
          <a:xfrm>
            <a:off x="8506672" y="4289267"/>
            <a:ext cx="199704" cy="199704"/>
          </a:xfrm>
          <a:prstGeom prst="rect">
            <a:avLst/>
          </a:prstGeom>
        </p:spPr>
      </p:pic>
      <p:sp>
        <p:nvSpPr>
          <p:cNvPr id="28" name="TextBox 27"/>
          <p:cNvSpPr txBox="1"/>
          <p:nvPr/>
        </p:nvSpPr>
        <p:spPr>
          <a:xfrm>
            <a:off x="8871701" y="4160519"/>
            <a:ext cx="1837943" cy="329184"/>
          </a:xfrm>
          <a:prstGeom prst="rect">
            <a:avLst/>
          </a:prstGeom>
          <a:noFill/>
        </p:spPr>
        <p:txBody>
          <a:bodyPr wrap="square" lIns="36576" rIns="36576" tIns="18288" bIns="18288" anchor="t">
            <a:spAutoFit/>
          </a:bodyPr>
          <a:lstStyle/>
          <a:p>
            <a:pPr algn="l">
              <a:lnSpc>
                <a:spcPct val="112000"/>
              </a:lnSpc>
            </a:pPr>
            <a:r>
              <a:rPr sz="1300" b="1" i="0">
                <a:solidFill>
                  <a:srgbClr val="21201C"/>
                </a:solidFill>
                <a:latin typeface="Cambria"/>
              </a:rPr>
              <a:t>researcher</a:t>
            </a:r>
          </a:p>
        </p:txBody>
      </p:sp>
      <p:sp>
        <p:nvSpPr>
          <p:cNvPr id="29" name="TextBox 28"/>
          <p:cNvSpPr txBox="1"/>
          <p:nvPr/>
        </p:nvSpPr>
        <p:spPr>
          <a:xfrm>
            <a:off x="8414501" y="4599431"/>
            <a:ext cx="2276856" cy="411480"/>
          </a:xfrm>
          <a:prstGeom prst="rect">
            <a:avLst/>
          </a:prstGeom>
          <a:noFill/>
        </p:spPr>
        <p:txBody>
          <a:bodyPr wrap="square" lIns="36576" rIns="36576" tIns="18288" bIns="18288" anchor="t">
            <a:spAutoFit/>
          </a:bodyPr>
          <a:lstStyle/>
          <a:p>
            <a:pPr algn="l">
              <a:lnSpc>
                <a:spcPct val="112000"/>
              </a:lnSpc>
            </a:pPr>
            <a:r>
              <a:rPr sz="1000" b="0" i="0">
                <a:solidFill>
                  <a:srgbClr val="6B6862"/>
                </a:solidFill>
                <a:latin typeface="Calibri"/>
              </a:rPr>
              <a:t>competitor &amp; trend watch</a:t>
            </a:r>
          </a:p>
        </p:txBody>
      </p:sp>
      <p:sp>
        <p:nvSpPr>
          <p:cNvPr id="30" name="Rounded Rectangle 29"/>
          <p:cNvSpPr/>
          <p:nvPr/>
        </p:nvSpPr>
        <p:spPr>
          <a:xfrm>
            <a:off x="4841748" y="4869179"/>
            <a:ext cx="2514600" cy="9601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Oval 30"/>
          <p:cNvSpPr/>
          <p:nvPr/>
        </p:nvSpPr>
        <p:spPr>
          <a:xfrm>
            <a:off x="4969764" y="4997195"/>
            <a:ext cx="384048" cy="384048"/>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2" name="Picture 31" descr="check-FFFFFF.png"/>
          <p:cNvPicPr>
            <a:picLocks noChangeAspect="1"/>
          </p:cNvPicPr>
          <p:nvPr/>
        </p:nvPicPr>
        <p:blipFill>
          <a:blip r:embed="rId5"/>
          <a:stretch>
            <a:fillRect/>
          </a:stretch>
        </p:blipFill>
        <p:spPr>
          <a:xfrm>
            <a:off x="5061935" y="5089367"/>
            <a:ext cx="199704" cy="199704"/>
          </a:xfrm>
          <a:prstGeom prst="rect">
            <a:avLst/>
          </a:prstGeom>
        </p:spPr>
      </p:pic>
      <p:sp>
        <p:nvSpPr>
          <p:cNvPr id="33" name="TextBox 32"/>
          <p:cNvSpPr txBox="1"/>
          <p:nvPr/>
        </p:nvSpPr>
        <p:spPr>
          <a:xfrm>
            <a:off x="5426964" y="4960619"/>
            <a:ext cx="1837943" cy="329184"/>
          </a:xfrm>
          <a:prstGeom prst="rect">
            <a:avLst/>
          </a:prstGeom>
          <a:noFill/>
        </p:spPr>
        <p:txBody>
          <a:bodyPr wrap="square" lIns="36576" rIns="36576" tIns="18288" bIns="18288" anchor="t">
            <a:spAutoFit/>
          </a:bodyPr>
          <a:lstStyle/>
          <a:p>
            <a:pPr algn="l">
              <a:lnSpc>
                <a:spcPct val="112000"/>
              </a:lnSpc>
            </a:pPr>
            <a:r>
              <a:rPr sz="1300" b="1" i="0">
                <a:solidFill>
                  <a:srgbClr val="21201C"/>
                </a:solidFill>
                <a:latin typeface="Cambria"/>
              </a:rPr>
              <a:t>auditor = verifier</a:t>
            </a:r>
          </a:p>
        </p:txBody>
      </p:sp>
      <p:sp>
        <p:nvSpPr>
          <p:cNvPr id="34" name="TextBox 33"/>
          <p:cNvSpPr txBox="1"/>
          <p:nvPr/>
        </p:nvSpPr>
        <p:spPr>
          <a:xfrm>
            <a:off x="4969764" y="5399531"/>
            <a:ext cx="2276856" cy="411480"/>
          </a:xfrm>
          <a:prstGeom prst="rect">
            <a:avLst/>
          </a:prstGeom>
          <a:noFill/>
        </p:spPr>
        <p:txBody>
          <a:bodyPr wrap="square" lIns="36576" rIns="36576" tIns="18288" bIns="18288" anchor="t">
            <a:spAutoFit/>
          </a:bodyPr>
          <a:lstStyle/>
          <a:p>
            <a:pPr algn="l">
              <a:lnSpc>
                <a:spcPct val="112000"/>
              </a:lnSpc>
            </a:pPr>
            <a:r>
              <a:rPr sz="1000" b="0" i="0">
                <a:solidFill>
                  <a:srgbClr val="6B6862"/>
                </a:solidFill>
                <a:latin typeface="Calibri"/>
              </a:rPr>
              <a:t>re-computes the numbers</a:t>
            </a:r>
          </a:p>
        </p:txBody>
      </p:sp>
      <p:sp>
        <p:nvSpPr>
          <p:cNvPr id="35" name="Rounded Rectangle 34"/>
          <p:cNvSpPr/>
          <p:nvPr/>
        </p:nvSpPr>
        <p:spPr>
          <a:xfrm>
            <a:off x="1397010" y="4069080"/>
            <a:ext cx="2514600" cy="9601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Oval 35"/>
          <p:cNvSpPr/>
          <p:nvPr/>
        </p:nvSpPr>
        <p:spPr>
          <a:xfrm>
            <a:off x="1525026" y="4197096"/>
            <a:ext cx="384048" cy="384048"/>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7" name="Picture 36" descr="layers-FFFFFF.png"/>
          <p:cNvPicPr>
            <a:picLocks noChangeAspect="1"/>
          </p:cNvPicPr>
          <p:nvPr/>
        </p:nvPicPr>
        <p:blipFill>
          <a:blip r:embed="rId6"/>
          <a:stretch>
            <a:fillRect/>
          </a:stretch>
        </p:blipFill>
        <p:spPr>
          <a:xfrm>
            <a:off x="1617198" y="4289267"/>
            <a:ext cx="199704" cy="199704"/>
          </a:xfrm>
          <a:prstGeom prst="rect">
            <a:avLst/>
          </a:prstGeom>
        </p:spPr>
      </p:pic>
      <p:sp>
        <p:nvSpPr>
          <p:cNvPr id="38" name="TextBox 37"/>
          <p:cNvSpPr txBox="1"/>
          <p:nvPr/>
        </p:nvSpPr>
        <p:spPr>
          <a:xfrm>
            <a:off x="1982226" y="4160520"/>
            <a:ext cx="1837943" cy="329184"/>
          </a:xfrm>
          <a:prstGeom prst="rect">
            <a:avLst/>
          </a:prstGeom>
          <a:noFill/>
        </p:spPr>
        <p:txBody>
          <a:bodyPr wrap="square" lIns="36576" rIns="36576" tIns="18288" bIns="18288" anchor="t">
            <a:spAutoFit/>
          </a:bodyPr>
          <a:lstStyle/>
          <a:p>
            <a:pPr algn="l">
              <a:lnSpc>
                <a:spcPct val="112000"/>
              </a:lnSpc>
            </a:pPr>
            <a:r>
              <a:rPr sz="1100" b="1" i="0">
                <a:solidFill>
                  <a:srgbClr val="21201C"/>
                </a:solidFill>
                <a:latin typeface="Cambria"/>
              </a:rPr>
              <a:t>strategist = synthesiser</a:t>
            </a:r>
          </a:p>
        </p:txBody>
      </p:sp>
      <p:sp>
        <p:nvSpPr>
          <p:cNvPr id="39" name="TextBox 38"/>
          <p:cNvSpPr txBox="1"/>
          <p:nvPr/>
        </p:nvSpPr>
        <p:spPr>
          <a:xfrm>
            <a:off x="1525026" y="4599432"/>
            <a:ext cx="2276856" cy="411480"/>
          </a:xfrm>
          <a:prstGeom prst="rect">
            <a:avLst/>
          </a:prstGeom>
          <a:noFill/>
        </p:spPr>
        <p:txBody>
          <a:bodyPr wrap="square" lIns="36576" rIns="36576" tIns="18288" bIns="18288" anchor="t">
            <a:spAutoFit/>
          </a:bodyPr>
          <a:lstStyle/>
          <a:p>
            <a:pPr algn="l">
              <a:lnSpc>
                <a:spcPct val="112000"/>
              </a:lnSpc>
            </a:pPr>
            <a:r>
              <a:rPr sz="1000" b="0" i="0">
                <a:solidFill>
                  <a:srgbClr val="6B6862"/>
                </a:solidFill>
                <a:latin typeface="Calibri"/>
              </a:rPr>
              <a:t>dashboard + plan</a:t>
            </a:r>
          </a:p>
        </p:txBody>
      </p:sp>
      <p:sp>
        <p:nvSpPr>
          <p:cNvPr id="40" name="Rounded Rectangle 39"/>
          <p:cNvSpPr/>
          <p:nvPr/>
        </p:nvSpPr>
        <p:spPr>
          <a:xfrm>
            <a:off x="1397010" y="2468879"/>
            <a:ext cx="2514600" cy="9601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Oval 40"/>
          <p:cNvSpPr/>
          <p:nvPr/>
        </p:nvSpPr>
        <p:spPr>
          <a:xfrm>
            <a:off x="1525026" y="2596896"/>
            <a:ext cx="384048" cy="384048"/>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2" name="Picture 41" descr="user-FFFFFF.png"/>
          <p:cNvPicPr>
            <a:picLocks noChangeAspect="1"/>
          </p:cNvPicPr>
          <p:nvPr/>
        </p:nvPicPr>
        <p:blipFill>
          <a:blip r:embed="rId7"/>
          <a:stretch>
            <a:fillRect/>
          </a:stretch>
        </p:blipFill>
        <p:spPr>
          <a:xfrm>
            <a:off x="1617198" y="2689067"/>
            <a:ext cx="199704" cy="199704"/>
          </a:xfrm>
          <a:prstGeom prst="rect">
            <a:avLst/>
          </a:prstGeom>
        </p:spPr>
      </p:pic>
      <p:sp>
        <p:nvSpPr>
          <p:cNvPr id="43" name="TextBox 42"/>
          <p:cNvSpPr txBox="1"/>
          <p:nvPr/>
        </p:nvSpPr>
        <p:spPr>
          <a:xfrm>
            <a:off x="1982226" y="2560320"/>
            <a:ext cx="1837943" cy="329184"/>
          </a:xfrm>
          <a:prstGeom prst="rect">
            <a:avLst/>
          </a:prstGeom>
          <a:noFill/>
        </p:spPr>
        <p:txBody>
          <a:bodyPr wrap="square" lIns="36576" rIns="36576" tIns="18288" bIns="18288" anchor="t">
            <a:spAutoFit/>
          </a:bodyPr>
          <a:lstStyle/>
          <a:p>
            <a:pPr algn="l">
              <a:lnSpc>
                <a:spcPct val="112000"/>
              </a:lnSpc>
            </a:pPr>
            <a:r>
              <a:rPr sz="1300" b="1" i="0">
                <a:solidFill>
                  <a:srgbClr val="21201C"/>
                </a:solidFill>
                <a:latin typeface="Cambria"/>
              </a:rPr>
              <a:t>You</a:t>
            </a:r>
          </a:p>
        </p:txBody>
      </p:sp>
      <p:sp>
        <p:nvSpPr>
          <p:cNvPr id="44" name="TextBox 43"/>
          <p:cNvSpPr txBox="1"/>
          <p:nvPr/>
        </p:nvSpPr>
        <p:spPr>
          <a:xfrm>
            <a:off x="1525026" y="2999232"/>
            <a:ext cx="2276856" cy="411480"/>
          </a:xfrm>
          <a:prstGeom prst="rect">
            <a:avLst/>
          </a:prstGeom>
          <a:noFill/>
        </p:spPr>
        <p:txBody>
          <a:bodyPr wrap="square" lIns="36576" rIns="36576" tIns="18288" bIns="18288" anchor="t">
            <a:spAutoFit/>
          </a:bodyPr>
          <a:lstStyle/>
          <a:p>
            <a:pPr algn="l">
              <a:lnSpc>
                <a:spcPct val="112000"/>
              </a:lnSpc>
            </a:pPr>
            <a:r>
              <a:rPr sz="1000" b="0" i="0">
                <a:solidFill>
                  <a:srgbClr val="6B6862"/>
                </a:solidFill>
                <a:latin typeface="Calibri"/>
              </a:rPr>
              <a:t>spot-check, approve 1–2 changes</a:t>
            </a:r>
          </a:p>
        </p:txBody>
      </p:sp>
    </p:spTree>
  </p:cSld>
  <p:clrMapOvr>
    <a:masterClrMapping/>
  </p:clrMapOvr>
  <p:transition spd="med">
    <p:fade/>
  </p:transition>
</p:sld>
</file>

<file path=ppt/slides/slide10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LAB 5</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The KPIs You Will Check</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100</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graphicFrame>
        <p:nvGraphicFramePr>
          <p:cNvPr id="7" name="Table 6"/>
          <p:cNvGraphicFramePr>
            <a:graphicFrameLocks noGrp="1"/>
          </p:cNvGraphicFramePr>
          <p:nvPr/>
        </p:nvGraphicFramePr>
        <p:xfrm>
          <a:off x="548640" y="1691640"/>
          <a:ext cx="11064240" cy="3771900"/>
        </p:xfrm>
        <a:graphic>
          <a:graphicData uri="http://schemas.openxmlformats.org/drawingml/2006/table">
            <a:tbl>
              <a:tblPr firstRow="0" bandRow="0">
                <a:tableStyleId>{5C22544A-7EE6-4342-B048-85BDC9FD1C3A}</a:tableStyleId>
              </a:tblPr>
              <a:tblGrid>
                <a:gridCol w="2743200"/>
                <a:gridCol w="5120640"/>
                <a:gridCol w="3200400"/>
              </a:tblGrid>
              <a:tr h="457200">
                <a:tc>
                  <a:txBody>
                    <a:bodyPr wrap="square"/>
                    <a:lstStyle/>
                    <a:p>
                      <a:r>
                        <a:rPr b="1" sz="1550">
                          <a:solidFill>
                            <a:srgbClr val="FFFFFF"/>
                          </a:solidFill>
                          <a:latin typeface="Cambria"/>
                        </a:rPr>
                        <a:t>KPI</a:t>
                      </a:r>
                    </a:p>
                  </a:txBody>
                  <a:tcPr marL="64008" marR="64008" marT="27432" marB="27432" anchor="ctr">
                    <a:solidFill>
                      <a:srgbClr val="21201C"/>
                    </a:solidFill>
                  </a:tcPr>
                </a:tc>
                <a:tc>
                  <a:txBody>
                    <a:bodyPr wrap="square"/>
                    <a:lstStyle/>
                    <a:p>
                      <a:r>
                        <a:rPr b="1" sz="1550">
                          <a:solidFill>
                            <a:srgbClr val="FFFFFF"/>
                          </a:solidFill>
                          <a:latin typeface="Cambria"/>
                        </a:rPr>
                        <a:t>Formula</a:t>
                      </a:r>
                    </a:p>
                  </a:txBody>
                  <a:tcPr marL="64008" marR="64008" marT="27432" marB="27432" anchor="ctr">
                    <a:solidFill>
                      <a:srgbClr val="21201C"/>
                    </a:solidFill>
                  </a:tcPr>
                </a:tc>
                <a:tc>
                  <a:txBody>
                    <a:bodyPr wrap="square"/>
                    <a:lstStyle/>
                    <a:p>
                      <a:r>
                        <a:rPr b="1" sz="1550">
                          <a:solidFill>
                            <a:srgbClr val="FFFFFF"/>
                          </a:solidFill>
                          <a:latin typeface="Cambria"/>
                        </a:rPr>
                        <a:t>Target</a:t>
                      </a:r>
                    </a:p>
                  </a:txBody>
                  <a:tcPr marL="64008" marR="64008" marT="27432" marB="27432" anchor="ctr">
                    <a:solidFill>
                      <a:srgbClr val="21201C"/>
                    </a:solidFill>
                  </a:tcPr>
                </a:tc>
              </a:tr>
              <a:tr h="662940">
                <a:tc>
                  <a:txBody>
                    <a:bodyPr wrap="square"/>
                    <a:lstStyle/>
                    <a:p>
                      <a:r>
                        <a:rPr b="1" sz="1500">
                          <a:solidFill>
                            <a:srgbClr val="21201C"/>
                          </a:solidFill>
                          <a:latin typeface="Cambria"/>
                        </a:rPr>
                        <a:t>App pre-orders</a:t>
                      </a:r>
                    </a:p>
                  </a:txBody>
                  <a:tcPr marL="64008" marR="64008" marT="27432" marB="27432" anchor="ctr">
                    <a:solidFill>
                      <a:srgbClr val="FFFFFF"/>
                    </a:solidFill>
                  </a:tcPr>
                </a:tc>
                <a:tc>
                  <a:txBody>
                    <a:bodyPr wrap="square"/>
                    <a:lstStyle/>
                    <a:p>
                      <a:r>
                        <a:rPr b="0" sz="1500">
                          <a:solidFill>
                            <a:srgbClr val="6B6862"/>
                          </a:solidFill>
                          <a:latin typeface="Calibri"/>
                        </a:rPr>
                        <a:t>Σ app_preorders</a:t>
                      </a:r>
                    </a:p>
                  </a:txBody>
                  <a:tcPr marL="64008" marR="64008" marT="27432" marB="27432" anchor="ctr">
                    <a:solidFill>
                      <a:srgbClr val="FFFFFF"/>
                    </a:solidFill>
                  </a:tcPr>
                </a:tc>
                <a:tc>
                  <a:txBody>
                    <a:bodyPr wrap="square"/>
                    <a:lstStyle/>
                    <a:p>
                      <a:r>
                        <a:rPr b="0" sz="1500">
                          <a:solidFill>
                            <a:srgbClr val="6B6862"/>
                          </a:solidFill>
                          <a:latin typeface="Calibri"/>
                        </a:rPr>
                        <a:t>2,500 by 30 Nov</a:t>
                      </a:r>
                    </a:p>
                  </a:txBody>
                  <a:tcPr marL="64008" marR="64008" marT="27432" marB="27432" anchor="ctr">
                    <a:solidFill>
                      <a:srgbClr val="FFFFFF"/>
                    </a:solidFill>
                  </a:tcPr>
                </a:tc>
              </a:tr>
              <a:tr h="662940">
                <a:tc>
                  <a:txBody>
                    <a:bodyPr wrap="square"/>
                    <a:lstStyle/>
                    <a:p>
                      <a:r>
                        <a:rPr b="1" sz="1500">
                          <a:solidFill>
                            <a:srgbClr val="21201C"/>
                          </a:solidFill>
                          <a:latin typeface="Cambria"/>
                        </a:rPr>
                        <a:t>Engagement rate</a:t>
                      </a:r>
                    </a:p>
                  </a:txBody>
                  <a:tcPr marL="64008" marR="64008" marT="27432" marB="27432" anchor="ctr">
                    <a:solidFill>
                      <a:srgbClr val="F3F1EB"/>
                    </a:solidFill>
                  </a:tcPr>
                </a:tc>
                <a:tc>
                  <a:txBody>
                    <a:bodyPr wrap="square"/>
                    <a:lstStyle/>
                    <a:p>
                      <a:r>
                        <a:rPr b="0" sz="1500">
                          <a:solidFill>
                            <a:srgbClr val="6B6862"/>
                          </a:solidFill>
                          <a:latin typeface="Calibri"/>
                        </a:rPr>
                        <a:t>(likes + comments + shares) ÷ reach</a:t>
                      </a:r>
                    </a:p>
                  </a:txBody>
                  <a:tcPr marL="64008" marR="64008" marT="27432" marB="27432" anchor="ctr">
                    <a:solidFill>
                      <a:srgbClr val="F3F1EB"/>
                    </a:solidFill>
                  </a:tcPr>
                </a:tc>
                <a:tc>
                  <a:txBody>
                    <a:bodyPr wrap="square"/>
                    <a:lstStyle/>
                    <a:p>
                      <a:r>
                        <a:rPr b="0" sz="1500">
                          <a:solidFill>
                            <a:srgbClr val="6B6862"/>
                          </a:solidFill>
                          <a:latin typeface="Calibri"/>
                        </a:rPr>
                        <a:t>≥ 8% (IG + TikTok)</a:t>
                      </a:r>
                    </a:p>
                  </a:txBody>
                  <a:tcPr marL="64008" marR="64008" marT="27432" marB="27432" anchor="ctr">
                    <a:solidFill>
                      <a:srgbClr val="F3F1EB"/>
                    </a:solidFill>
                  </a:tcPr>
                </a:tc>
              </a:tr>
              <a:tr h="662940">
                <a:tc>
                  <a:txBody>
                    <a:bodyPr wrap="square"/>
                    <a:lstStyle/>
                    <a:p>
                      <a:r>
                        <a:rPr b="1" sz="1500">
                          <a:solidFill>
                            <a:srgbClr val="21201C"/>
                          </a:solidFill>
                          <a:latin typeface="Cambria"/>
                        </a:rPr>
                        <a:t>Click-through rate</a:t>
                      </a:r>
                    </a:p>
                  </a:txBody>
                  <a:tcPr marL="64008" marR="64008" marT="27432" marB="27432" anchor="ctr">
                    <a:solidFill>
                      <a:srgbClr val="FFFFFF"/>
                    </a:solidFill>
                  </a:tcPr>
                </a:tc>
                <a:tc>
                  <a:txBody>
                    <a:bodyPr wrap="square"/>
                    <a:lstStyle/>
                    <a:p>
                      <a:r>
                        <a:rPr b="0" sz="1500">
                          <a:solidFill>
                            <a:srgbClr val="6B6862"/>
                          </a:solidFill>
                          <a:latin typeface="Calibri"/>
                        </a:rPr>
                        <a:t>link_clicks ÷ reach</a:t>
                      </a:r>
                    </a:p>
                  </a:txBody>
                  <a:tcPr marL="64008" marR="64008" marT="27432" marB="27432" anchor="ctr">
                    <a:solidFill>
                      <a:srgbClr val="FFFFFF"/>
                    </a:solidFill>
                  </a:tcPr>
                </a:tc>
                <a:tc>
                  <a:txBody>
                    <a:bodyPr wrap="square"/>
                    <a:lstStyle/>
                    <a:p>
                      <a:r>
                        <a:rPr b="0" sz="1500">
                          <a:solidFill>
                            <a:srgbClr val="6B6862"/>
                          </a:solidFill>
                          <a:latin typeface="Calibri"/>
                        </a:rPr>
                        <a:t>Trend up week on week</a:t>
                      </a:r>
                    </a:p>
                  </a:txBody>
                  <a:tcPr marL="64008" marR="64008" marT="27432" marB="27432" anchor="ctr">
                    <a:solidFill>
                      <a:srgbClr val="FFFFFF"/>
                    </a:solidFill>
                  </a:tcPr>
                </a:tc>
              </a:tr>
              <a:tr h="662940">
                <a:tc>
                  <a:txBody>
                    <a:bodyPr wrap="square"/>
                    <a:lstStyle/>
                    <a:p>
                      <a:r>
                        <a:rPr b="1" sz="1500">
                          <a:solidFill>
                            <a:srgbClr val="21201C"/>
                          </a:solidFill>
                          <a:latin typeface="Cambria"/>
                        </a:rPr>
                        <a:t>Cost per pre-order</a:t>
                      </a:r>
                    </a:p>
                  </a:txBody>
                  <a:tcPr marL="64008" marR="64008" marT="27432" marB="27432" anchor="ctr">
                    <a:solidFill>
                      <a:srgbClr val="F3F1EB"/>
                    </a:solidFill>
                  </a:tcPr>
                </a:tc>
                <a:tc>
                  <a:txBody>
                    <a:bodyPr wrap="square"/>
                    <a:lstStyle/>
                    <a:p>
                      <a:r>
                        <a:rPr b="0" sz="1500">
                          <a:solidFill>
                            <a:srgbClr val="6B6862"/>
                          </a:solidFill>
                          <a:latin typeface="Calibri"/>
                        </a:rPr>
                        <a:t>paid_spend_sgd ÷ app_preorders</a:t>
                      </a:r>
                    </a:p>
                  </a:txBody>
                  <a:tcPr marL="64008" marR="64008" marT="27432" marB="27432" anchor="ctr">
                    <a:solidFill>
                      <a:srgbClr val="F3F1EB"/>
                    </a:solidFill>
                  </a:tcPr>
                </a:tc>
                <a:tc>
                  <a:txBody>
                    <a:bodyPr wrap="square"/>
                    <a:lstStyle/>
                    <a:p>
                      <a:r>
                        <a:rPr b="0" sz="1500">
                          <a:solidFill>
                            <a:srgbClr val="6B6862"/>
                          </a:solidFill>
                          <a:latin typeface="Calibri"/>
                        </a:rPr>
                        <a:t>Lower is better</a:t>
                      </a:r>
                    </a:p>
                  </a:txBody>
                  <a:tcPr marL="64008" marR="64008" marT="27432" marB="27432" anchor="ctr">
                    <a:solidFill>
                      <a:srgbClr val="F3F1EB"/>
                    </a:solidFill>
                  </a:tcPr>
                </a:tc>
              </a:tr>
              <a:tr h="662940">
                <a:tc>
                  <a:txBody>
                    <a:bodyPr wrap="square"/>
                    <a:lstStyle/>
                    <a:p>
                      <a:r>
                        <a:rPr b="1" sz="1500">
                          <a:solidFill>
                            <a:srgbClr val="21201C"/>
                          </a:solidFill>
                          <a:latin typeface="Cambria"/>
                        </a:rPr>
                        <a:t>Video views</a:t>
                      </a:r>
                    </a:p>
                  </a:txBody>
                  <a:tcPr marL="64008" marR="64008" marT="27432" marB="27432" anchor="ctr">
                    <a:solidFill>
                      <a:srgbClr val="FFFFFF"/>
                    </a:solidFill>
                  </a:tcPr>
                </a:tc>
                <a:tc>
                  <a:txBody>
                    <a:bodyPr wrap="square"/>
                    <a:lstStyle/>
                    <a:p>
                      <a:r>
                        <a:rPr b="0" sz="1500">
                          <a:solidFill>
                            <a:srgbClr val="6B6862"/>
                          </a:solidFill>
                          <a:latin typeface="Calibri"/>
                        </a:rPr>
                        <a:t>Σ video_views (TikTok + Reels)</a:t>
                      </a:r>
                    </a:p>
                  </a:txBody>
                  <a:tcPr marL="64008" marR="64008" marT="27432" marB="27432" anchor="ctr">
                    <a:solidFill>
                      <a:srgbClr val="FFFFFF"/>
                    </a:solidFill>
                  </a:tcPr>
                </a:tc>
                <a:tc>
                  <a:txBody>
                    <a:bodyPr wrap="square"/>
                    <a:lstStyle/>
                    <a:p>
                      <a:r>
                        <a:rPr b="0" sz="1500">
                          <a:solidFill>
                            <a:srgbClr val="6B6862"/>
                          </a:solidFill>
                          <a:latin typeface="Calibri"/>
                        </a:rPr>
                        <a:t>40,000</a:t>
                      </a:r>
                    </a:p>
                  </a:txBody>
                  <a:tcPr marL="64008" marR="64008" marT="27432" marB="27432" anchor="ctr">
                    <a:solidFill>
                      <a:srgbClr val="FFFFFF"/>
                    </a:solidFill>
                  </a:tcPr>
                </a:tc>
              </a:tr>
            </a:tbl>
          </a:graphicData>
        </a:graphic>
      </p:graphicFrame>
      <p:sp>
        <p:nvSpPr>
          <p:cNvPr id="8" name="TextBox 7"/>
          <p:cNvSpPr txBox="1"/>
          <p:nvPr/>
        </p:nvSpPr>
        <p:spPr>
          <a:xfrm>
            <a:off x="548640" y="5760720"/>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Never forward a number you have not checked: verify at least one by hand.</a:t>
            </a:r>
          </a:p>
        </p:txBody>
      </p:sp>
    </p:spTree>
  </p:cSld>
  <p:clrMapOvr>
    <a:masterClrMapping/>
  </p:clrMapOvr>
  <p:transition spd="med">
    <p:fade/>
  </p:transition>
</p:sld>
</file>

<file path=ppt/slides/slide10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LAB 5</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Launch the Swarm</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101</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37360"/>
            <a:ext cx="7040880" cy="4480560"/>
          </a:xfrm>
          <a:prstGeom prst="roundRect">
            <a:avLst>
              <a:gd name="adj" fmla="val 3500"/>
            </a:avLst>
          </a:prstGeom>
          <a:solidFill>
            <a:srgbClr val="2B2924"/>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49808" y="1901952"/>
            <a:ext cx="118872" cy="118872"/>
          </a:xfrm>
          <a:prstGeom prst="ellipse">
            <a:avLst/>
          </a:prstGeom>
          <a:solidFill>
            <a:srgbClr val="E06C5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69264" y="1901952"/>
            <a:ext cx="118872" cy="118872"/>
          </a:xfrm>
          <a:prstGeom prst="ellipse">
            <a:avLst/>
          </a:prstGeom>
          <a:solidFill>
            <a:srgbClr val="E5B45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88719" y="1901952"/>
            <a:ext cx="118872" cy="118872"/>
          </a:xfrm>
          <a:prstGeom prst="ellipse">
            <a:avLst/>
          </a:prstGeom>
          <a:solidFill>
            <a:srgbClr val="7DB36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463040" y="1828800"/>
            <a:ext cx="5943600" cy="274320"/>
          </a:xfrm>
          <a:prstGeom prst="rect">
            <a:avLst/>
          </a:prstGeom>
          <a:noFill/>
        </p:spPr>
        <p:txBody>
          <a:bodyPr wrap="square" lIns="36576" rIns="36576" tIns="18288" bIns="18288" anchor="t">
            <a:spAutoFit/>
          </a:bodyPr>
          <a:lstStyle/>
          <a:p>
            <a:pPr algn="l">
              <a:lnSpc>
                <a:spcPct val="112000"/>
              </a:lnSpc>
            </a:pPr>
            <a:r>
              <a:rPr sz="1000" b="0" i="0">
                <a:solidFill>
                  <a:srgbClr val="B9B4A9"/>
                </a:solidFill>
                <a:latin typeface="Calibri"/>
              </a:rPr>
              <a:t>TERMINAL  ·  copy from the Lab Prompts page</a:t>
            </a:r>
          </a:p>
        </p:txBody>
      </p:sp>
      <p:sp>
        <p:nvSpPr>
          <p:cNvPr id="12" name="TextBox 11"/>
          <p:cNvSpPr txBox="1"/>
          <p:nvPr/>
        </p:nvSpPr>
        <p:spPr>
          <a:xfrm>
            <a:off x="777240" y="2194560"/>
            <a:ext cx="6583680" cy="3913632"/>
          </a:xfrm>
          <a:prstGeom prst="rect">
            <a:avLst/>
          </a:prstGeom>
          <a:noFill/>
        </p:spPr>
        <p:txBody>
          <a:bodyPr wrap="square" lIns="36576" rIns="36576" tIns="18288" bIns="18288" anchor="t">
            <a:spAutoFit/>
          </a:bodyPr>
          <a:lstStyle/>
          <a:p>
            <a:pPr algn="l">
              <a:lnSpc>
                <a:spcPct val="110000"/>
              </a:lnSpc>
            </a:pPr>
            <a:r>
              <a:rPr sz="1300" b="0" i="0">
                <a:solidFill>
                  <a:srgbClr val="F1EDE4"/>
                </a:solidFill>
                <a:latin typeface="Consolas"/>
              </a:rPr>
              <a:t>hermes kanban swarm "Week-1 #ShiokColdBrew review and optimisation plan. FIRST read ~/kopi-kaki/tasks/swarm-definition-of-done.md; data in ~/kopi-kaki; write outputs to ~/kopi-kaki/outputs/lab05/" \</a:t>
            </a:r>
          </a:p>
          <a:p>
            <a:pPr algn="l">
              <a:lnSpc>
                <a:spcPct val="110000"/>
              </a:lnSpc>
            </a:pPr>
            <a:r>
              <a:rPr sz="1300" b="0" i="0">
                <a:solidFill>
                  <a:srgbClr val="F1EDE4"/>
                </a:solidFill>
                <a:latin typeface="Consolas"/>
              </a:rPr>
              <a:t>  --worker "analyst:KPIs vs targets from ~/kopi-kaki/campaign-week1-metrics.csv and sales-by-outlet.csv per the definition of done" \</a:t>
            </a:r>
          </a:p>
          <a:p>
            <a:pPr algn="l">
              <a:lnSpc>
                <a:spcPct val="110000"/>
              </a:lnSpc>
            </a:pPr>
            <a:r>
              <a:rPr sz="1300" b="0" i="0">
                <a:solidFill>
                  <a:srgbClr val="F1EDE4"/>
                </a:solidFill>
                <a:latin typeface="Consolas"/>
              </a:rPr>
              <a:t>  --worker "listener:Sentiment and risk review of ~/kopi-kaki/social-comments.csv per the definition of done" \</a:t>
            </a:r>
          </a:p>
          <a:p>
            <a:pPr algn="l">
              <a:lnSpc>
                <a:spcPct val="110000"/>
              </a:lnSpc>
            </a:pPr>
            <a:r>
              <a:rPr sz="1300" b="0" i="0">
                <a:solidFill>
                  <a:srgbClr val="F1EDE4"/>
                </a:solidFill>
                <a:latin typeface="Consolas"/>
              </a:rPr>
              <a:t>  --worker "researcher:Competitor and cold-brew trend watch from the most recent real sources, dated and cited, per the definition of done" \</a:t>
            </a:r>
          </a:p>
          <a:p>
            <a:pPr algn="l">
              <a:lnSpc>
                <a:spcPct val="110000"/>
              </a:lnSpc>
            </a:pPr>
            <a:r>
              <a:rPr sz="1300" b="0" i="0">
                <a:solidFill>
                  <a:srgbClr val="F1EDE4"/>
                </a:solidFill>
                <a:latin typeface="Consolas"/>
              </a:rPr>
              <a:t>  --verifier auditor --synthesizer strategist</a:t>
            </a:r>
          </a:p>
          <a:p>
            <a:pPr algn="l">
              <a:lnSpc>
                <a:spcPct val="110000"/>
              </a:lnSpc>
            </a:pPr>
            <a:r>
              <a:rPr sz="1300" b="0" i="0">
                <a:solidFill>
                  <a:srgbClr val="F1EDE4"/>
                </a:solidFill>
                <a:latin typeface="Consolas"/>
              </a:rPr>
              <a:t>hermes kanban list            # copy the swarm root id</a:t>
            </a:r>
          </a:p>
        </p:txBody>
      </p:sp>
      <p:sp>
        <p:nvSpPr>
          <p:cNvPr id="13" name="Oval 12"/>
          <p:cNvSpPr/>
          <p:nvPr/>
        </p:nvSpPr>
        <p:spPr>
          <a:xfrm>
            <a:off x="7863840" y="177393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users-FFFFFF.png"/>
          <p:cNvPicPr>
            <a:picLocks noChangeAspect="1"/>
          </p:cNvPicPr>
          <p:nvPr/>
        </p:nvPicPr>
        <p:blipFill>
          <a:blip r:embed="rId2"/>
          <a:stretch>
            <a:fillRect/>
          </a:stretch>
        </p:blipFill>
        <p:spPr>
          <a:xfrm>
            <a:off x="7973567" y="1883664"/>
            <a:ext cx="237744" cy="237744"/>
          </a:xfrm>
          <a:prstGeom prst="rect">
            <a:avLst/>
          </a:prstGeom>
        </p:spPr>
      </p:pic>
      <p:sp>
        <p:nvSpPr>
          <p:cNvPr id="15" name="TextBox 14"/>
          <p:cNvSpPr txBox="1"/>
          <p:nvPr/>
        </p:nvSpPr>
        <p:spPr>
          <a:xfrm>
            <a:off x="8458200" y="173736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--worker</a:t>
            </a:r>
          </a:p>
        </p:txBody>
      </p:sp>
      <p:sp>
        <p:nvSpPr>
          <p:cNvPr id="16" name="TextBox 15"/>
          <p:cNvSpPr txBox="1"/>
          <p:nvPr/>
        </p:nvSpPr>
        <p:spPr>
          <a:xfrm>
            <a:off x="8458200" y="210312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Parallel cards: profile:title.</a:t>
            </a:r>
          </a:p>
        </p:txBody>
      </p:sp>
      <p:sp>
        <p:nvSpPr>
          <p:cNvPr id="17" name="Oval 16"/>
          <p:cNvSpPr/>
          <p:nvPr/>
        </p:nvSpPr>
        <p:spPr>
          <a:xfrm>
            <a:off x="7863840" y="326745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check-FFFFFF.png"/>
          <p:cNvPicPr>
            <a:picLocks noChangeAspect="1"/>
          </p:cNvPicPr>
          <p:nvPr/>
        </p:nvPicPr>
        <p:blipFill>
          <a:blip r:embed="rId3"/>
          <a:stretch>
            <a:fillRect/>
          </a:stretch>
        </p:blipFill>
        <p:spPr>
          <a:xfrm>
            <a:off x="7973567" y="3377184"/>
            <a:ext cx="237744" cy="237744"/>
          </a:xfrm>
          <a:prstGeom prst="rect">
            <a:avLst/>
          </a:prstGeom>
        </p:spPr>
      </p:pic>
      <p:sp>
        <p:nvSpPr>
          <p:cNvPr id="19" name="TextBox 18"/>
          <p:cNvSpPr txBox="1"/>
          <p:nvPr/>
        </p:nvSpPr>
        <p:spPr>
          <a:xfrm>
            <a:off x="8458200" y="323088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--verifier</a:t>
            </a:r>
          </a:p>
        </p:txBody>
      </p:sp>
      <p:sp>
        <p:nvSpPr>
          <p:cNvPr id="20" name="TextBox 19"/>
          <p:cNvSpPr txBox="1"/>
          <p:nvPr/>
        </p:nvSpPr>
        <p:spPr>
          <a:xfrm>
            <a:off x="8458200" y="359664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Waits for all workers, re-checks.</a:t>
            </a:r>
          </a:p>
        </p:txBody>
      </p:sp>
      <p:sp>
        <p:nvSpPr>
          <p:cNvPr id="21" name="Oval 20"/>
          <p:cNvSpPr/>
          <p:nvPr/>
        </p:nvSpPr>
        <p:spPr>
          <a:xfrm>
            <a:off x="7863840" y="476097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layers-FFFFFF.png"/>
          <p:cNvPicPr>
            <a:picLocks noChangeAspect="1"/>
          </p:cNvPicPr>
          <p:nvPr/>
        </p:nvPicPr>
        <p:blipFill>
          <a:blip r:embed="rId4"/>
          <a:stretch>
            <a:fillRect/>
          </a:stretch>
        </p:blipFill>
        <p:spPr>
          <a:xfrm>
            <a:off x="7973567" y="4870704"/>
            <a:ext cx="237744" cy="237744"/>
          </a:xfrm>
          <a:prstGeom prst="rect">
            <a:avLst/>
          </a:prstGeom>
        </p:spPr>
      </p:pic>
      <p:sp>
        <p:nvSpPr>
          <p:cNvPr id="23" name="TextBox 22"/>
          <p:cNvSpPr txBox="1"/>
          <p:nvPr/>
        </p:nvSpPr>
        <p:spPr>
          <a:xfrm>
            <a:off x="8458200" y="472440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--synthesizer</a:t>
            </a:r>
          </a:p>
        </p:txBody>
      </p:sp>
      <p:sp>
        <p:nvSpPr>
          <p:cNvPr id="24" name="TextBox 23"/>
          <p:cNvSpPr txBox="1"/>
          <p:nvPr/>
        </p:nvSpPr>
        <p:spPr>
          <a:xfrm>
            <a:off x="8458200" y="509016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Builds the dashboard and plan.</a:t>
            </a:r>
          </a:p>
        </p:txBody>
      </p:sp>
    </p:spTree>
  </p:cSld>
  <p:clrMapOvr>
    <a:masterClrMapping/>
  </p:clrMapOvr>
  <p:transition spd="med">
    <p:fade/>
  </p:transition>
</p:sld>
</file>

<file path=ppt/slides/slide10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LAB 5</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Decide and record</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102</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37360"/>
            <a:ext cx="7040880" cy="4480560"/>
          </a:xfrm>
          <a:prstGeom prst="roundRect">
            <a:avLst>
              <a:gd name="adj" fmla="val 3500"/>
            </a:avLst>
          </a:prstGeom>
          <a:solidFill>
            <a:srgbClr val="2B2924"/>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49808" y="1901952"/>
            <a:ext cx="118872" cy="118872"/>
          </a:xfrm>
          <a:prstGeom prst="ellipse">
            <a:avLst/>
          </a:prstGeom>
          <a:solidFill>
            <a:srgbClr val="E06C5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69264" y="1901952"/>
            <a:ext cx="118872" cy="118872"/>
          </a:xfrm>
          <a:prstGeom prst="ellipse">
            <a:avLst/>
          </a:prstGeom>
          <a:solidFill>
            <a:srgbClr val="E5B45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88719" y="1901952"/>
            <a:ext cx="118872" cy="118872"/>
          </a:xfrm>
          <a:prstGeom prst="ellipse">
            <a:avLst/>
          </a:prstGeom>
          <a:solidFill>
            <a:srgbClr val="7DB36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463040" y="1828800"/>
            <a:ext cx="5943600" cy="274320"/>
          </a:xfrm>
          <a:prstGeom prst="rect">
            <a:avLst/>
          </a:prstGeom>
          <a:noFill/>
        </p:spPr>
        <p:txBody>
          <a:bodyPr wrap="square" lIns="36576" rIns="36576" tIns="18288" bIns="18288" anchor="t">
            <a:spAutoFit/>
          </a:bodyPr>
          <a:lstStyle/>
          <a:p>
            <a:pPr algn="l">
              <a:lnSpc>
                <a:spcPct val="112000"/>
              </a:lnSpc>
            </a:pPr>
            <a:r>
              <a:rPr sz="1000" b="0" i="0">
                <a:solidFill>
                  <a:srgbClr val="B9B4A9"/>
                </a:solidFill>
                <a:latin typeface="Calibri"/>
              </a:rPr>
              <a:t>PROMPT  ·  copy from the Lab Prompts page</a:t>
            </a:r>
          </a:p>
        </p:txBody>
      </p:sp>
      <p:sp>
        <p:nvSpPr>
          <p:cNvPr id="12" name="TextBox 11"/>
          <p:cNvSpPr txBox="1"/>
          <p:nvPr/>
        </p:nvSpPr>
        <p:spPr>
          <a:xfrm>
            <a:off x="777240" y="2194560"/>
            <a:ext cx="6583680" cy="3913632"/>
          </a:xfrm>
          <a:prstGeom prst="rect">
            <a:avLst/>
          </a:prstGeom>
          <a:noFill/>
        </p:spPr>
        <p:txBody>
          <a:bodyPr wrap="square" lIns="36576" rIns="36576" tIns="18288" bIns="18288" anchor="t">
            <a:spAutoFit/>
          </a:bodyPr>
          <a:lstStyle/>
          <a:p>
            <a:pPr algn="l">
              <a:lnSpc>
                <a:spcPct val="110000"/>
              </a:lnSpc>
            </a:pPr>
            <a:r>
              <a:rPr sz="1300" b="0" i="0">
                <a:solidFill>
                  <a:srgbClr val="F1EDE4"/>
                </a:solidFill>
                <a:latin typeface="Consolas"/>
              </a:rPr>
              <a:t>I approve proposals &lt;1 and 3&gt; from outputs/lab05/optimisation-plan.md and reject proposal &lt;2&gt; because &lt;reason&gt;. Comment this decision on the swarm root card &lt;swarm_root_id&gt;, then update outputs/lab02/content-calendar-v2.csv for 24-30 Nov to apply the approved changes (status stays "draft" so each post still goes through my Telegram approval).</a:t>
            </a:r>
          </a:p>
        </p:txBody>
      </p:sp>
      <p:sp>
        <p:nvSpPr>
          <p:cNvPr id="13" name="Oval 12"/>
          <p:cNvSpPr/>
          <p:nvPr/>
        </p:nvSpPr>
        <p:spPr>
          <a:xfrm>
            <a:off x="7863840" y="177393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chat-FFFFFF.png"/>
          <p:cNvPicPr>
            <a:picLocks noChangeAspect="1"/>
          </p:cNvPicPr>
          <p:nvPr/>
        </p:nvPicPr>
        <p:blipFill>
          <a:blip r:embed="rId2"/>
          <a:stretch>
            <a:fillRect/>
          </a:stretch>
        </p:blipFill>
        <p:spPr>
          <a:xfrm>
            <a:off x="7973567" y="1883664"/>
            <a:ext cx="237744" cy="237744"/>
          </a:xfrm>
          <a:prstGeom prst="rect">
            <a:avLst/>
          </a:prstGeom>
        </p:spPr>
      </p:pic>
      <p:sp>
        <p:nvSpPr>
          <p:cNvPr id="15" name="TextBox 14"/>
          <p:cNvSpPr txBox="1"/>
          <p:nvPr/>
        </p:nvSpPr>
        <p:spPr>
          <a:xfrm>
            <a:off x="8458200" y="173736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Paste into</a:t>
            </a:r>
          </a:p>
        </p:txBody>
      </p:sp>
      <p:sp>
        <p:nvSpPr>
          <p:cNvPr id="16" name="TextBox 15"/>
          <p:cNvSpPr txBox="1"/>
          <p:nvPr/>
        </p:nvSpPr>
        <p:spPr>
          <a:xfrm>
            <a:off x="8458200" y="210312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Hermes chat in ~/kopi-kaki</a:t>
            </a:r>
          </a:p>
        </p:txBody>
      </p:sp>
      <p:sp>
        <p:nvSpPr>
          <p:cNvPr id="17" name="Oval 16"/>
          <p:cNvSpPr/>
          <p:nvPr/>
        </p:nvSpPr>
        <p:spPr>
          <a:xfrm>
            <a:off x="7863840" y="326745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check-FFFFFF.png"/>
          <p:cNvPicPr>
            <a:picLocks noChangeAspect="1"/>
          </p:cNvPicPr>
          <p:nvPr/>
        </p:nvPicPr>
        <p:blipFill>
          <a:blip r:embed="rId3"/>
          <a:stretch>
            <a:fillRect/>
          </a:stretch>
        </p:blipFill>
        <p:spPr>
          <a:xfrm>
            <a:off x="7973567" y="3377184"/>
            <a:ext cx="237744" cy="237744"/>
          </a:xfrm>
          <a:prstGeom prst="rect">
            <a:avLst/>
          </a:prstGeom>
        </p:spPr>
      </p:pic>
      <p:sp>
        <p:nvSpPr>
          <p:cNvPr id="19" name="TextBox 18"/>
          <p:cNvSpPr txBox="1"/>
          <p:nvPr/>
        </p:nvSpPr>
        <p:spPr>
          <a:xfrm>
            <a:off x="8458200" y="323088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Expect</a:t>
            </a:r>
          </a:p>
        </p:txBody>
      </p:sp>
      <p:sp>
        <p:nvSpPr>
          <p:cNvPr id="20" name="TextBox 19"/>
          <p:cNvSpPr txBox="1"/>
          <p:nvPr/>
        </p:nvSpPr>
        <p:spPr>
          <a:xfrm>
            <a:off x="8458200" y="359664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Decision comment on the board and an updated calendar.</a:t>
            </a:r>
          </a:p>
        </p:txBody>
      </p:sp>
      <p:sp>
        <p:nvSpPr>
          <p:cNvPr id="21" name="Oval 20"/>
          <p:cNvSpPr/>
          <p:nvPr/>
        </p:nvSpPr>
        <p:spPr>
          <a:xfrm>
            <a:off x="7863840" y="476097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hand-FFFFFF.png"/>
          <p:cNvPicPr>
            <a:picLocks noChangeAspect="1"/>
          </p:cNvPicPr>
          <p:nvPr/>
        </p:nvPicPr>
        <p:blipFill>
          <a:blip r:embed="rId4"/>
          <a:stretch>
            <a:fillRect/>
          </a:stretch>
        </p:blipFill>
        <p:spPr>
          <a:xfrm>
            <a:off x="7973567" y="4870704"/>
            <a:ext cx="237744" cy="237744"/>
          </a:xfrm>
          <a:prstGeom prst="rect">
            <a:avLst/>
          </a:prstGeom>
        </p:spPr>
      </p:pic>
      <p:sp>
        <p:nvSpPr>
          <p:cNvPr id="23" name="TextBox 22"/>
          <p:cNvSpPr txBox="1"/>
          <p:nvPr/>
        </p:nvSpPr>
        <p:spPr>
          <a:xfrm>
            <a:off x="8458200" y="472440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You decide</a:t>
            </a:r>
          </a:p>
        </p:txBody>
      </p:sp>
      <p:sp>
        <p:nvSpPr>
          <p:cNvPr id="24" name="TextBox 23"/>
          <p:cNvSpPr txBox="1"/>
          <p:nvPr/>
        </p:nvSpPr>
        <p:spPr>
          <a:xfrm>
            <a:off x="8458200" y="509016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Spot-check one number yourself; approve which optimisations to run</a:t>
            </a:r>
          </a:p>
        </p:txBody>
      </p:sp>
    </p:spTree>
  </p:cSld>
  <p:clrMapOvr>
    <a:masterClrMapping/>
  </p:clrMapOvr>
  <p:transition spd="med">
    <p:fade/>
  </p:transition>
</p:sld>
</file>

<file path=ppt/slides/slide103.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LAB 5</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Lab 5 — Checkpoint &amp; Reflection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103</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check-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Verify</a:t>
            </a:r>
          </a:p>
        </p:txBody>
      </p:sp>
      <p:sp>
        <p:nvSpPr>
          <p:cNvPr id="10" name="TextBox 9"/>
          <p:cNvSpPr txBox="1"/>
          <p:nvPr/>
        </p:nvSpPr>
        <p:spPr>
          <a:xfrm>
            <a:off x="1371600" y="2084831"/>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dashboard.html opens and shows the four KPIs vs target</a:t>
            </a:r>
          </a:p>
        </p:txBody>
      </p:sp>
      <p:sp>
        <p:nvSpPr>
          <p:cNvPr id="11" name="Oval 10"/>
          <p:cNvSpPr/>
          <p:nvPr/>
        </p:nvSpPr>
        <p:spPr>
          <a:xfrm>
            <a:off x="640080" y="2679191"/>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check-FFFFFF.png"/>
          <p:cNvPicPr>
            <a:picLocks noChangeAspect="1"/>
          </p:cNvPicPr>
          <p:nvPr/>
        </p:nvPicPr>
        <p:blipFill>
          <a:blip r:embed="rId2"/>
          <a:stretch>
            <a:fillRect/>
          </a:stretch>
        </p:blipFill>
        <p:spPr>
          <a:xfrm>
            <a:off x="771753" y="2810865"/>
            <a:ext cx="285292" cy="285292"/>
          </a:xfrm>
          <a:prstGeom prst="rect">
            <a:avLst/>
          </a:prstGeom>
        </p:spPr>
      </p:pic>
      <p:sp>
        <p:nvSpPr>
          <p:cNvPr id="13" name="TextBox 12"/>
          <p:cNvSpPr txBox="1"/>
          <p:nvPr/>
        </p:nvSpPr>
        <p:spPr>
          <a:xfrm>
            <a:off x="1371600" y="2624327"/>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Verify</a:t>
            </a:r>
          </a:p>
        </p:txBody>
      </p:sp>
      <p:sp>
        <p:nvSpPr>
          <p:cNvPr id="14" name="TextBox 13"/>
          <p:cNvSpPr txBox="1"/>
          <p:nvPr/>
        </p:nvSpPr>
        <p:spPr>
          <a:xfrm>
            <a:off x="1371600" y="2990087"/>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verification.md re-computes at least pre-orders, spend, engagement rate and cost per pre-order</a:t>
            </a:r>
          </a:p>
        </p:txBody>
      </p:sp>
      <p:sp>
        <p:nvSpPr>
          <p:cNvPr id="15" name="Oval 14"/>
          <p:cNvSpPr/>
          <p:nvPr/>
        </p:nvSpPr>
        <p:spPr>
          <a:xfrm>
            <a:off x="640080" y="358444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check-FFFFFF.png"/>
          <p:cNvPicPr>
            <a:picLocks noChangeAspect="1"/>
          </p:cNvPicPr>
          <p:nvPr/>
        </p:nvPicPr>
        <p:blipFill>
          <a:blip r:embed="rId2"/>
          <a:stretch>
            <a:fillRect/>
          </a:stretch>
        </p:blipFill>
        <p:spPr>
          <a:xfrm>
            <a:off x="771753" y="3716121"/>
            <a:ext cx="285292" cy="285292"/>
          </a:xfrm>
          <a:prstGeom prst="rect">
            <a:avLst/>
          </a:prstGeom>
        </p:spPr>
      </p:pic>
      <p:sp>
        <p:nvSpPr>
          <p:cNvPr id="17" name="TextBox 16"/>
          <p:cNvSpPr txBox="1"/>
          <p:nvPr/>
        </p:nvSpPr>
        <p:spPr>
          <a:xfrm>
            <a:off x="1371600" y="352958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Verify</a:t>
            </a:r>
          </a:p>
        </p:txBody>
      </p:sp>
      <p:sp>
        <p:nvSpPr>
          <p:cNvPr id="18" name="TextBox 17"/>
          <p:cNvSpPr txBox="1"/>
          <p:nvPr/>
        </p:nvSpPr>
        <p:spPr>
          <a:xfrm>
            <a:off x="1371600" y="3895344"/>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Your manual check matches (data covers 17–22 Nov)</a:t>
            </a:r>
          </a:p>
        </p:txBody>
      </p:sp>
      <p:sp>
        <p:nvSpPr>
          <p:cNvPr id="19" name="Oval 18"/>
          <p:cNvSpPr/>
          <p:nvPr/>
        </p:nvSpPr>
        <p:spPr>
          <a:xfrm>
            <a:off x="640080" y="4489703"/>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lightbulb-FFFFFF.png"/>
          <p:cNvPicPr>
            <a:picLocks noChangeAspect="1"/>
          </p:cNvPicPr>
          <p:nvPr/>
        </p:nvPicPr>
        <p:blipFill>
          <a:blip r:embed="rId3"/>
          <a:stretch>
            <a:fillRect/>
          </a:stretch>
        </p:blipFill>
        <p:spPr>
          <a:xfrm>
            <a:off x="771753" y="4621377"/>
            <a:ext cx="285292" cy="285292"/>
          </a:xfrm>
          <a:prstGeom prst="rect">
            <a:avLst/>
          </a:prstGeom>
        </p:spPr>
      </p:pic>
      <p:sp>
        <p:nvSpPr>
          <p:cNvPr id="21" name="TextBox 20"/>
          <p:cNvSpPr txBox="1"/>
          <p:nvPr/>
        </p:nvSpPr>
        <p:spPr>
          <a:xfrm>
            <a:off x="1371600" y="4434840"/>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Concepts in action</a:t>
            </a:r>
          </a:p>
        </p:txBody>
      </p:sp>
      <p:sp>
        <p:nvSpPr>
          <p:cNvPr id="22" name="TextBox 21"/>
          <p:cNvSpPr txBox="1"/>
          <p:nvPr/>
        </p:nvSpPr>
        <p:spPr>
          <a:xfrm>
            <a:off x="1371600" y="4800599"/>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Parallel (swarm) vs ordered (pipeline) multi-agent patterns  ·  Verifier agent + human spot-check = two layers of verification</a:t>
            </a:r>
          </a:p>
        </p:txBody>
      </p:sp>
      <p:sp>
        <p:nvSpPr>
          <p:cNvPr id="23" name="Oval 22"/>
          <p:cNvSpPr/>
          <p:nvPr/>
        </p:nvSpPr>
        <p:spPr>
          <a:xfrm>
            <a:off x="640080" y="5394959"/>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rocket-FFFFFF.png"/>
          <p:cNvPicPr>
            <a:picLocks noChangeAspect="1"/>
          </p:cNvPicPr>
          <p:nvPr/>
        </p:nvPicPr>
        <p:blipFill>
          <a:blip r:embed="rId4"/>
          <a:stretch>
            <a:fillRect/>
          </a:stretch>
        </p:blipFill>
        <p:spPr>
          <a:xfrm>
            <a:off x="771753" y="5526633"/>
            <a:ext cx="285292" cy="285292"/>
          </a:xfrm>
          <a:prstGeom prst="rect">
            <a:avLst/>
          </a:prstGeom>
        </p:spPr>
      </p:pic>
      <p:sp>
        <p:nvSpPr>
          <p:cNvPr id="25" name="TextBox 24"/>
          <p:cNvSpPr txBox="1"/>
          <p:nvPr/>
        </p:nvSpPr>
        <p:spPr>
          <a:xfrm>
            <a:off x="1371600" y="534009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Stretch challenge</a:t>
            </a:r>
          </a:p>
        </p:txBody>
      </p:sp>
      <p:sp>
        <p:nvSpPr>
          <p:cNvPr id="26" name="TextBox 25"/>
          <p:cNvSpPr txBox="1"/>
          <p:nvPr/>
        </p:nvSpPr>
        <p:spPr>
          <a:xfrm>
            <a:off x="1371600" y="5705855"/>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Feed the result back into Lab 3: ask Mia to add the approved changes to tomorrow's approval message, so the loop runs plan → publish → measure → improve without leaving Telegram.</a:t>
            </a:r>
          </a:p>
        </p:txBody>
      </p:sp>
    </p:spTree>
  </p:cSld>
  <p:clrMapOvr>
    <a:masterClrMapping/>
  </p:clrMapOvr>
  <p:transition spd="med">
    <p:fade/>
  </p:transition>
</p:sld>
</file>

<file path=ppt/slides/slide104.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SUMMARY</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What You Built on Day 1</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104</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sp>
        <p:nvSpPr>
          <p:cNvPr id="7" name="Rounded Rectangle 6"/>
          <p:cNvSpPr/>
          <p:nvPr/>
        </p:nvSpPr>
        <p:spPr>
          <a:xfrm>
            <a:off x="548640" y="1691640"/>
            <a:ext cx="2628900" cy="4069079"/>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77240" y="18745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robot-FFFFFF.png"/>
          <p:cNvPicPr>
            <a:picLocks noChangeAspect="1"/>
          </p:cNvPicPr>
          <p:nvPr/>
        </p:nvPicPr>
        <p:blipFill>
          <a:blip r:embed="rId2"/>
          <a:stretch>
            <a:fillRect/>
          </a:stretch>
        </p:blipFill>
        <p:spPr>
          <a:xfrm>
            <a:off x="900135" y="1997415"/>
            <a:ext cx="266273" cy="266273"/>
          </a:xfrm>
          <a:prstGeom prst="rect">
            <a:avLst/>
          </a:prstGeom>
        </p:spPr>
      </p:pic>
      <p:sp>
        <p:nvSpPr>
          <p:cNvPr id="10" name="TextBox 9"/>
          <p:cNvSpPr txBox="1"/>
          <p:nvPr/>
        </p:nvSpPr>
        <p:spPr>
          <a:xfrm>
            <a:off x="777240" y="2514600"/>
            <a:ext cx="2171700" cy="384048"/>
          </a:xfrm>
          <a:prstGeom prst="rect">
            <a:avLst/>
          </a:prstGeom>
          <a:noFill/>
        </p:spPr>
        <p:txBody>
          <a:bodyPr wrap="square" lIns="36576" rIns="36576" tIns="18288" bIns="18288" anchor="t">
            <a:spAutoFit/>
          </a:bodyPr>
          <a:lstStyle/>
          <a:p>
            <a:pPr algn="l">
              <a:lnSpc>
                <a:spcPct val="112000"/>
              </a:lnSpc>
            </a:pPr>
            <a:r>
              <a:rPr sz="1500" b="1" i="0">
                <a:solidFill>
                  <a:srgbClr val="FFFFFF"/>
                </a:solidFill>
                <a:latin typeface="Cambria"/>
              </a:rPr>
              <a:t>Single agent</a:t>
            </a:r>
          </a:p>
        </p:txBody>
      </p:sp>
      <p:sp>
        <p:nvSpPr>
          <p:cNvPr id="11" name="TextBox 10"/>
          <p:cNvSpPr txBox="1"/>
          <p:nvPr/>
        </p:nvSpPr>
        <p:spPr>
          <a:xfrm>
            <a:off x="777240" y="2935224"/>
            <a:ext cx="2171700" cy="271576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Mia researched, remembered and ran a whole campaign with skills and tools.</a:t>
            </a:r>
          </a:p>
        </p:txBody>
      </p:sp>
      <p:sp>
        <p:nvSpPr>
          <p:cNvPr id="12" name="Rounded Rectangle 11"/>
          <p:cNvSpPr/>
          <p:nvPr/>
        </p:nvSpPr>
        <p:spPr>
          <a:xfrm>
            <a:off x="3360420" y="1691640"/>
            <a:ext cx="2628900" cy="4069079"/>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3589020" y="18745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handshake-FFFFFF.png"/>
          <p:cNvPicPr>
            <a:picLocks noChangeAspect="1"/>
          </p:cNvPicPr>
          <p:nvPr/>
        </p:nvPicPr>
        <p:blipFill>
          <a:blip r:embed="rId3"/>
          <a:stretch>
            <a:fillRect/>
          </a:stretch>
        </p:blipFill>
        <p:spPr>
          <a:xfrm>
            <a:off x="3711915" y="1997415"/>
            <a:ext cx="266273" cy="266273"/>
          </a:xfrm>
          <a:prstGeom prst="rect">
            <a:avLst/>
          </a:prstGeom>
        </p:spPr>
      </p:pic>
      <p:sp>
        <p:nvSpPr>
          <p:cNvPr id="15" name="TextBox 14"/>
          <p:cNvSpPr txBox="1"/>
          <p:nvPr/>
        </p:nvSpPr>
        <p:spPr>
          <a:xfrm>
            <a:off x="3589020" y="2514600"/>
            <a:ext cx="2171700" cy="384048"/>
          </a:xfrm>
          <a:prstGeom prst="rect">
            <a:avLst/>
          </a:prstGeom>
          <a:noFill/>
        </p:spPr>
        <p:txBody>
          <a:bodyPr wrap="square" lIns="36576" rIns="36576" tIns="18288" bIns="18288" anchor="t">
            <a:spAutoFit/>
          </a:bodyPr>
          <a:lstStyle/>
          <a:p>
            <a:pPr algn="l">
              <a:lnSpc>
                <a:spcPct val="112000"/>
              </a:lnSpc>
            </a:pPr>
            <a:r>
              <a:rPr sz="1500" b="1" i="0">
                <a:solidFill>
                  <a:srgbClr val="FFFFFF"/>
                </a:solidFill>
                <a:latin typeface="Cambria"/>
              </a:rPr>
              <a:t>Human-in-the-loop</a:t>
            </a:r>
          </a:p>
        </p:txBody>
      </p:sp>
      <p:sp>
        <p:nvSpPr>
          <p:cNvPr id="16" name="TextBox 15"/>
          <p:cNvSpPr txBox="1"/>
          <p:nvPr/>
        </p:nvSpPr>
        <p:spPr>
          <a:xfrm>
            <a:off x="3589020" y="2935224"/>
            <a:ext cx="2171700" cy="271576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Nothing went public without your APPROVE; risky comments came to you.</a:t>
            </a:r>
          </a:p>
        </p:txBody>
      </p:sp>
      <p:sp>
        <p:nvSpPr>
          <p:cNvPr id="17" name="Rounded Rectangle 16"/>
          <p:cNvSpPr/>
          <p:nvPr/>
        </p:nvSpPr>
        <p:spPr>
          <a:xfrm>
            <a:off x="6172200" y="1691640"/>
            <a:ext cx="2628900" cy="4069079"/>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6400800" y="18745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 name="Picture 18" descr="users-FFFFFF.png"/>
          <p:cNvPicPr>
            <a:picLocks noChangeAspect="1"/>
          </p:cNvPicPr>
          <p:nvPr/>
        </p:nvPicPr>
        <p:blipFill>
          <a:blip r:embed="rId4"/>
          <a:stretch>
            <a:fillRect/>
          </a:stretch>
        </p:blipFill>
        <p:spPr>
          <a:xfrm>
            <a:off x="6523695" y="1997415"/>
            <a:ext cx="266273" cy="266273"/>
          </a:xfrm>
          <a:prstGeom prst="rect">
            <a:avLst/>
          </a:prstGeom>
        </p:spPr>
      </p:pic>
      <p:sp>
        <p:nvSpPr>
          <p:cNvPr id="20" name="TextBox 19"/>
          <p:cNvSpPr txBox="1"/>
          <p:nvPr/>
        </p:nvSpPr>
        <p:spPr>
          <a:xfrm>
            <a:off x="6400800" y="2514600"/>
            <a:ext cx="2171700" cy="384048"/>
          </a:xfrm>
          <a:prstGeom prst="rect">
            <a:avLst/>
          </a:prstGeom>
          <a:noFill/>
        </p:spPr>
        <p:txBody>
          <a:bodyPr wrap="square" lIns="36576" rIns="36576" tIns="18288" bIns="18288" anchor="t">
            <a:spAutoFit/>
          </a:bodyPr>
          <a:lstStyle/>
          <a:p>
            <a:pPr algn="l">
              <a:lnSpc>
                <a:spcPct val="112000"/>
              </a:lnSpc>
            </a:pPr>
            <a:r>
              <a:rPr sz="1500" b="1" i="0">
                <a:solidFill>
                  <a:srgbClr val="FFFFFF"/>
                </a:solidFill>
                <a:latin typeface="Cambria"/>
              </a:rPr>
              <a:t>Multi-agent</a:t>
            </a:r>
          </a:p>
        </p:txBody>
      </p:sp>
      <p:sp>
        <p:nvSpPr>
          <p:cNvPr id="21" name="TextBox 20"/>
          <p:cNvSpPr txBox="1"/>
          <p:nvPr/>
        </p:nvSpPr>
        <p:spPr>
          <a:xfrm>
            <a:off x="6400800" y="2935224"/>
            <a:ext cx="2171700" cy="271576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A five-role studio and a verified analysis swarm.</a:t>
            </a:r>
          </a:p>
        </p:txBody>
      </p:sp>
      <p:sp>
        <p:nvSpPr>
          <p:cNvPr id="22" name="Rounded Rectangle 21"/>
          <p:cNvSpPr/>
          <p:nvPr/>
        </p:nvSpPr>
        <p:spPr>
          <a:xfrm>
            <a:off x="8983980" y="1691640"/>
            <a:ext cx="2628900" cy="4069079"/>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9212580" y="18745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gear-FFFFFF.png"/>
          <p:cNvPicPr>
            <a:picLocks noChangeAspect="1"/>
          </p:cNvPicPr>
          <p:nvPr/>
        </p:nvPicPr>
        <p:blipFill>
          <a:blip r:embed="rId5"/>
          <a:stretch>
            <a:fillRect/>
          </a:stretch>
        </p:blipFill>
        <p:spPr>
          <a:xfrm>
            <a:off x="9335475" y="1997415"/>
            <a:ext cx="266273" cy="266273"/>
          </a:xfrm>
          <a:prstGeom prst="rect">
            <a:avLst/>
          </a:prstGeom>
        </p:spPr>
      </p:pic>
      <p:sp>
        <p:nvSpPr>
          <p:cNvPr id="25" name="TextBox 24"/>
          <p:cNvSpPr txBox="1"/>
          <p:nvPr/>
        </p:nvSpPr>
        <p:spPr>
          <a:xfrm>
            <a:off x="9212580" y="2514600"/>
            <a:ext cx="2171700" cy="384048"/>
          </a:xfrm>
          <a:prstGeom prst="rect">
            <a:avLst/>
          </a:prstGeom>
          <a:noFill/>
        </p:spPr>
        <p:txBody>
          <a:bodyPr wrap="square" lIns="36576" rIns="36576" tIns="18288" bIns="18288" anchor="t">
            <a:spAutoFit/>
          </a:bodyPr>
          <a:lstStyle/>
          <a:p>
            <a:pPr algn="l">
              <a:lnSpc>
                <a:spcPct val="112000"/>
              </a:lnSpc>
            </a:pPr>
            <a:r>
              <a:rPr sz="1500" b="1" i="0">
                <a:solidFill>
                  <a:srgbClr val="FFFFFF"/>
                </a:solidFill>
                <a:latin typeface="Cambria"/>
              </a:rPr>
              <a:t>Harness</a:t>
            </a:r>
          </a:p>
        </p:txBody>
      </p:sp>
      <p:sp>
        <p:nvSpPr>
          <p:cNvPr id="26" name="TextBox 25"/>
          <p:cNvSpPr txBox="1"/>
          <p:nvPr/>
        </p:nvSpPr>
        <p:spPr>
          <a:xfrm>
            <a:off x="9212580" y="2935224"/>
            <a:ext cx="2171700" cy="271576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Context, memory, skills, verification, gates, cron — the environment did the heavy lifting.</a:t>
            </a:r>
          </a:p>
        </p:txBody>
      </p:sp>
    </p:spTree>
  </p:cSld>
  <p:clrMapOvr>
    <a:masterClrMapping/>
  </p:clrMapOvr>
  <p:transition spd="med">
    <p:fade/>
  </p:transition>
</p:sld>
</file>

<file path=ppt/slides/slide105.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Oval 1"/>
          <p:cNvSpPr/>
          <p:nvPr/>
        </p:nvSpPr>
        <p:spPr>
          <a:xfrm>
            <a:off x="-1554480" y="4572000"/>
            <a:ext cx="4023360" cy="402336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822960" y="1828800"/>
            <a:ext cx="6949440" cy="457200"/>
          </a:xfrm>
          <a:prstGeom prst="rect">
            <a:avLst/>
          </a:prstGeom>
          <a:noFill/>
        </p:spPr>
        <p:txBody>
          <a:bodyPr wrap="square" lIns="36576" rIns="36576" tIns="18288" bIns="18288" anchor="t">
            <a:spAutoFit/>
          </a:bodyPr>
          <a:lstStyle/>
          <a:p>
            <a:pPr algn="l">
              <a:lnSpc>
                <a:spcPct val="112000"/>
              </a:lnSpc>
            </a:pPr>
            <a:r>
              <a:rPr sz="1800" b="1" i="0">
                <a:solidFill>
                  <a:srgbClr val="D97757"/>
                </a:solidFill>
                <a:latin typeface="Calibri"/>
              </a:rPr>
              <a:t>TOPIC 3</a:t>
            </a:r>
          </a:p>
        </p:txBody>
      </p:sp>
      <p:sp>
        <p:nvSpPr>
          <p:cNvPr id="4" name="TextBox 3"/>
          <p:cNvSpPr txBox="1"/>
          <p:nvPr/>
        </p:nvSpPr>
        <p:spPr>
          <a:xfrm>
            <a:off x="777240" y="2331720"/>
            <a:ext cx="7223760" cy="2011680"/>
          </a:xfrm>
          <a:prstGeom prst="rect">
            <a:avLst/>
          </a:prstGeom>
          <a:noFill/>
        </p:spPr>
        <p:txBody>
          <a:bodyPr wrap="square" lIns="36576" rIns="36576" tIns="18288" bIns="18288" anchor="t">
            <a:spAutoFit/>
          </a:bodyPr>
          <a:lstStyle/>
          <a:p>
            <a:pPr algn="l">
              <a:lnSpc>
                <a:spcPct val="104000"/>
              </a:lnSpc>
            </a:pPr>
            <a:r>
              <a:rPr sz="4000" b="1" i="0">
                <a:solidFill>
                  <a:srgbClr val="FFFFFF"/>
                </a:solidFill>
                <a:latin typeface="Cambria"/>
              </a:rPr>
              <a:t>Paperclip — Running &amp; Governing a Company of AI Agents</a:t>
            </a:r>
          </a:p>
        </p:txBody>
      </p:sp>
      <p:sp>
        <p:nvSpPr>
          <p:cNvPr id="5" name="TextBox 4"/>
          <p:cNvSpPr txBox="1"/>
          <p:nvPr/>
        </p:nvSpPr>
        <p:spPr>
          <a:xfrm>
            <a:off x="822960" y="4343400"/>
            <a:ext cx="6949440" cy="822960"/>
          </a:xfrm>
          <a:prstGeom prst="rect">
            <a:avLst/>
          </a:prstGeom>
          <a:noFill/>
        </p:spPr>
        <p:txBody>
          <a:bodyPr wrap="square" lIns="36576" rIns="36576" tIns="18288" bIns="18288" anchor="t">
            <a:spAutoFit/>
          </a:bodyPr>
          <a:lstStyle/>
          <a:p>
            <a:pPr algn="l">
              <a:lnSpc>
                <a:spcPct val="112000"/>
              </a:lnSpc>
            </a:pPr>
            <a:r>
              <a:rPr sz="1500" b="0" i="0">
                <a:solidFill>
                  <a:srgbClr val="C9C4B9"/>
                </a:solidFill>
                <a:latin typeface="Calibri"/>
              </a:rPr>
              <a:t>Day 2 — the same marketing work, run as a governed company.</a:t>
            </a:r>
          </a:p>
        </p:txBody>
      </p:sp>
      <p:sp>
        <p:nvSpPr>
          <p:cNvPr id="6" name="Rounded Rectangle 5"/>
          <p:cNvSpPr/>
          <p:nvPr/>
        </p:nvSpPr>
        <p:spPr>
          <a:xfrm>
            <a:off x="8183879" y="1760220"/>
            <a:ext cx="3520440" cy="297180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8366760" y="1988819"/>
            <a:ext cx="457200" cy="384048"/>
          </a:xfrm>
          <a:prstGeom prst="rect">
            <a:avLst/>
          </a:prstGeom>
          <a:noFill/>
        </p:spPr>
        <p:txBody>
          <a:bodyPr wrap="square" lIns="36576" rIns="36576" tIns="18288" bIns="18288" anchor="t">
            <a:spAutoFit/>
          </a:bodyPr>
          <a:lstStyle/>
          <a:p>
            <a:pPr algn="l">
              <a:lnSpc>
                <a:spcPct val="112000"/>
              </a:lnSpc>
            </a:pPr>
            <a:r>
              <a:rPr sz="1700" b="1" i="0">
                <a:solidFill>
                  <a:srgbClr val="D97757"/>
                </a:solidFill>
                <a:latin typeface="Cambria"/>
              </a:rPr>
              <a:t>1</a:t>
            </a:r>
          </a:p>
        </p:txBody>
      </p:sp>
      <p:sp>
        <p:nvSpPr>
          <p:cNvPr id="8" name="TextBox 7"/>
          <p:cNvSpPr txBox="1"/>
          <p:nvPr/>
        </p:nvSpPr>
        <p:spPr>
          <a:xfrm>
            <a:off x="8823960" y="1988819"/>
            <a:ext cx="2743200" cy="512064"/>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Lab 6 · Found the AI company</a:t>
            </a:r>
          </a:p>
        </p:txBody>
      </p:sp>
      <p:sp>
        <p:nvSpPr>
          <p:cNvPr id="9" name="TextBox 8"/>
          <p:cNvSpPr txBox="1"/>
          <p:nvPr/>
        </p:nvSpPr>
        <p:spPr>
          <a:xfrm>
            <a:off x="8366760" y="2500884"/>
            <a:ext cx="457200" cy="384048"/>
          </a:xfrm>
          <a:prstGeom prst="rect">
            <a:avLst/>
          </a:prstGeom>
          <a:noFill/>
        </p:spPr>
        <p:txBody>
          <a:bodyPr wrap="square" lIns="36576" rIns="36576" tIns="18288" bIns="18288" anchor="t">
            <a:spAutoFit/>
          </a:bodyPr>
          <a:lstStyle/>
          <a:p>
            <a:pPr algn="l">
              <a:lnSpc>
                <a:spcPct val="112000"/>
              </a:lnSpc>
            </a:pPr>
            <a:r>
              <a:rPr sz="1700" b="1" i="0">
                <a:solidFill>
                  <a:srgbClr val="D97757"/>
                </a:solidFill>
                <a:latin typeface="Cambria"/>
              </a:rPr>
              <a:t>2</a:t>
            </a:r>
          </a:p>
        </p:txBody>
      </p:sp>
      <p:sp>
        <p:nvSpPr>
          <p:cNvPr id="10" name="TextBox 9"/>
          <p:cNvSpPr txBox="1"/>
          <p:nvPr/>
        </p:nvSpPr>
        <p:spPr>
          <a:xfrm>
            <a:off x="8823960" y="2500884"/>
            <a:ext cx="2743200" cy="512064"/>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Lab 7 · Hire the team</a:t>
            </a:r>
          </a:p>
        </p:txBody>
      </p:sp>
      <p:sp>
        <p:nvSpPr>
          <p:cNvPr id="11" name="TextBox 10"/>
          <p:cNvSpPr txBox="1"/>
          <p:nvPr/>
        </p:nvSpPr>
        <p:spPr>
          <a:xfrm>
            <a:off x="8366760" y="3012948"/>
            <a:ext cx="457200" cy="384048"/>
          </a:xfrm>
          <a:prstGeom prst="rect">
            <a:avLst/>
          </a:prstGeom>
          <a:noFill/>
        </p:spPr>
        <p:txBody>
          <a:bodyPr wrap="square" lIns="36576" rIns="36576" tIns="18288" bIns="18288" anchor="t">
            <a:spAutoFit/>
          </a:bodyPr>
          <a:lstStyle/>
          <a:p>
            <a:pPr algn="l">
              <a:lnSpc>
                <a:spcPct val="112000"/>
              </a:lnSpc>
            </a:pPr>
            <a:r>
              <a:rPr sz="1700" b="1" i="0">
                <a:solidFill>
                  <a:srgbClr val="D97757"/>
                </a:solidFill>
                <a:latin typeface="Cambria"/>
              </a:rPr>
              <a:t>3</a:t>
            </a:r>
          </a:p>
        </p:txBody>
      </p:sp>
      <p:sp>
        <p:nvSpPr>
          <p:cNvPr id="12" name="TextBox 11"/>
          <p:cNvSpPr txBox="1"/>
          <p:nvPr/>
        </p:nvSpPr>
        <p:spPr>
          <a:xfrm>
            <a:off x="8823960" y="3012948"/>
            <a:ext cx="2743200" cy="512064"/>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Lab 8 · Launch campaign project</a:t>
            </a:r>
          </a:p>
        </p:txBody>
      </p:sp>
      <p:sp>
        <p:nvSpPr>
          <p:cNvPr id="13" name="TextBox 12"/>
          <p:cNvSpPr txBox="1"/>
          <p:nvPr/>
        </p:nvSpPr>
        <p:spPr>
          <a:xfrm>
            <a:off x="8366760" y="3525012"/>
            <a:ext cx="457200" cy="384048"/>
          </a:xfrm>
          <a:prstGeom prst="rect">
            <a:avLst/>
          </a:prstGeom>
          <a:noFill/>
        </p:spPr>
        <p:txBody>
          <a:bodyPr wrap="square" lIns="36576" rIns="36576" tIns="18288" bIns="18288" anchor="t">
            <a:spAutoFit/>
          </a:bodyPr>
          <a:lstStyle/>
          <a:p>
            <a:pPr algn="l">
              <a:lnSpc>
                <a:spcPct val="112000"/>
              </a:lnSpc>
            </a:pPr>
            <a:r>
              <a:rPr sz="1700" b="1" i="0">
                <a:solidFill>
                  <a:srgbClr val="D97757"/>
                </a:solidFill>
                <a:latin typeface="Cambria"/>
              </a:rPr>
              <a:t>4</a:t>
            </a:r>
          </a:p>
        </p:txBody>
      </p:sp>
      <p:sp>
        <p:nvSpPr>
          <p:cNvPr id="14" name="TextBox 13"/>
          <p:cNvSpPr txBox="1"/>
          <p:nvPr/>
        </p:nvSpPr>
        <p:spPr>
          <a:xfrm>
            <a:off x="8823960" y="3525012"/>
            <a:ext cx="2743200" cy="512064"/>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Lab 9 · Weekly video routine</a:t>
            </a:r>
          </a:p>
        </p:txBody>
      </p:sp>
      <p:sp>
        <p:nvSpPr>
          <p:cNvPr id="15" name="TextBox 14"/>
          <p:cNvSpPr txBox="1"/>
          <p:nvPr/>
        </p:nvSpPr>
        <p:spPr>
          <a:xfrm>
            <a:off x="8366760" y="4037076"/>
            <a:ext cx="457200" cy="384048"/>
          </a:xfrm>
          <a:prstGeom prst="rect">
            <a:avLst/>
          </a:prstGeom>
          <a:noFill/>
        </p:spPr>
        <p:txBody>
          <a:bodyPr wrap="square" lIns="36576" rIns="36576" tIns="18288" bIns="18288" anchor="t">
            <a:spAutoFit/>
          </a:bodyPr>
          <a:lstStyle/>
          <a:p>
            <a:pPr algn="l">
              <a:lnSpc>
                <a:spcPct val="112000"/>
              </a:lnSpc>
            </a:pPr>
            <a:r>
              <a:rPr sz="1700" b="1" i="0">
                <a:solidFill>
                  <a:srgbClr val="D97757"/>
                </a:solidFill>
                <a:latin typeface="Cambria"/>
              </a:rPr>
              <a:t>5</a:t>
            </a:r>
          </a:p>
        </p:txBody>
      </p:sp>
      <p:sp>
        <p:nvSpPr>
          <p:cNvPr id="16" name="TextBox 15"/>
          <p:cNvSpPr txBox="1"/>
          <p:nvPr/>
        </p:nvSpPr>
        <p:spPr>
          <a:xfrm>
            <a:off x="8823960" y="4037076"/>
            <a:ext cx="2743200" cy="512064"/>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Lab 10 · Govern, measure &amp; improve</a:t>
            </a:r>
          </a:p>
        </p:txBody>
      </p:sp>
      <p:sp>
        <p:nvSpPr>
          <p:cNvPr id="17" name="TextBox 16"/>
          <p:cNvSpPr txBox="1"/>
          <p:nvPr/>
        </p:nvSpPr>
        <p:spPr>
          <a:xfrm>
            <a:off x="5852160" y="6473952"/>
            <a:ext cx="58521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 Tertiary Infotech Academy Pte Ltd  ·  TGS-2024043854</a:t>
            </a:r>
          </a:p>
        </p:txBody>
      </p:sp>
    </p:spTree>
  </p:cSld>
  <p:clrMapOvr>
    <a:masterClrMapping/>
  </p:clrMapOvr>
  <p:transition spd="med">
    <p:fade/>
  </p:transition>
</p:sld>
</file>

<file path=ppt/slides/slide10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PAPERCLIP</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What Is Paperclip?</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"If OpenClaw is an employee, Paperclip is the company." — 100k+ GitHub stars, self-hosted at http://localhost:3100.</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106</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240280"/>
            <a:ext cx="3566160" cy="166877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77240" y="242316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building-FFFFFF.png"/>
          <p:cNvPicPr>
            <a:picLocks noChangeAspect="1"/>
          </p:cNvPicPr>
          <p:nvPr/>
        </p:nvPicPr>
        <p:blipFill>
          <a:blip r:embed="rId2"/>
          <a:stretch>
            <a:fillRect/>
          </a:stretch>
        </p:blipFill>
        <p:spPr>
          <a:xfrm>
            <a:off x="900135" y="2546055"/>
            <a:ext cx="266273" cy="266273"/>
          </a:xfrm>
          <a:prstGeom prst="rect">
            <a:avLst/>
          </a:prstGeom>
        </p:spPr>
      </p:pic>
      <p:sp>
        <p:nvSpPr>
          <p:cNvPr id="11" name="TextBox 10"/>
          <p:cNvSpPr txBox="1"/>
          <p:nvPr/>
        </p:nvSpPr>
        <p:spPr>
          <a:xfrm>
            <a:off x="1426464" y="2404872"/>
            <a:ext cx="245973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The company as the harness</a:t>
            </a:r>
          </a:p>
        </p:txBody>
      </p:sp>
      <p:sp>
        <p:nvSpPr>
          <p:cNvPr id="12" name="TextBox 11"/>
          <p:cNvSpPr txBox="1"/>
          <p:nvPr/>
        </p:nvSpPr>
        <p:spPr>
          <a:xfrm>
            <a:off x="777240" y="3008376"/>
            <a:ext cx="3108960" cy="827531"/>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Open-source orchestration for a company of agents — org chart, goals, budgets, governance.</a:t>
            </a:r>
          </a:p>
        </p:txBody>
      </p:sp>
      <p:sp>
        <p:nvSpPr>
          <p:cNvPr id="13" name="Rounded Rectangle 12"/>
          <p:cNvSpPr/>
          <p:nvPr/>
        </p:nvSpPr>
        <p:spPr>
          <a:xfrm>
            <a:off x="4297679" y="2240280"/>
            <a:ext cx="3566160" cy="166877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4526279" y="242316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Picture 14" descr="gavel-FFFFFF.png"/>
          <p:cNvPicPr>
            <a:picLocks noChangeAspect="1"/>
          </p:cNvPicPr>
          <p:nvPr/>
        </p:nvPicPr>
        <p:blipFill>
          <a:blip r:embed="rId3"/>
          <a:stretch>
            <a:fillRect/>
          </a:stretch>
        </p:blipFill>
        <p:spPr>
          <a:xfrm>
            <a:off x="4649175" y="2546055"/>
            <a:ext cx="266273" cy="266273"/>
          </a:xfrm>
          <a:prstGeom prst="rect">
            <a:avLst/>
          </a:prstGeom>
        </p:spPr>
      </p:pic>
      <p:sp>
        <p:nvSpPr>
          <p:cNvPr id="16" name="TextBox 15"/>
          <p:cNvSpPr txBox="1"/>
          <p:nvPr/>
        </p:nvSpPr>
        <p:spPr>
          <a:xfrm>
            <a:off x="5175504" y="2404872"/>
            <a:ext cx="245973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You are the Board</a:t>
            </a:r>
          </a:p>
        </p:txBody>
      </p:sp>
      <p:sp>
        <p:nvSpPr>
          <p:cNvPr id="17" name="TextBox 16"/>
          <p:cNvSpPr txBox="1"/>
          <p:nvPr/>
        </p:nvSpPr>
        <p:spPr>
          <a:xfrm>
            <a:off x="4526279" y="3008376"/>
            <a:ext cx="3108960" cy="827531"/>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Approve hires and strategy; pause, override, reassign or terminate any agent.</a:t>
            </a:r>
          </a:p>
        </p:txBody>
      </p:sp>
      <p:sp>
        <p:nvSpPr>
          <p:cNvPr id="18" name="Rounded Rectangle 17"/>
          <p:cNvSpPr/>
          <p:nvPr/>
        </p:nvSpPr>
        <p:spPr>
          <a:xfrm>
            <a:off x="8046719" y="2240280"/>
            <a:ext cx="3566160" cy="166877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8275319" y="242316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plug-FFFFFF.png"/>
          <p:cNvPicPr>
            <a:picLocks noChangeAspect="1"/>
          </p:cNvPicPr>
          <p:nvPr/>
        </p:nvPicPr>
        <p:blipFill>
          <a:blip r:embed="rId4"/>
          <a:stretch>
            <a:fillRect/>
          </a:stretch>
        </p:blipFill>
        <p:spPr>
          <a:xfrm>
            <a:off x="8398215" y="2546055"/>
            <a:ext cx="266273" cy="266273"/>
          </a:xfrm>
          <a:prstGeom prst="rect">
            <a:avLst/>
          </a:prstGeom>
        </p:spPr>
      </p:pic>
      <p:sp>
        <p:nvSpPr>
          <p:cNvPr id="21" name="TextBox 20"/>
          <p:cNvSpPr txBox="1"/>
          <p:nvPr/>
        </p:nvSpPr>
        <p:spPr>
          <a:xfrm>
            <a:off x="8924544" y="2404872"/>
            <a:ext cx="245973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Bring your own agent</a:t>
            </a:r>
          </a:p>
        </p:txBody>
      </p:sp>
      <p:sp>
        <p:nvSpPr>
          <p:cNvPr id="22" name="TextBox 21"/>
          <p:cNvSpPr txBox="1"/>
          <p:nvPr/>
        </p:nvSpPr>
        <p:spPr>
          <a:xfrm>
            <a:off x="8275319" y="3008376"/>
            <a:ext cx="3108960" cy="827531"/>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Adapters for Claude Code, Codex, Gemini CLI, OpenClaw, Hermes, Cursor …</a:t>
            </a:r>
          </a:p>
        </p:txBody>
      </p:sp>
      <p:sp>
        <p:nvSpPr>
          <p:cNvPr id="23" name="Rounded Rectangle 22"/>
          <p:cNvSpPr/>
          <p:nvPr/>
        </p:nvSpPr>
        <p:spPr>
          <a:xfrm>
            <a:off x="548640" y="4091939"/>
            <a:ext cx="3566160" cy="166877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777240" y="42748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Picture 24" descr="target-FFFFFF.png"/>
          <p:cNvPicPr>
            <a:picLocks noChangeAspect="1"/>
          </p:cNvPicPr>
          <p:nvPr/>
        </p:nvPicPr>
        <p:blipFill>
          <a:blip r:embed="rId5"/>
          <a:stretch>
            <a:fillRect/>
          </a:stretch>
        </p:blipFill>
        <p:spPr>
          <a:xfrm>
            <a:off x="900135" y="4397715"/>
            <a:ext cx="266273" cy="266273"/>
          </a:xfrm>
          <a:prstGeom prst="rect">
            <a:avLst/>
          </a:prstGeom>
        </p:spPr>
      </p:pic>
      <p:sp>
        <p:nvSpPr>
          <p:cNvPr id="26" name="TextBox 25"/>
          <p:cNvSpPr txBox="1"/>
          <p:nvPr/>
        </p:nvSpPr>
        <p:spPr>
          <a:xfrm>
            <a:off x="1426464" y="4256532"/>
            <a:ext cx="245973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Issues &amp; goals</a:t>
            </a:r>
          </a:p>
        </p:txBody>
      </p:sp>
      <p:sp>
        <p:nvSpPr>
          <p:cNvPr id="27" name="TextBox 26"/>
          <p:cNvSpPr txBox="1"/>
          <p:nvPr/>
        </p:nvSpPr>
        <p:spPr>
          <a:xfrm>
            <a:off x="777240" y="4860036"/>
            <a:ext cx="3108960" cy="827531"/>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Mission → goals → projects → issues: every task traces to a goal.</a:t>
            </a:r>
          </a:p>
        </p:txBody>
      </p:sp>
      <p:sp>
        <p:nvSpPr>
          <p:cNvPr id="28" name="Rounded Rectangle 27"/>
          <p:cNvSpPr/>
          <p:nvPr/>
        </p:nvSpPr>
        <p:spPr>
          <a:xfrm>
            <a:off x="4297679" y="4091939"/>
            <a:ext cx="3566160" cy="166877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4526279" y="42748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0" name="Picture 29" descr="clock-FFFFFF.png"/>
          <p:cNvPicPr>
            <a:picLocks noChangeAspect="1"/>
          </p:cNvPicPr>
          <p:nvPr/>
        </p:nvPicPr>
        <p:blipFill>
          <a:blip r:embed="rId6"/>
          <a:stretch>
            <a:fillRect/>
          </a:stretch>
        </p:blipFill>
        <p:spPr>
          <a:xfrm>
            <a:off x="4649175" y="4397715"/>
            <a:ext cx="266273" cy="266273"/>
          </a:xfrm>
          <a:prstGeom prst="rect">
            <a:avLst/>
          </a:prstGeom>
        </p:spPr>
      </p:pic>
      <p:sp>
        <p:nvSpPr>
          <p:cNvPr id="31" name="TextBox 30"/>
          <p:cNvSpPr txBox="1"/>
          <p:nvPr/>
        </p:nvSpPr>
        <p:spPr>
          <a:xfrm>
            <a:off x="5175504" y="4256532"/>
            <a:ext cx="245973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Heartbeats &amp; routines</a:t>
            </a:r>
          </a:p>
        </p:txBody>
      </p:sp>
      <p:sp>
        <p:nvSpPr>
          <p:cNvPr id="32" name="TextBox 31"/>
          <p:cNvSpPr txBox="1"/>
          <p:nvPr/>
        </p:nvSpPr>
        <p:spPr>
          <a:xfrm>
            <a:off x="4526279" y="4860036"/>
            <a:ext cx="3108960" cy="827531"/>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Agents wake on a schedule or when work is assigned; routines create recurring work.</a:t>
            </a:r>
          </a:p>
        </p:txBody>
      </p:sp>
      <p:sp>
        <p:nvSpPr>
          <p:cNvPr id="33" name="Rounded Rectangle 32"/>
          <p:cNvSpPr/>
          <p:nvPr/>
        </p:nvSpPr>
        <p:spPr>
          <a:xfrm>
            <a:off x="8046719" y="4091939"/>
            <a:ext cx="3566160" cy="166877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Oval 33"/>
          <p:cNvSpPr/>
          <p:nvPr/>
        </p:nvSpPr>
        <p:spPr>
          <a:xfrm>
            <a:off x="8275319" y="42748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5" name="Picture 34" descr="coins-FFFFFF.png"/>
          <p:cNvPicPr>
            <a:picLocks noChangeAspect="1"/>
          </p:cNvPicPr>
          <p:nvPr/>
        </p:nvPicPr>
        <p:blipFill>
          <a:blip r:embed="rId7"/>
          <a:stretch>
            <a:fillRect/>
          </a:stretch>
        </p:blipFill>
        <p:spPr>
          <a:xfrm>
            <a:off x="8398215" y="4397715"/>
            <a:ext cx="266273" cy="266273"/>
          </a:xfrm>
          <a:prstGeom prst="rect">
            <a:avLst/>
          </a:prstGeom>
        </p:spPr>
      </p:pic>
      <p:sp>
        <p:nvSpPr>
          <p:cNvPr id="36" name="TextBox 35"/>
          <p:cNvSpPr txBox="1"/>
          <p:nvPr/>
        </p:nvSpPr>
        <p:spPr>
          <a:xfrm>
            <a:off x="8924544" y="4256532"/>
            <a:ext cx="245973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Budgets &amp; audit</a:t>
            </a:r>
          </a:p>
        </p:txBody>
      </p:sp>
      <p:sp>
        <p:nvSpPr>
          <p:cNvPr id="37" name="TextBox 36"/>
          <p:cNvSpPr txBox="1"/>
          <p:nvPr/>
        </p:nvSpPr>
        <p:spPr>
          <a:xfrm>
            <a:off x="8275319" y="4860036"/>
            <a:ext cx="3108960" cy="827531"/>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Per-agent budgets warn at 80% and auto-pause at 100%; append-only activity log.</a:t>
            </a:r>
          </a:p>
        </p:txBody>
      </p:sp>
    </p:spTree>
  </p:cSld>
  <p:clrMapOvr>
    <a:masterClrMapping/>
  </p:clrMapOvr>
  <p:transition spd="med">
    <p:fade/>
  </p:transition>
</p:sld>
</file>

<file path=ppt/slides/slide10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PAPERCLIP</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The Paperclip Dashboard</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107</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2807208" y="1682496"/>
            <a:ext cx="6547104" cy="4133088"/>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pc-dashboard.png"/>
          <p:cNvPicPr>
            <a:picLocks noChangeAspect="1"/>
          </p:cNvPicPr>
          <p:nvPr/>
        </p:nvPicPr>
        <p:blipFill>
          <a:blip r:embed="rId2"/>
          <a:stretch>
            <a:fillRect/>
          </a:stretch>
        </p:blipFill>
        <p:spPr>
          <a:xfrm>
            <a:off x="2862072" y="1737360"/>
            <a:ext cx="6437376" cy="4023360"/>
          </a:xfrm>
          <a:prstGeom prst="rect">
            <a:avLst/>
          </a:prstGeom>
        </p:spPr>
      </p:pic>
      <p:sp>
        <p:nvSpPr>
          <p:cNvPr id="9" name="TextBox 8"/>
          <p:cNvSpPr txBox="1"/>
          <p:nvPr/>
        </p:nvSpPr>
        <p:spPr>
          <a:xfrm>
            <a:off x="548640" y="5870448"/>
            <a:ext cx="11064240" cy="50292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  </a:t>
            </a:r>
            <a:r>
              <a:rPr sz="1250" b="0" i="0">
                <a:solidFill>
                  <a:srgbClr val="6B6862"/>
                </a:solidFill>
                <a:latin typeface="Calibri"/>
              </a:rPr>
              <a:t>Agents, issues, costs and approvals for the whole company — the Board's control room.</a:t>
            </a:r>
          </a:p>
        </p:txBody>
      </p:sp>
    </p:spTree>
  </p:cSld>
  <p:clrMapOvr>
    <a:masterClrMapping/>
  </p:clrMapOvr>
  <p:transition spd="med">
    <p:fade/>
  </p:transition>
</p:sld>
</file>

<file path=ppt/slides/slide10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PAPERCLIP</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Hermes Agent vs Paperclip</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108</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graphicFrame>
        <p:nvGraphicFramePr>
          <p:cNvPr id="7" name="Table 6"/>
          <p:cNvGraphicFramePr>
            <a:graphicFrameLocks noGrp="1"/>
          </p:cNvGraphicFramePr>
          <p:nvPr/>
        </p:nvGraphicFramePr>
        <p:xfrm>
          <a:off x="548640" y="1691640"/>
          <a:ext cx="11064240" cy="4377690"/>
        </p:xfrm>
        <a:graphic>
          <a:graphicData uri="http://schemas.openxmlformats.org/drawingml/2006/table">
            <a:tbl>
              <a:tblPr firstRow="0" bandRow="0">
                <a:tableStyleId>{5C22544A-7EE6-4342-B048-85BDC9FD1C3A}</a:tableStyleId>
              </a:tblPr>
              <a:tblGrid>
                <a:gridCol w="1828800"/>
                <a:gridCol w="4572000"/>
                <a:gridCol w="4663440"/>
              </a:tblGrid>
              <a:tr h="457200">
                <a:tc>
                  <a:txBody>
                    <a:bodyPr wrap="square"/>
                    <a:lstStyle/>
                    <a:p>
                      <a:r>
                        <a:rPr b="1" sz="1550">
                          <a:solidFill>
                            <a:srgbClr val="FFFFFF"/>
                          </a:solidFill>
                          <a:latin typeface="Cambria"/>
                        </a:rPr>
                        <a:t/>
                      </a:r>
                    </a:p>
                  </a:txBody>
                  <a:tcPr marL="64008" marR="64008" marT="27432" marB="27432" anchor="ctr">
                    <a:solidFill>
                      <a:srgbClr val="21201C"/>
                    </a:solidFill>
                  </a:tcPr>
                </a:tc>
                <a:tc>
                  <a:txBody>
                    <a:bodyPr wrap="square"/>
                    <a:lstStyle/>
                    <a:p>
                      <a:r>
                        <a:rPr b="1" sz="1550">
                          <a:solidFill>
                            <a:srgbClr val="FFFFFF"/>
                          </a:solidFill>
                          <a:latin typeface="Cambria"/>
                        </a:rPr>
                        <a:t>Hermes Agent (Day 1)</a:t>
                      </a:r>
                    </a:p>
                  </a:txBody>
                  <a:tcPr marL="64008" marR="64008" marT="27432" marB="27432" anchor="ctr">
                    <a:solidFill>
                      <a:srgbClr val="21201C"/>
                    </a:solidFill>
                  </a:tcPr>
                </a:tc>
                <a:tc>
                  <a:txBody>
                    <a:bodyPr wrap="square"/>
                    <a:lstStyle/>
                    <a:p>
                      <a:r>
                        <a:rPr b="1" sz="1550">
                          <a:solidFill>
                            <a:srgbClr val="FFFFFF"/>
                          </a:solidFill>
                          <a:latin typeface="Cambria"/>
                        </a:rPr>
                        <a:t>Paperclip (Day 2)</a:t>
                      </a:r>
                    </a:p>
                  </a:txBody>
                  <a:tcPr marL="64008" marR="64008" marT="27432" marB="27432" anchor="ctr">
                    <a:solidFill>
                      <a:srgbClr val="21201C"/>
                    </a:solidFill>
                  </a:tcPr>
                </a:tc>
              </a:tr>
              <a:tr h="560070">
                <a:tc>
                  <a:txBody>
                    <a:bodyPr wrap="square"/>
                    <a:lstStyle/>
                    <a:p>
                      <a:r>
                        <a:rPr b="1" sz="1500">
                          <a:solidFill>
                            <a:srgbClr val="21201C"/>
                          </a:solidFill>
                          <a:latin typeface="Cambria"/>
                        </a:rPr>
                        <a:t>Unit</a:t>
                      </a:r>
                    </a:p>
                  </a:txBody>
                  <a:tcPr marL="64008" marR="64008" marT="27432" marB="27432" anchor="ctr">
                    <a:solidFill>
                      <a:srgbClr val="FFFFFF"/>
                    </a:solidFill>
                  </a:tcPr>
                </a:tc>
                <a:tc>
                  <a:txBody>
                    <a:bodyPr wrap="square"/>
                    <a:lstStyle/>
                    <a:p>
                      <a:r>
                        <a:rPr b="0" sz="1500">
                          <a:solidFill>
                            <a:srgbClr val="6B6862"/>
                          </a:solidFill>
                          <a:latin typeface="Calibri"/>
                        </a:rPr>
                        <a:t>An agent (employee) — or a team of profiles</a:t>
                      </a:r>
                    </a:p>
                  </a:txBody>
                  <a:tcPr marL="64008" marR="64008" marT="27432" marB="27432" anchor="ctr">
                    <a:solidFill>
                      <a:srgbClr val="FFFFFF"/>
                    </a:solidFill>
                  </a:tcPr>
                </a:tc>
                <a:tc>
                  <a:txBody>
                    <a:bodyPr wrap="square"/>
                    <a:lstStyle/>
                    <a:p>
                      <a:r>
                        <a:rPr b="0" sz="1500">
                          <a:solidFill>
                            <a:srgbClr val="6B6862"/>
                          </a:solidFill>
                          <a:latin typeface="Calibri"/>
                        </a:rPr>
                        <a:t>A company of agents</a:t>
                      </a:r>
                    </a:p>
                  </a:txBody>
                  <a:tcPr marL="64008" marR="64008" marT="27432" marB="27432" anchor="ctr">
                    <a:solidFill>
                      <a:srgbClr val="F6E7DF"/>
                    </a:solidFill>
                  </a:tcPr>
                </a:tc>
              </a:tr>
              <a:tr h="560070">
                <a:tc>
                  <a:txBody>
                    <a:bodyPr wrap="square"/>
                    <a:lstStyle/>
                    <a:p>
                      <a:r>
                        <a:rPr b="1" sz="1500">
                          <a:solidFill>
                            <a:srgbClr val="21201C"/>
                          </a:solidFill>
                          <a:latin typeface="Cambria"/>
                        </a:rPr>
                        <a:t>Orchestration</a:t>
                      </a:r>
                    </a:p>
                  </a:txBody>
                  <a:tcPr marL="64008" marR="64008" marT="27432" marB="27432" anchor="ctr">
                    <a:solidFill>
                      <a:srgbClr val="F3F1EB"/>
                    </a:solidFill>
                  </a:tcPr>
                </a:tc>
                <a:tc>
                  <a:txBody>
                    <a:bodyPr wrap="square"/>
                    <a:lstStyle/>
                    <a:p>
                      <a:r>
                        <a:rPr b="0" sz="1500">
                          <a:solidFill>
                            <a:srgbClr val="6B6862"/>
                          </a:solidFill>
                          <a:latin typeface="Calibri"/>
                        </a:rPr>
                        <a:t>Kanban board, dependencies, swarms</a:t>
                      </a:r>
                    </a:p>
                  </a:txBody>
                  <a:tcPr marL="64008" marR="64008" marT="27432" marB="27432" anchor="ctr">
                    <a:solidFill>
                      <a:srgbClr val="F3F1EB"/>
                    </a:solidFill>
                  </a:tcPr>
                </a:tc>
                <a:tc>
                  <a:txBody>
                    <a:bodyPr wrap="square"/>
                    <a:lstStyle/>
                    <a:p>
                      <a:r>
                        <a:rPr b="0" sz="1500">
                          <a:solidFill>
                            <a:srgbClr val="6B6862"/>
                          </a:solidFill>
                          <a:latin typeface="Calibri"/>
                        </a:rPr>
                        <a:t>Org chart, CEO delegation, projects &amp; issues</a:t>
                      </a:r>
                    </a:p>
                  </a:txBody>
                  <a:tcPr marL="64008" marR="64008" marT="27432" marB="27432" anchor="ctr">
                    <a:solidFill>
                      <a:srgbClr val="F6E7DF"/>
                    </a:solidFill>
                  </a:tcPr>
                </a:tc>
              </a:tr>
              <a:tr h="560070">
                <a:tc>
                  <a:txBody>
                    <a:bodyPr wrap="square"/>
                    <a:lstStyle/>
                    <a:p>
                      <a:r>
                        <a:rPr b="1" sz="1500">
                          <a:solidFill>
                            <a:srgbClr val="21201C"/>
                          </a:solidFill>
                          <a:latin typeface="Cambria"/>
                        </a:rPr>
                        <a:t>Human control</a:t>
                      </a:r>
                    </a:p>
                  </a:txBody>
                  <a:tcPr marL="64008" marR="64008" marT="27432" marB="27432" anchor="ctr">
                    <a:solidFill>
                      <a:srgbClr val="FFFFFF"/>
                    </a:solidFill>
                  </a:tcPr>
                </a:tc>
                <a:tc>
                  <a:txBody>
                    <a:bodyPr wrap="square"/>
                    <a:lstStyle/>
                    <a:p>
                      <a:r>
                        <a:rPr b="0" sz="1500">
                          <a:solidFill>
                            <a:srgbClr val="6B6862"/>
                          </a:solidFill>
                          <a:latin typeface="Calibri"/>
                        </a:rPr>
                        <a:t>APPROVE prompts, approval modes, blocked tasks</a:t>
                      </a:r>
                    </a:p>
                  </a:txBody>
                  <a:tcPr marL="64008" marR="64008" marT="27432" marB="27432" anchor="ctr">
                    <a:solidFill>
                      <a:srgbClr val="FFFFFF"/>
                    </a:solidFill>
                  </a:tcPr>
                </a:tc>
                <a:tc>
                  <a:txBody>
                    <a:bodyPr wrap="square"/>
                    <a:lstStyle/>
                    <a:p>
                      <a:r>
                        <a:rPr b="0" sz="1500">
                          <a:solidFill>
                            <a:srgbClr val="6B6862"/>
                          </a:solidFill>
                          <a:latin typeface="Calibri"/>
                        </a:rPr>
                        <a:t>Board approvals for hires &amp; strategy; in_review gates</a:t>
                      </a:r>
                    </a:p>
                  </a:txBody>
                  <a:tcPr marL="64008" marR="64008" marT="27432" marB="27432" anchor="ctr">
                    <a:solidFill>
                      <a:srgbClr val="F6E7DF"/>
                    </a:solidFill>
                  </a:tcPr>
                </a:tc>
              </a:tr>
              <a:tr h="560070">
                <a:tc>
                  <a:txBody>
                    <a:bodyPr wrap="square"/>
                    <a:lstStyle/>
                    <a:p>
                      <a:r>
                        <a:rPr b="1" sz="1500">
                          <a:solidFill>
                            <a:srgbClr val="21201C"/>
                          </a:solidFill>
                          <a:latin typeface="Cambria"/>
                        </a:rPr>
                        <a:t>Scheduling</a:t>
                      </a:r>
                    </a:p>
                  </a:txBody>
                  <a:tcPr marL="64008" marR="64008" marT="27432" marB="27432" anchor="ctr">
                    <a:solidFill>
                      <a:srgbClr val="F3F1EB"/>
                    </a:solidFill>
                  </a:tcPr>
                </a:tc>
                <a:tc>
                  <a:txBody>
                    <a:bodyPr wrap="square"/>
                    <a:lstStyle/>
                    <a:p>
                      <a:r>
                        <a:rPr b="0" sz="1500">
                          <a:solidFill>
                            <a:srgbClr val="6B6862"/>
                          </a:solidFill>
                          <a:latin typeface="Calibri"/>
                        </a:rPr>
                        <a:t>Cron jobs</a:t>
                      </a:r>
                    </a:p>
                  </a:txBody>
                  <a:tcPr marL="64008" marR="64008" marT="27432" marB="27432" anchor="ctr">
                    <a:solidFill>
                      <a:srgbClr val="F3F1EB"/>
                    </a:solidFill>
                  </a:tcPr>
                </a:tc>
                <a:tc>
                  <a:txBody>
                    <a:bodyPr wrap="square"/>
                    <a:lstStyle/>
                    <a:p>
                      <a:r>
                        <a:rPr b="0" sz="1500">
                          <a:solidFill>
                            <a:srgbClr val="6B6862"/>
                          </a:solidFill>
                          <a:latin typeface="Calibri"/>
                        </a:rPr>
                        <a:t>Routines + heartbeats</a:t>
                      </a:r>
                    </a:p>
                  </a:txBody>
                  <a:tcPr marL="64008" marR="64008" marT="27432" marB="27432" anchor="ctr">
                    <a:solidFill>
                      <a:srgbClr val="F6E7DF"/>
                    </a:solidFill>
                  </a:tcPr>
                </a:tc>
              </a:tr>
              <a:tr h="560070">
                <a:tc>
                  <a:txBody>
                    <a:bodyPr wrap="square"/>
                    <a:lstStyle/>
                    <a:p>
                      <a:r>
                        <a:rPr b="1" sz="1500">
                          <a:solidFill>
                            <a:srgbClr val="21201C"/>
                          </a:solidFill>
                          <a:latin typeface="Cambria"/>
                        </a:rPr>
                        <a:t>Cost control</a:t>
                      </a:r>
                    </a:p>
                  </a:txBody>
                  <a:tcPr marL="64008" marR="64008" marT="27432" marB="27432" anchor="ctr">
                    <a:solidFill>
                      <a:srgbClr val="FFFFFF"/>
                    </a:solidFill>
                  </a:tcPr>
                </a:tc>
                <a:tc>
                  <a:txBody>
                    <a:bodyPr wrap="square"/>
                    <a:lstStyle/>
                    <a:p>
                      <a:r>
                        <a:rPr b="0" sz="1500">
                          <a:solidFill>
                            <a:srgbClr val="6B6862"/>
                          </a:solidFill>
                          <a:latin typeface="Calibri"/>
                        </a:rPr>
                        <a:t>Model choice per profile</a:t>
                      </a:r>
                    </a:p>
                  </a:txBody>
                  <a:tcPr marL="64008" marR="64008" marT="27432" marB="27432" anchor="ctr">
                    <a:solidFill>
                      <a:srgbClr val="FFFFFF"/>
                    </a:solidFill>
                  </a:tcPr>
                </a:tc>
                <a:tc>
                  <a:txBody>
                    <a:bodyPr wrap="square"/>
                    <a:lstStyle/>
                    <a:p>
                      <a:r>
                        <a:rPr b="0" sz="1500">
                          <a:solidFill>
                            <a:srgbClr val="6B6862"/>
                          </a:solidFill>
                          <a:latin typeface="Calibri"/>
                        </a:rPr>
                        <a:t>Budgets per agent / project / company, auto-pause</a:t>
                      </a:r>
                    </a:p>
                  </a:txBody>
                  <a:tcPr marL="64008" marR="64008" marT="27432" marB="27432" anchor="ctr">
                    <a:solidFill>
                      <a:srgbClr val="F6E7DF"/>
                    </a:solidFill>
                  </a:tcPr>
                </a:tc>
              </a:tr>
              <a:tr h="560070">
                <a:tc>
                  <a:txBody>
                    <a:bodyPr wrap="square"/>
                    <a:lstStyle/>
                    <a:p>
                      <a:r>
                        <a:rPr b="1" sz="1500">
                          <a:solidFill>
                            <a:srgbClr val="21201C"/>
                          </a:solidFill>
                          <a:latin typeface="Cambria"/>
                        </a:rPr>
                        <a:t>Audit</a:t>
                      </a:r>
                    </a:p>
                  </a:txBody>
                  <a:tcPr marL="64008" marR="64008" marT="27432" marB="27432" anchor="ctr">
                    <a:solidFill>
                      <a:srgbClr val="F3F1EB"/>
                    </a:solidFill>
                  </a:tcPr>
                </a:tc>
                <a:tc>
                  <a:txBody>
                    <a:bodyPr wrap="square"/>
                    <a:lstStyle/>
                    <a:p>
                      <a:r>
                        <a:rPr b="0" sz="1500">
                          <a:solidFill>
                            <a:srgbClr val="6B6862"/>
                          </a:solidFill>
                          <a:latin typeface="Calibri"/>
                        </a:rPr>
                        <a:t>Sessions, Kanban history</a:t>
                      </a:r>
                    </a:p>
                  </a:txBody>
                  <a:tcPr marL="64008" marR="64008" marT="27432" marB="27432" anchor="ctr">
                    <a:solidFill>
                      <a:srgbClr val="F3F1EB"/>
                    </a:solidFill>
                  </a:tcPr>
                </a:tc>
                <a:tc>
                  <a:txBody>
                    <a:bodyPr wrap="square"/>
                    <a:lstStyle/>
                    <a:p>
                      <a:r>
                        <a:rPr b="0" sz="1500">
                          <a:solidFill>
                            <a:srgbClr val="6B6862"/>
                          </a:solidFill>
                          <a:latin typeface="Calibri"/>
                        </a:rPr>
                        <a:t>Immutable activity log, tool-call tracing</a:t>
                      </a:r>
                    </a:p>
                  </a:txBody>
                  <a:tcPr marL="64008" marR="64008" marT="27432" marB="27432" anchor="ctr">
                    <a:solidFill>
                      <a:srgbClr val="F6E7DF"/>
                    </a:solidFill>
                  </a:tcPr>
                </a:tc>
              </a:tr>
              <a:tr h="560070">
                <a:tc>
                  <a:txBody>
                    <a:bodyPr wrap="square"/>
                    <a:lstStyle/>
                    <a:p>
                      <a:r>
                        <a:rPr b="1" sz="1500">
                          <a:solidFill>
                            <a:srgbClr val="21201C"/>
                          </a:solidFill>
                          <a:latin typeface="Cambria"/>
                        </a:rPr>
                        <a:t>Best for</a:t>
                      </a:r>
                    </a:p>
                  </a:txBody>
                  <a:tcPr marL="64008" marR="64008" marT="27432" marB="27432" anchor="ctr">
                    <a:solidFill>
                      <a:srgbClr val="FFFFFF"/>
                    </a:solidFill>
                  </a:tcPr>
                </a:tc>
                <a:tc>
                  <a:txBody>
                    <a:bodyPr wrap="square"/>
                    <a:lstStyle/>
                    <a:p>
                      <a:r>
                        <a:rPr b="0" sz="1500">
                          <a:solidFill>
                            <a:srgbClr val="6B6862"/>
                          </a:solidFill>
                          <a:latin typeface="Calibri"/>
                        </a:rPr>
                        <a:t>A personal or team agent that learns</a:t>
                      </a:r>
                    </a:p>
                  </a:txBody>
                  <a:tcPr marL="64008" marR="64008" marT="27432" marB="27432" anchor="ctr">
                    <a:solidFill>
                      <a:srgbClr val="FFFFFF"/>
                    </a:solidFill>
                  </a:tcPr>
                </a:tc>
                <a:tc>
                  <a:txBody>
                    <a:bodyPr wrap="square"/>
                    <a:lstStyle/>
                    <a:p>
                      <a:r>
                        <a:rPr b="0" sz="1500">
                          <a:solidFill>
                            <a:srgbClr val="6B6862"/>
                          </a:solidFill>
                          <a:latin typeface="Calibri"/>
                        </a:rPr>
                        <a:t>Running recurring business functions with governance</a:t>
                      </a:r>
                    </a:p>
                  </a:txBody>
                  <a:tcPr marL="64008" marR="64008" marT="27432" marB="27432" anchor="ctr">
                    <a:solidFill>
                      <a:srgbClr val="F6E7DF"/>
                    </a:solidFill>
                  </a:tcPr>
                </a:tc>
              </a:tr>
            </a:tbl>
          </a:graphicData>
        </a:graphic>
      </p:graphicFrame>
    </p:spTree>
  </p:cSld>
  <p:clrMapOvr>
    <a:masterClrMapping/>
  </p:clrMapOvr>
  <p:transition spd="med">
    <p:fade/>
  </p:transition>
</p:sld>
</file>

<file path=ppt/slides/slide10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DAY 2 JOURNEY</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Day 2: Found </a:t>
            </a:r>
            <a:r>
              <a:rPr sz="3000" b="1" i="0">
                <a:solidFill>
                  <a:srgbClr val="21201C"/>
                </a:solidFill>
                <a:latin typeface="Calibri"/>
              </a:rPr>
              <a:t>→</a:t>
            </a:r>
            <a:r>
              <a:rPr sz="3000" b="1" i="0">
                <a:solidFill>
                  <a:srgbClr val="21201C"/>
                </a:solidFill>
                <a:latin typeface="Cambria"/>
              </a:rPr>
              <a:t> Hire </a:t>
            </a:r>
            <a:r>
              <a:rPr sz="3000" b="1" i="0">
                <a:solidFill>
                  <a:srgbClr val="21201C"/>
                </a:solidFill>
                <a:latin typeface="Calibri"/>
              </a:rPr>
              <a:t>→</a:t>
            </a:r>
            <a:r>
              <a:rPr sz="3000" b="1" i="0">
                <a:solidFill>
                  <a:srgbClr val="21201C"/>
                </a:solidFill>
                <a:latin typeface="Cambria"/>
              </a:rPr>
              <a:t> Deliver </a:t>
            </a:r>
            <a:r>
              <a:rPr sz="3000" b="1" i="0">
                <a:solidFill>
                  <a:srgbClr val="21201C"/>
                </a:solidFill>
                <a:latin typeface="Calibri"/>
              </a:rPr>
              <a:t>→</a:t>
            </a:r>
            <a:r>
              <a:rPr sz="3000" b="1" i="0">
                <a:solidFill>
                  <a:srgbClr val="21201C"/>
                </a:solidFill>
                <a:latin typeface="Cambria"/>
              </a:rPr>
              <a:t> Automate </a:t>
            </a:r>
            <a:r>
              <a:rPr sz="3000" b="1" i="0">
                <a:solidFill>
                  <a:srgbClr val="21201C"/>
                </a:solidFill>
                <a:latin typeface="Calibri"/>
              </a:rPr>
              <a:t>→</a:t>
            </a:r>
            <a:r>
              <a:rPr sz="3000" b="1" i="0">
                <a:solidFill>
                  <a:srgbClr val="21201C"/>
                </a:solidFill>
                <a:latin typeface="Cambria"/>
              </a:rPr>
              <a:t> Govern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109</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1993392"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1627632"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building-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1627632"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Lab 6</a:t>
            </a:r>
          </a:p>
        </p:txBody>
      </p:sp>
      <p:sp>
        <p:nvSpPr>
          <p:cNvPr id="12" name="TextBox 11"/>
          <p:cNvSpPr txBox="1"/>
          <p:nvPr/>
        </p:nvSpPr>
        <p:spPr>
          <a:xfrm>
            <a:off x="749808" y="3611880"/>
            <a:ext cx="1627632"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Company, mission, budget, CEO.</a:t>
            </a:r>
          </a:p>
        </p:txBody>
      </p:sp>
      <p:cxnSp>
        <p:nvCxnSpPr>
          <p:cNvPr id="13" name="Connector 12"/>
          <p:cNvCxnSpPr/>
          <p:nvPr/>
        </p:nvCxnSpPr>
        <p:spPr>
          <a:xfrm>
            <a:off x="2569464" y="3337560"/>
            <a:ext cx="219456" cy="0"/>
          </a:xfrm>
          <a:prstGeom prst="line">
            <a:avLst/>
          </a:prstGeom>
          <a:ln w="2540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816352" y="2011680"/>
            <a:ext cx="1993392"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017520" y="2176272"/>
            <a:ext cx="1627632"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6" name="Oval 15"/>
          <p:cNvSpPr/>
          <p:nvPr/>
        </p:nvSpPr>
        <p:spPr>
          <a:xfrm>
            <a:off x="3017520"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users-FFFFFF.png"/>
          <p:cNvPicPr>
            <a:picLocks noChangeAspect="1"/>
          </p:cNvPicPr>
          <p:nvPr/>
        </p:nvPicPr>
        <p:blipFill>
          <a:blip r:embed="rId3"/>
          <a:stretch>
            <a:fillRect/>
          </a:stretch>
        </p:blipFill>
        <p:spPr>
          <a:xfrm>
            <a:off x="3140415" y="2637495"/>
            <a:ext cx="266273" cy="266273"/>
          </a:xfrm>
          <a:prstGeom prst="rect">
            <a:avLst/>
          </a:prstGeom>
        </p:spPr>
      </p:pic>
      <p:sp>
        <p:nvSpPr>
          <p:cNvPr id="18" name="TextBox 17"/>
          <p:cNvSpPr txBox="1"/>
          <p:nvPr/>
        </p:nvSpPr>
        <p:spPr>
          <a:xfrm>
            <a:off x="3017520" y="3154680"/>
            <a:ext cx="1627632"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Lab 7</a:t>
            </a:r>
          </a:p>
        </p:txBody>
      </p:sp>
      <p:sp>
        <p:nvSpPr>
          <p:cNvPr id="19" name="TextBox 18"/>
          <p:cNvSpPr txBox="1"/>
          <p:nvPr/>
        </p:nvSpPr>
        <p:spPr>
          <a:xfrm>
            <a:off x="3017520" y="3611880"/>
            <a:ext cx="1627632"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Hire the team at the approval gate.</a:t>
            </a:r>
          </a:p>
        </p:txBody>
      </p:sp>
      <p:cxnSp>
        <p:nvCxnSpPr>
          <p:cNvPr id="20" name="Connector 19"/>
          <p:cNvCxnSpPr/>
          <p:nvPr/>
        </p:nvCxnSpPr>
        <p:spPr>
          <a:xfrm>
            <a:off x="4837176" y="3337560"/>
            <a:ext cx="219455" cy="0"/>
          </a:xfrm>
          <a:prstGeom prst="line">
            <a:avLst/>
          </a:prstGeom>
          <a:ln w="2540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084064" y="2011680"/>
            <a:ext cx="1993392"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5285231" y="2176272"/>
            <a:ext cx="1627632"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3" name="Oval 22"/>
          <p:cNvSpPr/>
          <p:nvPr/>
        </p:nvSpPr>
        <p:spPr>
          <a:xfrm>
            <a:off x="5285231"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rocket-FFFFFF.png"/>
          <p:cNvPicPr>
            <a:picLocks noChangeAspect="1"/>
          </p:cNvPicPr>
          <p:nvPr/>
        </p:nvPicPr>
        <p:blipFill>
          <a:blip r:embed="rId4"/>
          <a:stretch>
            <a:fillRect/>
          </a:stretch>
        </p:blipFill>
        <p:spPr>
          <a:xfrm>
            <a:off x="5408127" y="2637495"/>
            <a:ext cx="266273" cy="266273"/>
          </a:xfrm>
          <a:prstGeom prst="rect">
            <a:avLst/>
          </a:prstGeom>
        </p:spPr>
      </p:pic>
      <p:sp>
        <p:nvSpPr>
          <p:cNvPr id="25" name="TextBox 24"/>
          <p:cNvSpPr txBox="1"/>
          <p:nvPr/>
        </p:nvSpPr>
        <p:spPr>
          <a:xfrm>
            <a:off x="5285231" y="3154680"/>
            <a:ext cx="1627632"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Lab 8</a:t>
            </a:r>
          </a:p>
        </p:txBody>
      </p:sp>
      <p:sp>
        <p:nvSpPr>
          <p:cNvPr id="26" name="TextBox 25"/>
          <p:cNvSpPr txBox="1"/>
          <p:nvPr/>
        </p:nvSpPr>
        <p:spPr>
          <a:xfrm>
            <a:off x="5285231" y="3611880"/>
            <a:ext cx="1627632"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Launch project: review, revise, release.</a:t>
            </a:r>
          </a:p>
        </p:txBody>
      </p:sp>
      <p:cxnSp>
        <p:nvCxnSpPr>
          <p:cNvPr id="27" name="Connector 26"/>
          <p:cNvCxnSpPr/>
          <p:nvPr/>
        </p:nvCxnSpPr>
        <p:spPr>
          <a:xfrm>
            <a:off x="7104888" y="3337560"/>
            <a:ext cx="219456" cy="0"/>
          </a:xfrm>
          <a:prstGeom prst="line">
            <a:avLst/>
          </a:prstGeom>
          <a:ln w="2540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51775" y="2011680"/>
            <a:ext cx="1993392"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7552944" y="2176272"/>
            <a:ext cx="1627632"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30" name="Oval 29"/>
          <p:cNvSpPr/>
          <p:nvPr/>
        </p:nvSpPr>
        <p:spPr>
          <a:xfrm>
            <a:off x="7552944"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1" name="Picture 30" descr="clock-FFFFFF.png"/>
          <p:cNvPicPr>
            <a:picLocks noChangeAspect="1"/>
          </p:cNvPicPr>
          <p:nvPr/>
        </p:nvPicPr>
        <p:blipFill>
          <a:blip r:embed="rId5"/>
          <a:stretch>
            <a:fillRect/>
          </a:stretch>
        </p:blipFill>
        <p:spPr>
          <a:xfrm>
            <a:off x="7675839" y="2637495"/>
            <a:ext cx="266273" cy="266273"/>
          </a:xfrm>
          <a:prstGeom prst="rect">
            <a:avLst/>
          </a:prstGeom>
        </p:spPr>
      </p:pic>
      <p:sp>
        <p:nvSpPr>
          <p:cNvPr id="32" name="TextBox 31"/>
          <p:cNvSpPr txBox="1"/>
          <p:nvPr/>
        </p:nvSpPr>
        <p:spPr>
          <a:xfrm>
            <a:off x="7552944" y="3154680"/>
            <a:ext cx="1627632"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Lab 9</a:t>
            </a:r>
          </a:p>
        </p:txBody>
      </p:sp>
      <p:sp>
        <p:nvSpPr>
          <p:cNvPr id="33" name="TextBox 32"/>
          <p:cNvSpPr txBox="1"/>
          <p:nvPr/>
        </p:nvSpPr>
        <p:spPr>
          <a:xfrm>
            <a:off x="7552944" y="3611880"/>
            <a:ext cx="1627632"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Weekly video routine with a Board gate.</a:t>
            </a:r>
          </a:p>
        </p:txBody>
      </p:sp>
      <p:cxnSp>
        <p:nvCxnSpPr>
          <p:cNvPr id="34" name="Connector 33"/>
          <p:cNvCxnSpPr/>
          <p:nvPr/>
        </p:nvCxnSpPr>
        <p:spPr>
          <a:xfrm>
            <a:off x="9372599" y="3337560"/>
            <a:ext cx="219457" cy="0"/>
          </a:xfrm>
          <a:prstGeom prst="line">
            <a:avLst/>
          </a:prstGeom>
          <a:ln w="2540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619488" y="2011680"/>
            <a:ext cx="1993392"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9820656" y="2176272"/>
            <a:ext cx="1627632"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5</a:t>
            </a:r>
          </a:p>
        </p:txBody>
      </p:sp>
      <p:sp>
        <p:nvSpPr>
          <p:cNvPr id="37" name="Oval 36"/>
          <p:cNvSpPr/>
          <p:nvPr/>
        </p:nvSpPr>
        <p:spPr>
          <a:xfrm>
            <a:off x="9820656"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8" name="Picture 37" descr="gauge-FFFFFF.png"/>
          <p:cNvPicPr>
            <a:picLocks noChangeAspect="1"/>
          </p:cNvPicPr>
          <p:nvPr/>
        </p:nvPicPr>
        <p:blipFill>
          <a:blip r:embed="rId6"/>
          <a:stretch>
            <a:fillRect/>
          </a:stretch>
        </p:blipFill>
        <p:spPr>
          <a:xfrm>
            <a:off x="9943551" y="2637495"/>
            <a:ext cx="266273" cy="266273"/>
          </a:xfrm>
          <a:prstGeom prst="rect">
            <a:avLst/>
          </a:prstGeom>
        </p:spPr>
      </p:pic>
      <p:sp>
        <p:nvSpPr>
          <p:cNvPr id="39" name="TextBox 38"/>
          <p:cNvSpPr txBox="1"/>
          <p:nvPr/>
        </p:nvSpPr>
        <p:spPr>
          <a:xfrm>
            <a:off x="9820656" y="3154680"/>
            <a:ext cx="1627632"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Lab 10</a:t>
            </a:r>
          </a:p>
        </p:txBody>
      </p:sp>
      <p:sp>
        <p:nvSpPr>
          <p:cNvPr id="40" name="TextBox 39"/>
          <p:cNvSpPr txBox="1"/>
          <p:nvPr/>
        </p:nvSpPr>
        <p:spPr>
          <a:xfrm>
            <a:off x="9820656" y="3611880"/>
            <a:ext cx="1627632"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Costs, audit, scorecard, improve.</a:t>
            </a:r>
          </a:p>
        </p:txBody>
      </p:sp>
      <p:sp>
        <p:nvSpPr>
          <p:cNvPr id="41" name="TextBox 40"/>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Same Kopi Kaki campaign as Day 1 — compare what changes when the work is run as a company.</a:t>
            </a:r>
          </a:p>
        </p:txBody>
      </p:sp>
    </p:spTree>
  </p:cSld>
  <p:clrMapOvr>
    <a:masterClrMapping/>
  </p:clrMapOvr>
  <p:transition spd="med">
    <p:fade/>
  </p:transition>
</p:sld>
</file>

<file path=ppt/slides/slide11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LAB 6</a:t>
            </a:r>
          </a:p>
        </p:txBody>
      </p:sp>
      <p:sp>
        <p:nvSpPr>
          <p:cNvPr id="3" name="TextBox 2"/>
          <p:cNvSpPr txBox="1"/>
          <p:nvPr/>
        </p:nvSpPr>
        <p:spPr>
          <a:xfrm>
            <a:off x="548640" y="621792"/>
            <a:ext cx="11064240" cy="932688"/>
          </a:xfrm>
          <a:prstGeom prst="rect">
            <a:avLst/>
          </a:prstGeom>
          <a:noFill/>
        </p:spPr>
        <p:txBody>
          <a:bodyPr wrap="square" lIns="36576" rIns="36576" tIns="18288" bIns="18288" anchor="t">
            <a:spAutoFit/>
          </a:bodyPr>
          <a:lstStyle/>
          <a:p>
            <a:pPr algn="l">
              <a:lnSpc>
                <a:spcPct val="100000"/>
              </a:lnSpc>
            </a:pPr>
            <a:r>
              <a:rPr sz="2400" b="1" i="0">
                <a:solidFill>
                  <a:srgbClr val="21201C"/>
                </a:solidFill>
                <a:latin typeface="Cambria"/>
              </a:rPr>
              <a:t>Lab 6 — Found Kopi Kaki Growth Studio — an AI Company You Govern</a:t>
            </a:r>
          </a:p>
        </p:txBody>
      </p:sp>
      <p:sp>
        <p:nvSpPr>
          <p:cNvPr id="4" name="TextBox 3"/>
          <p:cNvSpPr txBox="1"/>
          <p:nvPr/>
        </p:nvSpPr>
        <p:spPr>
          <a:xfrm>
            <a:off x="548640" y="1609344"/>
            <a:ext cx="11064240" cy="548640"/>
          </a:xfrm>
          <a:prstGeom prst="rect">
            <a:avLst/>
          </a:prstGeom>
          <a:noFill/>
        </p:spPr>
        <p:txBody>
          <a:bodyPr wrap="square" lIns="36576" rIns="36576" tIns="18288" bIns="18288" anchor="t">
            <a:spAutoFit/>
          </a:bodyPr>
          <a:lstStyle/>
          <a:p>
            <a:pPr algn="l">
              <a:lnSpc>
                <a:spcPct val="112000"/>
              </a:lnSpc>
            </a:pPr>
            <a:r>
              <a:rPr sz="1500" b="0" i="0">
                <a:solidFill>
                  <a:srgbClr val="21201C"/>
                </a:solidFill>
                <a:latin typeface="Calibri"/>
              </a:rPr>
              <a:t>Self-host Paperclip, become the Board, set the goals and hard budgets, switch on the hiring gate and make your first agent the CEO.</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110</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240280"/>
            <a:ext cx="5760720" cy="3931920"/>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822960" y="251460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building-FFFFFF.png"/>
          <p:cNvPicPr>
            <a:picLocks noChangeAspect="1"/>
          </p:cNvPicPr>
          <p:nvPr/>
        </p:nvPicPr>
        <p:blipFill>
          <a:blip r:embed="rId2"/>
          <a:stretch>
            <a:fillRect/>
          </a:stretch>
        </p:blipFill>
        <p:spPr>
          <a:xfrm>
            <a:off x="954633" y="2646273"/>
            <a:ext cx="285292" cy="285292"/>
          </a:xfrm>
          <a:prstGeom prst="rect">
            <a:avLst/>
          </a:prstGeom>
        </p:spPr>
      </p:pic>
      <p:sp>
        <p:nvSpPr>
          <p:cNvPr id="11" name="TextBox 10"/>
          <p:cNvSpPr txBox="1"/>
          <p:nvPr/>
        </p:nvSpPr>
        <p:spPr>
          <a:xfrm>
            <a:off x="1508760" y="2532888"/>
            <a:ext cx="4572000" cy="512064"/>
          </a:xfrm>
          <a:prstGeom prst="rect">
            <a:avLst/>
          </a:prstGeom>
          <a:noFill/>
        </p:spPr>
        <p:txBody>
          <a:bodyPr wrap="square" lIns="36576" rIns="36576" tIns="18288" bIns="18288" anchor="ctr">
            <a:spAutoFit/>
          </a:bodyPr>
          <a:lstStyle/>
          <a:p>
            <a:pPr algn="l">
              <a:lnSpc>
                <a:spcPct val="112000"/>
              </a:lnSpc>
            </a:pPr>
            <a:r>
              <a:rPr sz="1800" b="1" i="0">
                <a:solidFill>
                  <a:srgbClr val="FFFFFF"/>
                </a:solidFill>
                <a:latin typeface="Cambria"/>
              </a:rPr>
              <a:t>The business scenario</a:t>
            </a:r>
          </a:p>
        </p:txBody>
      </p:sp>
      <p:sp>
        <p:nvSpPr>
          <p:cNvPr id="12" name="TextBox 11"/>
          <p:cNvSpPr txBox="1"/>
          <p:nvPr/>
        </p:nvSpPr>
        <p:spPr>
          <a:xfrm>
            <a:off x="822960" y="3246120"/>
            <a:ext cx="5257800" cy="2788920"/>
          </a:xfrm>
          <a:prstGeom prst="rect">
            <a:avLst/>
          </a:prstGeom>
          <a:noFill/>
        </p:spPr>
        <p:txBody>
          <a:bodyPr wrap="square" lIns="36576" rIns="36576" tIns="18288" bIns="18288" anchor="t">
            <a:spAutoFit/>
          </a:bodyPr>
          <a:lstStyle/>
          <a:p>
            <a:pPr algn="l">
              <a:lnSpc>
                <a:spcPct val="120000"/>
              </a:lnSpc>
            </a:pPr>
            <a:r>
              <a:rPr sz="1400" b="0" i="0">
                <a:solidFill>
                  <a:srgbClr val="C9C4B9"/>
                </a:solidFill>
                <a:latin typeface="Calibri"/>
              </a:rPr>
              <a:t>Day 1 proved agents can do the marketing work. Kopi Kaki's owners now want it to run every week as a small 'AI growth studio' — with an org chart, budgets and an audit trail they can trust. You set up Paperclip, where you are the Board and every agent reports, ultimately, to you.</a:t>
            </a:r>
          </a:p>
        </p:txBody>
      </p:sp>
      <p:sp>
        <p:nvSpPr>
          <p:cNvPr id="13" name="Rounded Rectangle 12"/>
          <p:cNvSpPr/>
          <p:nvPr/>
        </p:nvSpPr>
        <p:spPr>
          <a:xfrm>
            <a:off x="6492240" y="2240280"/>
            <a:ext cx="5120640" cy="23317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720840" y="2404872"/>
            <a:ext cx="4663440" cy="365760"/>
          </a:xfrm>
          <a:prstGeom prst="rect">
            <a:avLst/>
          </a:prstGeom>
          <a:noFill/>
        </p:spPr>
        <p:txBody>
          <a:bodyPr wrap="square" lIns="36576" rIns="36576" tIns="18288" bIns="18288" anchor="t">
            <a:spAutoFit/>
          </a:bodyPr>
          <a:lstStyle/>
          <a:p>
            <a:pPr algn="l">
              <a:lnSpc>
                <a:spcPct val="112000"/>
              </a:lnSpc>
            </a:pPr>
            <a:r>
              <a:rPr sz="1600" b="1" i="0">
                <a:solidFill>
                  <a:srgbClr val="21201C"/>
                </a:solidFill>
                <a:latin typeface="Cambria"/>
              </a:rPr>
              <a:t>You will deliver</a:t>
            </a:r>
          </a:p>
        </p:txBody>
      </p:sp>
      <p:sp>
        <p:nvSpPr>
          <p:cNvPr id="15" name="TextBox 14"/>
          <p:cNvSpPr txBox="1"/>
          <p:nvPr/>
        </p:nvSpPr>
        <p:spPr>
          <a:xfrm>
            <a:off x="6720840" y="2807208"/>
            <a:ext cx="4709160" cy="1691640"/>
          </a:xfrm>
          <a:prstGeom prst="rect">
            <a:avLst/>
          </a:prstGeom>
          <a:noFill/>
        </p:spPr>
        <p:txBody>
          <a:bodyPr wrap="square" lIns="36576" rIns="36576" tIns="18288" bIns="18288" anchor="t">
            <a:spAutoFit/>
          </a:bodyPr>
          <a:lstStyle/>
          <a:p>
            <a:pPr algn="l">
              <a:lnSpc>
                <a:spcPct val="115000"/>
              </a:lnSpc>
            </a:pPr>
            <a:r>
              <a:rPr sz="1200" b="0" i="0">
                <a:solidFill>
                  <a:srgbClr val="6B6862"/>
                </a:solidFill>
                <a:latin typeface="Calibri"/>
              </a:rPr>
              <a:t>✓  Paperclip running at http://localhost:3100</a:t>
            </a:r>
          </a:p>
          <a:p>
            <a:pPr algn="l">
              <a:lnSpc>
                <a:spcPct val="115000"/>
              </a:lnSpc>
            </a:pPr>
            <a:r>
              <a:rPr sz="1200" b="0" i="0">
                <a:solidFill>
                  <a:srgbClr val="6B6862"/>
                </a:solidFill>
                <a:latin typeface="Calibri"/>
              </a:rPr>
              <a:t>✓  Organization 'Kopi Kaki Growth Studio' with 3 company-level goals</a:t>
            </a:r>
          </a:p>
          <a:p>
            <a:pPr algn="l">
              <a:lnSpc>
                <a:spcPct val="115000"/>
              </a:lnSpc>
            </a:pPr>
            <a:r>
              <a:rPr sz="1200" b="0" i="0">
                <a:solidFill>
                  <a:srgbClr val="6B6862"/>
                </a:solidFill>
                <a:latin typeface="Calibri"/>
              </a:rPr>
              <a:t>✓  Ava — your first agent — set as CEO on an adapter you have (Claude Code, Codex, Gemini CLI or Hermes) and passing 'Run test'</a:t>
            </a:r>
          </a:p>
          <a:p>
            <a:pPr algn="l">
              <a:lnSpc>
                <a:spcPct val="115000"/>
              </a:lnSpc>
            </a:pPr>
            <a:r>
              <a:rPr sz="1200" b="0" i="0">
                <a:solidFill>
                  <a:srgbClr val="6B6862"/>
                </a:solidFill>
                <a:latin typeface="Calibri"/>
              </a:rPr>
              <a:t>✓  'Require board approval for new hires' switched ON</a:t>
            </a:r>
          </a:p>
          <a:p>
            <a:pPr algn="l">
              <a:lnSpc>
                <a:spcPct val="115000"/>
              </a:lnSpc>
            </a:pPr>
            <a:r>
              <a:rPr sz="1200" b="0" i="0">
                <a:solidFill>
                  <a:srgbClr val="6B6862"/>
                </a:solidFill>
                <a:latin typeface="Calibri"/>
              </a:rPr>
              <a:t>✓  Company budget USD 60/month and CEO budget USD 15/month, visible under Audit → Budgets</a:t>
            </a:r>
          </a:p>
        </p:txBody>
      </p:sp>
      <p:sp>
        <p:nvSpPr>
          <p:cNvPr id="16" name="Rounded Rectangle 15"/>
          <p:cNvSpPr/>
          <p:nvPr/>
        </p:nvSpPr>
        <p:spPr>
          <a:xfrm>
            <a:off x="6492240" y="4727448"/>
            <a:ext cx="5120640" cy="1444752"/>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720840" y="4855464"/>
            <a:ext cx="4709160" cy="1234440"/>
          </a:xfrm>
          <a:prstGeom prst="rect">
            <a:avLst/>
          </a:prstGeom>
          <a:noFill/>
        </p:spPr>
        <p:txBody>
          <a:bodyPr wrap="square" lIns="36576" rIns="36576" tIns="18288" bIns="18288" anchor="t">
            <a:spAutoFit/>
          </a:bodyPr>
          <a:lstStyle/>
          <a:p>
            <a:pPr algn="l">
              <a:lnSpc>
                <a:spcPct val="115000"/>
              </a:lnSpc>
              <a:spcAft>
                <a:spcPts val="300"/>
              </a:spcAft>
            </a:pPr>
            <a:r>
              <a:rPr sz="1250" b="1" i="0">
                <a:solidFill>
                  <a:srgbClr val="D97757"/>
                </a:solidFill>
                <a:latin typeface="Calibri"/>
              </a:rPr>
              <a:t>Agents  </a:t>
            </a:r>
            <a:r>
              <a:rPr sz="1250" b="0" i="0">
                <a:solidFill>
                  <a:srgbClr val="6B6862"/>
                </a:solidFill>
                <a:latin typeface="Calibri"/>
              </a:rPr>
              <a:t>1 CEO agent (Ava)</a:t>
            </a:r>
          </a:p>
          <a:p>
            <a:pPr algn="l">
              <a:lnSpc>
                <a:spcPct val="115000"/>
              </a:lnSpc>
              <a:spcAft>
                <a:spcPts val="300"/>
              </a:spcAft>
            </a:pPr>
            <a:r>
              <a:rPr sz="1250" b="1" i="0">
                <a:solidFill>
                  <a:srgbClr val="D97757"/>
                </a:solidFill>
                <a:latin typeface="Calibri"/>
              </a:rPr>
              <a:t>Human role  </a:t>
            </a:r>
            <a:r>
              <a:rPr sz="1250" b="0" i="0">
                <a:solidFill>
                  <a:srgbClr val="6B6862"/>
                </a:solidFill>
                <a:latin typeface="Calibri"/>
              </a:rPr>
              <a:t>You are the Board: goals, budgets, the hiring gate</a:t>
            </a:r>
          </a:p>
          <a:p>
            <a:pPr algn="l">
              <a:lnSpc>
                <a:spcPct val="115000"/>
              </a:lnSpc>
              <a:spcAft>
                <a:spcPts val="300"/>
              </a:spcAft>
            </a:pPr>
            <a:r>
              <a:rPr sz="1250" b="1" i="0">
                <a:solidFill>
                  <a:srgbClr val="D97757"/>
                </a:solidFill>
                <a:latin typeface="Calibri"/>
              </a:rPr>
              <a:t>Time  </a:t>
            </a:r>
            <a:r>
              <a:rPr sz="1250" b="0" i="0">
                <a:solidFill>
                  <a:srgbClr val="6B6862"/>
                </a:solidFill>
                <a:latin typeface="Calibri"/>
              </a:rPr>
              <a:t>60 min  ·  Human-governed company of agents  ·  labs/lab06-paperclip-found-ai-company/</a:t>
            </a:r>
          </a:p>
        </p:txBody>
      </p:sp>
    </p:spTree>
  </p:cSld>
  <p:clrMapOvr>
    <a:masterClrMapping/>
  </p:clrMapOvr>
  <p:transition spd="med">
    <p:fade/>
  </p:transition>
</p:sld>
</file>

<file path=ppt/slides/slide111.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LAB 6</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Lab 6 — How the workflow runs</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C9C4B9"/>
                </a:solidFill>
                <a:latin typeface="Calibri"/>
              </a:rPr>
              <a:t>Perception → reasoning → action, with you at the checkpoints.</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111</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sp>
        <p:nvSpPr>
          <p:cNvPr id="8" name="Rounded Rectangle 7"/>
          <p:cNvSpPr/>
          <p:nvPr/>
        </p:nvSpPr>
        <p:spPr>
          <a:xfrm>
            <a:off x="548640" y="2331720"/>
            <a:ext cx="1706879"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31520" y="2468879"/>
            <a:ext cx="1341119"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1</a:t>
            </a:r>
          </a:p>
        </p:txBody>
      </p:sp>
      <p:sp>
        <p:nvSpPr>
          <p:cNvPr id="10" name="Oval 9"/>
          <p:cNvSpPr/>
          <p:nvPr/>
        </p:nvSpPr>
        <p:spPr>
          <a:xfrm>
            <a:off x="731520"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server-FFFFFF.png"/>
          <p:cNvPicPr>
            <a:picLocks noChangeAspect="1"/>
          </p:cNvPicPr>
          <p:nvPr/>
        </p:nvPicPr>
        <p:blipFill>
          <a:blip r:embed="rId2"/>
          <a:stretch>
            <a:fillRect/>
          </a:stretch>
        </p:blipFill>
        <p:spPr>
          <a:xfrm>
            <a:off x="845637" y="2948757"/>
            <a:ext cx="247253" cy="247253"/>
          </a:xfrm>
          <a:prstGeom prst="rect">
            <a:avLst/>
          </a:prstGeom>
        </p:spPr>
      </p:pic>
      <p:sp>
        <p:nvSpPr>
          <p:cNvPr id="12" name="TextBox 11"/>
          <p:cNvSpPr txBox="1"/>
          <p:nvPr/>
        </p:nvSpPr>
        <p:spPr>
          <a:xfrm>
            <a:off x="731520" y="3410711"/>
            <a:ext cx="1386840"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Install</a:t>
            </a:r>
          </a:p>
        </p:txBody>
      </p:sp>
      <p:sp>
        <p:nvSpPr>
          <p:cNvPr id="13" name="TextBox 12"/>
          <p:cNvSpPr txBox="1"/>
          <p:nvPr/>
        </p:nvSpPr>
        <p:spPr>
          <a:xfrm>
            <a:off x="731520" y="3977639"/>
            <a:ext cx="1386840"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npx onboard (or Docker) on localhost:3100.</a:t>
            </a:r>
          </a:p>
        </p:txBody>
      </p:sp>
      <p:cxnSp>
        <p:nvCxnSpPr>
          <p:cNvPr id="14" name="Connector 13"/>
          <p:cNvCxnSpPr/>
          <p:nvPr/>
        </p:nvCxnSpPr>
        <p:spPr>
          <a:xfrm>
            <a:off x="2264663" y="3886200"/>
            <a:ext cx="146305"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2420112" y="2331720"/>
            <a:ext cx="1706879" cy="3108960"/>
          </a:xfrm>
          <a:prstGeom prst="roundRect">
            <a:avLst>
              <a:gd name="adj" fmla="val 3500"/>
            </a:avLst>
          </a:prstGeom>
          <a:solidFill>
            <a:srgbClr val="C2603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2602992" y="2468879"/>
            <a:ext cx="1341119" cy="274320"/>
          </a:xfrm>
          <a:prstGeom prst="rect">
            <a:avLst/>
          </a:prstGeom>
          <a:noFill/>
        </p:spPr>
        <p:txBody>
          <a:bodyPr wrap="square" lIns="36576" rIns="36576" tIns="18288" bIns="18288" anchor="t">
            <a:spAutoFit/>
          </a:bodyPr>
          <a:lstStyle/>
          <a:p>
            <a:pPr algn="l">
              <a:lnSpc>
                <a:spcPct val="112000"/>
              </a:lnSpc>
            </a:pPr>
            <a:r>
              <a:rPr sz="950" b="1" i="0">
                <a:solidFill>
                  <a:srgbClr val="FFFFFF"/>
                </a:solidFill>
                <a:latin typeface="Calibri"/>
              </a:rPr>
              <a:t>HUMAN  ·  STEP 2</a:t>
            </a:r>
          </a:p>
        </p:txBody>
      </p:sp>
      <p:sp>
        <p:nvSpPr>
          <p:cNvPr id="17" name="Oval 16"/>
          <p:cNvSpPr/>
          <p:nvPr/>
        </p:nvSpPr>
        <p:spPr>
          <a:xfrm>
            <a:off x="2602992" y="2834639"/>
            <a:ext cx="475488" cy="475488"/>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building-C2603F.png"/>
          <p:cNvPicPr>
            <a:picLocks noChangeAspect="1"/>
          </p:cNvPicPr>
          <p:nvPr/>
        </p:nvPicPr>
        <p:blipFill>
          <a:blip r:embed="rId3"/>
          <a:stretch>
            <a:fillRect/>
          </a:stretch>
        </p:blipFill>
        <p:spPr>
          <a:xfrm>
            <a:off x="2717109" y="2948757"/>
            <a:ext cx="247253" cy="247253"/>
          </a:xfrm>
          <a:prstGeom prst="rect">
            <a:avLst/>
          </a:prstGeom>
        </p:spPr>
      </p:pic>
      <p:sp>
        <p:nvSpPr>
          <p:cNvPr id="19" name="TextBox 18"/>
          <p:cNvSpPr txBox="1"/>
          <p:nvPr/>
        </p:nvSpPr>
        <p:spPr>
          <a:xfrm>
            <a:off x="2602992" y="3410711"/>
            <a:ext cx="1386840"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Organization</a:t>
            </a:r>
          </a:p>
        </p:txBody>
      </p:sp>
      <p:sp>
        <p:nvSpPr>
          <p:cNvPr id="20" name="TextBox 19"/>
          <p:cNvSpPr txBox="1"/>
          <p:nvPr/>
        </p:nvSpPr>
        <p:spPr>
          <a:xfrm>
            <a:off x="2602992" y="3977639"/>
            <a:ext cx="1386840" cy="1371600"/>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Name it; create the first agent.</a:t>
            </a:r>
          </a:p>
        </p:txBody>
      </p:sp>
      <p:cxnSp>
        <p:nvCxnSpPr>
          <p:cNvPr id="21" name="Connector 20"/>
          <p:cNvCxnSpPr/>
          <p:nvPr/>
        </p:nvCxnSpPr>
        <p:spPr>
          <a:xfrm>
            <a:off x="4136135" y="3886200"/>
            <a:ext cx="146304"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4291583" y="2331720"/>
            <a:ext cx="1706879" cy="3108960"/>
          </a:xfrm>
          <a:prstGeom prst="roundRect">
            <a:avLst>
              <a:gd name="adj" fmla="val 3500"/>
            </a:avLst>
          </a:prstGeom>
          <a:solidFill>
            <a:srgbClr val="C2603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4474463" y="2468879"/>
            <a:ext cx="1341119" cy="274320"/>
          </a:xfrm>
          <a:prstGeom prst="rect">
            <a:avLst/>
          </a:prstGeom>
          <a:noFill/>
        </p:spPr>
        <p:txBody>
          <a:bodyPr wrap="square" lIns="36576" rIns="36576" tIns="18288" bIns="18288" anchor="t">
            <a:spAutoFit/>
          </a:bodyPr>
          <a:lstStyle/>
          <a:p>
            <a:pPr algn="l">
              <a:lnSpc>
                <a:spcPct val="112000"/>
              </a:lnSpc>
            </a:pPr>
            <a:r>
              <a:rPr sz="950" b="1" i="0">
                <a:solidFill>
                  <a:srgbClr val="FFFFFF"/>
                </a:solidFill>
                <a:latin typeface="Calibri"/>
              </a:rPr>
              <a:t>HUMAN  ·  STEP 3</a:t>
            </a:r>
          </a:p>
        </p:txBody>
      </p:sp>
      <p:sp>
        <p:nvSpPr>
          <p:cNvPr id="24" name="Oval 23"/>
          <p:cNvSpPr/>
          <p:nvPr/>
        </p:nvSpPr>
        <p:spPr>
          <a:xfrm>
            <a:off x="4474463" y="2834639"/>
            <a:ext cx="475488" cy="475488"/>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Picture 24" descr="plug-C2603F.png"/>
          <p:cNvPicPr>
            <a:picLocks noChangeAspect="1"/>
          </p:cNvPicPr>
          <p:nvPr/>
        </p:nvPicPr>
        <p:blipFill>
          <a:blip r:embed="rId4"/>
          <a:stretch>
            <a:fillRect/>
          </a:stretch>
        </p:blipFill>
        <p:spPr>
          <a:xfrm>
            <a:off x="4588581" y="2948757"/>
            <a:ext cx="247253" cy="247253"/>
          </a:xfrm>
          <a:prstGeom prst="rect">
            <a:avLst/>
          </a:prstGeom>
        </p:spPr>
      </p:pic>
      <p:sp>
        <p:nvSpPr>
          <p:cNvPr id="26" name="TextBox 25"/>
          <p:cNvSpPr txBox="1"/>
          <p:nvPr/>
        </p:nvSpPr>
        <p:spPr>
          <a:xfrm>
            <a:off x="4474463" y="3410711"/>
            <a:ext cx="1386840"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Adapter</a:t>
            </a:r>
          </a:p>
        </p:txBody>
      </p:sp>
      <p:sp>
        <p:nvSpPr>
          <p:cNvPr id="27" name="TextBox 26"/>
          <p:cNvSpPr txBox="1"/>
          <p:nvPr/>
        </p:nvSpPr>
        <p:spPr>
          <a:xfrm>
            <a:off x="4474463" y="3977639"/>
            <a:ext cx="1386840" cy="1371600"/>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Connect a model, run the test.</a:t>
            </a:r>
          </a:p>
        </p:txBody>
      </p:sp>
      <p:cxnSp>
        <p:nvCxnSpPr>
          <p:cNvPr id="28" name="Connector 27"/>
          <p:cNvCxnSpPr/>
          <p:nvPr/>
        </p:nvCxnSpPr>
        <p:spPr>
          <a:xfrm>
            <a:off x="6007607" y="3886200"/>
            <a:ext cx="146304"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6163055" y="2331720"/>
            <a:ext cx="1706879" cy="3108960"/>
          </a:xfrm>
          <a:prstGeom prst="roundRect">
            <a:avLst>
              <a:gd name="adj" fmla="val 3500"/>
            </a:avLst>
          </a:prstGeom>
          <a:solidFill>
            <a:srgbClr val="C2603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6345935" y="2468879"/>
            <a:ext cx="1341119" cy="274320"/>
          </a:xfrm>
          <a:prstGeom prst="rect">
            <a:avLst/>
          </a:prstGeom>
          <a:noFill/>
        </p:spPr>
        <p:txBody>
          <a:bodyPr wrap="square" lIns="36576" rIns="36576" tIns="18288" bIns="18288" anchor="t">
            <a:spAutoFit/>
          </a:bodyPr>
          <a:lstStyle/>
          <a:p>
            <a:pPr algn="l">
              <a:lnSpc>
                <a:spcPct val="112000"/>
              </a:lnSpc>
            </a:pPr>
            <a:r>
              <a:rPr sz="950" b="1" i="0">
                <a:solidFill>
                  <a:srgbClr val="FFFFFF"/>
                </a:solidFill>
                <a:latin typeface="Calibri"/>
              </a:rPr>
              <a:t>HUMAN  ·  STEP 4</a:t>
            </a:r>
          </a:p>
        </p:txBody>
      </p:sp>
      <p:sp>
        <p:nvSpPr>
          <p:cNvPr id="31" name="Oval 30"/>
          <p:cNvSpPr/>
          <p:nvPr/>
        </p:nvSpPr>
        <p:spPr>
          <a:xfrm>
            <a:off x="6345935" y="2834639"/>
            <a:ext cx="475488" cy="475488"/>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2" name="Picture 31" descr="briefcase-C2603F.png"/>
          <p:cNvPicPr>
            <a:picLocks noChangeAspect="1"/>
          </p:cNvPicPr>
          <p:nvPr/>
        </p:nvPicPr>
        <p:blipFill>
          <a:blip r:embed="rId5"/>
          <a:stretch>
            <a:fillRect/>
          </a:stretch>
        </p:blipFill>
        <p:spPr>
          <a:xfrm>
            <a:off x="6460053" y="2948757"/>
            <a:ext cx="247253" cy="247253"/>
          </a:xfrm>
          <a:prstGeom prst="rect">
            <a:avLst/>
          </a:prstGeom>
        </p:spPr>
      </p:pic>
      <p:sp>
        <p:nvSpPr>
          <p:cNvPr id="33" name="TextBox 32"/>
          <p:cNvSpPr txBox="1"/>
          <p:nvPr/>
        </p:nvSpPr>
        <p:spPr>
          <a:xfrm>
            <a:off x="6345935" y="3410711"/>
            <a:ext cx="1386840"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CEO</a:t>
            </a:r>
          </a:p>
        </p:txBody>
      </p:sp>
      <p:sp>
        <p:nvSpPr>
          <p:cNvPr id="34" name="TextBox 33"/>
          <p:cNvSpPr txBox="1"/>
          <p:nvPr/>
        </p:nvSpPr>
        <p:spPr>
          <a:xfrm>
            <a:off x="6345935" y="3977639"/>
            <a:ext cx="1386840" cy="1371600"/>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Make Ava the CEO; load her mandate.</a:t>
            </a:r>
          </a:p>
        </p:txBody>
      </p:sp>
      <p:cxnSp>
        <p:nvCxnSpPr>
          <p:cNvPr id="35" name="Connector 34"/>
          <p:cNvCxnSpPr/>
          <p:nvPr/>
        </p:nvCxnSpPr>
        <p:spPr>
          <a:xfrm>
            <a:off x="7879079" y="3886200"/>
            <a:ext cx="146304"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8034527" y="2331720"/>
            <a:ext cx="1706879" cy="3108960"/>
          </a:xfrm>
          <a:prstGeom prst="roundRect">
            <a:avLst>
              <a:gd name="adj" fmla="val 3500"/>
            </a:avLst>
          </a:prstGeom>
          <a:solidFill>
            <a:srgbClr val="C2603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8217407" y="2468879"/>
            <a:ext cx="1341119" cy="274320"/>
          </a:xfrm>
          <a:prstGeom prst="rect">
            <a:avLst/>
          </a:prstGeom>
          <a:noFill/>
        </p:spPr>
        <p:txBody>
          <a:bodyPr wrap="square" lIns="36576" rIns="36576" tIns="18288" bIns="18288" anchor="t">
            <a:spAutoFit/>
          </a:bodyPr>
          <a:lstStyle/>
          <a:p>
            <a:pPr algn="l">
              <a:lnSpc>
                <a:spcPct val="112000"/>
              </a:lnSpc>
            </a:pPr>
            <a:r>
              <a:rPr sz="950" b="1" i="0">
                <a:solidFill>
                  <a:srgbClr val="FFFFFF"/>
                </a:solidFill>
                <a:latin typeface="Calibri"/>
              </a:rPr>
              <a:t>HUMAN  ·  STEP 5</a:t>
            </a:r>
          </a:p>
        </p:txBody>
      </p:sp>
      <p:sp>
        <p:nvSpPr>
          <p:cNvPr id="38" name="Oval 37"/>
          <p:cNvSpPr/>
          <p:nvPr/>
        </p:nvSpPr>
        <p:spPr>
          <a:xfrm>
            <a:off x="8217407" y="2834639"/>
            <a:ext cx="475488" cy="475488"/>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9" name="Picture 38" descr="gavel-C2603F.png"/>
          <p:cNvPicPr>
            <a:picLocks noChangeAspect="1"/>
          </p:cNvPicPr>
          <p:nvPr/>
        </p:nvPicPr>
        <p:blipFill>
          <a:blip r:embed="rId6"/>
          <a:stretch>
            <a:fillRect/>
          </a:stretch>
        </p:blipFill>
        <p:spPr>
          <a:xfrm>
            <a:off x="8331525" y="2948757"/>
            <a:ext cx="247253" cy="247253"/>
          </a:xfrm>
          <a:prstGeom prst="rect">
            <a:avLst/>
          </a:prstGeom>
        </p:spPr>
      </p:pic>
      <p:sp>
        <p:nvSpPr>
          <p:cNvPr id="40" name="TextBox 39"/>
          <p:cNvSpPr txBox="1"/>
          <p:nvPr/>
        </p:nvSpPr>
        <p:spPr>
          <a:xfrm>
            <a:off x="8217407" y="3410711"/>
            <a:ext cx="1386840"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Guard rails</a:t>
            </a:r>
          </a:p>
        </p:txBody>
      </p:sp>
      <p:sp>
        <p:nvSpPr>
          <p:cNvPr id="41" name="TextBox 40"/>
          <p:cNvSpPr txBox="1"/>
          <p:nvPr/>
        </p:nvSpPr>
        <p:spPr>
          <a:xfrm>
            <a:off x="8217407" y="3977639"/>
            <a:ext cx="1386840" cy="1371600"/>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Hiring gate ON; goals; budgets.</a:t>
            </a:r>
          </a:p>
        </p:txBody>
      </p:sp>
      <p:cxnSp>
        <p:nvCxnSpPr>
          <p:cNvPr id="42" name="Connector 41"/>
          <p:cNvCxnSpPr/>
          <p:nvPr/>
        </p:nvCxnSpPr>
        <p:spPr>
          <a:xfrm>
            <a:off x="9750551" y="3886200"/>
            <a:ext cx="146305"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43" name="Rounded Rectangle 42"/>
          <p:cNvSpPr/>
          <p:nvPr/>
        </p:nvSpPr>
        <p:spPr>
          <a:xfrm>
            <a:off x="9905999" y="2331720"/>
            <a:ext cx="1706879"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10088879" y="2468879"/>
            <a:ext cx="1341119"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6</a:t>
            </a:r>
          </a:p>
        </p:txBody>
      </p:sp>
      <p:sp>
        <p:nvSpPr>
          <p:cNvPr id="45" name="Oval 44"/>
          <p:cNvSpPr/>
          <p:nvPr/>
        </p:nvSpPr>
        <p:spPr>
          <a:xfrm>
            <a:off x="10088879"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6" name="Picture 45" descr="org-FFFFFF.png"/>
          <p:cNvPicPr>
            <a:picLocks noChangeAspect="1"/>
          </p:cNvPicPr>
          <p:nvPr/>
        </p:nvPicPr>
        <p:blipFill>
          <a:blip r:embed="rId7"/>
          <a:stretch>
            <a:fillRect/>
          </a:stretch>
        </p:blipFill>
        <p:spPr>
          <a:xfrm>
            <a:off x="10202997" y="2948757"/>
            <a:ext cx="247253" cy="247253"/>
          </a:xfrm>
          <a:prstGeom prst="rect">
            <a:avLst/>
          </a:prstGeom>
        </p:spPr>
      </p:pic>
      <p:sp>
        <p:nvSpPr>
          <p:cNvPr id="47" name="TextBox 46"/>
          <p:cNvSpPr txBox="1"/>
          <p:nvPr/>
        </p:nvSpPr>
        <p:spPr>
          <a:xfrm>
            <a:off x="10088879" y="3410711"/>
            <a:ext cx="1386840"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Org chart</a:t>
            </a:r>
          </a:p>
        </p:txBody>
      </p:sp>
      <p:sp>
        <p:nvSpPr>
          <p:cNvPr id="48" name="TextBox 47"/>
          <p:cNvSpPr txBox="1"/>
          <p:nvPr/>
        </p:nvSpPr>
        <p:spPr>
          <a:xfrm>
            <a:off x="10088879" y="3977639"/>
            <a:ext cx="1386840"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Board → Ava, ready to hire.</a:t>
            </a:r>
          </a:p>
        </p:txBody>
      </p:sp>
      <p:sp>
        <p:nvSpPr>
          <p:cNvPr id="49" name="TextBox 48"/>
          <p:cNvSpPr txBox="1"/>
          <p:nvPr/>
        </p:nvSpPr>
        <p:spPr>
          <a:xfrm>
            <a:off x="548640" y="5715000"/>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Checkpoint  </a:t>
            </a:r>
            <a:r>
              <a:rPr sz="1300" b="0" i="0">
                <a:solidFill>
                  <a:srgbClr val="C9C4B9"/>
                </a:solidFill>
                <a:latin typeface="Calibri"/>
              </a:rPr>
              <a:t>Agents → Org chart view shows Ava (CEO) under the Board; Audit → Budgets shows both caps; the hiring gate is ON.</a:t>
            </a:r>
          </a:p>
        </p:txBody>
      </p:sp>
    </p:spTree>
  </p:cSld>
  <p:clrMapOvr>
    <a:masterClrMapping/>
  </p:clrMapOvr>
  <p:transition spd="med">
    <p:fade/>
  </p:transition>
</p:sld>
</file>

<file path=ppt/slides/slide11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LAB 6</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Install and Start Paperclip</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112</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37360"/>
            <a:ext cx="7040880" cy="4480560"/>
          </a:xfrm>
          <a:prstGeom prst="roundRect">
            <a:avLst>
              <a:gd name="adj" fmla="val 3500"/>
            </a:avLst>
          </a:prstGeom>
          <a:solidFill>
            <a:srgbClr val="2B2924"/>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49808" y="1901952"/>
            <a:ext cx="118872" cy="118872"/>
          </a:xfrm>
          <a:prstGeom prst="ellipse">
            <a:avLst/>
          </a:prstGeom>
          <a:solidFill>
            <a:srgbClr val="E06C5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69264" y="1901952"/>
            <a:ext cx="118872" cy="118872"/>
          </a:xfrm>
          <a:prstGeom prst="ellipse">
            <a:avLst/>
          </a:prstGeom>
          <a:solidFill>
            <a:srgbClr val="E5B45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88719" y="1901952"/>
            <a:ext cx="118872" cy="118872"/>
          </a:xfrm>
          <a:prstGeom prst="ellipse">
            <a:avLst/>
          </a:prstGeom>
          <a:solidFill>
            <a:srgbClr val="7DB36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463040" y="1828800"/>
            <a:ext cx="5943600" cy="274320"/>
          </a:xfrm>
          <a:prstGeom prst="rect">
            <a:avLst/>
          </a:prstGeom>
          <a:noFill/>
        </p:spPr>
        <p:txBody>
          <a:bodyPr wrap="square" lIns="36576" rIns="36576" tIns="18288" bIns="18288" anchor="t">
            <a:spAutoFit/>
          </a:bodyPr>
          <a:lstStyle/>
          <a:p>
            <a:pPr algn="l">
              <a:lnSpc>
                <a:spcPct val="112000"/>
              </a:lnSpc>
            </a:pPr>
            <a:r>
              <a:rPr sz="1000" b="0" i="0">
                <a:solidFill>
                  <a:srgbClr val="B9B4A9"/>
                </a:solidFill>
                <a:latin typeface="Calibri"/>
              </a:rPr>
              <a:t>TERMINAL  ·  copy from the Lab Prompts page</a:t>
            </a:r>
          </a:p>
        </p:txBody>
      </p:sp>
      <p:sp>
        <p:nvSpPr>
          <p:cNvPr id="12" name="TextBox 11"/>
          <p:cNvSpPr txBox="1"/>
          <p:nvPr/>
        </p:nvSpPr>
        <p:spPr>
          <a:xfrm>
            <a:off x="777240" y="2194560"/>
            <a:ext cx="6583680" cy="3913632"/>
          </a:xfrm>
          <a:prstGeom prst="rect">
            <a:avLst/>
          </a:prstGeom>
          <a:noFill/>
        </p:spPr>
        <p:txBody>
          <a:bodyPr wrap="square" lIns="36576" rIns="36576" tIns="18288" bIns="18288" anchor="t">
            <a:spAutoFit/>
          </a:bodyPr>
          <a:lstStyle/>
          <a:p>
            <a:pPr algn="l">
              <a:lnSpc>
                <a:spcPct val="110000"/>
              </a:lnSpc>
            </a:pPr>
            <a:r>
              <a:rPr sz="1300" b="0" i="0">
                <a:solidFill>
                  <a:srgbClr val="F1EDE4"/>
                </a:solidFill>
                <a:latin typeface="Consolas"/>
              </a:rPr>
              <a:t># Option A</a:t>
            </a:r>
          </a:p>
          <a:p>
            <a:pPr algn="l">
              <a:lnSpc>
                <a:spcPct val="110000"/>
              </a:lnSpc>
            </a:pPr>
            <a:r>
              <a:rPr sz="1300" b="0" i="0">
                <a:solidFill>
                  <a:srgbClr val="F1EDE4"/>
                </a:solidFill>
                <a:latin typeface="Consolas"/>
              </a:rPr>
              <a:t>npx paperclipai onboard --yes</a:t>
            </a:r>
          </a:p>
          <a:p>
            <a:pPr algn="l">
              <a:lnSpc>
                <a:spcPct val="110000"/>
              </a:lnSpc>
            </a:pPr>
          </a:p>
          <a:p>
            <a:pPr algn="l">
              <a:lnSpc>
                <a:spcPct val="110000"/>
              </a:lnSpc>
            </a:pPr>
            <a:r>
              <a:rPr sz="1300" b="0" i="0">
                <a:solidFill>
                  <a:srgbClr val="F1EDE4"/>
                </a:solidFill>
                <a:latin typeface="Consolas"/>
              </a:rPr>
              <a:t># Option B (Docker)</a:t>
            </a:r>
          </a:p>
          <a:p>
            <a:pPr algn="l">
              <a:lnSpc>
                <a:spcPct val="110000"/>
              </a:lnSpc>
            </a:pPr>
            <a:r>
              <a:rPr sz="1300" b="0" i="0">
                <a:solidFill>
                  <a:srgbClr val="F1EDE4"/>
                </a:solidFill>
                <a:latin typeface="Consolas"/>
              </a:rPr>
              <a:t>git clone https://github.com/paperclipai/paperclip.git &amp;&amp; cd paperclip</a:t>
            </a:r>
          </a:p>
          <a:p>
            <a:pPr algn="l">
              <a:lnSpc>
                <a:spcPct val="110000"/>
              </a:lnSpc>
            </a:pPr>
            <a:r>
              <a:rPr sz="1300" b="0" i="0">
                <a:solidFill>
                  <a:srgbClr val="F1EDE4"/>
                </a:solidFill>
                <a:latin typeface="Consolas"/>
              </a:rPr>
              <a:t>export BETTER_AUTH_SECRET="$(openssl rand -hex 32)"</a:t>
            </a:r>
          </a:p>
          <a:p>
            <a:pPr algn="l">
              <a:lnSpc>
                <a:spcPct val="110000"/>
              </a:lnSpc>
            </a:pPr>
            <a:r>
              <a:rPr sz="1300" b="0" i="0">
                <a:solidFill>
                  <a:srgbClr val="F1EDE4"/>
                </a:solidFill>
                <a:latin typeface="Consolas"/>
              </a:rPr>
              <a:t>export PAPERCLIP_TOOL_ACTION_SIGNING_SECRET="$(openssl rand -hex 32)"</a:t>
            </a:r>
          </a:p>
          <a:p>
            <a:pPr algn="l">
              <a:lnSpc>
                <a:spcPct val="110000"/>
              </a:lnSpc>
            </a:pPr>
            <a:r>
              <a:rPr sz="1300" b="0" i="0">
                <a:solidFill>
                  <a:srgbClr val="F1EDE4"/>
                </a:solidFill>
                <a:latin typeface="Consolas"/>
              </a:rPr>
              <a:t>export ANTHROPIC_API_KEY="sk-ant-..."     # and/or OPENAI_API_KEY</a:t>
            </a:r>
          </a:p>
          <a:p>
            <a:pPr algn="l">
              <a:lnSpc>
                <a:spcPct val="110000"/>
              </a:lnSpc>
            </a:pPr>
            <a:r>
              <a:rPr sz="1300" b="0" i="0">
                <a:solidFill>
                  <a:srgbClr val="F1EDE4"/>
                </a:solidFill>
                <a:latin typeface="Consolas"/>
              </a:rPr>
              <a:t>docker compose -f docker/docker-compose.quickstart.yml up --build</a:t>
            </a:r>
          </a:p>
        </p:txBody>
      </p:sp>
      <p:sp>
        <p:nvSpPr>
          <p:cNvPr id="13" name="Oval 12"/>
          <p:cNvSpPr/>
          <p:nvPr/>
        </p:nvSpPr>
        <p:spPr>
          <a:xfrm>
            <a:off x="7863840" y="177393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terminal-FFFFFF.png"/>
          <p:cNvPicPr>
            <a:picLocks noChangeAspect="1"/>
          </p:cNvPicPr>
          <p:nvPr/>
        </p:nvPicPr>
        <p:blipFill>
          <a:blip r:embed="rId2"/>
          <a:stretch>
            <a:fillRect/>
          </a:stretch>
        </p:blipFill>
        <p:spPr>
          <a:xfrm>
            <a:off x="7973567" y="1883664"/>
            <a:ext cx="237744" cy="237744"/>
          </a:xfrm>
          <a:prstGeom prst="rect">
            <a:avLst/>
          </a:prstGeom>
        </p:spPr>
      </p:pic>
      <p:sp>
        <p:nvSpPr>
          <p:cNvPr id="15" name="TextBox 14"/>
          <p:cNvSpPr txBox="1"/>
          <p:nvPr/>
        </p:nvSpPr>
        <p:spPr>
          <a:xfrm>
            <a:off x="8458200" y="173736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Option A</a:t>
            </a:r>
          </a:p>
        </p:txBody>
      </p:sp>
      <p:sp>
        <p:nvSpPr>
          <p:cNvPr id="16" name="TextBox 15"/>
          <p:cNvSpPr txBox="1"/>
          <p:nvPr/>
        </p:nvSpPr>
        <p:spPr>
          <a:xfrm>
            <a:off x="8458200" y="210312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npx paperclipai onboard --yes — Node.js 24.11+, local, no login.</a:t>
            </a:r>
          </a:p>
        </p:txBody>
      </p:sp>
      <p:sp>
        <p:nvSpPr>
          <p:cNvPr id="17" name="Oval 16"/>
          <p:cNvSpPr/>
          <p:nvPr/>
        </p:nvSpPr>
        <p:spPr>
          <a:xfrm>
            <a:off x="7863840" y="326745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box-FFFFFF.png"/>
          <p:cNvPicPr>
            <a:picLocks noChangeAspect="1"/>
          </p:cNvPicPr>
          <p:nvPr/>
        </p:nvPicPr>
        <p:blipFill>
          <a:blip r:embed="rId3"/>
          <a:stretch>
            <a:fillRect/>
          </a:stretch>
        </p:blipFill>
        <p:spPr>
          <a:xfrm>
            <a:off x="7973567" y="3377184"/>
            <a:ext cx="237744" cy="237744"/>
          </a:xfrm>
          <a:prstGeom prst="rect">
            <a:avLst/>
          </a:prstGeom>
        </p:spPr>
      </p:pic>
      <p:sp>
        <p:nvSpPr>
          <p:cNvPr id="19" name="TextBox 18"/>
          <p:cNvSpPr txBox="1"/>
          <p:nvPr/>
        </p:nvSpPr>
        <p:spPr>
          <a:xfrm>
            <a:off x="8458200" y="323088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Option B</a:t>
            </a:r>
          </a:p>
        </p:txBody>
      </p:sp>
      <p:sp>
        <p:nvSpPr>
          <p:cNvPr id="20" name="TextBox 19"/>
          <p:cNvSpPr txBox="1"/>
          <p:nvPr/>
        </p:nvSpPr>
        <p:spPr>
          <a:xfrm>
            <a:off x="8458200" y="359664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Docker: set BETTER_AUTH_SECRET + signing secret, then compose up.</a:t>
            </a:r>
          </a:p>
        </p:txBody>
      </p:sp>
      <p:sp>
        <p:nvSpPr>
          <p:cNvPr id="21" name="Oval 20"/>
          <p:cNvSpPr/>
          <p:nvPr/>
        </p:nvSpPr>
        <p:spPr>
          <a:xfrm>
            <a:off x="7863840" y="476097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globe-FFFFFF.png"/>
          <p:cNvPicPr>
            <a:picLocks noChangeAspect="1"/>
          </p:cNvPicPr>
          <p:nvPr/>
        </p:nvPicPr>
        <p:blipFill>
          <a:blip r:embed="rId4"/>
          <a:stretch>
            <a:fillRect/>
          </a:stretch>
        </p:blipFill>
        <p:spPr>
          <a:xfrm>
            <a:off x="7973567" y="4870704"/>
            <a:ext cx="237744" cy="237744"/>
          </a:xfrm>
          <a:prstGeom prst="rect">
            <a:avLst/>
          </a:prstGeom>
        </p:spPr>
      </p:pic>
      <p:sp>
        <p:nvSpPr>
          <p:cNvPr id="23" name="TextBox 22"/>
          <p:cNvSpPr txBox="1"/>
          <p:nvPr/>
        </p:nvSpPr>
        <p:spPr>
          <a:xfrm>
            <a:off x="8458200" y="472440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Open</a:t>
            </a:r>
          </a:p>
        </p:txBody>
      </p:sp>
      <p:sp>
        <p:nvSpPr>
          <p:cNvPr id="24" name="TextBox 23"/>
          <p:cNvSpPr txBox="1"/>
          <p:nvPr/>
        </p:nvSpPr>
        <p:spPr>
          <a:xfrm>
            <a:off x="8458200" y="509016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http://localhost:3100 → name the organization, create Ava.</a:t>
            </a:r>
          </a:p>
        </p:txBody>
      </p:sp>
    </p:spTree>
  </p:cSld>
  <p:clrMapOvr>
    <a:masterClrMapping/>
  </p:clrMapOvr>
  <p:transition spd="med">
    <p:fade/>
  </p:transition>
</p:sld>
</file>

<file path=ppt/slides/slide11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LAB 6</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Guard Rails: CEO Role and Hard Budgets</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113</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37360"/>
            <a:ext cx="7040880" cy="4480560"/>
          </a:xfrm>
          <a:prstGeom prst="roundRect">
            <a:avLst>
              <a:gd name="adj" fmla="val 3500"/>
            </a:avLst>
          </a:prstGeom>
          <a:solidFill>
            <a:srgbClr val="2B2924"/>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49808" y="1901952"/>
            <a:ext cx="118872" cy="118872"/>
          </a:xfrm>
          <a:prstGeom prst="ellipse">
            <a:avLst/>
          </a:prstGeom>
          <a:solidFill>
            <a:srgbClr val="E06C5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69264" y="1901952"/>
            <a:ext cx="118872" cy="118872"/>
          </a:xfrm>
          <a:prstGeom prst="ellipse">
            <a:avLst/>
          </a:prstGeom>
          <a:solidFill>
            <a:srgbClr val="E5B45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88719" y="1901952"/>
            <a:ext cx="118872" cy="118872"/>
          </a:xfrm>
          <a:prstGeom prst="ellipse">
            <a:avLst/>
          </a:prstGeom>
          <a:solidFill>
            <a:srgbClr val="7DB36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463040" y="1828800"/>
            <a:ext cx="5943600" cy="274320"/>
          </a:xfrm>
          <a:prstGeom prst="rect">
            <a:avLst/>
          </a:prstGeom>
          <a:noFill/>
        </p:spPr>
        <p:txBody>
          <a:bodyPr wrap="square" lIns="36576" rIns="36576" tIns="18288" bIns="18288" anchor="t">
            <a:spAutoFit/>
          </a:bodyPr>
          <a:lstStyle/>
          <a:p>
            <a:pPr algn="l">
              <a:lnSpc>
                <a:spcPct val="112000"/>
              </a:lnSpc>
            </a:pPr>
            <a:r>
              <a:rPr sz="1000" b="0" i="0">
                <a:solidFill>
                  <a:srgbClr val="B9B4A9"/>
                </a:solidFill>
                <a:latin typeface="Calibri"/>
              </a:rPr>
              <a:t>TERMINAL  ·  copy from the Lab Prompts page</a:t>
            </a:r>
          </a:p>
        </p:txBody>
      </p:sp>
      <p:sp>
        <p:nvSpPr>
          <p:cNvPr id="12" name="TextBox 11"/>
          <p:cNvSpPr txBox="1"/>
          <p:nvPr/>
        </p:nvSpPr>
        <p:spPr>
          <a:xfrm>
            <a:off x="777240" y="2194560"/>
            <a:ext cx="6583680" cy="3913632"/>
          </a:xfrm>
          <a:prstGeom prst="rect">
            <a:avLst/>
          </a:prstGeom>
          <a:noFill/>
        </p:spPr>
        <p:txBody>
          <a:bodyPr wrap="square" lIns="36576" rIns="36576" tIns="18288" bIns="18288" anchor="t">
            <a:spAutoFit/>
          </a:bodyPr>
          <a:lstStyle/>
          <a:p>
            <a:pPr algn="l">
              <a:lnSpc>
                <a:spcPct val="110000"/>
              </a:lnSpc>
            </a:pPr>
            <a:r>
              <a:rPr sz="1300" b="0" i="0">
                <a:solidFill>
                  <a:srgbClr val="F1EDE4"/>
                </a:solidFill>
                <a:latin typeface="Consolas"/>
              </a:rPr>
              <a:t>npx paperclipai budget company:update -C &lt;company-id&gt; --payload-json '{"budgetMonthlyCents":6000}'</a:t>
            </a:r>
          </a:p>
          <a:p>
            <a:pPr algn="l">
              <a:lnSpc>
                <a:spcPct val="110000"/>
              </a:lnSpc>
            </a:pPr>
            <a:r>
              <a:rPr sz="1300" b="0" i="0">
                <a:solidFill>
                  <a:srgbClr val="F1EDE4"/>
                </a:solidFill>
                <a:latin typeface="Consolas"/>
              </a:rPr>
              <a:t>npx paperclipai budget agent:update &lt;ava-id&gt; --payload-json '{"budgetMonthlyCents":1500}'</a:t>
            </a:r>
          </a:p>
          <a:p>
            <a:pPr algn="l">
              <a:lnSpc>
                <a:spcPct val="110000"/>
              </a:lnSpc>
            </a:pPr>
            <a:r>
              <a:rPr sz="1300" b="0" i="0">
                <a:solidFill>
                  <a:srgbClr val="F1EDE4"/>
                </a:solidFill>
                <a:latin typeface="Consolas"/>
              </a:rPr>
              <a:t>npx paperclipai budget overview -C &lt;company-id&gt;</a:t>
            </a:r>
          </a:p>
        </p:txBody>
      </p:sp>
      <p:sp>
        <p:nvSpPr>
          <p:cNvPr id="13" name="Oval 12"/>
          <p:cNvSpPr/>
          <p:nvPr/>
        </p:nvSpPr>
        <p:spPr>
          <a:xfrm>
            <a:off x="7863840" y="177393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briefcase-FFFFFF.png"/>
          <p:cNvPicPr>
            <a:picLocks noChangeAspect="1"/>
          </p:cNvPicPr>
          <p:nvPr/>
        </p:nvPicPr>
        <p:blipFill>
          <a:blip r:embed="rId2"/>
          <a:stretch>
            <a:fillRect/>
          </a:stretch>
        </p:blipFill>
        <p:spPr>
          <a:xfrm>
            <a:off x="7973567" y="1883664"/>
            <a:ext cx="237744" cy="237744"/>
          </a:xfrm>
          <a:prstGeom prst="rect">
            <a:avLst/>
          </a:prstGeom>
        </p:spPr>
      </p:pic>
      <p:sp>
        <p:nvSpPr>
          <p:cNvPr id="15" name="TextBox 14"/>
          <p:cNvSpPr txBox="1"/>
          <p:nvPr/>
        </p:nvSpPr>
        <p:spPr>
          <a:xfrm>
            <a:off x="8458200" y="173736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Ava = CEO</a:t>
            </a:r>
          </a:p>
        </p:txBody>
      </p:sp>
      <p:sp>
        <p:nvSpPr>
          <p:cNvPr id="16" name="TextBox 15"/>
          <p:cNvSpPr txBox="1"/>
          <p:nvPr/>
        </p:nvSpPr>
        <p:spPr>
          <a:xfrm>
            <a:off x="8458200" y="210312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`agent update … role ceo` — the UI has no Role field.</a:t>
            </a:r>
          </a:p>
        </p:txBody>
      </p:sp>
      <p:sp>
        <p:nvSpPr>
          <p:cNvPr id="17" name="Oval 16"/>
          <p:cNvSpPr/>
          <p:nvPr/>
        </p:nvSpPr>
        <p:spPr>
          <a:xfrm>
            <a:off x="7863840" y="326745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gavel-FFFFFF.png"/>
          <p:cNvPicPr>
            <a:picLocks noChangeAspect="1"/>
          </p:cNvPicPr>
          <p:nvPr/>
        </p:nvPicPr>
        <p:blipFill>
          <a:blip r:embed="rId3"/>
          <a:stretch>
            <a:fillRect/>
          </a:stretch>
        </p:blipFill>
        <p:spPr>
          <a:xfrm>
            <a:off x="7973567" y="3377184"/>
            <a:ext cx="237744" cy="237744"/>
          </a:xfrm>
          <a:prstGeom prst="rect">
            <a:avLst/>
          </a:prstGeom>
        </p:spPr>
      </p:pic>
      <p:sp>
        <p:nvSpPr>
          <p:cNvPr id="19" name="TextBox 18"/>
          <p:cNvSpPr txBox="1"/>
          <p:nvPr/>
        </p:nvSpPr>
        <p:spPr>
          <a:xfrm>
            <a:off x="8458200" y="323088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Hiring gate</a:t>
            </a:r>
          </a:p>
        </p:txBody>
      </p:sp>
      <p:sp>
        <p:nvSpPr>
          <p:cNvPr id="20" name="TextBox 19"/>
          <p:cNvSpPr txBox="1"/>
          <p:nvPr/>
        </p:nvSpPr>
        <p:spPr>
          <a:xfrm>
            <a:off x="8458200" y="359664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Settings → General → Hiring → require Board approval (default OFF).</a:t>
            </a:r>
          </a:p>
        </p:txBody>
      </p:sp>
      <p:sp>
        <p:nvSpPr>
          <p:cNvPr id="21" name="Oval 20"/>
          <p:cNvSpPr/>
          <p:nvPr/>
        </p:nvSpPr>
        <p:spPr>
          <a:xfrm>
            <a:off x="7863840" y="476097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coins-FFFFFF.png"/>
          <p:cNvPicPr>
            <a:picLocks noChangeAspect="1"/>
          </p:cNvPicPr>
          <p:nvPr/>
        </p:nvPicPr>
        <p:blipFill>
          <a:blip r:embed="rId4"/>
          <a:stretch>
            <a:fillRect/>
          </a:stretch>
        </p:blipFill>
        <p:spPr>
          <a:xfrm>
            <a:off x="7973567" y="4870704"/>
            <a:ext cx="237744" cy="237744"/>
          </a:xfrm>
          <a:prstGeom prst="rect">
            <a:avLst/>
          </a:prstGeom>
        </p:spPr>
      </p:pic>
      <p:sp>
        <p:nvSpPr>
          <p:cNvPr id="23" name="TextBox 22"/>
          <p:cNvSpPr txBox="1"/>
          <p:nvPr/>
        </p:nvSpPr>
        <p:spPr>
          <a:xfrm>
            <a:off x="8458200" y="472440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Budgets</a:t>
            </a:r>
          </a:p>
        </p:txBody>
      </p:sp>
      <p:sp>
        <p:nvSpPr>
          <p:cNvPr id="24" name="TextBox 23"/>
          <p:cNvSpPr txBox="1"/>
          <p:nvPr/>
        </p:nvSpPr>
        <p:spPr>
          <a:xfrm>
            <a:off x="8458200" y="509016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80% warning, 100% auto-pause — see Audit → Budgets.</a:t>
            </a:r>
          </a:p>
        </p:txBody>
      </p:sp>
    </p:spTree>
  </p:cSld>
  <p:clrMapOvr>
    <a:masterClrMapping/>
  </p:clrMapOvr>
  <p:transition spd="med">
    <p:fade/>
  </p:transition>
</p:sld>
</file>

<file path=ppt/slides/slide11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LAB 6</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Adapters — the Agents' Engine</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114</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2807208" y="1682496"/>
            <a:ext cx="6547104" cy="4133088"/>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pc-adapters.png"/>
          <p:cNvPicPr>
            <a:picLocks noChangeAspect="1"/>
          </p:cNvPicPr>
          <p:nvPr/>
        </p:nvPicPr>
        <p:blipFill>
          <a:blip r:embed="rId2"/>
          <a:stretch>
            <a:fillRect/>
          </a:stretch>
        </p:blipFill>
        <p:spPr>
          <a:xfrm>
            <a:off x="2862072" y="1737360"/>
            <a:ext cx="6437376" cy="4023360"/>
          </a:xfrm>
          <a:prstGeom prst="rect">
            <a:avLst/>
          </a:prstGeom>
        </p:spPr>
      </p:pic>
      <p:sp>
        <p:nvSpPr>
          <p:cNvPr id="9" name="TextBox 8"/>
          <p:cNvSpPr txBox="1"/>
          <p:nvPr/>
        </p:nvSpPr>
        <p:spPr>
          <a:xfrm>
            <a:off x="548640" y="5870448"/>
            <a:ext cx="11064240" cy="50292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  </a:t>
            </a:r>
            <a:r>
              <a:rPr sz="1250" b="0" i="0">
                <a:solidFill>
                  <a:srgbClr val="6B6862"/>
                </a:solidFill>
                <a:latin typeface="Calibri"/>
              </a:rPr>
              <a:t>Enable the runtime you already have — Claude Code, Codex, Gemini CLI or Hermes — and test the connection.</a:t>
            </a:r>
          </a:p>
        </p:txBody>
      </p:sp>
    </p:spTree>
  </p:cSld>
  <p:clrMapOvr>
    <a:masterClrMapping/>
  </p:clrMapOvr>
  <p:transition spd="med">
    <p:fade/>
  </p:transition>
</p:sld>
</file>

<file path=ppt/slides/slide11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LAB 6</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Give Ava her mandate</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115</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37360"/>
            <a:ext cx="7040880" cy="4480560"/>
          </a:xfrm>
          <a:prstGeom prst="roundRect">
            <a:avLst>
              <a:gd name="adj" fmla="val 3500"/>
            </a:avLst>
          </a:prstGeom>
          <a:solidFill>
            <a:srgbClr val="2B2924"/>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49808" y="1901952"/>
            <a:ext cx="118872" cy="118872"/>
          </a:xfrm>
          <a:prstGeom prst="ellipse">
            <a:avLst/>
          </a:prstGeom>
          <a:solidFill>
            <a:srgbClr val="E06C5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69264" y="1901952"/>
            <a:ext cx="118872" cy="118872"/>
          </a:xfrm>
          <a:prstGeom prst="ellipse">
            <a:avLst/>
          </a:prstGeom>
          <a:solidFill>
            <a:srgbClr val="E5B45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88719" y="1901952"/>
            <a:ext cx="118872" cy="118872"/>
          </a:xfrm>
          <a:prstGeom prst="ellipse">
            <a:avLst/>
          </a:prstGeom>
          <a:solidFill>
            <a:srgbClr val="7DB36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463040" y="1828800"/>
            <a:ext cx="5943600" cy="274320"/>
          </a:xfrm>
          <a:prstGeom prst="rect">
            <a:avLst/>
          </a:prstGeom>
          <a:noFill/>
        </p:spPr>
        <p:txBody>
          <a:bodyPr wrap="square" lIns="36576" rIns="36576" tIns="18288" bIns="18288" anchor="t">
            <a:spAutoFit/>
          </a:bodyPr>
          <a:lstStyle/>
          <a:p>
            <a:pPr algn="l">
              <a:lnSpc>
                <a:spcPct val="112000"/>
              </a:lnSpc>
            </a:pPr>
            <a:r>
              <a:rPr sz="1000" b="0" i="0">
                <a:solidFill>
                  <a:srgbClr val="B9B4A9"/>
                </a:solidFill>
                <a:latin typeface="Calibri"/>
              </a:rPr>
              <a:t>PROMPT  ·  copy from the Lab Prompts page</a:t>
            </a:r>
          </a:p>
        </p:txBody>
      </p:sp>
      <p:sp>
        <p:nvSpPr>
          <p:cNvPr id="12" name="TextBox 11"/>
          <p:cNvSpPr txBox="1"/>
          <p:nvPr/>
        </p:nvSpPr>
        <p:spPr>
          <a:xfrm>
            <a:off x="777240" y="2194560"/>
            <a:ext cx="6583680" cy="3913632"/>
          </a:xfrm>
          <a:prstGeom prst="rect">
            <a:avLst/>
          </a:prstGeom>
          <a:noFill/>
        </p:spPr>
        <p:txBody>
          <a:bodyPr wrap="square" lIns="36576" rIns="36576" tIns="18288" bIns="18288" anchor="t">
            <a:spAutoFit/>
          </a:bodyPr>
          <a:lstStyle/>
          <a:p>
            <a:pPr algn="l">
              <a:lnSpc>
                <a:spcPct val="110000"/>
              </a:lnSpc>
            </a:pPr>
            <a:r>
              <a:rPr sz="1250" b="0" i="0">
                <a:solidFill>
                  <a:srgbClr val="F1EDE4"/>
                </a:solidFill>
                <a:latin typeface="Consolas"/>
              </a:rPr>
              <a:t>You are Ava, CEO of Kopi Kaki Growth Studio, a small AI marketing studio serving Kopi Kaki Co. (a Singapore kopi chain).</a:t>
            </a:r>
          </a:p>
          <a:p>
            <a:pPr algn="l">
              <a:lnSpc>
                <a:spcPct val="110000"/>
              </a:lnSpc>
            </a:pPr>
            <a:r>
              <a:rPr sz="1250" b="0" i="0">
                <a:solidFill>
                  <a:srgbClr val="F1EDE4"/>
                </a:solidFill>
                <a:latin typeface="Consolas"/>
              </a:rPr>
              <a:t>Goals: (1) 2,500 app pre-orders for the Gula Melaka Cold Brew by 30 Nov 2026, (2) one approved short video every week, (3) monthly AI spend under USD 60 with zero compliance breaches.</a:t>
            </a:r>
          </a:p>
          <a:p>
            <a:pPr algn="l">
              <a:lnSpc>
                <a:spcPct val="110000"/>
              </a:lnSpc>
            </a:pPr>
            <a:r>
              <a:rPr sz="1250" b="0" i="0">
                <a:solidFill>
                  <a:srgbClr val="F1EDE4"/>
                </a:solidFill>
                <a:latin typeface="Consolas"/>
              </a:rPr>
              <a:t>How you work:</a:t>
            </a:r>
          </a:p>
          <a:p>
            <a:pPr algn="l">
              <a:lnSpc>
                <a:spcPct val="110000"/>
              </a:lnSpc>
            </a:pPr>
            <a:r>
              <a:rPr sz="1250" b="0" i="0">
                <a:solidFill>
                  <a:srgbClr val="F1EDE4"/>
                </a:solidFill>
                <a:latin typeface="Consolas"/>
              </a:rPr>
              <a:t>- Break goals into projects and tasks; propose hires with a mandate, adapter, reporting line and monthly budget; never hire without Board approval.</a:t>
            </a:r>
          </a:p>
          <a:p>
            <a:pPr algn="l">
              <a:lnSpc>
                <a:spcPct val="110000"/>
              </a:lnSpc>
            </a:pPr>
            <a:r>
              <a:rPr sz="1250" b="0" i="0">
                <a:solidFill>
                  <a:srgbClr val="F1EDE4"/>
                </a:solidFill>
                <a:latin typeface="Consolas"/>
              </a:rPr>
              <a:t>- Every public-facing item must pass the Compliance Auditor and then wait for the Board. Never publish anything yourself.</a:t>
            </a:r>
          </a:p>
          <a:p>
            <a:pPr algn="l">
              <a:lnSpc>
                <a:spcPct val="110000"/>
              </a:lnSpc>
            </a:pPr>
            <a:r>
              <a:rPr sz="1250" b="0" i="0">
                <a:solidFill>
                  <a:srgbClr val="F1EDE4"/>
                </a:solidFill>
                <a:latin typeface="Consolas"/>
              </a:rPr>
              <a:t>- Before anything is published or any spend outside budget, file a Board approval request.</a:t>
            </a:r>
          </a:p>
          <a:p>
            <a:pPr algn="l">
              <a:lnSpc>
                <a:spcPct val="110000"/>
              </a:lnSpc>
            </a:pPr>
            <a:r>
              <a:rPr sz="1250" b="0" i="0">
                <a:solidFill>
                  <a:srgbClr val="F1EDE4"/>
                </a:solidFill>
                <a:latin typeface="Consolas"/>
              </a:rPr>
              <a:t>- Use brand-guide.md, campaign-brief.md and compliance-rules.md as the source of truth.</a:t>
            </a:r>
          </a:p>
          <a:p>
            <a:pPr algn="l">
              <a:lnSpc>
                <a:spcPct val="110000"/>
              </a:lnSpc>
            </a:pPr>
            <a:r>
              <a:rPr sz="1250" b="0" i="0">
                <a:solidFill>
                  <a:srgbClr val="F1EDE4"/>
                </a:solidFill>
                <a:latin typeface="Consolas"/>
              </a:rPr>
              <a:t>- Report weekly: goal status, spend vs budget, risks, decisions needed.</a:t>
            </a:r>
          </a:p>
        </p:txBody>
      </p:sp>
      <p:sp>
        <p:nvSpPr>
          <p:cNvPr id="13" name="Oval 12"/>
          <p:cNvSpPr/>
          <p:nvPr/>
        </p:nvSpPr>
        <p:spPr>
          <a:xfrm>
            <a:off x="7863840" y="177393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chat-FFFFFF.png"/>
          <p:cNvPicPr>
            <a:picLocks noChangeAspect="1"/>
          </p:cNvPicPr>
          <p:nvPr/>
        </p:nvPicPr>
        <p:blipFill>
          <a:blip r:embed="rId2"/>
          <a:stretch>
            <a:fillRect/>
          </a:stretch>
        </p:blipFill>
        <p:spPr>
          <a:xfrm>
            <a:off x="7973567" y="1883664"/>
            <a:ext cx="237744" cy="237744"/>
          </a:xfrm>
          <a:prstGeom prst="rect">
            <a:avLst/>
          </a:prstGeom>
        </p:spPr>
      </p:pic>
      <p:sp>
        <p:nvSpPr>
          <p:cNvPr id="15" name="TextBox 14"/>
          <p:cNvSpPr txBox="1"/>
          <p:nvPr/>
        </p:nvSpPr>
        <p:spPr>
          <a:xfrm>
            <a:off x="8458200" y="173736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Paste into</a:t>
            </a:r>
          </a:p>
        </p:txBody>
      </p:sp>
      <p:sp>
        <p:nvSpPr>
          <p:cNvPr id="16" name="TextBox 15"/>
          <p:cNvSpPr txBox="1"/>
          <p:nvPr/>
        </p:nvSpPr>
        <p:spPr>
          <a:xfrm>
            <a:off x="8458200" y="210312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Paperclip → Agents → Ava → Instructions → AGENTS.md</a:t>
            </a:r>
          </a:p>
        </p:txBody>
      </p:sp>
      <p:sp>
        <p:nvSpPr>
          <p:cNvPr id="17" name="Oval 16"/>
          <p:cNvSpPr/>
          <p:nvPr/>
        </p:nvSpPr>
        <p:spPr>
          <a:xfrm>
            <a:off x="7863840" y="326745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check-FFFFFF.png"/>
          <p:cNvPicPr>
            <a:picLocks noChangeAspect="1"/>
          </p:cNvPicPr>
          <p:nvPr/>
        </p:nvPicPr>
        <p:blipFill>
          <a:blip r:embed="rId3"/>
          <a:stretch>
            <a:fillRect/>
          </a:stretch>
        </p:blipFill>
        <p:spPr>
          <a:xfrm>
            <a:off x="7973567" y="3377184"/>
            <a:ext cx="237744" cy="237744"/>
          </a:xfrm>
          <a:prstGeom prst="rect">
            <a:avLst/>
          </a:prstGeom>
        </p:spPr>
      </p:pic>
      <p:sp>
        <p:nvSpPr>
          <p:cNvPr id="19" name="TextBox 18"/>
          <p:cNvSpPr txBox="1"/>
          <p:nvPr/>
        </p:nvSpPr>
        <p:spPr>
          <a:xfrm>
            <a:off x="8458200" y="323088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Expect</a:t>
            </a:r>
          </a:p>
        </p:txBody>
      </p:sp>
      <p:sp>
        <p:nvSpPr>
          <p:cNvPr id="20" name="TextBox 19"/>
          <p:cNvSpPr txBox="1"/>
          <p:nvPr/>
        </p:nvSpPr>
        <p:spPr>
          <a:xfrm>
            <a:off x="8458200" y="359664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Ava's Instructions show the mandate and the three files.</a:t>
            </a:r>
          </a:p>
        </p:txBody>
      </p:sp>
      <p:sp>
        <p:nvSpPr>
          <p:cNvPr id="21" name="Oval 20"/>
          <p:cNvSpPr/>
          <p:nvPr/>
        </p:nvSpPr>
        <p:spPr>
          <a:xfrm>
            <a:off x="7863840" y="476097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hand-FFFFFF.png"/>
          <p:cNvPicPr>
            <a:picLocks noChangeAspect="1"/>
          </p:cNvPicPr>
          <p:nvPr/>
        </p:nvPicPr>
        <p:blipFill>
          <a:blip r:embed="rId4"/>
          <a:stretch>
            <a:fillRect/>
          </a:stretch>
        </p:blipFill>
        <p:spPr>
          <a:xfrm>
            <a:off x="7973567" y="4870704"/>
            <a:ext cx="237744" cy="237744"/>
          </a:xfrm>
          <a:prstGeom prst="rect">
            <a:avLst/>
          </a:prstGeom>
        </p:spPr>
      </p:pic>
      <p:sp>
        <p:nvSpPr>
          <p:cNvPr id="23" name="TextBox 22"/>
          <p:cNvSpPr txBox="1"/>
          <p:nvPr/>
        </p:nvSpPr>
        <p:spPr>
          <a:xfrm>
            <a:off x="8458200" y="472440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You decide</a:t>
            </a:r>
          </a:p>
        </p:txBody>
      </p:sp>
      <p:sp>
        <p:nvSpPr>
          <p:cNvPr id="24" name="TextBox 23"/>
          <p:cNvSpPr txBox="1"/>
          <p:nvPr/>
        </p:nvSpPr>
        <p:spPr>
          <a:xfrm>
            <a:off x="8458200" y="509016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You are the Board: goals, budgets, the hiring gate</a:t>
            </a:r>
          </a:p>
        </p:txBody>
      </p:sp>
    </p:spTree>
  </p:cSld>
  <p:clrMapOvr>
    <a:masterClrMapping/>
  </p:clrMapOvr>
  <p:transition spd="med">
    <p:fade/>
  </p:transition>
</p:sld>
</file>

<file path=ppt/slides/slide116.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LAB 6</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Lab 6 — Checkpoint &amp; Reflection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116</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check-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Verify</a:t>
            </a:r>
          </a:p>
        </p:txBody>
      </p:sp>
      <p:sp>
        <p:nvSpPr>
          <p:cNvPr id="10" name="TextBox 9"/>
          <p:cNvSpPr txBox="1"/>
          <p:nvPr/>
        </p:nvSpPr>
        <p:spPr>
          <a:xfrm>
            <a:off x="1371600" y="2084831"/>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http://localhost:3100 loads Kopi Kaki Growth Studio</a:t>
            </a:r>
          </a:p>
        </p:txBody>
      </p:sp>
      <p:sp>
        <p:nvSpPr>
          <p:cNvPr id="11" name="Oval 10"/>
          <p:cNvSpPr/>
          <p:nvPr/>
        </p:nvSpPr>
        <p:spPr>
          <a:xfrm>
            <a:off x="640080" y="2679191"/>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check-FFFFFF.png"/>
          <p:cNvPicPr>
            <a:picLocks noChangeAspect="1"/>
          </p:cNvPicPr>
          <p:nvPr/>
        </p:nvPicPr>
        <p:blipFill>
          <a:blip r:embed="rId2"/>
          <a:stretch>
            <a:fillRect/>
          </a:stretch>
        </p:blipFill>
        <p:spPr>
          <a:xfrm>
            <a:off x="771753" y="2810865"/>
            <a:ext cx="285292" cy="285292"/>
          </a:xfrm>
          <a:prstGeom prst="rect">
            <a:avLst/>
          </a:prstGeom>
        </p:spPr>
      </p:pic>
      <p:sp>
        <p:nvSpPr>
          <p:cNvPr id="13" name="TextBox 12"/>
          <p:cNvSpPr txBox="1"/>
          <p:nvPr/>
        </p:nvSpPr>
        <p:spPr>
          <a:xfrm>
            <a:off x="1371600" y="2624327"/>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Verify</a:t>
            </a:r>
          </a:p>
        </p:txBody>
      </p:sp>
      <p:sp>
        <p:nvSpPr>
          <p:cNvPr id="14" name="TextBox 13"/>
          <p:cNvSpPr txBox="1"/>
          <p:nvPr/>
        </p:nvSpPr>
        <p:spPr>
          <a:xfrm>
            <a:off x="1371600" y="2990087"/>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Ava's role is CEO and her Run test passes</a:t>
            </a:r>
          </a:p>
        </p:txBody>
      </p:sp>
      <p:sp>
        <p:nvSpPr>
          <p:cNvPr id="15" name="Oval 14"/>
          <p:cNvSpPr/>
          <p:nvPr/>
        </p:nvSpPr>
        <p:spPr>
          <a:xfrm>
            <a:off x="640080" y="358444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check-FFFFFF.png"/>
          <p:cNvPicPr>
            <a:picLocks noChangeAspect="1"/>
          </p:cNvPicPr>
          <p:nvPr/>
        </p:nvPicPr>
        <p:blipFill>
          <a:blip r:embed="rId2"/>
          <a:stretch>
            <a:fillRect/>
          </a:stretch>
        </p:blipFill>
        <p:spPr>
          <a:xfrm>
            <a:off x="771753" y="3716121"/>
            <a:ext cx="285292" cy="285292"/>
          </a:xfrm>
          <a:prstGeom prst="rect">
            <a:avLst/>
          </a:prstGeom>
        </p:spPr>
      </p:pic>
      <p:sp>
        <p:nvSpPr>
          <p:cNvPr id="17" name="TextBox 16"/>
          <p:cNvSpPr txBox="1"/>
          <p:nvPr/>
        </p:nvSpPr>
        <p:spPr>
          <a:xfrm>
            <a:off x="1371600" y="352958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Verify</a:t>
            </a:r>
          </a:p>
        </p:txBody>
      </p:sp>
      <p:sp>
        <p:nvSpPr>
          <p:cNvPr id="18" name="TextBox 17"/>
          <p:cNvSpPr txBox="1"/>
          <p:nvPr/>
        </p:nvSpPr>
        <p:spPr>
          <a:xfrm>
            <a:off x="1371600" y="3895344"/>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'Require board approval for new hires' is ON</a:t>
            </a:r>
          </a:p>
        </p:txBody>
      </p:sp>
      <p:sp>
        <p:nvSpPr>
          <p:cNvPr id="19" name="Oval 18"/>
          <p:cNvSpPr/>
          <p:nvPr/>
        </p:nvSpPr>
        <p:spPr>
          <a:xfrm>
            <a:off x="640080" y="4489703"/>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lightbulb-FFFFFF.png"/>
          <p:cNvPicPr>
            <a:picLocks noChangeAspect="1"/>
          </p:cNvPicPr>
          <p:nvPr/>
        </p:nvPicPr>
        <p:blipFill>
          <a:blip r:embed="rId3"/>
          <a:stretch>
            <a:fillRect/>
          </a:stretch>
        </p:blipFill>
        <p:spPr>
          <a:xfrm>
            <a:off x="771753" y="4621377"/>
            <a:ext cx="285292" cy="285292"/>
          </a:xfrm>
          <a:prstGeom prst="rect">
            <a:avLst/>
          </a:prstGeom>
        </p:spPr>
      </p:pic>
      <p:sp>
        <p:nvSpPr>
          <p:cNvPr id="21" name="TextBox 20"/>
          <p:cNvSpPr txBox="1"/>
          <p:nvPr/>
        </p:nvSpPr>
        <p:spPr>
          <a:xfrm>
            <a:off x="1371600" y="4434840"/>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Concepts in action</a:t>
            </a:r>
          </a:p>
        </p:txBody>
      </p:sp>
      <p:sp>
        <p:nvSpPr>
          <p:cNvPr id="22" name="TextBox 21"/>
          <p:cNvSpPr txBox="1"/>
          <p:nvPr/>
        </p:nvSpPr>
        <p:spPr>
          <a:xfrm>
            <a:off x="1371600" y="4800599"/>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Paperclip = the company; agents = employees; you = the Board  ·  Goal → project → task: every task traces to a company goal</a:t>
            </a:r>
          </a:p>
        </p:txBody>
      </p:sp>
      <p:sp>
        <p:nvSpPr>
          <p:cNvPr id="23" name="Oval 22"/>
          <p:cNvSpPr/>
          <p:nvPr/>
        </p:nvSpPr>
        <p:spPr>
          <a:xfrm>
            <a:off x="640080" y="5394959"/>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rocket-FFFFFF.png"/>
          <p:cNvPicPr>
            <a:picLocks noChangeAspect="1"/>
          </p:cNvPicPr>
          <p:nvPr/>
        </p:nvPicPr>
        <p:blipFill>
          <a:blip r:embed="rId4"/>
          <a:stretch>
            <a:fillRect/>
          </a:stretch>
        </p:blipFill>
        <p:spPr>
          <a:xfrm>
            <a:off x="771753" y="5526633"/>
            <a:ext cx="285292" cy="285292"/>
          </a:xfrm>
          <a:prstGeom prst="rect">
            <a:avLst/>
          </a:prstGeom>
        </p:spPr>
      </p:pic>
      <p:sp>
        <p:nvSpPr>
          <p:cNvPr id="25" name="TextBox 24"/>
          <p:cNvSpPr txBox="1"/>
          <p:nvPr/>
        </p:nvSpPr>
        <p:spPr>
          <a:xfrm>
            <a:off x="1371600" y="534009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Stretch challenge</a:t>
            </a:r>
          </a:p>
        </p:txBody>
      </p:sp>
      <p:sp>
        <p:nvSpPr>
          <p:cNvPr id="26" name="TextBox 25"/>
          <p:cNvSpPr txBox="1"/>
          <p:nvPr/>
        </p:nvSpPr>
        <p:spPr>
          <a:xfrm>
            <a:off x="1371600" y="5705855"/>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Compare your Paperclip company with the Hermes studio from Lab 4: which governance features (org chart, budgets, hiring gate, audit log) would you have had to build yourself in Hermes?</a:t>
            </a:r>
          </a:p>
        </p:txBody>
      </p:sp>
    </p:spTree>
  </p:cSld>
  <p:clrMapOvr>
    <a:masterClrMapping/>
  </p:clrMapOvr>
  <p:transition spd="med">
    <p:fade/>
  </p:transition>
</p:sld>
</file>

<file path=ppt/slides/slide11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LAB 7</a:t>
            </a:r>
          </a:p>
        </p:txBody>
      </p:sp>
      <p:sp>
        <p:nvSpPr>
          <p:cNvPr id="3" name="TextBox 2"/>
          <p:cNvSpPr txBox="1"/>
          <p:nvPr/>
        </p:nvSpPr>
        <p:spPr>
          <a:xfrm>
            <a:off x="548640" y="621792"/>
            <a:ext cx="11064240" cy="932688"/>
          </a:xfrm>
          <a:prstGeom prst="rect">
            <a:avLst/>
          </a:prstGeom>
          <a:noFill/>
        </p:spPr>
        <p:txBody>
          <a:bodyPr wrap="square" lIns="36576" rIns="36576" tIns="18288" bIns="18288" anchor="t">
            <a:spAutoFit/>
          </a:bodyPr>
          <a:lstStyle/>
          <a:p>
            <a:pPr algn="l">
              <a:lnSpc>
                <a:spcPct val="100000"/>
              </a:lnSpc>
            </a:pPr>
            <a:r>
              <a:rPr sz="2400" b="1" i="0">
                <a:solidFill>
                  <a:srgbClr val="21201C"/>
                </a:solidFill>
                <a:latin typeface="Cambria"/>
              </a:rPr>
              <a:t>Lab 7 — Hire the Marketing Team Through the Board Approval Gate</a:t>
            </a:r>
          </a:p>
        </p:txBody>
      </p:sp>
      <p:sp>
        <p:nvSpPr>
          <p:cNvPr id="4" name="TextBox 3"/>
          <p:cNvSpPr txBox="1"/>
          <p:nvPr/>
        </p:nvSpPr>
        <p:spPr>
          <a:xfrm>
            <a:off x="548640" y="1609344"/>
            <a:ext cx="11064240" cy="548640"/>
          </a:xfrm>
          <a:prstGeom prst="rect">
            <a:avLst/>
          </a:prstGeom>
          <a:noFill/>
        </p:spPr>
        <p:txBody>
          <a:bodyPr wrap="square" lIns="36576" rIns="36576" tIns="18288" bIns="18288" anchor="t">
            <a:spAutoFit/>
          </a:bodyPr>
          <a:lstStyle/>
          <a:p>
            <a:pPr algn="l">
              <a:lnSpc>
                <a:spcPct val="112000"/>
              </a:lnSpc>
            </a:pPr>
            <a:r>
              <a:rPr sz="1500" b="0" i="0">
                <a:solidFill>
                  <a:srgbClr val="21201C"/>
                </a:solidFill>
                <a:latin typeface="Calibri"/>
              </a:rPr>
              <a:t>Let the CEO design the team, then approve, push back on or reshape every hire — with budgets, a Tavily web-search secret, a shared brand skill and an independent auditor.</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117</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240280"/>
            <a:ext cx="5760720" cy="3931920"/>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822960" y="251460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users-FFFFFF.png"/>
          <p:cNvPicPr>
            <a:picLocks noChangeAspect="1"/>
          </p:cNvPicPr>
          <p:nvPr/>
        </p:nvPicPr>
        <p:blipFill>
          <a:blip r:embed="rId2"/>
          <a:stretch>
            <a:fillRect/>
          </a:stretch>
        </p:blipFill>
        <p:spPr>
          <a:xfrm>
            <a:off x="954633" y="2646273"/>
            <a:ext cx="285292" cy="285292"/>
          </a:xfrm>
          <a:prstGeom prst="rect">
            <a:avLst/>
          </a:prstGeom>
        </p:spPr>
      </p:pic>
      <p:sp>
        <p:nvSpPr>
          <p:cNvPr id="11" name="TextBox 10"/>
          <p:cNvSpPr txBox="1"/>
          <p:nvPr/>
        </p:nvSpPr>
        <p:spPr>
          <a:xfrm>
            <a:off x="1508760" y="2532888"/>
            <a:ext cx="4572000" cy="512064"/>
          </a:xfrm>
          <a:prstGeom prst="rect">
            <a:avLst/>
          </a:prstGeom>
          <a:noFill/>
        </p:spPr>
        <p:txBody>
          <a:bodyPr wrap="square" lIns="36576" rIns="36576" tIns="18288" bIns="18288" anchor="ctr">
            <a:spAutoFit/>
          </a:bodyPr>
          <a:lstStyle/>
          <a:p>
            <a:pPr algn="l">
              <a:lnSpc>
                <a:spcPct val="112000"/>
              </a:lnSpc>
            </a:pPr>
            <a:r>
              <a:rPr sz="1800" b="1" i="0">
                <a:solidFill>
                  <a:srgbClr val="FFFFFF"/>
                </a:solidFill>
                <a:latin typeface="Cambria"/>
              </a:rPr>
              <a:t>The business scenario</a:t>
            </a:r>
          </a:p>
        </p:txBody>
      </p:sp>
      <p:sp>
        <p:nvSpPr>
          <p:cNvPr id="12" name="TextBox 11"/>
          <p:cNvSpPr txBox="1"/>
          <p:nvPr/>
        </p:nvSpPr>
        <p:spPr>
          <a:xfrm>
            <a:off x="822960" y="3246120"/>
            <a:ext cx="5257800" cy="2788920"/>
          </a:xfrm>
          <a:prstGeom prst="rect">
            <a:avLst/>
          </a:prstGeom>
          <a:noFill/>
        </p:spPr>
        <p:txBody>
          <a:bodyPr wrap="square" lIns="36576" rIns="36576" tIns="18288" bIns="18288" anchor="t">
            <a:spAutoFit/>
          </a:bodyPr>
          <a:lstStyle/>
          <a:p>
            <a:pPr algn="l">
              <a:lnSpc>
                <a:spcPct val="120000"/>
              </a:lnSpc>
            </a:pPr>
            <a:r>
              <a:rPr sz="1400" b="0" i="0">
                <a:solidFill>
                  <a:srgbClr val="C9C4B9"/>
                </a:solidFill>
                <a:latin typeface="Calibri"/>
              </a:rPr>
              <a:t>Ava needs a team to hit the goals. In a real company you would never let a manager hire without approval, and you would never let the person who writes the ads also approve them. You ask Ava for a hiring plan, approve the hires that make sense, push back on one, give the researcher live web search, share the brand-voice skill, and make sure the Compliance Auditor reports to the CEO — not to the content team it audits.</a:t>
            </a:r>
          </a:p>
        </p:txBody>
      </p:sp>
      <p:sp>
        <p:nvSpPr>
          <p:cNvPr id="13" name="Rounded Rectangle 12"/>
          <p:cNvSpPr/>
          <p:nvPr/>
        </p:nvSpPr>
        <p:spPr>
          <a:xfrm>
            <a:off x="6492240" y="2240280"/>
            <a:ext cx="5120640" cy="23317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720840" y="2404872"/>
            <a:ext cx="4663440" cy="365760"/>
          </a:xfrm>
          <a:prstGeom prst="rect">
            <a:avLst/>
          </a:prstGeom>
          <a:noFill/>
        </p:spPr>
        <p:txBody>
          <a:bodyPr wrap="square" lIns="36576" rIns="36576" tIns="18288" bIns="18288" anchor="t">
            <a:spAutoFit/>
          </a:bodyPr>
          <a:lstStyle/>
          <a:p>
            <a:pPr algn="l">
              <a:lnSpc>
                <a:spcPct val="112000"/>
              </a:lnSpc>
            </a:pPr>
            <a:r>
              <a:rPr sz="1600" b="1" i="0">
                <a:solidFill>
                  <a:srgbClr val="21201C"/>
                </a:solidFill>
                <a:latin typeface="Cambria"/>
              </a:rPr>
              <a:t>You will deliver</a:t>
            </a:r>
          </a:p>
        </p:txBody>
      </p:sp>
      <p:sp>
        <p:nvSpPr>
          <p:cNvPr id="15" name="TextBox 14"/>
          <p:cNvSpPr txBox="1"/>
          <p:nvPr/>
        </p:nvSpPr>
        <p:spPr>
          <a:xfrm>
            <a:off x="6720840" y="2807208"/>
            <a:ext cx="4709160" cy="1691640"/>
          </a:xfrm>
          <a:prstGeom prst="rect">
            <a:avLst/>
          </a:prstGeom>
          <a:noFill/>
        </p:spPr>
        <p:txBody>
          <a:bodyPr wrap="square" lIns="36576" rIns="36576" tIns="18288" bIns="18288" anchor="t">
            <a:spAutoFit/>
          </a:bodyPr>
          <a:lstStyle/>
          <a:p>
            <a:pPr algn="l">
              <a:lnSpc>
                <a:spcPct val="115000"/>
              </a:lnSpc>
            </a:pPr>
            <a:r>
              <a:rPr sz="1050" b="0" i="0">
                <a:solidFill>
                  <a:srgbClr val="6B6862"/>
                </a:solidFill>
                <a:latin typeface="Calibri"/>
              </a:rPr>
              <a:t>✓  A plan document from Ava (roles, mandates, adapters, budgets, reporting lines)</a:t>
            </a:r>
          </a:p>
          <a:p>
            <a:pPr algn="l">
              <a:lnSpc>
                <a:spcPct val="115000"/>
              </a:lnSpc>
            </a:pPr>
            <a:r>
              <a:rPr sz="1050" b="0" i="0">
                <a:solidFill>
                  <a:srgbClr val="6B6862"/>
                </a:solidFill>
                <a:latin typeface="Calibri"/>
              </a:rPr>
              <a:t>✓  5 specialists hired through Approvals: Market Researcher, Content Strategist, Copywriter, Video Producer, Compliance Auditor</a:t>
            </a:r>
          </a:p>
          <a:p>
            <a:pPr algn="l">
              <a:lnSpc>
                <a:spcPct val="115000"/>
              </a:lnSpc>
            </a:pPr>
            <a:r>
              <a:rPr sz="1050" b="0" i="0">
                <a:solidFill>
                  <a:srgbClr val="6B6862"/>
                </a:solidFill>
                <a:latin typeface="Calibri"/>
              </a:rPr>
              <a:t>✓  At least one hire sent back with 'Request revision' and resubmitted</a:t>
            </a:r>
          </a:p>
          <a:p>
            <a:pPr algn="l">
              <a:lnSpc>
                <a:spcPct val="115000"/>
              </a:lnSpc>
            </a:pPr>
            <a:r>
              <a:rPr sz="1050" b="0" i="0">
                <a:solidFill>
                  <a:srgbClr val="6B6862"/>
                </a:solidFill>
                <a:latin typeface="Calibri"/>
              </a:rPr>
              <a:t>✓  Organization secret tavily_api_key bound to the researcher as TAVILY_API_KEY</a:t>
            </a:r>
          </a:p>
          <a:p>
            <a:pPr algn="l">
              <a:lnSpc>
                <a:spcPct val="115000"/>
              </a:lnSpc>
            </a:pPr>
            <a:r>
              <a:rPr sz="1050" b="0" i="0">
                <a:solidFill>
                  <a:srgbClr val="6B6862"/>
                </a:solidFill>
                <a:latin typeface="Calibri"/>
              </a:rPr>
              <a:t>✓  kopi-brand-voice skill in the company library, attached to the Copywriter and Auditor</a:t>
            </a:r>
          </a:p>
        </p:txBody>
      </p:sp>
      <p:sp>
        <p:nvSpPr>
          <p:cNvPr id="16" name="Rounded Rectangle 15"/>
          <p:cNvSpPr/>
          <p:nvPr/>
        </p:nvSpPr>
        <p:spPr>
          <a:xfrm>
            <a:off x="6492240" y="4727448"/>
            <a:ext cx="5120640" cy="1444752"/>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720840" y="4855464"/>
            <a:ext cx="4709160" cy="1234440"/>
          </a:xfrm>
          <a:prstGeom prst="rect">
            <a:avLst/>
          </a:prstGeom>
          <a:noFill/>
        </p:spPr>
        <p:txBody>
          <a:bodyPr wrap="square" lIns="36576" rIns="36576" tIns="18288" bIns="18288" anchor="t">
            <a:spAutoFit/>
          </a:bodyPr>
          <a:lstStyle/>
          <a:p>
            <a:pPr algn="l">
              <a:lnSpc>
                <a:spcPct val="115000"/>
              </a:lnSpc>
              <a:spcAft>
                <a:spcPts val="300"/>
              </a:spcAft>
            </a:pPr>
            <a:r>
              <a:rPr sz="1250" b="1" i="0">
                <a:solidFill>
                  <a:srgbClr val="D97757"/>
                </a:solidFill>
                <a:latin typeface="Calibri"/>
              </a:rPr>
              <a:t>Agents  </a:t>
            </a:r>
            <a:r>
              <a:rPr sz="1250" b="0" i="0">
                <a:solidFill>
                  <a:srgbClr val="6B6862"/>
                </a:solidFill>
                <a:latin typeface="Calibri"/>
              </a:rPr>
              <a:t>CEO + 5 specialist agents</a:t>
            </a:r>
          </a:p>
          <a:p>
            <a:pPr algn="l">
              <a:lnSpc>
                <a:spcPct val="115000"/>
              </a:lnSpc>
              <a:spcAft>
                <a:spcPts val="300"/>
              </a:spcAft>
            </a:pPr>
            <a:r>
              <a:rPr sz="1250" b="1" i="0">
                <a:solidFill>
                  <a:srgbClr val="D97757"/>
                </a:solidFill>
                <a:latin typeface="Calibri"/>
              </a:rPr>
              <a:t>Human role  </a:t>
            </a:r>
            <a:r>
              <a:rPr sz="1250" b="0" i="0">
                <a:solidFill>
                  <a:srgbClr val="6B6862"/>
                </a:solidFill>
                <a:latin typeface="Calibri"/>
              </a:rPr>
              <a:t>Approve, revise or reject each hire; enforce separation of duties</a:t>
            </a:r>
          </a:p>
          <a:p>
            <a:pPr algn="l">
              <a:lnSpc>
                <a:spcPct val="115000"/>
              </a:lnSpc>
              <a:spcAft>
                <a:spcPts val="300"/>
              </a:spcAft>
            </a:pPr>
            <a:r>
              <a:rPr sz="1250" b="1" i="0">
                <a:solidFill>
                  <a:srgbClr val="D97757"/>
                </a:solidFill>
                <a:latin typeface="Calibri"/>
              </a:rPr>
              <a:t>Time  </a:t>
            </a:r>
            <a:r>
              <a:rPr sz="1250" b="0" i="0">
                <a:solidFill>
                  <a:srgbClr val="6B6862"/>
                </a:solidFill>
                <a:latin typeface="Calibri"/>
              </a:rPr>
              <a:t>45 min  ·  Multi-agent organisation  ·  labs/lab07-paperclip-hire-marketing-team/</a:t>
            </a:r>
          </a:p>
        </p:txBody>
      </p:sp>
    </p:spTree>
  </p:cSld>
  <p:clrMapOvr>
    <a:masterClrMapping/>
  </p:clrMapOvr>
  <p:transition spd="med">
    <p:fade/>
  </p:transition>
</p:sld>
</file>

<file path=ppt/slides/slide118.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LAB 7</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Lab 7 — How the workflow runs</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C9C4B9"/>
                </a:solidFill>
                <a:latin typeface="Calibri"/>
              </a:rPr>
              <a:t>Perception → reasoning → action, with you at the checkpoints.</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118</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sp>
        <p:nvSpPr>
          <p:cNvPr id="8" name="Rounded Rectangle 7"/>
          <p:cNvSpPr/>
          <p:nvPr/>
        </p:nvSpPr>
        <p:spPr>
          <a:xfrm>
            <a:off x="548640" y="2331720"/>
            <a:ext cx="1706879"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31520" y="2468879"/>
            <a:ext cx="1341119"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1</a:t>
            </a:r>
          </a:p>
        </p:txBody>
      </p:sp>
      <p:sp>
        <p:nvSpPr>
          <p:cNvPr id="10" name="Oval 9"/>
          <p:cNvSpPr/>
          <p:nvPr/>
        </p:nvSpPr>
        <p:spPr>
          <a:xfrm>
            <a:off x="731520"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briefcase-FFFFFF.png"/>
          <p:cNvPicPr>
            <a:picLocks noChangeAspect="1"/>
          </p:cNvPicPr>
          <p:nvPr/>
        </p:nvPicPr>
        <p:blipFill>
          <a:blip r:embed="rId2"/>
          <a:stretch>
            <a:fillRect/>
          </a:stretch>
        </p:blipFill>
        <p:spPr>
          <a:xfrm>
            <a:off x="845637" y="2948757"/>
            <a:ext cx="247253" cy="247253"/>
          </a:xfrm>
          <a:prstGeom prst="rect">
            <a:avLst/>
          </a:prstGeom>
        </p:spPr>
      </p:pic>
      <p:sp>
        <p:nvSpPr>
          <p:cNvPr id="12" name="TextBox 11"/>
          <p:cNvSpPr txBox="1"/>
          <p:nvPr/>
        </p:nvSpPr>
        <p:spPr>
          <a:xfrm>
            <a:off x="731520" y="3410711"/>
            <a:ext cx="1386840"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Plan</a:t>
            </a:r>
          </a:p>
        </p:txBody>
      </p:sp>
      <p:sp>
        <p:nvSpPr>
          <p:cNvPr id="13" name="TextBox 12"/>
          <p:cNvSpPr txBox="1"/>
          <p:nvPr/>
        </p:nvSpPr>
        <p:spPr>
          <a:xfrm>
            <a:off x="731520" y="3977639"/>
            <a:ext cx="1386840"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Ava proposes the team in a plan.</a:t>
            </a:r>
          </a:p>
        </p:txBody>
      </p:sp>
      <p:cxnSp>
        <p:nvCxnSpPr>
          <p:cNvPr id="14" name="Connector 13"/>
          <p:cNvCxnSpPr/>
          <p:nvPr/>
        </p:nvCxnSpPr>
        <p:spPr>
          <a:xfrm>
            <a:off x="2264663" y="3886200"/>
            <a:ext cx="146305"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2420112" y="2331720"/>
            <a:ext cx="1706879" cy="3108960"/>
          </a:xfrm>
          <a:prstGeom prst="roundRect">
            <a:avLst>
              <a:gd name="adj" fmla="val 3500"/>
            </a:avLst>
          </a:prstGeom>
          <a:solidFill>
            <a:srgbClr val="C2603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2602992" y="2468879"/>
            <a:ext cx="1341119" cy="274320"/>
          </a:xfrm>
          <a:prstGeom prst="rect">
            <a:avLst/>
          </a:prstGeom>
          <a:noFill/>
        </p:spPr>
        <p:txBody>
          <a:bodyPr wrap="square" lIns="36576" rIns="36576" tIns="18288" bIns="18288" anchor="t">
            <a:spAutoFit/>
          </a:bodyPr>
          <a:lstStyle/>
          <a:p>
            <a:pPr algn="l">
              <a:lnSpc>
                <a:spcPct val="112000"/>
              </a:lnSpc>
            </a:pPr>
            <a:r>
              <a:rPr sz="950" b="1" i="0">
                <a:solidFill>
                  <a:srgbClr val="FFFFFF"/>
                </a:solidFill>
                <a:latin typeface="Calibri"/>
              </a:rPr>
              <a:t>HUMAN  ·  STEP 2</a:t>
            </a:r>
          </a:p>
        </p:txBody>
      </p:sp>
      <p:sp>
        <p:nvSpPr>
          <p:cNvPr id="17" name="Oval 16"/>
          <p:cNvSpPr/>
          <p:nvPr/>
        </p:nvSpPr>
        <p:spPr>
          <a:xfrm>
            <a:off x="2602992" y="2834639"/>
            <a:ext cx="475488" cy="475488"/>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user-C2603F.png"/>
          <p:cNvPicPr>
            <a:picLocks noChangeAspect="1"/>
          </p:cNvPicPr>
          <p:nvPr/>
        </p:nvPicPr>
        <p:blipFill>
          <a:blip r:embed="rId3"/>
          <a:stretch>
            <a:fillRect/>
          </a:stretch>
        </p:blipFill>
        <p:spPr>
          <a:xfrm>
            <a:off x="2717109" y="2948757"/>
            <a:ext cx="247253" cy="247253"/>
          </a:xfrm>
          <a:prstGeom prst="rect">
            <a:avLst/>
          </a:prstGeom>
        </p:spPr>
      </p:pic>
      <p:sp>
        <p:nvSpPr>
          <p:cNvPr id="19" name="TextBox 18"/>
          <p:cNvSpPr txBox="1"/>
          <p:nvPr/>
        </p:nvSpPr>
        <p:spPr>
          <a:xfrm>
            <a:off x="2602992" y="3410711"/>
            <a:ext cx="1386840"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Approve</a:t>
            </a:r>
          </a:p>
        </p:txBody>
      </p:sp>
      <p:sp>
        <p:nvSpPr>
          <p:cNvPr id="20" name="TextBox 19"/>
          <p:cNvSpPr txBox="1"/>
          <p:nvPr/>
        </p:nvSpPr>
        <p:spPr>
          <a:xfrm>
            <a:off x="2602992" y="3977639"/>
            <a:ext cx="1386840" cy="1371600"/>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Approve, revise or reject each hire.</a:t>
            </a:r>
          </a:p>
        </p:txBody>
      </p:sp>
      <p:cxnSp>
        <p:nvCxnSpPr>
          <p:cNvPr id="21" name="Connector 20"/>
          <p:cNvCxnSpPr/>
          <p:nvPr/>
        </p:nvCxnSpPr>
        <p:spPr>
          <a:xfrm>
            <a:off x="4136135" y="3886200"/>
            <a:ext cx="146304"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4291583" y="2331720"/>
            <a:ext cx="1706879"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4474463" y="2468879"/>
            <a:ext cx="1341119"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3</a:t>
            </a:r>
          </a:p>
        </p:txBody>
      </p:sp>
      <p:sp>
        <p:nvSpPr>
          <p:cNvPr id="24" name="Oval 23"/>
          <p:cNvSpPr/>
          <p:nvPr/>
        </p:nvSpPr>
        <p:spPr>
          <a:xfrm>
            <a:off x="4474463"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Picture 24" descr="users-FFFFFF.png"/>
          <p:cNvPicPr>
            <a:picLocks noChangeAspect="1"/>
          </p:cNvPicPr>
          <p:nvPr/>
        </p:nvPicPr>
        <p:blipFill>
          <a:blip r:embed="rId4"/>
          <a:stretch>
            <a:fillRect/>
          </a:stretch>
        </p:blipFill>
        <p:spPr>
          <a:xfrm>
            <a:off x="4588581" y="2948757"/>
            <a:ext cx="247253" cy="247253"/>
          </a:xfrm>
          <a:prstGeom prst="rect">
            <a:avLst/>
          </a:prstGeom>
        </p:spPr>
      </p:pic>
      <p:sp>
        <p:nvSpPr>
          <p:cNvPr id="26" name="TextBox 25"/>
          <p:cNvSpPr txBox="1"/>
          <p:nvPr/>
        </p:nvSpPr>
        <p:spPr>
          <a:xfrm>
            <a:off x="4474463" y="3410711"/>
            <a:ext cx="1386840"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Onboard</a:t>
            </a:r>
          </a:p>
        </p:txBody>
      </p:sp>
      <p:sp>
        <p:nvSpPr>
          <p:cNvPr id="27" name="TextBox 26"/>
          <p:cNvSpPr txBox="1"/>
          <p:nvPr/>
        </p:nvSpPr>
        <p:spPr>
          <a:xfrm>
            <a:off x="4474463" y="3977639"/>
            <a:ext cx="1386840"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Specialists come online with budgets.</a:t>
            </a:r>
          </a:p>
        </p:txBody>
      </p:sp>
      <p:cxnSp>
        <p:nvCxnSpPr>
          <p:cNvPr id="28" name="Connector 27"/>
          <p:cNvCxnSpPr/>
          <p:nvPr/>
        </p:nvCxnSpPr>
        <p:spPr>
          <a:xfrm>
            <a:off x="6007607" y="3886200"/>
            <a:ext cx="146304"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6163055" y="2331720"/>
            <a:ext cx="1706879" cy="3108960"/>
          </a:xfrm>
          <a:prstGeom prst="roundRect">
            <a:avLst>
              <a:gd name="adj" fmla="val 3500"/>
            </a:avLst>
          </a:prstGeom>
          <a:solidFill>
            <a:srgbClr val="C2603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6345935" y="2468879"/>
            <a:ext cx="1341119" cy="274320"/>
          </a:xfrm>
          <a:prstGeom prst="rect">
            <a:avLst/>
          </a:prstGeom>
          <a:noFill/>
        </p:spPr>
        <p:txBody>
          <a:bodyPr wrap="square" lIns="36576" rIns="36576" tIns="18288" bIns="18288" anchor="t">
            <a:spAutoFit/>
          </a:bodyPr>
          <a:lstStyle/>
          <a:p>
            <a:pPr algn="l">
              <a:lnSpc>
                <a:spcPct val="112000"/>
              </a:lnSpc>
            </a:pPr>
            <a:r>
              <a:rPr sz="950" b="1" i="0">
                <a:solidFill>
                  <a:srgbClr val="FFFFFF"/>
                </a:solidFill>
                <a:latin typeface="Calibri"/>
              </a:rPr>
              <a:t>HUMAN  ·  STEP 4</a:t>
            </a:r>
          </a:p>
        </p:txBody>
      </p:sp>
      <p:sp>
        <p:nvSpPr>
          <p:cNvPr id="31" name="Oval 30"/>
          <p:cNvSpPr/>
          <p:nvPr/>
        </p:nvSpPr>
        <p:spPr>
          <a:xfrm>
            <a:off x="6345935" y="2834639"/>
            <a:ext cx="475488" cy="475488"/>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2" name="Picture 31" descr="lock-C2603F.png"/>
          <p:cNvPicPr>
            <a:picLocks noChangeAspect="1"/>
          </p:cNvPicPr>
          <p:nvPr/>
        </p:nvPicPr>
        <p:blipFill>
          <a:blip r:embed="rId5"/>
          <a:stretch>
            <a:fillRect/>
          </a:stretch>
        </p:blipFill>
        <p:spPr>
          <a:xfrm>
            <a:off x="6460053" y="2948757"/>
            <a:ext cx="247253" cy="247253"/>
          </a:xfrm>
          <a:prstGeom prst="rect">
            <a:avLst/>
          </a:prstGeom>
        </p:spPr>
      </p:pic>
      <p:sp>
        <p:nvSpPr>
          <p:cNvPr id="33" name="TextBox 32"/>
          <p:cNvSpPr txBox="1"/>
          <p:nvPr/>
        </p:nvSpPr>
        <p:spPr>
          <a:xfrm>
            <a:off x="6345935" y="3410711"/>
            <a:ext cx="1386840"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Secret</a:t>
            </a:r>
          </a:p>
        </p:txBody>
      </p:sp>
      <p:sp>
        <p:nvSpPr>
          <p:cNvPr id="34" name="TextBox 33"/>
          <p:cNvSpPr txBox="1"/>
          <p:nvPr/>
        </p:nvSpPr>
        <p:spPr>
          <a:xfrm>
            <a:off x="6345935" y="3977639"/>
            <a:ext cx="1386840" cy="1371600"/>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tavily_api_key → TAVILY_API_KEY.</a:t>
            </a:r>
          </a:p>
        </p:txBody>
      </p:sp>
      <p:cxnSp>
        <p:nvCxnSpPr>
          <p:cNvPr id="35" name="Connector 34"/>
          <p:cNvCxnSpPr/>
          <p:nvPr/>
        </p:nvCxnSpPr>
        <p:spPr>
          <a:xfrm>
            <a:off x="7879079" y="3886200"/>
            <a:ext cx="146304"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8034527" y="2331720"/>
            <a:ext cx="1706879" cy="3108960"/>
          </a:xfrm>
          <a:prstGeom prst="roundRect">
            <a:avLst>
              <a:gd name="adj" fmla="val 3500"/>
            </a:avLst>
          </a:prstGeom>
          <a:solidFill>
            <a:srgbClr val="C2603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8217407" y="2468879"/>
            <a:ext cx="1341119" cy="274320"/>
          </a:xfrm>
          <a:prstGeom prst="rect">
            <a:avLst/>
          </a:prstGeom>
          <a:noFill/>
        </p:spPr>
        <p:txBody>
          <a:bodyPr wrap="square" lIns="36576" rIns="36576" tIns="18288" bIns="18288" anchor="t">
            <a:spAutoFit/>
          </a:bodyPr>
          <a:lstStyle/>
          <a:p>
            <a:pPr algn="l">
              <a:lnSpc>
                <a:spcPct val="112000"/>
              </a:lnSpc>
            </a:pPr>
            <a:r>
              <a:rPr sz="950" b="1" i="0">
                <a:solidFill>
                  <a:srgbClr val="FFFFFF"/>
                </a:solidFill>
                <a:latin typeface="Calibri"/>
              </a:rPr>
              <a:t>HUMAN  ·  STEP 5</a:t>
            </a:r>
          </a:p>
        </p:txBody>
      </p:sp>
      <p:sp>
        <p:nvSpPr>
          <p:cNvPr id="38" name="Oval 37"/>
          <p:cNvSpPr/>
          <p:nvPr/>
        </p:nvSpPr>
        <p:spPr>
          <a:xfrm>
            <a:off x="8217407" y="2834639"/>
            <a:ext cx="475488" cy="475488"/>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9" name="Picture 38" descr="puzzle-C2603F.png"/>
          <p:cNvPicPr>
            <a:picLocks noChangeAspect="1"/>
          </p:cNvPicPr>
          <p:nvPr/>
        </p:nvPicPr>
        <p:blipFill>
          <a:blip r:embed="rId6"/>
          <a:stretch>
            <a:fillRect/>
          </a:stretch>
        </p:blipFill>
        <p:spPr>
          <a:xfrm>
            <a:off x="8331525" y="2948757"/>
            <a:ext cx="247253" cy="247253"/>
          </a:xfrm>
          <a:prstGeom prst="rect">
            <a:avLst/>
          </a:prstGeom>
        </p:spPr>
      </p:pic>
      <p:sp>
        <p:nvSpPr>
          <p:cNvPr id="40" name="TextBox 39"/>
          <p:cNvSpPr txBox="1"/>
          <p:nvPr/>
        </p:nvSpPr>
        <p:spPr>
          <a:xfrm>
            <a:off x="8217407" y="3410711"/>
            <a:ext cx="1386840"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Skill</a:t>
            </a:r>
          </a:p>
        </p:txBody>
      </p:sp>
      <p:sp>
        <p:nvSpPr>
          <p:cNvPr id="41" name="TextBox 40"/>
          <p:cNvSpPr txBox="1"/>
          <p:nvPr/>
        </p:nvSpPr>
        <p:spPr>
          <a:xfrm>
            <a:off x="8217407" y="3977639"/>
            <a:ext cx="1386840" cy="1371600"/>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Share kopi-brand-voice.</a:t>
            </a:r>
          </a:p>
        </p:txBody>
      </p:sp>
      <p:cxnSp>
        <p:nvCxnSpPr>
          <p:cNvPr id="42" name="Connector 41"/>
          <p:cNvCxnSpPr/>
          <p:nvPr/>
        </p:nvCxnSpPr>
        <p:spPr>
          <a:xfrm>
            <a:off x="9750551" y="3886200"/>
            <a:ext cx="146305"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43" name="Rounded Rectangle 42"/>
          <p:cNvSpPr/>
          <p:nvPr/>
        </p:nvSpPr>
        <p:spPr>
          <a:xfrm>
            <a:off x="9905999" y="2331720"/>
            <a:ext cx="1706879"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10088879" y="2468879"/>
            <a:ext cx="1341119"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6</a:t>
            </a:r>
          </a:p>
        </p:txBody>
      </p:sp>
      <p:sp>
        <p:nvSpPr>
          <p:cNvPr id="45" name="Oval 44"/>
          <p:cNvSpPr/>
          <p:nvPr/>
        </p:nvSpPr>
        <p:spPr>
          <a:xfrm>
            <a:off x="10088879"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6" name="Picture 45" descr="search-FFFFFF.png"/>
          <p:cNvPicPr>
            <a:picLocks noChangeAspect="1"/>
          </p:cNvPicPr>
          <p:nvPr/>
        </p:nvPicPr>
        <p:blipFill>
          <a:blip r:embed="rId7"/>
          <a:stretch>
            <a:fillRect/>
          </a:stretch>
        </p:blipFill>
        <p:spPr>
          <a:xfrm>
            <a:off x="10202997" y="2948757"/>
            <a:ext cx="247253" cy="247253"/>
          </a:xfrm>
          <a:prstGeom prst="rect">
            <a:avLst/>
          </a:prstGeom>
        </p:spPr>
      </p:pic>
      <p:sp>
        <p:nvSpPr>
          <p:cNvPr id="47" name="TextBox 46"/>
          <p:cNvSpPr txBox="1"/>
          <p:nvPr/>
        </p:nvSpPr>
        <p:spPr>
          <a:xfrm>
            <a:off x="10088879" y="3410711"/>
            <a:ext cx="1386840"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Smoke test</a:t>
            </a:r>
          </a:p>
        </p:txBody>
      </p:sp>
      <p:sp>
        <p:nvSpPr>
          <p:cNvPr id="48" name="TextBox 47"/>
          <p:cNvSpPr txBox="1"/>
          <p:nvPr/>
        </p:nvSpPr>
        <p:spPr>
          <a:xfrm>
            <a:off x="10088879" y="3977639"/>
            <a:ext cx="1386840"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Researcher returns cited results.</a:t>
            </a:r>
          </a:p>
        </p:txBody>
      </p:sp>
      <p:sp>
        <p:nvSpPr>
          <p:cNvPr id="49" name="TextBox 48"/>
          <p:cNvSpPr txBox="1"/>
          <p:nvPr/>
        </p:nvSpPr>
        <p:spPr>
          <a:xfrm>
            <a:off x="548640" y="5715000"/>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Checkpoint  </a:t>
            </a:r>
            <a:r>
              <a:rPr sz="1300" b="0" i="0">
                <a:solidFill>
                  <a:srgbClr val="C9C4B9"/>
                </a:solidFill>
                <a:latin typeface="Calibri"/>
              </a:rPr>
              <a:t>Five specialists in the Org chart view; the auditor reports to Ava; the researcher's smoke test returns cited Tavily results.</a:t>
            </a:r>
          </a:p>
        </p:txBody>
      </p:sp>
    </p:spTree>
  </p:cSld>
  <p:clrMapOvr>
    <a:masterClrMapping/>
  </p:clrMapOvr>
  <p:transition spd="med">
    <p:fade/>
  </p:transition>
</p:sld>
</file>

<file path=ppt/slides/slide11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LAB 7</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 Good Hiring Plan (reference)</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119</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graphicFrame>
        <p:nvGraphicFramePr>
          <p:cNvPr id="7" name="Table 6"/>
          <p:cNvGraphicFramePr>
            <a:graphicFrameLocks noGrp="1"/>
          </p:cNvGraphicFramePr>
          <p:nvPr/>
        </p:nvGraphicFramePr>
        <p:xfrm>
          <a:off x="548640" y="1691640"/>
          <a:ext cx="11064240" cy="3771900"/>
        </p:xfrm>
        <a:graphic>
          <a:graphicData uri="http://schemas.openxmlformats.org/drawingml/2006/table">
            <a:tbl>
              <a:tblPr firstRow="0" bandRow="0">
                <a:tableStyleId>{5C22544A-7EE6-4342-B048-85BDC9FD1C3A}</a:tableStyleId>
              </a:tblPr>
              <a:tblGrid>
                <a:gridCol w="2377440"/>
                <a:gridCol w="2194560"/>
                <a:gridCol w="4937760"/>
                <a:gridCol w="1554480"/>
              </a:tblGrid>
              <a:tr h="457200">
                <a:tc>
                  <a:txBody>
                    <a:bodyPr wrap="square"/>
                    <a:lstStyle/>
                    <a:p>
                      <a:r>
                        <a:rPr b="1" sz="1550">
                          <a:solidFill>
                            <a:srgbClr val="FFFFFF"/>
                          </a:solidFill>
                          <a:latin typeface="Cambria"/>
                        </a:rPr>
                        <a:t>Role</a:t>
                      </a:r>
                    </a:p>
                  </a:txBody>
                  <a:tcPr marL="64008" marR="64008" marT="27432" marB="27432" anchor="ctr">
                    <a:solidFill>
                      <a:srgbClr val="21201C"/>
                    </a:solidFill>
                  </a:tcPr>
                </a:tc>
                <a:tc>
                  <a:txBody>
                    <a:bodyPr wrap="square"/>
                    <a:lstStyle/>
                    <a:p>
                      <a:r>
                        <a:rPr b="1" sz="1550">
                          <a:solidFill>
                            <a:srgbClr val="FFFFFF"/>
                          </a:solidFill>
                          <a:latin typeface="Cambria"/>
                        </a:rPr>
                        <a:t>Reports to</a:t>
                      </a:r>
                    </a:p>
                  </a:txBody>
                  <a:tcPr marL="64008" marR="64008" marT="27432" marB="27432" anchor="ctr">
                    <a:solidFill>
                      <a:srgbClr val="21201C"/>
                    </a:solidFill>
                  </a:tcPr>
                </a:tc>
                <a:tc>
                  <a:txBody>
                    <a:bodyPr wrap="square"/>
                    <a:lstStyle/>
                    <a:p>
                      <a:r>
                        <a:rPr b="1" sz="1550">
                          <a:solidFill>
                            <a:srgbClr val="FFFFFF"/>
                          </a:solidFill>
                          <a:latin typeface="Cambria"/>
                        </a:rPr>
                        <a:t>Mandate</a:t>
                      </a:r>
                    </a:p>
                  </a:txBody>
                  <a:tcPr marL="64008" marR="64008" marT="27432" marB="27432" anchor="ctr">
                    <a:solidFill>
                      <a:srgbClr val="21201C"/>
                    </a:solidFill>
                  </a:tcPr>
                </a:tc>
                <a:tc>
                  <a:txBody>
                    <a:bodyPr wrap="square"/>
                    <a:lstStyle/>
                    <a:p>
                      <a:r>
                        <a:rPr b="1" sz="1550">
                          <a:solidFill>
                            <a:srgbClr val="FFFFFF"/>
                          </a:solidFill>
                          <a:latin typeface="Cambria"/>
                        </a:rPr>
                        <a:t>Budget / mo</a:t>
                      </a:r>
                    </a:p>
                  </a:txBody>
                  <a:tcPr marL="64008" marR="64008" marT="27432" marB="27432" anchor="ctr">
                    <a:solidFill>
                      <a:srgbClr val="21201C"/>
                    </a:solidFill>
                  </a:tcPr>
                </a:tc>
              </a:tr>
              <a:tr h="662940">
                <a:tc>
                  <a:txBody>
                    <a:bodyPr wrap="square"/>
                    <a:lstStyle/>
                    <a:p>
                      <a:r>
                        <a:rPr b="1" sz="1500">
                          <a:solidFill>
                            <a:srgbClr val="21201C"/>
                          </a:solidFill>
                          <a:latin typeface="Cambria"/>
                        </a:rPr>
                        <a:t>Market Researcher</a:t>
                      </a:r>
                    </a:p>
                  </a:txBody>
                  <a:tcPr marL="64008" marR="64008" marT="27432" marB="27432" anchor="ctr">
                    <a:solidFill>
                      <a:srgbClr val="FFFFFF"/>
                    </a:solidFill>
                  </a:tcPr>
                </a:tc>
                <a:tc>
                  <a:txBody>
                    <a:bodyPr wrap="square"/>
                    <a:lstStyle/>
                    <a:p>
                      <a:r>
                        <a:rPr b="0" sz="1500">
                          <a:solidFill>
                            <a:srgbClr val="6B6862"/>
                          </a:solidFill>
                          <a:latin typeface="Calibri"/>
                        </a:rPr>
                        <a:t>CEO</a:t>
                      </a:r>
                    </a:p>
                  </a:txBody>
                  <a:tcPr marL="64008" marR="64008" marT="27432" marB="27432" anchor="ctr">
                    <a:solidFill>
                      <a:srgbClr val="FFFFFF"/>
                    </a:solidFill>
                  </a:tcPr>
                </a:tc>
                <a:tc>
                  <a:txBody>
                    <a:bodyPr wrap="square"/>
                    <a:lstStyle/>
                    <a:p>
                      <a:r>
                        <a:rPr b="0" sz="1500">
                          <a:solidFill>
                            <a:srgbClr val="6B6862"/>
                          </a:solidFill>
                          <a:latin typeface="Calibri"/>
                        </a:rPr>
                        <a:t>Live trend, competitor and audience research with Tavily; cites sources</a:t>
                      </a:r>
                    </a:p>
                  </a:txBody>
                  <a:tcPr marL="64008" marR="64008" marT="27432" marB="27432" anchor="ctr">
                    <a:solidFill>
                      <a:srgbClr val="FFFFFF"/>
                    </a:solidFill>
                  </a:tcPr>
                </a:tc>
                <a:tc>
                  <a:txBody>
                    <a:bodyPr wrap="square"/>
                    <a:lstStyle/>
                    <a:p>
                      <a:r>
                        <a:rPr b="0" sz="1500">
                          <a:solidFill>
                            <a:srgbClr val="6B6862"/>
                          </a:solidFill>
                          <a:latin typeface="Calibri"/>
                        </a:rPr>
                        <a:t>USD 8</a:t>
                      </a:r>
                    </a:p>
                  </a:txBody>
                  <a:tcPr marL="64008" marR="64008" marT="27432" marB="27432" anchor="ctr">
                    <a:solidFill>
                      <a:srgbClr val="FFFFFF"/>
                    </a:solidFill>
                  </a:tcPr>
                </a:tc>
              </a:tr>
              <a:tr h="662940">
                <a:tc>
                  <a:txBody>
                    <a:bodyPr wrap="square"/>
                    <a:lstStyle/>
                    <a:p>
                      <a:r>
                        <a:rPr b="1" sz="1500">
                          <a:solidFill>
                            <a:srgbClr val="21201C"/>
                          </a:solidFill>
                          <a:latin typeface="Cambria"/>
                        </a:rPr>
                        <a:t>Content Strategist</a:t>
                      </a:r>
                    </a:p>
                  </a:txBody>
                  <a:tcPr marL="64008" marR="64008" marT="27432" marB="27432" anchor="ctr">
                    <a:solidFill>
                      <a:srgbClr val="F3F1EB"/>
                    </a:solidFill>
                  </a:tcPr>
                </a:tc>
                <a:tc>
                  <a:txBody>
                    <a:bodyPr wrap="square"/>
                    <a:lstStyle/>
                    <a:p>
                      <a:r>
                        <a:rPr b="0" sz="1500">
                          <a:solidFill>
                            <a:srgbClr val="6B6862"/>
                          </a:solidFill>
                          <a:latin typeface="Calibri"/>
                        </a:rPr>
                        <a:t>CEO</a:t>
                      </a:r>
                    </a:p>
                  </a:txBody>
                  <a:tcPr marL="64008" marR="64008" marT="27432" marB="27432" anchor="ctr">
                    <a:solidFill>
                      <a:srgbClr val="F3F1EB"/>
                    </a:solidFill>
                  </a:tcPr>
                </a:tc>
                <a:tc>
                  <a:txBody>
                    <a:bodyPr wrap="square"/>
                    <a:lstStyle/>
                    <a:p>
                      <a:r>
                        <a:rPr b="0" sz="1500">
                          <a:solidFill>
                            <a:srgbClr val="6B6862"/>
                          </a:solidFill>
                          <a:latin typeface="Calibri"/>
                        </a:rPr>
                        <a:t>Campaign plan, calendar and briefs</a:t>
                      </a:r>
                    </a:p>
                  </a:txBody>
                  <a:tcPr marL="64008" marR="64008" marT="27432" marB="27432" anchor="ctr">
                    <a:solidFill>
                      <a:srgbClr val="F3F1EB"/>
                    </a:solidFill>
                  </a:tcPr>
                </a:tc>
                <a:tc>
                  <a:txBody>
                    <a:bodyPr wrap="square"/>
                    <a:lstStyle/>
                    <a:p>
                      <a:r>
                        <a:rPr b="0" sz="1500">
                          <a:solidFill>
                            <a:srgbClr val="6B6862"/>
                          </a:solidFill>
                          <a:latin typeface="Calibri"/>
                        </a:rPr>
                        <a:t>USD 8</a:t>
                      </a:r>
                    </a:p>
                  </a:txBody>
                  <a:tcPr marL="64008" marR="64008" marT="27432" marB="27432" anchor="ctr">
                    <a:solidFill>
                      <a:srgbClr val="F3F1EB"/>
                    </a:solidFill>
                  </a:tcPr>
                </a:tc>
              </a:tr>
              <a:tr h="662940">
                <a:tc>
                  <a:txBody>
                    <a:bodyPr wrap="square"/>
                    <a:lstStyle/>
                    <a:p>
                      <a:r>
                        <a:rPr b="1" sz="1500">
                          <a:solidFill>
                            <a:srgbClr val="21201C"/>
                          </a:solidFill>
                          <a:latin typeface="Cambria"/>
                        </a:rPr>
                        <a:t>Copywriter</a:t>
                      </a:r>
                    </a:p>
                  </a:txBody>
                  <a:tcPr marL="64008" marR="64008" marT="27432" marB="27432" anchor="ctr">
                    <a:solidFill>
                      <a:srgbClr val="FFFFFF"/>
                    </a:solidFill>
                  </a:tcPr>
                </a:tc>
                <a:tc>
                  <a:txBody>
                    <a:bodyPr wrap="square"/>
                    <a:lstStyle/>
                    <a:p>
                      <a:r>
                        <a:rPr b="0" sz="1500">
                          <a:solidFill>
                            <a:srgbClr val="6B6862"/>
                          </a:solidFill>
                          <a:latin typeface="Calibri"/>
                        </a:rPr>
                        <a:t>Content Strategist</a:t>
                      </a:r>
                    </a:p>
                  </a:txBody>
                  <a:tcPr marL="64008" marR="64008" marT="27432" marB="27432" anchor="ctr">
                    <a:solidFill>
                      <a:srgbClr val="FFFFFF"/>
                    </a:solidFill>
                  </a:tcPr>
                </a:tc>
                <a:tc>
                  <a:txBody>
                    <a:bodyPr wrap="square"/>
                    <a:lstStyle/>
                    <a:p>
                      <a:r>
                        <a:rPr b="0" sz="1500">
                          <a:solidFill>
                            <a:srgbClr val="6B6862"/>
                          </a:solidFill>
                          <a:latin typeface="Calibri"/>
                        </a:rPr>
                        <a:t>Captions, scripts, replies in brand voice</a:t>
                      </a:r>
                    </a:p>
                  </a:txBody>
                  <a:tcPr marL="64008" marR="64008" marT="27432" marB="27432" anchor="ctr">
                    <a:solidFill>
                      <a:srgbClr val="FFFFFF"/>
                    </a:solidFill>
                  </a:tcPr>
                </a:tc>
                <a:tc>
                  <a:txBody>
                    <a:bodyPr wrap="square"/>
                    <a:lstStyle/>
                    <a:p>
                      <a:r>
                        <a:rPr b="0" sz="1500">
                          <a:solidFill>
                            <a:srgbClr val="6B6862"/>
                          </a:solidFill>
                          <a:latin typeface="Calibri"/>
                        </a:rPr>
                        <a:t>USD 8</a:t>
                      </a:r>
                    </a:p>
                  </a:txBody>
                  <a:tcPr marL="64008" marR="64008" marT="27432" marB="27432" anchor="ctr">
                    <a:solidFill>
                      <a:srgbClr val="FFFFFF"/>
                    </a:solidFill>
                  </a:tcPr>
                </a:tc>
              </a:tr>
              <a:tr h="662940">
                <a:tc>
                  <a:txBody>
                    <a:bodyPr wrap="square"/>
                    <a:lstStyle/>
                    <a:p>
                      <a:r>
                        <a:rPr b="1" sz="1500">
                          <a:solidFill>
                            <a:srgbClr val="21201C"/>
                          </a:solidFill>
                          <a:latin typeface="Cambria"/>
                        </a:rPr>
                        <a:t>Video Producer</a:t>
                      </a:r>
                    </a:p>
                  </a:txBody>
                  <a:tcPr marL="64008" marR="64008" marT="27432" marB="27432" anchor="ctr">
                    <a:solidFill>
                      <a:srgbClr val="F3F1EB"/>
                    </a:solidFill>
                  </a:tcPr>
                </a:tc>
                <a:tc>
                  <a:txBody>
                    <a:bodyPr wrap="square"/>
                    <a:lstStyle/>
                    <a:p>
                      <a:r>
                        <a:rPr b="0" sz="1500">
                          <a:solidFill>
                            <a:srgbClr val="6B6862"/>
                          </a:solidFill>
                          <a:latin typeface="Calibri"/>
                        </a:rPr>
                        <a:t>Content Strategist</a:t>
                      </a:r>
                    </a:p>
                  </a:txBody>
                  <a:tcPr marL="64008" marR="64008" marT="27432" marB="27432" anchor="ctr">
                    <a:solidFill>
                      <a:srgbClr val="F3F1EB"/>
                    </a:solidFill>
                  </a:tcPr>
                </a:tc>
                <a:tc>
                  <a:txBody>
                    <a:bodyPr wrap="square"/>
                    <a:lstStyle/>
                    <a:p>
                      <a:r>
                        <a:rPr b="0" sz="1500">
                          <a:solidFill>
                            <a:srgbClr val="6B6862"/>
                          </a:solidFill>
                          <a:latin typeface="Calibri"/>
                        </a:rPr>
                        <a:t>Storyboards, renders, publish package</a:t>
                      </a:r>
                    </a:p>
                  </a:txBody>
                  <a:tcPr marL="64008" marR="64008" marT="27432" marB="27432" anchor="ctr">
                    <a:solidFill>
                      <a:srgbClr val="F3F1EB"/>
                    </a:solidFill>
                  </a:tcPr>
                </a:tc>
                <a:tc>
                  <a:txBody>
                    <a:bodyPr wrap="square"/>
                    <a:lstStyle/>
                    <a:p>
                      <a:r>
                        <a:rPr b="0" sz="1500">
                          <a:solidFill>
                            <a:srgbClr val="6B6862"/>
                          </a:solidFill>
                          <a:latin typeface="Calibri"/>
                        </a:rPr>
                        <a:t>USD 10</a:t>
                      </a:r>
                    </a:p>
                  </a:txBody>
                  <a:tcPr marL="64008" marR="64008" marT="27432" marB="27432" anchor="ctr">
                    <a:solidFill>
                      <a:srgbClr val="F3F1EB"/>
                    </a:solidFill>
                  </a:tcPr>
                </a:tc>
              </a:tr>
              <a:tr h="662940">
                <a:tc>
                  <a:txBody>
                    <a:bodyPr wrap="square"/>
                    <a:lstStyle/>
                    <a:p>
                      <a:r>
                        <a:rPr b="1" sz="1500">
                          <a:solidFill>
                            <a:srgbClr val="21201C"/>
                          </a:solidFill>
                          <a:latin typeface="Cambria"/>
                        </a:rPr>
                        <a:t>Compliance Auditor</a:t>
                      </a:r>
                    </a:p>
                  </a:txBody>
                  <a:tcPr marL="64008" marR="64008" marT="27432" marB="27432" anchor="ctr">
                    <a:solidFill>
                      <a:srgbClr val="FFFFFF"/>
                    </a:solidFill>
                  </a:tcPr>
                </a:tc>
                <a:tc>
                  <a:txBody>
                    <a:bodyPr wrap="square"/>
                    <a:lstStyle/>
                    <a:p>
                      <a:r>
                        <a:rPr b="0" sz="1500">
                          <a:solidFill>
                            <a:srgbClr val="6B6862"/>
                          </a:solidFill>
                          <a:latin typeface="Calibri"/>
                        </a:rPr>
                        <a:t>CEO</a:t>
                      </a:r>
                    </a:p>
                  </a:txBody>
                  <a:tcPr marL="64008" marR="64008" marT="27432" marB="27432" anchor="ctr">
                    <a:solidFill>
                      <a:srgbClr val="FFFFFF"/>
                    </a:solidFill>
                  </a:tcPr>
                </a:tc>
                <a:tc>
                  <a:txBody>
                    <a:bodyPr wrap="square"/>
                    <a:lstStyle/>
                    <a:p>
                      <a:r>
                        <a:rPr b="0" sz="1500">
                          <a:solidFill>
                            <a:srgbClr val="6B6862"/>
                          </a:solidFill>
                          <a:latin typeface="Calibri"/>
                        </a:rPr>
                        <a:t>Audits every public item (C1–C10, V1–V9); can block release</a:t>
                      </a:r>
                    </a:p>
                  </a:txBody>
                  <a:tcPr marL="64008" marR="64008" marT="27432" marB="27432" anchor="ctr">
                    <a:solidFill>
                      <a:srgbClr val="FFFFFF"/>
                    </a:solidFill>
                  </a:tcPr>
                </a:tc>
                <a:tc>
                  <a:txBody>
                    <a:bodyPr wrap="square"/>
                    <a:lstStyle/>
                    <a:p>
                      <a:r>
                        <a:rPr b="0" sz="1500">
                          <a:solidFill>
                            <a:srgbClr val="6B6862"/>
                          </a:solidFill>
                          <a:latin typeface="Calibri"/>
                        </a:rPr>
                        <a:t>USD 5</a:t>
                      </a:r>
                    </a:p>
                  </a:txBody>
                  <a:tcPr marL="64008" marR="64008" marT="27432" marB="27432" anchor="ctr">
                    <a:solidFill>
                      <a:srgbClr val="FFFFFF"/>
                    </a:solidFill>
                  </a:tcPr>
                </a:tc>
              </a:tr>
            </a:tbl>
          </a:graphicData>
        </a:graphic>
      </p:graphicFrame>
      <p:sp>
        <p:nvSpPr>
          <p:cNvPr id="8" name="TextBox 7"/>
          <p:cNvSpPr txBox="1"/>
          <p:nvPr/>
        </p:nvSpPr>
        <p:spPr>
          <a:xfrm>
            <a:off x="548640" y="5760720"/>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Separation of duties: the auditor must not report to the people whose work it audits.</a:t>
            </a:r>
          </a:p>
        </p:txBody>
      </p:sp>
    </p:spTree>
  </p:cSld>
  <p:clrMapOvr>
    <a:masterClrMapping/>
  </p:clrMapOvr>
  <p:transition spd="med">
    <p:fade/>
  </p:transition>
</p:sld>
</file>

<file path=ppt/slides/slide12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LAB 7</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The Org Chart</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120</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2807208" y="1682496"/>
            <a:ext cx="6547104" cy="4133088"/>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pc-org.png"/>
          <p:cNvPicPr>
            <a:picLocks noChangeAspect="1"/>
          </p:cNvPicPr>
          <p:nvPr/>
        </p:nvPicPr>
        <p:blipFill>
          <a:blip r:embed="rId2"/>
          <a:stretch>
            <a:fillRect/>
          </a:stretch>
        </p:blipFill>
        <p:spPr>
          <a:xfrm>
            <a:off x="2862072" y="1737360"/>
            <a:ext cx="6437376" cy="4023360"/>
          </a:xfrm>
          <a:prstGeom prst="rect">
            <a:avLst/>
          </a:prstGeom>
        </p:spPr>
      </p:pic>
      <p:sp>
        <p:nvSpPr>
          <p:cNvPr id="9" name="TextBox 8"/>
          <p:cNvSpPr txBox="1"/>
          <p:nvPr/>
        </p:nvSpPr>
        <p:spPr>
          <a:xfrm>
            <a:off x="548640" y="5870448"/>
            <a:ext cx="11064240" cy="50292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  </a:t>
            </a:r>
            <a:r>
              <a:rPr sz="1250" b="0" i="0">
                <a:solidFill>
                  <a:srgbClr val="6B6862"/>
                </a:solidFill>
                <a:latin typeface="Calibri"/>
              </a:rPr>
              <a:t>Board → CEO → specialists. Every hire passed an explicit Board decision.</a:t>
            </a:r>
          </a:p>
        </p:txBody>
      </p:sp>
    </p:spTree>
  </p:cSld>
  <p:clrMapOvr>
    <a:masterClrMapping/>
  </p:clrMapOvr>
  <p:transition spd="med">
    <p:fade/>
  </p:transition>
</p:sld>
</file>

<file path=ppt/slides/slide12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LAB 7</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Secrets — Tools Without Exposing Keys</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121</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2807208" y="1682496"/>
            <a:ext cx="6547104" cy="4133088"/>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pc-secrets.png"/>
          <p:cNvPicPr>
            <a:picLocks noChangeAspect="1"/>
          </p:cNvPicPr>
          <p:nvPr/>
        </p:nvPicPr>
        <p:blipFill>
          <a:blip r:embed="rId2"/>
          <a:stretch>
            <a:fillRect/>
          </a:stretch>
        </p:blipFill>
        <p:spPr>
          <a:xfrm>
            <a:off x="2862072" y="1737360"/>
            <a:ext cx="6437376" cy="4023360"/>
          </a:xfrm>
          <a:prstGeom prst="rect">
            <a:avLst/>
          </a:prstGeom>
        </p:spPr>
      </p:pic>
      <p:sp>
        <p:nvSpPr>
          <p:cNvPr id="9" name="TextBox 8"/>
          <p:cNvSpPr txBox="1"/>
          <p:nvPr/>
        </p:nvSpPr>
        <p:spPr>
          <a:xfrm>
            <a:off x="548640" y="5870448"/>
            <a:ext cx="11064240" cy="50292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  </a:t>
            </a:r>
            <a:r>
              <a:rPr sz="1250" b="0" i="0">
                <a:solidFill>
                  <a:srgbClr val="6B6862"/>
                </a:solidFill>
                <a:latin typeface="Calibri"/>
              </a:rPr>
              <a:t>Store TAVILY_API_KEY as a company Secret and bind it to the researcher's runtime — it never appears in prompts or issues.</a:t>
            </a:r>
          </a:p>
        </p:txBody>
      </p:sp>
    </p:spTree>
  </p:cSld>
  <p:clrMapOvr>
    <a:masterClrMapping/>
  </p:clrMapOvr>
  <p:transition spd="med">
    <p:fade/>
  </p:transition>
</p:sld>
</file>

<file path=ppt/slides/slide12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LAB 7</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Ask the CEO for a hiring plan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122</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37360"/>
            <a:ext cx="7040880" cy="4480560"/>
          </a:xfrm>
          <a:prstGeom prst="roundRect">
            <a:avLst>
              <a:gd name="adj" fmla="val 3500"/>
            </a:avLst>
          </a:prstGeom>
          <a:solidFill>
            <a:srgbClr val="2B2924"/>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49808" y="1901952"/>
            <a:ext cx="118872" cy="118872"/>
          </a:xfrm>
          <a:prstGeom prst="ellipse">
            <a:avLst/>
          </a:prstGeom>
          <a:solidFill>
            <a:srgbClr val="E06C5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69264" y="1901952"/>
            <a:ext cx="118872" cy="118872"/>
          </a:xfrm>
          <a:prstGeom prst="ellipse">
            <a:avLst/>
          </a:prstGeom>
          <a:solidFill>
            <a:srgbClr val="E5B45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88719" y="1901952"/>
            <a:ext cx="118872" cy="118872"/>
          </a:xfrm>
          <a:prstGeom prst="ellipse">
            <a:avLst/>
          </a:prstGeom>
          <a:solidFill>
            <a:srgbClr val="7DB36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463040" y="1828800"/>
            <a:ext cx="5943600" cy="274320"/>
          </a:xfrm>
          <a:prstGeom prst="rect">
            <a:avLst/>
          </a:prstGeom>
          <a:noFill/>
        </p:spPr>
        <p:txBody>
          <a:bodyPr wrap="square" lIns="36576" rIns="36576" tIns="18288" bIns="18288" anchor="t">
            <a:spAutoFit/>
          </a:bodyPr>
          <a:lstStyle/>
          <a:p>
            <a:pPr algn="l">
              <a:lnSpc>
                <a:spcPct val="112000"/>
              </a:lnSpc>
            </a:pPr>
            <a:r>
              <a:rPr sz="1000" b="0" i="0">
                <a:solidFill>
                  <a:srgbClr val="B9B4A9"/>
                </a:solidFill>
                <a:latin typeface="Calibri"/>
              </a:rPr>
              <a:t>PROMPT  ·  copy from the Lab Prompts page</a:t>
            </a:r>
          </a:p>
        </p:txBody>
      </p:sp>
      <p:sp>
        <p:nvSpPr>
          <p:cNvPr id="12" name="TextBox 11"/>
          <p:cNvSpPr txBox="1"/>
          <p:nvPr/>
        </p:nvSpPr>
        <p:spPr>
          <a:xfrm>
            <a:off x="777240" y="2194560"/>
            <a:ext cx="6583680" cy="3913632"/>
          </a:xfrm>
          <a:prstGeom prst="rect">
            <a:avLst/>
          </a:prstGeom>
          <a:noFill/>
        </p:spPr>
        <p:txBody>
          <a:bodyPr wrap="square" lIns="36576" rIns="36576" tIns="18288" bIns="18288" anchor="t">
            <a:spAutoFit/>
          </a:bodyPr>
          <a:lstStyle/>
          <a:p>
            <a:pPr algn="l">
              <a:lnSpc>
                <a:spcPct val="110000"/>
              </a:lnSpc>
            </a:pPr>
            <a:r>
              <a:rPr sz="1300" b="0" i="0">
                <a:solidFill>
                  <a:srgbClr val="F1EDE4"/>
                </a:solidFill>
                <a:latin typeface="Consolas"/>
              </a:rPr>
              <a:t>Propose the team to hit our three company goals.</a:t>
            </a:r>
          </a:p>
          <a:p>
            <a:pPr algn="l">
              <a:lnSpc>
                <a:spcPct val="110000"/>
              </a:lnSpc>
            </a:pPr>
            <a:r>
              <a:rPr sz="1300" b="0" i="0">
                <a:solidFill>
                  <a:srgbClr val="F1EDE4"/>
                </a:solidFill>
                <a:latin typeface="Consolas"/>
              </a:rPr>
              <a:t>Propose the smallest team that can research, plan, write, produce video and audit our marketing every week. For each role give: name, mandate (3 bullets), reports to, adapter, monthly budget in USD, tools and skills it needs.</a:t>
            </a:r>
          </a:p>
          <a:p>
            <a:pPr algn="l">
              <a:lnSpc>
                <a:spcPct val="110000"/>
              </a:lnSpc>
            </a:pPr>
            <a:r>
              <a:rPr sz="1300" b="0" i="0">
                <a:solidFill>
                  <a:srgbClr val="F1EDE4"/>
                </a:solidFill>
                <a:latin typeface="Consolas"/>
              </a:rPr>
              <a:t>Rules: the Compliance Auditor must not report to anyone whose work it audits; the total team budget must fit our USD 60/month company budget with Ava's USD 15 included.</a:t>
            </a:r>
          </a:p>
          <a:p>
            <a:pPr algn="l">
              <a:lnSpc>
                <a:spcPct val="110000"/>
              </a:lnSpc>
            </a:pPr>
            <a:r>
              <a:rPr sz="1300" b="0" i="0">
                <a:solidFill>
                  <a:srgbClr val="F1EDE4"/>
                </a:solidFill>
                <a:latin typeface="Consolas"/>
              </a:rPr>
              <a:t>Save it as a plan, ask me to confirm, then submit each hire for Board approval with its budget.</a:t>
            </a:r>
          </a:p>
        </p:txBody>
      </p:sp>
      <p:sp>
        <p:nvSpPr>
          <p:cNvPr id="13" name="Oval 12"/>
          <p:cNvSpPr/>
          <p:nvPr/>
        </p:nvSpPr>
        <p:spPr>
          <a:xfrm>
            <a:off x="7863840" y="177393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chat-FFFFFF.png"/>
          <p:cNvPicPr>
            <a:picLocks noChangeAspect="1"/>
          </p:cNvPicPr>
          <p:nvPr/>
        </p:nvPicPr>
        <p:blipFill>
          <a:blip r:embed="rId2"/>
          <a:stretch>
            <a:fillRect/>
          </a:stretch>
        </p:blipFill>
        <p:spPr>
          <a:xfrm>
            <a:off x="7973567" y="1883664"/>
            <a:ext cx="237744" cy="237744"/>
          </a:xfrm>
          <a:prstGeom prst="rect">
            <a:avLst/>
          </a:prstGeom>
        </p:spPr>
      </p:pic>
      <p:sp>
        <p:nvSpPr>
          <p:cNvPr id="15" name="TextBox 14"/>
          <p:cNvSpPr txBox="1"/>
          <p:nvPr/>
        </p:nvSpPr>
        <p:spPr>
          <a:xfrm>
            <a:off x="8458200" y="173736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Paste into</a:t>
            </a:r>
          </a:p>
        </p:txBody>
      </p:sp>
      <p:sp>
        <p:nvSpPr>
          <p:cNvPr id="16" name="TextBox 15"/>
          <p:cNvSpPr txBox="1"/>
          <p:nvPr/>
        </p:nvSpPr>
        <p:spPr>
          <a:xfrm>
            <a:off x="8458200" y="210312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Paperclip → New Task (assign to Ava)</a:t>
            </a:r>
          </a:p>
        </p:txBody>
      </p:sp>
      <p:sp>
        <p:nvSpPr>
          <p:cNvPr id="17" name="Oval 16"/>
          <p:cNvSpPr/>
          <p:nvPr/>
        </p:nvSpPr>
        <p:spPr>
          <a:xfrm>
            <a:off x="7863840" y="326745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check-FFFFFF.png"/>
          <p:cNvPicPr>
            <a:picLocks noChangeAspect="1"/>
          </p:cNvPicPr>
          <p:nvPr/>
        </p:nvPicPr>
        <p:blipFill>
          <a:blip r:embed="rId3"/>
          <a:stretch>
            <a:fillRect/>
          </a:stretch>
        </p:blipFill>
        <p:spPr>
          <a:xfrm>
            <a:off x="7973567" y="3377184"/>
            <a:ext cx="237744" cy="237744"/>
          </a:xfrm>
          <a:prstGeom prst="rect">
            <a:avLst/>
          </a:prstGeom>
        </p:spPr>
      </p:pic>
      <p:sp>
        <p:nvSpPr>
          <p:cNvPr id="19" name="TextBox 18"/>
          <p:cNvSpPr txBox="1"/>
          <p:nvPr/>
        </p:nvSpPr>
        <p:spPr>
          <a:xfrm>
            <a:off x="8458200" y="323088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Expect</a:t>
            </a:r>
          </a:p>
        </p:txBody>
      </p:sp>
      <p:sp>
        <p:nvSpPr>
          <p:cNvPr id="20" name="TextBox 19"/>
          <p:cNvSpPr txBox="1"/>
          <p:nvPr/>
        </p:nvSpPr>
        <p:spPr>
          <a:xfrm>
            <a:off x="8458200" y="359664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A plan document and a confirmation card; after you confirm, hire requests appear in Approvals.</a:t>
            </a:r>
          </a:p>
        </p:txBody>
      </p:sp>
      <p:sp>
        <p:nvSpPr>
          <p:cNvPr id="21" name="Oval 20"/>
          <p:cNvSpPr/>
          <p:nvPr/>
        </p:nvSpPr>
        <p:spPr>
          <a:xfrm>
            <a:off x="7863840" y="476097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hand-FFFFFF.png"/>
          <p:cNvPicPr>
            <a:picLocks noChangeAspect="1"/>
          </p:cNvPicPr>
          <p:nvPr/>
        </p:nvPicPr>
        <p:blipFill>
          <a:blip r:embed="rId4"/>
          <a:stretch>
            <a:fillRect/>
          </a:stretch>
        </p:blipFill>
        <p:spPr>
          <a:xfrm>
            <a:off x="7973567" y="4870704"/>
            <a:ext cx="237744" cy="237744"/>
          </a:xfrm>
          <a:prstGeom prst="rect">
            <a:avLst/>
          </a:prstGeom>
        </p:spPr>
      </p:pic>
      <p:sp>
        <p:nvSpPr>
          <p:cNvPr id="23" name="TextBox 22"/>
          <p:cNvSpPr txBox="1"/>
          <p:nvPr/>
        </p:nvSpPr>
        <p:spPr>
          <a:xfrm>
            <a:off x="8458200" y="472440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You decide</a:t>
            </a:r>
          </a:p>
        </p:txBody>
      </p:sp>
      <p:sp>
        <p:nvSpPr>
          <p:cNvPr id="24" name="TextBox 23"/>
          <p:cNvSpPr txBox="1"/>
          <p:nvPr/>
        </p:nvSpPr>
        <p:spPr>
          <a:xfrm>
            <a:off x="8458200" y="509016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Approve, revise or reject each hire; enforce separation of duties</a:t>
            </a:r>
          </a:p>
        </p:txBody>
      </p:sp>
    </p:spTree>
  </p:cSld>
  <p:clrMapOvr>
    <a:masterClrMapping/>
  </p:clrMapOvr>
  <p:transition spd="med">
    <p:fade/>
  </p:transition>
</p:sld>
</file>

<file path=ppt/slides/slide12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LAB 7</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Smoke-test the researcher</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123</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37360"/>
            <a:ext cx="7040880" cy="4480560"/>
          </a:xfrm>
          <a:prstGeom prst="roundRect">
            <a:avLst>
              <a:gd name="adj" fmla="val 3500"/>
            </a:avLst>
          </a:prstGeom>
          <a:solidFill>
            <a:srgbClr val="2B2924"/>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49808" y="1901952"/>
            <a:ext cx="118872" cy="118872"/>
          </a:xfrm>
          <a:prstGeom prst="ellipse">
            <a:avLst/>
          </a:prstGeom>
          <a:solidFill>
            <a:srgbClr val="E06C5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69264" y="1901952"/>
            <a:ext cx="118872" cy="118872"/>
          </a:xfrm>
          <a:prstGeom prst="ellipse">
            <a:avLst/>
          </a:prstGeom>
          <a:solidFill>
            <a:srgbClr val="E5B45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88719" y="1901952"/>
            <a:ext cx="118872" cy="118872"/>
          </a:xfrm>
          <a:prstGeom prst="ellipse">
            <a:avLst/>
          </a:prstGeom>
          <a:solidFill>
            <a:srgbClr val="7DB36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463040" y="1828800"/>
            <a:ext cx="5943600" cy="274320"/>
          </a:xfrm>
          <a:prstGeom prst="rect">
            <a:avLst/>
          </a:prstGeom>
          <a:noFill/>
        </p:spPr>
        <p:txBody>
          <a:bodyPr wrap="square" lIns="36576" rIns="36576" tIns="18288" bIns="18288" anchor="t">
            <a:spAutoFit/>
          </a:bodyPr>
          <a:lstStyle/>
          <a:p>
            <a:pPr algn="l">
              <a:lnSpc>
                <a:spcPct val="112000"/>
              </a:lnSpc>
            </a:pPr>
            <a:r>
              <a:rPr sz="1000" b="0" i="0">
                <a:solidFill>
                  <a:srgbClr val="B9B4A9"/>
                </a:solidFill>
                <a:latin typeface="Calibri"/>
              </a:rPr>
              <a:t>PROMPT  ·  copy from the Lab Prompts page</a:t>
            </a:r>
          </a:p>
        </p:txBody>
      </p:sp>
      <p:sp>
        <p:nvSpPr>
          <p:cNvPr id="12" name="TextBox 11"/>
          <p:cNvSpPr txBox="1"/>
          <p:nvPr/>
        </p:nvSpPr>
        <p:spPr>
          <a:xfrm>
            <a:off x="777240" y="2194560"/>
            <a:ext cx="6583680" cy="3913632"/>
          </a:xfrm>
          <a:prstGeom prst="rect">
            <a:avLst/>
          </a:prstGeom>
          <a:noFill/>
        </p:spPr>
        <p:txBody>
          <a:bodyPr wrap="square" lIns="36576" rIns="36576" tIns="18288" bIns="18288" anchor="t">
            <a:spAutoFit/>
          </a:bodyPr>
          <a:lstStyle/>
          <a:p>
            <a:pPr algn="l">
              <a:lnSpc>
                <a:spcPct val="110000"/>
              </a:lnSpc>
            </a:pPr>
            <a:r>
              <a:rPr sz="1300" b="0" i="0">
                <a:solidFill>
                  <a:srgbClr val="F1EDE4"/>
                </a:solidFill>
                <a:latin typeface="Consolas"/>
              </a:rPr>
              <a:t>Smoke test - live search.</a:t>
            </a:r>
          </a:p>
          <a:p>
            <a:pPr algn="l">
              <a:lnSpc>
                <a:spcPct val="110000"/>
              </a:lnSpc>
            </a:pPr>
            <a:r>
              <a:rPr sz="1300" b="0" i="0">
                <a:solidFill>
                  <a:srgbClr val="F1EDE4"/>
                </a:solidFill>
                <a:latin typeface="Consolas"/>
              </a:rPr>
              <a:t>Use Tavily to find 3 news items from the last 60 days about coffee or cold-brew trends in Singapore or Southeast Asia. For each: headline, date, URL and a one-line takeaway for Kopi Kaki. Mark anything you could not verify.</a:t>
            </a:r>
          </a:p>
        </p:txBody>
      </p:sp>
      <p:sp>
        <p:nvSpPr>
          <p:cNvPr id="13" name="Oval 12"/>
          <p:cNvSpPr/>
          <p:nvPr/>
        </p:nvSpPr>
        <p:spPr>
          <a:xfrm>
            <a:off x="7863840" y="177393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chat-FFFFFF.png"/>
          <p:cNvPicPr>
            <a:picLocks noChangeAspect="1"/>
          </p:cNvPicPr>
          <p:nvPr/>
        </p:nvPicPr>
        <p:blipFill>
          <a:blip r:embed="rId2"/>
          <a:stretch>
            <a:fillRect/>
          </a:stretch>
        </p:blipFill>
        <p:spPr>
          <a:xfrm>
            <a:off x="7973567" y="1883664"/>
            <a:ext cx="237744" cy="237744"/>
          </a:xfrm>
          <a:prstGeom prst="rect">
            <a:avLst/>
          </a:prstGeom>
        </p:spPr>
      </p:pic>
      <p:sp>
        <p:nvSpPr>
          <p:cNvPr id="15" name="TextBox 14"/>
          <p:cNvSpPr txBox="1"/>
          <p:nvPr/>
        </p:nvSpPr>
        <p:spPr>
          <a:xfrm>
            <a:off x="8458200" y="173736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Paste into</a:t>
            </a:r>
          </a:p>
        </p:txBody>
      </p:sp>
      <p:sp>
        <p:nvSpPr>
          <p:cNvPr id="16" name="TextBox 15"/>
          <p:cNvSpPr txBox="1"/>
          <p:nvPr/>
        </p:nvSpPr>
        <p:spPr>
          <a:xfrm>
            <a:off x="8458200" y="210312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Paperclip → New Task (assign to Market Researcher)</a:t>
            </a:r>
          </a:p>
        </p:txBody>
      </p:sp>
      <p:sp>
        <p:nvSpPr>
          <p:cNvPr id="17" name="Oval 16"/>
          <p:cNvSpPr/>
          <p:nvPr/>
        </p:nvSpPr>
        <p:spPr>
          <a:xfrm>
            <a:off x="7863840" y="326745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check-FFFFFF.png"/>
          <p:cNvPicPr>
            <a:picLocks noChangeAspect="1"/>
          </p:cNvPicPr>
          <p:nvPr/>
        </p:nvPicPr>
        <p:blipFill>
          <a:blip r:embed="rId3"/>
          <a:stretch>
            <a:fillRect/>
          </a:stretch>
        </p:blipFill>
        <p:spPr>
          <a:xfrm>
            <a:off x="7973567" y="3377184"/>
            <a:ext cx="237744" cy="237744"/>
          </a:xfrm>
          <a:prstGeom prst="rect">
            <a:avLst/>
          </a:prstGeom>
        </p:spPr>
      </p:pic>
      <p:sp>
        <p:nvSpPr>
          <p:cNvPr id="19" name="TextBox 18"/>
          <p:cNvSpPr txBox="1"/>
          <p:nvPr/>
        </p:nvSpPr>
        <p:spPr>
          <a:xfrm>
            <a:off x="8458200" y="323088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Expect</a:t>
            </a:r>
          </a:p>
        </p:txBody>
      </p:sp>
      <p:sp>
        <p:nvSpPr>
          <p:cNvPr id="20" name="TextBox 19"/>
          <p:cNvSpPr txBox="1"/>
          <p:nvPr/>
        </p:nvSpPr>
        <p:spPr>
          <a:xfrm>
            <a:off x="8458200" y="359664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Three results with URLs in the task thread.</a:t>
            </a:r>
          </a:p>
        </p:txBody>
      </p:sp>
      <p:sp>
        <p:nvSpPr>
          <p:cNvPr id="21" name="Oval 20"/>
          <p:cNvSpPr/>
          <p:nvPr/>
        </p:nvSpPr>
        <p:spPr>
          <a:xfrm>
            <a:off x="7863840" y="476097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hand-FFFFFF.png"/>
          <p:cNvPicPr>
            <a:picLocks noChangeAspect="1"/>
          </p:cNvPicPr>
          <p:nvPr/>
        </p:nvPicPr>
        <p:blipFill>
          <a:blip r:embed="rId4"/>
          <a:stretch>
            <a:fillRect/>
          </a:stretch>
        </p:blipFill>
        <p:spPr>
          <a:xfrm>
            <a:off x="7973567" y="4870704"/>
            <a:ext cx="237744" cy="237744"/>
          </a:xfrm>
          <a:prstGeom prst="rect">
            <a:avLst/>
          </a:prstGeom>
        </p:spPr>
      </p:pic>
      <p:sp>
        <p:nvSpPr>
          <p:cNvPr id="23" name="TextBox 22"/>
          <p:cNvSpPr txBox="1"/>
          <p:nvPr/>
        </p:nvSpPr>
        <p:spPr>
          <a:xfrm>
            <a:off x="8458200" y="472440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You decide</a:t>
            </a:r>
          </a:p>
        </p:txBody>
      </p:sp>
      <p:sp>
        <p:nvSpPr>
          <p:cNvPr id="24" name="TextBox 23"/>
          <p:cNvSpPr txBox="1"/>
          <p:nvPr/>
        </p:nvSpPr>
        <p:spPr>
          <a:xfrm>
            <a:off x="8458200" y="509016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Approve, revise or reject each hire; enforce separation of duties</a:t>
            </a:r>
          </a:p>
        </p:txBody>
      </p:sp>
    </p:spTree>
  </p:cSld>
  <p:clrMapOvr>
    <a:masterClrMapping/>
  </p:clrMapOvr>
  <p:transition spd="med">
    <p:fade/>
  </p:transition>
</p:sld>
</file>

<file path=ppt/slides/slide124.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LAB 7</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Lab 7 — Checkpoint &amp; Reflection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124</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check-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Verify</a:t>
            </a:r>
          </a:p>
        </p:txBody>
      </p:sp>
      <p:sp>
        <p:nvSpPr>
          <p:cNvPr id="10" name="TextBox 9"/>
          <p:cNvSpPr txBox="1"/>
          <p:nvPr/>
        </p:nvSpPr>
        <p:spPr>
          <a:xfrm>
            <a:off x="1371600" y="2084831"/>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5 specialists active, each with a budget</a:t>
            </a:r>
          </a:p>
        </p:txBody>
      </p:sp>
      <p:sp>
        <p:nvSpPr>
          <p:cNvPr id="11" name="Oval 10"/>
          <p:cNvSpPr/>
          <p:nvPr/>
        </p:nvSpPr>
        <p:spPr>
          <a:xfrm>
            <a:off x="640080" y="2679191"/>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check-FFFFFF.png"/>
          <p:cNvPicPr>
            <a:picLocks noChangeAspect="1"/>
          </p:cNvPicPr>
          <p:nvPr/>
        </p:nvPicPr>
        <p:blipFill>
          <a:blip r:embed="rId2"/>
          <a:stretch>
            <a:fillRect/>
          </a:stretch>
        </p:blipFill>
        <p:spPr>
          <a:xfrm>
            <a:off x="771753" y="2810865"/>
            <a:ext cx="285292" cy="285292"/>
          </a:xfrm>
          <a:prstGeom prst="rect">
            <a:avLst/>
          </a:prstGeom>
        </p:spPr>
      </p:pic>
      <p:sp>
        <p:nvSpPr>
          <p:cNvPr id="13" name="TextBox 12"/>
          <p:cNvSpPr txBox="1"/>
          <p:nvPr/>
        </p:nvSpPr>
        <p:spPr>
          <a:xfrm>
            <a:off x="1371600" y="2624327"/>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Verify</a:t>
            </a:r>
          </a:p>
        </p:txBody>
      </p:sp>
      <p:sp>
        <p:nvSpPr>
          <p:cNvPr id="14" name="TextBox 13"/>
          <p:cNvSpPr txBox="1"/>
          <p:nvPr/>
        </p:nvSpPr>
        <p:spPr>
          <a:xfrm>
            <a:off x="1371600" y="2990087"/>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At least one hire went through Request revision</a:t>
            </a:r>
          </a:p>
        </p:txBody>
      </p:sp>
      <p:sp>
        <p:nvSpPr>
          <p:cNvPr id="15" name="Oval 14"/>
          <p:cNvSpPr/>
          <p:nvPr/>
        </p:nvSpPr>
        <p:spPr>
          <a:xfrm>
            <a:off x="640080" y="358444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check-FFFFFF.png"/>
          <p:cNvPicPr>
            <a:picLocks noChangeAspect="1"/>
          </p:cNvPicPr>
          <p:nvPr/>
        </p:nvPicPr>
        <p:blipFill>
          <a:blip r:embed="rId2"/>
          <a:stretch>
            <a:fillRect/>
          </a:stretch>
        </p:blipFill>
        <p:spPr>
          <a:xfrm>
            <a:off x="771753" y="3716121"/>
            <a:ext cx="285292" cy="285292"/>
          </a:xfrm>
          <a:prstGeom prst="rect">
            <a:avLst/>
          </a:prstGeom>
        </p:spPr>
      </p:pic>
      <p:sp>
        <p:nvSpPr>
          <p:cNvPr id="17" name="TextBox 16"/>
          <p:cNvSpPr txBox="1"/>
          <p:nvPr/>
        </p:nvSpPr>
        <p:spPr>
          <a:xfrm>
            <a:off x="1371600" y="352958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Verify</a:t>
            </a:r>
          </a:p>
        </p:txBody>
      </p:sp>
      <p:sp>
        <p:nvSpPr>
          <p:cNvPr id="18" name="TextBox 17"/>
          <p:cNvSpPr txBox="1"/>
          <p:nvPr/>
        </p:nvSpPr>
        <p:spPr>
          <a:xfrm>
            <a:off x="1371600" y="3895344"/>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TAVILY_API_KEY bound to the researcher from an organization secret</a:t>
            </a:r>
          </a:p>
        </p:txBody>
      </p:sp>
      <p:sp>
        <p:nvSpPr>
          <p:cNvPr id="19" name="Oval 18"/>
          <p:cNvSpPr/>
          <p:nvPr/>
        </p:nvSpPr>
        <p:spPr>
          <a:xfrm>
            <a:off x="640080" y="4489703"/>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lightbulb-FFFFFF.png"/>
          <p:cNvPicPr>
            <a:picLocks noChangeAspect="1"/>
          </p:cNvPicPr>
          <p:nvPr/>
        </p:nvPicPr>
        <p:blipFill>
          <a:blip r:embed="rId3"/>
          <a:stretch>
            <a:fillRect/>
          </a:stretch>
        </p:blipFill>
        <p:spPr>
          <a:xfrm>
            <a:off x="771753" y="4621377"/>
            <a:ext cx="285292" cy="285292"/>
          </a:xfrm>
          <a:prstGeom prst="rect">
            <a:avLst/>
          </a:prstGeom>
        </p:spPr>
      </p:pic>
      <p:sp>
        <p:nvSpPr>
          <p:cNvPr id="21" name="TextBox 20"/>
          <p:cNvSpPr txBox="1"/>
          <p:nvPr/>
        </p:nvSpPr>
        <p:spPr>
          <a:xfrm>
            <a:off x="1371600" y="4434840"/>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Concepts in action</a:t>
            </a:r>
          </a:p>
        </p:txBody>
      </p:sp>
      <p:sp>
        <p:nvSpPr>
          <p:cNvPr id="22" name="TextBox 21"/>
          <p:cNvSpPr txBox="1"/>
          <p:nvPr/>
        </p:nvSpPr>
        <p:spPr>
          <a:xfrm>
            <a:off x="1371600" y="4800599"/>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Role specialisation + reporting lines = coordination  ·  Separation of duties: the auditor must not report to those it audits</a:t>
            </a:r>
          </a:p>
        </p:txBody>
      </p:sp>
      <p:sp>
        <p:nvSpPr>
          <p:cNvPr id="23" name="Oval 22"/>
          <p:cNvSpPr/>
          <p:nvPr/>
        </p:nvSpPr>
        <p:spPr>
          <a:xfrm>
            <a:off x="640080" y="5394959"/>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rocket-FFFFFF.png"/>
          <p:cNvPicPr>
            <a:picLocks noChangeAspect="1"/>
          </p:cNvPicPr>
          <p:nvPr/>
        </p:nvPicPr>
        <p:blipFill>
          <a:blip r:embed="rId4"/>
          <a:stretch>
            <a:fillRect/>
          </a:stretch>
        </p:blipFill>
        <p:spPr>
          <a:xfrm>
            <a:off x="771753" y="5526633"/>
            <a:ext cx="285292" cy="285292"/>
          </a:xfrm>
          <a:prstGeom prst="rect">
            <a:avLst/>
          </a:prstGeom>
        </p:spPr>
      </p:pic>
      <p:sp>
        <p:nvSpPr>
          <p:cNvPr id="25" name="TextBox 24"/>
          <p:cNvSpPr txBox="1"/>
          <p:nvPr/>
        </p:nvSpPr>
        <p:spPr>
          <a:xfrm>
            <a:off x="1371600" y="534009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Stretch challenge</a:t>
            </a:r>
          </a:p>
        </p:txBody>
      </p:sp>
      <p:sp>
        <p:nvSpPr>
          <p:cNvPr id="26" name="TextBox 25"/>
          <p:cNvSpPr txBox="1"/>
          <p:nvPr/>
        </p:nvSpPr>
        <p:spPr>
          <a:xfrm>
            <a:off x="1371600" y="5705855"/>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Ask Ava to propose a sixth role — Community Manager — and decide whether the value justifies the extra budget. Record your Board decision as an approval comment.</a:t>
            </a:r>
          </a:p>
        </p:txBody>
      </p:sp>
    </p:spTree>
  </p:cSld>
  <p:clrMapOvr>
    <a:masterClrMapping/>
  </p:clrMapOvr>
  <p:transition spd="med">
    <p:fade/>
  </p:transition>
</p:sld>
</file>

<file path=ppt/slides/slide12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LAB 8</a:t>
            </a:r>
          </a:p>
        </p:txBody>
      </p:sp>
      <p:sp>
        <p:nvSpPr>
          <p:cNvPr id="3" name="TextBox 2"/>
          <p:cNvSpPr txBox="1"/>
          <p:nvPr/>
        </p:nvSpPr>
        <p:spPr>
          <a:xfrm>
            <a:off x="548640" y="621792"/>
            <a:ext cx="11064240" cy="932688"/>
          </a:xfrm>
          <a:prstGeom prst="rect">
            <a:avLst/>
          </a:prstGeom>
          <a:noFill/>
        </p:spPr>
        <p:txBody>
          <a:bodyPr wrap="square" lIns="36576" rIns="36576" tIns="18288" bIns="18288" anchor="t">
            <a:spAutoFit/>
          </a:bodyPr>
          <a:lstStyle/>
          <a:p>
            <a:pPr algn="l">
              <a:lnSpc>
                <a:spcPct val="100000"/>
              </a:lnSpc>
            </a:pPr>
            <a:r>
              <a:rPr sz="2400" b="1" i="0">
                <a:solidFill>
                  <a:srgbClr val="21201C"/>
                </a:solidFill>
                <a:latin typeface="Cambria"/>
              </a:rPr>
              <a:t>Lab 8 — Run the #ShiokColdBrew Launch as a Project — Review, Revise, Release</a:t>
            </a:r>
          </a:p>
        </p:txBody>
      </p:sp>
      <p:sp>
        <p:nvSpPr>
          <p:cNvPr id="4" name="TextBox 3"/>
          <p:cNvSpPr txBox="1"/>
          <p:nvPr/>
        </p:nvSpPr>
        <p:spPr>
          <a:xfrm>
            <a:off x="548640" y="1609344"/>
            <a:ext cx="11064240" cy="548640"/>
          </a:xfrm>
          <a:prstGeom prst="rect">
            <a:avLst/>
          </a:prstGeom>
          <a:noFill/>
        </p:spPr>
        <p:txBody>
          <a:bodyPr wrap="square" lIns="36576" rIns="36576" tIns="18288" bIns="18288" anchor="t">
            <a:spAutoFit/>
          </a:bodyPr>
          <a:lstStyle/>
          <a:p>
            <a:pPr algn="l">
              <a:lnSpc>
                <a:spcPct val="112000"/>
              </a:lnSpc>
            </a:pPr>
            <a:r>
              <a:rPr sz="1500" b="0" i="0">
                <a:solidFill>
                  <a:srgbClr val="21201C"/>
                </a:solidFill>
                <a:latin typeface="Calibri"/>
              </a:rPr>
              <a:t>Turn the campaign into seven linked tasks, let the team execute research → plan → copy → video → audit, and use an approval gate to send work back until it is good enough to release.</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125</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240280"/>
            <a:ext cx="5760720" cy="3931920"/>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822960" y="251460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rocket-FFFFFF.png"/>
          <p:cNvPicPr>
            <a:picLocks noChangeAspect="1"/>
          </p:cNvPicPr>
          <p:nvPr/>
        </p:nvPicPr>
        <p:blipFill>
          <a:blip r:embed="rId2"/>
          <a:stretch>
            <a:fillRect/>
          </a:stretch>
        </p:blipFill>
        <p:spPr>
          <a:xfrm>
            <a:off x="954633" y="2646273"/>
            <a:ext cx="285292" cy="285292"/>
          </a:xfrm>
          <a:prstGeom prst="rect">
            <a:avLst/>
          </a:prstGeom>
        </p:spPr>
      </p:pic>
      <p:sp>
        <p:nvSpPr>
          <p:cNvPr id="11" name="TextBox 10"/>
          <p:cNvSpPr txBox="1"/>
          <p:nvPr/>
        </p:nvSpPr>
        <p:spPr>
          <a:xfrm>
            <a:off x="1508760" y="2532888"/>
            <a:ext cx="4572000" cy="512064"/>
          </a:xfrm>
          <a:prstGeom prst="rect">
            <a:avLst/>
          </a:prstGeom>
          <a:noFill/>
        </p:spPr>
        <p:txBody>
          <a:bodyPr wrap="square" lIns="36576" rIns="36576" tIns="18288" bIns="18288" anchor="ctr">
            <a:spAutoFit/>
          </a:bodyPr>
          <a:lstStyle/>
          <a:p>
            <a:pPr algn="l">
              <a:lnSpc>
                <a:spcPct val="112000"/>
              </a:lnSpc>
            </a:pPr>
            <a:r>
              <a:rPr sz="1800" b="1" i="0">
                <a:solidFill>
                  <a:srgbClr val="FFFFFF"/>
                </a:solidFill>
                <a:latin typeface="Cambria"/>
              </a:rPr>
              <a:t>The business scenario</a:t>
            </a:r>
          </a:p>
        </p:txBody>
      </p:sp>
      <p:sp>
        <p:nvSpPr>
          <p:cNvPr id="12" name="TextBox 11"/>
          <p:cNvSpPr txBox="1"/>
          <p:nvPr/>
        </p:nvSpPr>
        <p:spPr>
          <a:xfrm>
            <a:off x="822960" y="3246120"/>
            <a:ext cx="5257800" cy="2788920"/>
          </a:xfrm>
          <a:prstGeom prst="rect">
            <a:avLst/>
          </a:prstGeom>
          <a:noFill/>
        </p:spPr>
        <p:txBody>
          <a:bodyPr wrap="square" lIns="36576" rIns="36576" tIns="18288" bIns="18288" anchor="t">
            <a:spAutoFit/>
          </a:bodyPr>
          <a:lstStyle/>
          <a:p>
            <a:pPr algn="l">
              <a:lnSpc>
                <a:spcPct val="120000"/>
              </a:lnSpc>
            </a:pPr>
            <a:r>
              <a:rPr sz="1400" b="0" i="0">
                <a:solidFill>
                  <a:srgbClr val="C9C4B9"/>
                </a:solidFill>
                <a:latin typeface="Calibri"/>
              </a:rPr>
              <a:t>Ava's team is hired. Now it must deliver the launch campaign pack the Marketing Lead asked for on Day 1 — but as a company: tracked tasks, dependencies, owners, costs and an audit trail. Your job is the Board review: the deliverables that go public stop with you, and you either approve them or send them back with specific comments.</a:t>
            </a:r>
          </a:p>
        </p:txBody>
      </p:sp>
      <p:sp>
        <p:nvSpPr>
          <p:cNvPr id="13" name="Rounded Rectangle 12"/>
          <p:cNvSpPr/>
          <p:nvPr/>
        </p:nvSpPr>
        <p:spPr>
          <a:xfrm>
            <a:off x="6492240" y="2240280"/>
            <a:ext cx="5120640" cy="23317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720840" y="2404872"/>
            <a:ext cx="4663440" cy="365760"/>
          </a:xfrm>
          <a:prstGeom prst="rect">
            <a:avLst/>
          </a:prstGeom>
          <a:noFill/>
        </p:spPr>
        <p:txBody>
          <a:bodyPr wrap="square" lIns="36576" rIns="36576" tIns="18288" bIns="18288" anchor="t">
            <a:spAutoFit/>
          </a:bodyPr>
          <a:lstStyle/>
          <a:p>
            <a:pPr algn="l">
              <a:lnSpc>
                <a:spcPct val="112000"/>
              </a:lnSpc>
            </a:pPr>
            <a:r>
              <a:rPr sz="1600" b="1" i="0">
                <a:solidFill>
                  <a:srgbClr val="21201C"/>
                </a:solidFill>
                <a:latin typeface="Cambria"/>
              </a:rPr>
              <a:t>You will deliver</a:t>
            </a:r>
          </a:p>
        </p:txBody>
      </p:sp>
      <p:sp>
        <p:nvSpPr>
          <p:cNvPr id="15" name="TextBox 14"/>
          <p:cNvSpPr txBox="1"/>
          <p:nvPr/>
        </p:nvSpPr>
        <p:spPr>
          <a:xfrm>
            <a:off x="6720840" y="2807208"/>
            <a:ext cx="4709160" cy="1691640"/>
          </a:xfrm>
          <a:prstGeom prst="rect">
            <a:avLst/>
          </a:prstGeom>
          <a:noFill/>
        </p:spPr>
        <p:txBody>
          <a:bodyPr wrap="square" lIns="36576" rIns="36576" tIns="18288" bIns="18288" anchor="t">
            <a:spAutoFit/>
          </a:bodyPr>
          <a:lstStyle/>
          <a:p>
            <a:pPr algn="l">
              <a:lnSpc>
                <a:spcPct val="115000"/>
              </a:lnSpc>
            </a:pPr>
            <a:r>
              <a:rPr sz="1200" b="0" i="0">
                <a:solidFill>
                  <a:srgbClr val="6B6862"/>
                </a:solidFill>
                <a:latin typeface="Calibri"/>
              </a:rPr>
              <a:t>✓  Project 'ShiokColdBrew Launch' linked to goal 1, with 7 tasks and blocked-by links</a:t>
            </a:r>
          </a:p>
          <a:p>
            <a:pPr algn="l">
              <a:lnSpc>
                <a:spcPct val="115000"/>
              </a:lnSpc>
            </a:pPr>
            <a:r>
              <a:rPr sz="1200" b="0" i="0">
                <a:solidFill>
                  <a:srgbClr val="6B6862"/>
                </a:solidFill>
                <a:latin typeface="Calibri"/>
              </a:rPr>
              <a:t>✓  research-report, campaign plan + calendar, teaser captions, video script, video/storyboard + publish package</a:t>
            </a:r>
          </a:p>
          <a:p>
            <a:pPr algn="l">
              <a:lnSpc>
                <a:spcPct val="115000"/>
              </a:lnSpc>
            </a:pPr>
            <a:r>
              <a:rPr sz="1200" b="0" i="0">
                <a:solidFill>
                  <a:srgbClr val="6B6862"/>
                </a:solidFill>
                <a:latin typeface="Calibri"/>
              </a:rPr>
              <a:t>✓  Compliance audit (agent reviewer) before your approval on captions, video and release pack</a:t>
            </a:r>
          </a:p>
          <a:p>
            <a:pPr algn="l">
              <a:lnSpc>
                <a:spcPct val="115000"/>
              </a:lnSpc>
            </a:pPr>
            <a:r>
              <a:rPr sz="1200" b="0" i="0">
                <a:solidFill>
                  <a:srgbClr val="6B6862"/>
                </a:solidFill>
                <a:latin typeface="Calibri"/>
              </a:rPr>
              <a:t>✓  At least one task sent back with a comment and returned improved</a:t>
            </a:r>
          </a:p>
          <a:p>
            <a:pPr algn="l">
              <a:lnSpc>
                <a:spcPct val="115000"/>
              </a:lnSpc>
            </a:pPr>
            <a:r>
              <a:rPr sz="1200" b="0" i="0">
                <a:solidFill>
                  <a:srgbClr val="6B6862"/>
                </a:solidFill>
                <a:latin typeface="Calibri"/>
              </a:rPr>
              <a:t>✓  A retrospective with cycle time, revisions and spend</a:t>
            </a:r>
          </a:p>
        </p:txBody>
      </p:sp>
      <p:sp>
        <p:nvSpPr>
          <p:cNvPr id="16" name="Rounded Rectangle 15"/>
          <p:cNvSpPr/>
          <p:nvPr/>
        </p:nvSpPr>
        <p:spPr>
          <a:xfrm>
            <a:off x="6492240" y="4727448"/>
            <a:ext cx="5120640" cy="1444752"/>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720840" y="4855464"/>
            <a:ext cx="4709160" cy="1234440"/>
          </a:xfrm>
          <a:prstGeom prst="rect">
            <a:avLst/>
          </a:prstGeom>
          <a:noFill/>
        </p:spPr>
        <p:txBody>
          <a:bodyPr wrap="square" lIns="36576" rIns="36576" tIns="18288" bIns="18288" anchor="t">
            <a:spAutoFit/>
          </a:bodyPr>
          <a:lstStyle/>
          <a:p>
            <a:pPr algn="l">
              <a:lnSpc>
                <a:spcPct val="115000"/>
              </a:lnSpc>
              <a:spcAft>
                <a:spcPts val="300"/>
              </a:spcAft>
            </a:pPr>
            <a:r>
              <a:rPr sz="1250" b="1" i="0">
                <a:solidFill>
                  <a:srgbClr val="D97757"/>
                </a:solidFill>
                <a:latin typeface="Calibri"/>
              </a:rPr>
              <a:t>Agents  </a:t>
            </a:r>
            <a:r>
              <a:rPr sz="1250" b="0" i="0">
                <a:solidFill>
                  <a:srgbClr val="6B6862"/>
                </a:solidFill>
                <a:latin typeface="Calibri"/>
              </a:rPr>
              <a:t>CEO + 5 specialists</a:t>
            </a:r>
          </a:p>
          <a:p>
            <a:pPr algn="l">
              <a:lnSpc>
                <a:spcPct val="115000"/>
              </a:lnSpc>
              <a:spcAft>
                <a:spcPts val="300"/>
              </a:spcAft>
            </a:pPr>
            <a:r>
              <a:rPr sz="1250" b="1" i="0">
                <a:solidFill>
                  <a:srgbClr val="D97757"/>
                </a:solidFill>
                <a:latin typeface="Calibri"/>
              </a:rPr>
              <a:t>Human role  </a:t>
            </a:r>
            <a:r>
              <a:rPr sz="1250" b="0" i="0">
                <a:solidFill>
                  <a:srgbClr val="6B6862"/>
                </a:solidFill>
                <a:latin typeface="Calibri"/>
              </a:rPr>
              <a:t>Approve or send back every public deliverable; release</a:t>
            </a:r>
          </a:p>
          <a:p>
            <a:pPr algn="l">
              <a:lnSpc>
                <a:spcPct val="115000"/>
              </a:lnSpc>
              <a:spcAft>
                <a:spcPts val="300"/>
              </a:spcAft>
            </a:pPr>
            <a:r>
              <a:rPr sz="1250" b="1" i="0">
                <a:solidFill>
                  <a:srgbClr val="D97757"/>
                </a:solidFill>
                <a:latin typeface="Calibri"/>
              </a:rPr>
              <a:t>Time  </a:t>
            </a:r>
            <a:r>
              <a:rPr sz="1250" b="0" i="0">
                <a:solidFill>
                  <a:srgbClr val="6B6862"/>
                </a:solidFill>
                <a:latin typeface="Calibri"/>
              </a:rPr>
              <a:t>55 min  ·  Multi-agent project with Board review  ·  labs/lab08-paperclip-launch-campaign-project/</a:t>
            </a:r>
          </a:p>
        </p:txBody>
      </p:sp>
    </p:spTree>
  </p:cSld>
  <p:clrMapOvr>
    <a:masterClrMapping/>
  </p:clrMapOvr>
  <p:transition spd="med">
    <p:fade/>
  </p:transition>
</p:sld>
</file>

<file path=ppt/slides/slide126.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LAB 8</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Lab 8 — How the workflow runs</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C9C4B9"/>
                </a:solidFill>
                <a:latin typeface="Calibri"/>
              </a:rPr>
              <a:t>Perception → reasoning → action, with you at the checkpoints.</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126</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sp>
        <p:nvSpPr>
          <p:cNvPr id="8" name="Rounded Rectangle 7"/>
          <p:cNvSpPr/>
          <p:nvPr/>
        </p:nvSpPr>
        <p:spPr>
          <a:xfrm>
            <a:off x="548640" y="2331720"/>
            <a:ext cx="1706879"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31520" y="2468879"/>
            <a:ext cx="1341119"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1</a:t>
            </a:r>
          </a:p>
        </p:txBody>
      </p:sp>
      <p:sp>
        <p:nvSpPr>
          <p:cNvPr id="10" name="Oval 9"/>
          <p:cNvSpPr/>
          <p:nvPr/>
        </p:nvSpPr>
        <p:spPr>
          <a:xfrm>
            <a:off x="731520"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list-FFFFFF.png"/>
          <p:cNvPicPr>
            <a:picLocks noChangeAspect="1"/>
          </p:cNvPicPr>
          <p:nvPr/>
        </p:nvPicPr>
        <p:blipFill>
          <a:blip r:embed="rId2"/>
          <a:stretch>
            <a:fillRect/>
          </a:stretch>
        </p:blipFill>
        <p:spPr>
          <a:xfrm>
            <a:off x="845637" y="2948757"/>
            <a:ext cx="247253" cy="247253"/>
          </a:xfrm>
          <a:prstGeom prst="rect">
            <a:avLst/>
          </a:prstGeom>
        </p:spPr>
      </p:pic>
      <p:sp>
        <p:nvSpPr>
          <p:cNvPr id="12" name="TextBox 11"/>
          <p:cNvSpPr txBox="1"/>
          <p:nvPr/>
        </p:nvSpPr>
        <p:spPr>
          <a:xfrm>
            <a:off x="731520" y="3410711"/>
            <a:ext cx="1386840"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Backlog</a:t>
            </a:r>
          </a:p>
        </p:txBody>
      </p:sp>
      <p:sp>
        <p:nvSpPr>
          <p:cNvPr id="13" name="TextBox 12"/>
          <p:cNvSpPr txBox="1"/>
          <p:nvPr/>
        </p:nvSpPr>
        <p:spPr>
          <a:xfrm>
            <a:off x="731520" y="3977639"/>
            <a:ext cx="1386840"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Project + 7 linked tasks.</a:t>
            </a:r>
          </a:p>
        </p:txBody>
      </p:sp>
      <p:cxnSp>
        <p:nvCxnSpPr>
          <p:cNvPr id="14" name="Connector 13"/>
          <p:cNvCxnSpPr/>
          <p:nvPr/>
        </p:nvCxnSpPr>
        <p:spPr>
          <a:xfrm>
            <a:off x="2264663" y="3886200"/>
            <a:ext cx="146305"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2420112" y="2331720"/>
            <a:ext cx="1706879"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2602992" y="2468879"/>
            <a:ext cx="1341119"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2</a:t>
            </a:r>
          </a:p>
        </p:txBody>
      </p:sp>
      <p:sp>
        <p:nvSpPr>
          <p:cNvPr id="17" name="Oval 16"/>
          <p:cNvSpPr/>
          <p:nvPr/>
        </p:nvSpPr>
        <p:spPr>
          <a:xfrm>
            <a:off x="2602992"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search-FFFFFF.png"/>
          <p:cNvPicPr>
            <a:picLocks noChangeAspect="1"/>
          </p:cNvPicPr>
          <p:nvPr/>
        </p:nvPicPr>
        <p:blipFill>
          <a:blip r:embed="rId3"/>
          <a:stretch>
            <a:fillRect/>
          </a:stretch>
        </p:blipFill>
        <p:spPr>
          <a:xfrm>
            <a:off x="2717109" y="2948757"/>
            <a:ext cx="247253" cy="247253"/>
          </a:xfrm>
          <a:prstGeom prst="rect">
            <a:avLst/>
          </a:prstGeom>
        </p:spPr>
      </p:pic>
      <p:sp>
        <p:nvSpPr>
          <p:cNvPr id="19" name="TextBox 18"/>
          <p:cNvSpPr txBox="1"/>
          <p:nvPr/>
        </p:nvSpPr>
        <p:spPr>
          <a:xfrm>
            <a:off x="2602992" y="3410711"/>
            <a:ext cx="1386840"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Research</a:t>
            </a:r>
          </a:p>
        </p:txBody>
      </p:sp>
      <p:sp>
        <p:nvSpPr>
          <p:cNvPr id="20" name="TextBox 19"/>
          <p:cNvSpPr txBox="1"/>
          <p:nvPr/>
        </p:nvSpPr>
        <p:spPr>
          <a:xfrm>
            <a:off x="2602992" y="3977639"/>
            <a:ext cx="1386840"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Cited trends and angles.</a:t>
            </a:r>
          </a:p>
        </p:txBody>
      </p:sp>
      <p:cxnSp>
        <p:nvCxnSpPr>
          <p:cNvPr id="21" name="Connector 20"/>
          <p:cNvCxnSpPr/>
          <p:nvPr/>
        </p:nvCxnSpPr>
        <p:spPr>
          <a:xfrm>
            <a:off x="4136135" y="3886200"/>
            <a:ext cx="146304"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4291583" y="2331720"/>
            <a:ext cx="1706879"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4474463" y="2468879"/>
            <a:ext cx="1341119"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3</a:t>
            </a:r>
          </a:p>
        </p:txBody>
      </p:sp>
      <p:sp>
        <p:nvSpPr>
          <p:cNvPr id="24" name="Oval 23"/>
          <p:cNvSpPr/>
          <p:nvPr/>
        </p:nvSpPr>
        <p:spPr>
          <a:xfrm>
            <a:off x="4474463"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Picture 24" descr="calendar-FFFFFF.png"/>
          <p:cNvPicPr>
            <a:picLocks noChangeAspect="1"/>
          </p:cNvPicPr>
          <p:nvPr/>
        </p:nvPicPr>
        <p:blipFill>
          <a:blip r:embed="rId4"/>
          <a:stretch>
            <a:fillRect/>
          </a:stretch>
        </p:blipFill>
        <p:spPr>
          <a:xfrm>
            <a:off x="4588581" y="2948757"/>
            <a:ext cx="247253" cy="247253"/>
          </a:xfrm>
          <a:prstGeom prst="rect">
            <a:avLst/>
          </a:prstGeom>
        </p:spPr>
      </p:pic>
      <p:sp>
        <p:nvSpPr>
          <p:cNvPr id="26" name="TextBox 25"/>
          <p:cNvSpPr txBox="1"/>
          <p:nvPr/>
        </p:nvSpPr>
        <p:spPr>
          <a:xfrm>
            <a:off x="4474463" y="3410711"/>
            <a:ext cx="1386840"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Plan &amp; write</a:t>
            </a:r>
          </a:p>
        </p:txBody>
      </p:sp>
      <p:sp>
        <p:nvSpPr>
          <p:cNvPr id="27" name="TextBox 26"/>
          <p:cNvSpPr txBox="1"/>
          <p:nvPr/>
        </p:nvSpPr>
        <p:spPr>
          <a:xfrm>
            <a:off x="4474463" y="3977639"/>
            <a:ext cx="1386840"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Plan, calendar, captions, script.</a:t>
            </a:r>
          </a:p>
        </p:txBody>
      </p:sp>
      <p:cxnSp>
        <p:nvCxnSpPr>
          <p:cNvPr id="28" name="Connector 27"/>
          <p:cNvCxnSpPr/>
          <p:nvPr/>
        </p:nvCxnSpPr>
        <p:spPr>
          <a:xfrm>
            <a:off x="6007607" y="3886200"/>
            <a:ext cx="146304"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6163055" y="2331720"/>
            <a:ext cx="1706879"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6345935" y="2468879"/>
            <a:ext cx="1341119"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4</a:t>
            </a:r>
          </a:p>
        </p:txBody>
      </p:sp>
      <p:sp>
        <p:nvSpPr>
          <p:cNvPr id="31" name="Oval 30"/>
          <p:cNvSpPr/>
          <p:nvPr/>
        </p:nvSpPr>
        <p:spPr>
          <a:xfrm>
            <a:off x="6345935"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2" name="Picture 31" descr="film-FFFFFF.png"/>
          <p:cNvPicPr>
            <a:picLocks noChangeAspect="1"/>
          </p:cNvPicPr>
          <p:nvPr/>
        </p:nvPicPr>
        <p:blipFill>
          <a:blip r:embed="rId5"/>
          <a:stretch>
            <a:fillRect/>
          </a:stretch>
        </p:blipFill>
        <p:spPr>
          <a:xfrm>
            <a:off x="6460053" y="2948757"/>
            <a:ext cx="247253" cy="247253"/>
          </a:xfrm>
          <a:prstGeom prst="rect">
            <a:avLst/>
          </a:prstGeom>
        </p:spPr>
      </p:pic>
      <p:sp>
        <p:nvSpPr>
          <p:cNvPr id="33" name="TextBox 32"/>
          <p:cNvSpPr txBox="1"/>
          <p:nvPr/>
        </p:nvSpPr>
        <p:spPr>
          <a:xfrm>
            <a:off x="6345935" y="3410711"/>
            <a:ext cx="1386840"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Produce</a:t>
            </a:r>
          </a:p>
        </p:txBody>
      </p:sp>
      <p:sp>
        <p:nvSpPr>
          <p:cNvPr id="34" name="TextBox 33"/>
          <p:cNvSpPr txBox="1"/>
          <p:nvPr/>
        </p:nvSpPr>
        <p:spPr>
          <a:xfrm>
            <a:off x="6345935" y="3977639"/>
            <a:ext cx="1386840"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Video or storyboard + package.</a:t>
            </a:r>
          </a:p>
        </p:txBody>
      </p:sp>
      <p:cxnSp>
        <p:nvCxnSpPr>
          <p:cNvPr id="35" name="Connector 34"/>
          <p:cNvCxnSpPr/>
          <p:nvPr/>
        </p:nvCxnSpPr>
        <p:spPr>
          <a:xfrm>
            <a:off x="7879079" y="3886200"/>
            <a:ext cx="146304"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8034527" y="2331720"/>
            <a:ext cx="1706879"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8217407" y="2468879"/>
            <a:ext cx="1341119"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5</a:t>
            </a:r>
          </a:p>
        </p:txBody>
      </p:sp>
      <p:sp>
        <p:nvSpPr>
          <p:cNvPr id="38" name="Oval 37"/>
          <p:cNvSpPr/>
          <p:nvPr/>
        </p:nvSpPr>
        <p:spPr>
          <a:xfrm>
            <a:off x="8217407"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9" name="Picture 38" descr="eyecheck-FFFFFF.png"/>
          <p:cNvPicPr>
            <a:picLocks noChangeAspect="1"/>
          </p:cNvPicPr>
          <p:nvPr/>
        </p:nvPicPr>
        <p:blipFill>
          <a:blip r:embed="rId6"/>
          <a:stretch>
            <a:fillRect/>
          </a:stretch>
        </p:blipFill>
        <p:spPr>
          <a:xfrm>
            <a:off x="8331525" y="2948757"/>
            <a:ext cx="247253" cy="247253"/>
          </a:xfrm>
          <a:prstGeom prst="rect">
            <a:avLst/>
          </a:prstGeom>
        </p:spPr>
      </p:pic>
      <p:sp>
        <p:nvSpPr>
          <p:cNvPr id="40" name="TextBox 39"/>
          <p:cNvSpPr txBox="1"/>
          <p:nvPr/>
        </p:nvSpPr>
        <p:spPr>
          <a:xfrm>
            <a:off x="8217407" y="3410711"/>
            <a:ext cx="1386840"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Audit</a:t>
            </a:r>
          </a:p>
        </p:txBody>
      </p:sp>
      <p:sp>
        <p:nvSpPr>
          <p:cNvPr id="41" name="TextBox 40"/>
          <p:cNvSpPr txBox="1"/>
          <p:nvPr/>
        </p:nvSpPr>
        <p:spPr>
          <a:xfrm>
            <a:off x="8217407" y="3977639"/>
            <a:ext cx="1386840"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Auditor reviews C1–C10 / V1–V9.</a:t>
            </a:r>
          </a:p>
        </p:txBody>
      </p:sp>
      <p:cxnSp>
        <p:nvCxnSpPr>
          <p:cNvPr id="42" name="Connector 41"/>
          <p:cNvCxnSpPr/>
          <p:nvPr/>
        </p:nvCxnSpPr>
        <p:spPr>
          <a:xfrm>
            <a:off x="9750551" y="3886200"/>
            <a:ext cx="146305"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43" name="Rounded Rectangle 42"/>
          <p:cNvSpPr/>
          <p:nvPr/>
        </p:nvSpPr>
        <p:spPr>
          <a:xfrm>
            <a:off x="9905999" y="2331720"/>
            <a:ext cx="1706879" cy="3108960"/>
          </a:xfrm>
          <a:prstGeom prst="roundRect">
            <a:avLst>
              <a:gd name="adj" fmla="val 3500"/>
            </a:avLst>
          </a:prstGeom>
          <a:solidFill>
            <a:srgbClr val="C2603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10088879" y="2468879"/>
            <a:ext cx="1341119" cy="274320"/>
          </a:xfrm>
          <a:prstGeom prst="rect">
            <a:avLst/>
          </a:prstGeom>
          <a:noFill/>
        </p:spPr>
        <p:txBody>
          <a:bodyPr wrap="square" lIns="36576" rIns="36576" tIns="18288" bIns="18288" anchor="t">
            <a:spAutoFit/>
          </a:bodyPr>
          <a:lstStyle/>
          <a:p>
            <a:pPr algn="l">
              <a:lnSpc>
                <a:spcPct val="112000"/>
              </a:lnSpc>
            </a:pPr>
            <a:r>
              <a:rPr sz="950" b="1" i="0">
                <a:solidFill>
                  <a:srgbClr val="FFFFFF"/>
                </a:solidFill>
                <a:latin typeface="Calibri"/>
              </a:rPr>
              <a:t>HUMAN  ·  STEP 6</a:t>
            </a:r>
          </a:p>
        </p:txBody>
      </p:sp>
      <p:sp>
        <p:nvSpPr>
          <p:cNvPr id="45" name="Oval 44"/>
          <p:cNvSpPr/>
          <p:nvPr/>
        </p:nvSpPr>
        <p:spPr>
          <a:xfrm>
            <a:off x="10088879" y="2834639"/>
            <a:ext cx="475488" cy="475488"/>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6" name="Picture 45" descr="user-C2603F.png"/>
          <p:cNvPicPr>
            <a:picLocks noChangeAspect="1"/>
          </p:cNvPicPr>
          <p:nvPr/>
        </p:nvPicPr>
        <p:blipFill>
          <a:blip r:embed="rId7"/>
          <a:stretch>
            <a:fillRect/>
          </a:stretch>
        </p:blipFill>
        <p:spPr>
          <a:xfrm>
            <a:off x="10202997" y="2948757"/>
            <a:ext cx="247253" cy="247253"/>
          </a:xfrm>
          <a:prstGeom prst="rect">
            <a:avLst/>
          </a:prstGeom>
        </p:spPr>
      </p:pic>
      <p:sp>
        <p:nvSpPr>
          <p:cNvPr id="47" name="TextBox 46"/>
          <p:cNvSpPr txBox="1"/>
          <p:nvPr/>
        </p:nvSpPr>
        <p:spPr>
          <a:xfrm>
            <a:off x="10088879" y="3410711"/>
            <a:ext cx="1386840"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Board review</a:t>
            </a:r>
          </a:p>
        </p:txBody>
      </p:sp>
      <p:sp>
        <p:nvSpPr>
          <p:cNvPr id="48" name="TextBox 47"/>
          <p:cNvSpPr txBox="1"/>
          <p:nvPr/>
        </p:nvSpPr>
        <p:spPr>
          <a:xfrm>
            <a:off x="10088879" y="3977639"/>
            <a:ext cx="1386840" cy="1371600"/>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Approve or send back; release.</a:t>
            </a:r>
          </a:p>
        </p:txBody>
      </p:sp>
      <p:sp>
        <p:nvSpPr>
          <p:cNvPr id="49" name="TextBox 48"/>
          <p:cNvSpPr txBox="1"/>
          <p:nvPr/>
        </p:nvSpPr>
        <p:spPr>
          <a:xfrm>
            <a:off x="548640" y="5715000"/>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Checkpoint  </a:t>
            </a:r>
            <a:r>
              <a:rPr sz="1300" b="0" i="0">
                <a:solidFill>
                  <a:srgbClr val="C9C4B9"/>
                </a:solidFill>
                <a:latin typeface="Calibri"/>
              </a:rPr>
              <a:t>All 7 tasks done; at least one went back from in_review with a comment and returned improved; the release pack was approved by you with a comment.</a:t>
            </a:r>
          </a:p>
        </p:txBody>
      </p:sp>
    </p:spTree>
  </p:cSld>
  <p:clrMapOvr>
    <a:masterClrMapping/>
  </p:clrMapOvr>
  <p:transition spd="med">
    <p:fade/>
  </p:transition>
</p:sld>
</file>

<file path=ppt/slides/slide12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LAB 8</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The Launch Backlog (paperclip-backlog.csv)</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127</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graphicFrame>
        <p:nvGraphicFramePr>
          <p:cNvPr id="7" name="Table 6"/>
          <p:cNvGraphicFramePr>
            <a:graphicFrameLocks noGrp="1"/>
          </p:cNvGraphicFramePr>
          <p:nvPr/>
        </p:nvGraphicFramePr>
        <p:xfrm>
          <a:off x="548640" y="1691640"/>
          <a:ext cx="11064240" cy="4377690"/>
        </p:xfrm>
        <a:graphic>
          <a:graphicData uri="http://schemas.openxmlformats.org/drawingml/2006/table">
            <a:tbl>
              <a:tblPr firstRow="0" bandRow="0">
                <a:tableStyleId>{5C22544A-7EE6-4342-B048-85BDC9FD1C3A}</a:tableStyleId>
              </a:tblPr>
              <a:tblGrid>
                <a:gridCol w="548640"/>
                <a:gridCol w="5852160"/>
                <a:gridCol w="2926080"/>
                <a:gridCol w="1737360"/>
              </a:tblGrid>
              <a:tr h="457200">
                <a:tc>
                  <a:txBody>
                    <a:bodyPr wrap="square"/>
                    <a:lstStyle/>
                    <a:p>
                      <a:r>
                        <a:rPr b="1" sz="1550">
                          <a:solidFill>
                            <a:srgbClr val="FFFFFF"/>
                          </a:solidFill>
                          <a:latin typeface="Cambria"/>
                        </a:rPr>
                        <a:t>#</a:t>
                      </a:r>
                    </a:p>
                  </a:txBody>
                  <a:tcPr marL="64008" marR="64008" marT="27432" marB="27432" anchor="ctr">
                    <a:solidFill>
                      <a:srgbClr val="21201C"/>
                    </a:solidFill>
                  </a:tcPr>
                </a:tc>
                <a:tc>
                  <a:txBody>
                    <a:bodyPr wrap="square"/>
                    <a:lstStyle/>
                    <a:p>
                      <a:r>
                        <a:rPr b="1" sz="1550">
                          <a:solidFill>
                            <a:srgbClr val="FFFFFF"/>
                          </a:solidFill>
                          <a:latin typeface="Cambria"/>
                        </a:rPr>
                        <a:t>Issue</a:t>
                      </a:r>
                    </a:p>
                  </a:txBody>
                  <a:tcPr marL="64008" marR="64008" marT="27432" marB="27432" anchor="ctr">
                    <a:solidFill>
                      <a:srgbClr val="21201C"/>
                    </a:solidFill>
                  </a:tcPr>
                </a:tc>
                <a:tc>
                  <a:txBody>
                    <a:bodyPr wrap="square"/>
                    <a:lstStyle/>
                    <a:p>
                      <a:r>
                        <a:rPr b="1" sz="1550">
                          <a:solidFill>
                            <a:srgbClr val="FFFFFF"/>
                          </a:solidFill>
                          <a:latin typeface="Cambria"/>
                        </a:rPr>
                        <a:t>Owner</a:t>
                      </a:r>
                    </a:p>
                  </a:txBody>
                  <a:tcPr marL="64008" marR="64008" marT="27432" marB="27432" anchor="ctr">
                    <a:solidFill>
                      <a:srgbClr val="21201C"/>
                    </a:solidFill>
                  </a:tcPr>
                </a:tc>
                <a:tc>
                  <a:txBody>
                    <a:bodyPr wrap="square"/>
                    <a:lstStyle/>
                    <a:p>
                      <a:r>
                        <a:rPr b="1" sz="1550">
                          <a:solidFill>
                            <a:srgbClr val="FFFFFF"/>
                          </a:solidFill>
                          <a:latin typeface="Cambria"/>
                        </a:rPr>
                        <a:t>Blocked by</a:t>
                      </a:r>
                    </a:p>
                  </a:txBody>
                  <a:tcPr marL="64008" marR="64008" marT="27432" marB="27432" anchor="ctr">
                    <a:solidFill>
                      <a:srgbClr val="21201C"/>
                    </a:solidFill>
                  </a:tcPr>
                </a:tc>
              </a:tr>
              <a:tr h="560070">
                <a:tc>
                  <a:txBody>
                    <a:bodyPr wrap="square"/>
                    <a:lstStyle/>
                    <a:p>
                      <a:r>
                        <a:rPr b="1" sz="1500">
                          <a:solidFill>
                            <a:srgbClr val="21201C"/>
                          </a:solidFill>
                          <a:latin typeface="Cambria"/>
                        </a:rPr>
                        <a:t>1</a:t>
                      </a:r>
                    </a:p>
                  </a:txBody>
                  <a:tcPr marL="64008" marR="64008" marT="27432" marB="27432" anchor="ctr">
                    <a:solidFill>
                      <a:srgbClr val="FFFFFF"/>
                    </a:solidFill>
                  </a:tcPr>
                </a:tc>
                <a:tc>
                  <a:txBody>
                    <a:bodyPr wrap="square"/>
                    <a:lstStyle/>
                    <a:p>
                      <a:r>
                        <a:rPr b="0" sz="1500">
                          <a:solidFill>
                            <a:srgbClr val="6B6862"/>
                          </a:solidFill>
                          <a:latin typeface="Calibri"/>
                        </a:rPr>
                        <a:t>Research SG cold-brew trends &amp; competitor moves</a:t>
                      </a:r>
                    </a:p>
                  </a:txBody>
                  <a:tcPr marL="64008" marR="64008" marT="27432" marB="27432" anchor="ctr">
                    <a:solidFill>
                      <a:srgbClr val="FFFFFF"/>
                    </a:solidFill>
                  </a:tcPr>
                </a:tc>
                <a:tc>
                  <a:txBody>
                    <a:bodyPr wrap="square"/>
                    <a:lstStyle/>
                    <a:p>
                      <a:r>
                        <a:rPr b="0" sz="1500">
                          <a:solidFill>
                            <a:srgbClr val="6B6862"/>
                          </a:solidFill>
                          <a:latin typeface="Calibri"/>
                        </a:rPr>
                        <a:t>Market Researcher</a:t>
                      </a:r>
                    </a:p>
                  </a:txBody>
                  <a:tcPr marL="64008" marR="64008" marT="27432" marB="27432" anchor="ctr">
                    <a:solidFill>
                      <a:srgbClr val="FFFFFF"/>
                    </a:solidFill>
                  </a:tcPr>
                </a:tc>
                <a:tc>
                  <a:txBody>
                    <a:bodyPr wrap="square"/>
                    <a:lstStyle/>
                    <a:p>
                      <a:r>
                        <a:rPr b="0" sz="1500">
                          <a:solidFill>
                            <a:srgbClr val="6B6862"/>
                          </a:solidFill>
                          <a:latin typeface="Calibri"/>
                        </a:rPr>
                        <a:t>—</a:t>
                      </a:r>
                    </a:p>
                  </a:txBody>
                  <a:tcPr marL="64008" marR="64008" marT="27432" marB="27432" anchor="ctr">
                    <a:solidFill>
                      <a:srgbClr val="FFFFFF"/>
                    </a:solidFill>
                  </a:tcPr>
                </a:tc>
              </a:tr>
              <a:tr h="560070">
                <a:tc>
                  <a:txBody>
                    <a:bodyPr wrap="square"/>
                    <a:lstStyle/>
                    <a:p>
                      <a:r>
                        <a:rPr b="1" sz="1500">
                          <a:solidFill>
                            <a:srgbClr val="21201C"/>
                          </a:solidFill>
                          <a:latin typeface="Cambria"/>
                        </a:rPr>
                        <a:t>2</a:t>
                      </a:r>
                    </a:p>
                  </a:txBody>
                  <a:tcPr marL="64008" marR="64008" marT="27432" marB="27432" anchor="ctr">
                    <a:solidFill>
                      <a:srgbClr val="F3F1EB"/>
                    </a:solidFill>
                  </a:tcPr>
                </a:tc>
                <a:tc>
                  <a:txBody>
                    <a:bodyPr wrap="square"/>
                    <a:lstStyle/>
                    <a:p>
                      <a:r>
                        <a:rPr b="0" sz="1500">
                          <a:solidFill>
                            <a:srgbClr val="6B6862"/>
                          </a:solidFill>
                          <a:latin typeface="Calibri"/>
                        </a:rPr>
                        <a:t>Campaign plan + 4-week content calendar</a:t>
                      </a:r>
                    </a:p>
                  </a:txBody>
                  <a:tcPr marL="64008" marR="64008" marT="27432" marB="27432" anchor="ctr">
                    <a:solidFill>
                      <a:srgbClr val="F3F1EB"/>
                    </a:solidFill>
                  </a:tcPr>
                </a:tc>
                <a:tc>
                  <a:txBody>
                    <a:bodyPr wrap="square"/>
                    <a:lstStyle/>
                    <a:p>
                      <a:r>
                        <a:rPr b="0" sz="1500">
                          <a:solidFill>
                            <a:srgbClr val="6B6862"/>
                          </a:solidFill>
                          <a:latin typeface="Calibri"/>
                        </a:rPr>
                        <a:t>Content Strategist</a:t>
                      </a:r>
                    </a:p>
                  </a:txBody>
                  <a:tcPr marL="64008" marR="64008" marT="27432" marB="27432" anchor="ctr">
                    <a:solidFill>
                      <a:srgbClr val="F3F1EB"/>
                    </a:solidFill>
                  </a:tcPr>
                </a:tc>
                <a:tc>
                  <a:txBody>
                    <a:bodyPr wrap="square"/>
                    <a:lstStyle/>
                    <a:p>
                      <a:r>
                        <a:rPr b="0" sz="1500">
                          <a:solidFill>
                            <a:srgbClr val="6B6862"/>
                          </a:solidFill>
                          <a:latin typeface="Calibri"/>
                        </a:rPr>
                        <a:t>1</a:t>
                      </a:r>
                    </a:p>
                  </a:txBody>
                  <a:tcPr marL="64008" marR="64008" marT="27432" marB="27432" anchor="ctr">
                    <a:solidFill>
                      <a:srgbClr val="F3F1EB"/>
                    </a:solidFill>
                  </a:tcPr>
                </a:tc>
              </a:tr>
              <a:tr h="560070">
                <a:tc>
                  <a:txBody>
                    <a:bodyPr wrap="square"/>
                    <a:lstStyle/>
                    <a:p>
                      <a:r>
                        <a:rPr b="1" sz="1500">
                          <a:solidFill>
                            <a:srgbClr val="21201C"/>
                          </a:solidFill>
                          <a:latin typeface="Cambria"/>
                        </a:rPr>
                        <a:t>3</a:t>
                      </a:r>
                    </a:p>
                  </a:txBody>
                  <a:tcPr marL="64008" marR="64008" marT="27432" marB="27432" anchor="ctr">
                    <a:solidFill>
                      <a:srgbClr val="FFFFFF"/>
                    </a:solidFill>
                  </a:tcPr>
                </a:tc>
                <a:tc>
                  <a:txBody>
                    <a:bodyPr wrap="square"/>
                    <a:lstStyle/>
                    <a:p>
                      <a:r>
                        <a:rPr b="0" sz="1500">
                          <a:solidFill>
                            <a:srgbClr val="6B6862"/>
                          </a:solidFill>
                          <a:latin typeface="Calibri"/>
                        </a:rPr>
                        <a:t>Teaser-week captions (7 posts)</a:t>
                      </a:r>
                    </a:p>
                  </a:txBody>
                  <a:tcPr marL="64008" marR="64008" marT="27432" marB="27432" anchor="ctr">
                    <a:solidFill>
                      <a:srgbClr val="FFFFFF"/>
                    </a:solidFill>
                  </a:tcPr>
                </a:tc>
                <a:tc>
                  <a:txBody>
                    <a:bodyPr wrap="square"/>
                    <a:lstStyle/>
                    <a:p>
                      <a:r>
                        <a:rPr b="0" sz="1500">
                          <a:solidFill>
                            <a:srgbClr val="6B6862"/>
                          </a:solidFill>
                          <a:latin typeface="Calibri"/>
                        </a:rPr>
                        <a:t>Copywriter</a:t>
                      </a:r>
                    </a:p>
                  </a:txBody>
                  <a:tcPr marL="64008" marR="64008" marT="27432" marB="27432" anchor="ctr">
                    <a:solidFill>
                      <a:srgbClr val="FFFFFF"/>
                    </a:solidFill>
                  </a:tcPr>
                </a:tc>
                <a:tc>
                  <a:txBody>
                    <a:bodyPr wrap="square"/>
                    <a:lstStyle/>
                    <a:p>
                      <a:r>
                        <a:rPr b="0" sz="1500">
                          <a:solidFill>
                            <a:srgbClr val="6B6862"/>
                          </a:solidFill>
                          <a:latin typeface="Calibri"/>
                        </a:rPr>
                        <a:t>2</a:t>
                      </a:r>
                    </a:p>
                  </a:txBody>
                  <a:tcPr marL="64008" marR="64008" marT="27432" marB="27432" anchor="ctr">
                    <a:solidFill>
                      <a:srgbClr val="FFFFFF"/>
                    </a:solidFill>
                  </a:tcPr>
                </a:tc>
              </a:tr>
              <a:tr h="560070">
                <a:tc>
                  <a:txBody>
                    <a:bodyPr wrap="square"/>
                    <a:lstStyle/>
                    <a:p>
                      <a:r>
                        <a:rPr b="1" sz="1500">
                          <a:solidFill>
                            <a:srgbClr val="21201C"/>
                          </a:solidFill>
                          <a:latin typeface="Cambria"/>
                        </a:rPr>
                        <a:t>4</a:t>
                      </a:r>
                    </a:p>
                  </a:txBody>
                  <a:tcPr marL="64008" marR="64008" marT="27432" marB="27432" anchor="ctr">
                    <a:solidFill>
                      <a:srgbClr val="F3F1EB"/>
                    </a:solidFill>
                  </a:tcPr>
                </a:tc>
                <a:tc>
                  <a:txBody>
                    <a:bodyPr wrap="square"/>
                    <a:lstStyle/>
                    <a:p>
                      <a:r>
                        <a:rPr b="0" sz="1500">
                          <a:solidFill>
                            <a:srgbClr val="6B6862"/>
                          </a:solidFill>
                          <a:latin typeface="Calibri"/>
                        </a:rPr>
                        <a:t>Script &amp; storyboard the 25-s launch video</a:t>
                      </a:r>
                    </a:p>
                  </a:txBody>
                  <a:tcPr marL="64008" marR="64008" marT="27432" marB="27432" anchor="ctr">
                    <a:solidFill>
                      <a:srgbClr val="F3F1EB"/>
                    </a:solidFill>
                  </a:tcPr>
                </a:tc>
                <a:tc>
                  <a:txBody>
                    <a:bodyPr wrap="square"/>
                    <a:lstStyle/>
                    <a:p>
                      <a:r>
                        <a:rPr b="0" sz="1500">
                          <a:solidFill>
                            <a:srgbClr val="6B6862"/>
                          </a:solidFill>
                          <a:latin typeface="Calibri"/>
                        </a:rPr>
                        <a:t>Video Producer</a:t>
                      </a:r>
                    </a:p>
                  </a:txBody>
                  <a:tcPr marL="64008" marR="64008" marT="27432" marB="27432" anchor="ctr">
                    <a:solidFill>
                      <a:srgbClr val="F3F1EB"/>
                    </a:solidFill>
                  </a:tcPr>
                </a:tc>
                <a:tc>
                  <a:txBody>
                    <a:bodyPr wrap="square"/>
                    <a:lstStyle/>
                    <a:p>
                      <a:r>
                        <a:rPr b="0" sz="1500">
                          <a:solidFill>
                            <a:srgbClr val="6B6862"/>
                          </a:solidFill>
                          <a:latin typeface="Calibri"/>
                        </a:rPr>
                        <a:t>2</a:t>
                      </a:r>
                    </a:p>
                  </a:txBody>
                  <a:tcPr marL="64008" marR="64008" marT="27432" marB="27432" anchor="ctr">
                    <a:solidFill>
                      <a:srgbClr val="F3F1EB"/>
                    </a:solidFill>
                  </a:tcPr>
                </a:tc>
              </a:tr>
              <a:tr h="560070">
                <a:tc>
                  <a:txBody>
                    <a:bodyPr wrap="square"/>
                    <a:lstStyle/>
                    <a:p>
                      <a:r>
                        <a:rPr b="1" sz="1500">
                          <a:solidFill>
                            <a:srgbClr val="21201C"/>
                          </a:solidFill>
                          <a:latin typeface="Cambria"/>
                        </a:rPr>
                        <a:t>5</a:t>
                      </a:r>
                    </a:p>
                  </a:txBody>
                  <a:tcPr marL="64008" marR="64008" marT="27432" marB="27432" anchor="ctr">
                    <a:solidFill>
                      <a:srgbClr val="FFFFFF"/>
                    </a:solidFill>
                  </a:tcPr>
                </a:tc>
                <a:tc>
                  <a:txBody>
                    <a:bodyPr wrap="square"/>
                    <a:lstStyle/>
                    <a:p>
                      <a:r>
                        <a:rPr b="0" sz="1500">
                          <a:solidFill>
                            <a:srgbClr val="6B6862"/>
                          </a:solidFill>
                          <a:latin typeface="Calibri"/>
                        </a:rPr>
                        <a:t>Render video + publish package</a:t>
                      </a:r>
                    </a:p>
                  </a:txBody>
                  <a:tcPr marL="64008" marR="64008" marT="27432" marB="27432" anchor="ctr">
                    <a:solidFill>
                      <a:srgbClr val="FFFFFF"/>
                    </a:solidFill>
                  </a:tcPr>
                </a:tc>
                <a:tc>
                  <a:txBody>
                    <a:bodyPr wrap="square"/>
                    <a:lstStyle/>
                    <a:p>
                      <a:r>
                        <a:rPr b="0" sz="1500">
                          <a:solidFill>
                            <a:srgbClr val="6B6862"/>
                          </a:solidFill>
                          <a:latin typeface="Calibri"/>
                        </a:rPr>
                        <a:t>Video Producer</a:t>
                      </a:r>
                    </a:p>
                  </a:txBody>
                  <a:tcPr marL="64008" marR="64008" marT="27432" marB="27432" anchor="ctr">
                    <a:solidFill>
                      <a:srgbClr val="FFFFFF"/>
                    </a:solidFill>
                  </a:tcPr>
                </a:tc>
                <a:tc>
                  <a:txBody>
                    <a:bodyPr wrap="square"/>
                    <a:lstStyle/>
                    <a:p>
                      <a:r>
                        <a:rPr b="0" sz="1500">
                          <a:solidFill>
                            <a:srgbClr val="6B6862"/>
                          </a:solidFill>
                          <a:latin typeface="Calibri"/>
                        </a:rPr>
                        <a:t>4</a:t>
                      </a:r>
                    </a:p>
                  </a:txBody>
                  <a:tcPr marL="64008" marR="64008" marT="27432" marB="27432" anchor="ctr">
                    <a:solidFill>
                      <a:srgbClr val="FFFFFF"/>
                    </a:solidFill>
                  </a:tcPr>
                </a:tc>
              </a:tr>
              <a:tr h="560070">
                <a:tc>
                  <a:txBody>
                    <a:bodyPr wrap="square"/>
                    <a:lstStyle/>
                    <a:p>
                      <a:r>
                        <a:rPr b="1" sz="1500">
                          <a:solidFill>
                            <a:srgbClr val="21201C"/>
                          </a:solidFill>
                          <a:latin typeface="Cambria"/>
                        </a:rPr>
                        <a:t>6</a:t>
                      </a:r>
                    </a:p>
                  </a:txBody>
                  <a:tcPr marL="64008" marR="64008" marT="27432" marB="27432" anchor="ctr">
                    <a:solidFill>
                      <a:srgbClr val="F3F1EB"/>
                    </a:solidFill>
                  </a:tcPr>
                </a:tc>
                <a:tc>
                  <a:txBody>
                    <a:bodyPr wrap="square"/>
                    <a:lstStyle/>
                    <a:p>
                      <a:r>
                        <a:rPr b="0" sz="1500">
                          <a:solidFill>
                            <a:srgbClr val="6B6862"/>
                          </a:solidFill>
                          <a:latin typeface="Calibri"/>
                        </a:rPr>
                        <a:t>Compliance audit of captions and video</a:t>
                      </a:r>
                    </a:p>
                  </a:txBody>
                  <a:tcPr marL="64008" marR="64008" marT="27432" marB="27432" anchor="ctr">
                    <a:solidFill>
                      <a:srgbClr val="F3F1EB"/>
                    </a:solidFill>
                  </a:tcPr>
                </a:tc>
                <a:tc>
                  <a:txBody>
                    <a:bodyPr wrap="square"/>
                    <a:lstStyle/>
                    <a:p>
                      <a:r>
                        <a:rPr b="0" sz="1500">
                          <a:solidFill>
                            <a:srgbClr val="6B6862"/>
                          </a:solidFill>
                          <a:latin typeface="Calibri"/>
                        </a:rPr>
                        <a:t>Compliance Auditor</a:t>
                      </a:r>
                    </a:p>
                  </a:txBody>
                  <a:tcPr marL="64008" marR="64008" marT="27432" marB="27432" anchor="ctr">
                    <a:solidFill>
                      <a:srgbClr val="F3F1EB"/>
                    </a:solidFill>
                  </a:tcPr>
                </a:tc>
                <a:tc>
                  <a:txBody>
                    <a:bodyPr wrap="square"/>
                    <a:lstStyle/>
                    <a:p>
                      <a:r>
                        <a:rPr b="0" sz="1500">
                          <a:solidFill>
                            <a:srgbClr val="6B6862"/>
                          </a:solidFill>
                          <a:latin typeface="Calibri"/>
                        </a:rPr>
                        <a:t>3, 5</a:t>
                      </a:r>
                    </a:p>
                  </a:txBody>
                  <a:tcPr marL="64008" marR="64008" marT="27432" marB="27432" anchor="ctr">
                    <a:solidFill>
                      <a:srgbClr val="F3F1EB"/>
                    </a:solidFill>
                  </a:tcPr>
                </a:tc>
              </a:tr>
              <a:tr h="560070">
                <a:tc>
                  <a:txBody>
                    <a:bodyPr wrap="square"/>
                    <a:lstStyle/>
                    <a:p>
                      <a:r>
                        <a:rPr b="1" sz="1500">
                          <a:solidFill>
                            <a:srgbClr val="21201C"/>
                          </a:solidFill>
                          <a:latin typeface="Cambria"/>
                        </a:rPr>
                        <a:t>7</a:t>
                      </a:r>
                    </a:p>
                  </a:txBody>
                  <a:tcPr marL="64008" marR="64008" marT="27432" marB="27432" anchor="ctr">
                    <a:solidFill>
                      <a:srgbClr val="FFFFFF"/>
                    </a:solidFill>
                  </a:tcPr>
                </a:tc>
                <a:tc>
                  <a:txBody>
                    <a:bodyPr wrap="square"/>
                    <a:lstStyle/>
                    <a:p>
                      <a:r>
                        <a:rPr b="0" sz="1500">
                          <a:solidFill>
                            <a:srgbClr val="6B6862"/>
                          </a:solidFill>
                          <a:latin typeface="Calibri"/>
                        </a:rPr>
                        <a:t>Board review &amp; release pack</a:t>
                      </a:r>
                    </a:p>
                  </a:txBody>
                  <a:tcPr marL="64008" marR="64008" marT="27432" marB="27432" anchor="ctr">
                    <a:solidFill>
                      <a:srgbClr val="FFFFFF"/>
                    </a:solidFill>
                  </a:tcPr>
                </a:tc>
                <a:tc>
                  <a:txBody>
                    <a:bodyPr wrap="square"/>
                    <a:lstStyle/>
                    <a:p>
                      <a:r>
                        <a:rPr b="0" sz="1500">
                          <a:solidFill>
                            <a:srgbClr val="6B6862"/>
                          </a:solidFill>
                          <a:latin typeface="Calibri"/>
                        </a:rPr>
                        <a:t>CEO</a:t>
                      </a:r>
                    </a:p>
                  </a:txBody>
                  <a:tcPr marL="64008" marR="64008" marT="27432" marB="27432" anchor="ctr">
                    <a:solidFill>
                      <a:srgbClr val="FFFFFF"/>
                    </a:solidFill>
                  </a:tcPr>
                </a:tc>
                <a:tc>
                  <a:txBody>
                    <a:bodyPr wrap="square"/>
                    <a:lstStyle/>
                    <a:p>
                      <a:r>
                        <a:rPr b="0" sz="1500">
                          <a:solidFill>
                            <a:srgbClr val="6B6862"/>
                          </a:solidFill>
                          <a:latin typeface="Calibri"/>
                        </a:rPr>
                        <a:t>6</a:t>
                      </a:r>
                    </a:p>
                  </a:txBody>
                  <a:tcPr marL="64008" marR="64008" marT="27432" marB="27432" anchor="ctr">
                    <a:solidFill>
                      <a:srgbClr val="FFFFFF"/>
                    </a:solidFill>
                  </a:tcPr>
                </a:tc>
              </a:tr>
            </a:tbl>
          </a:graphicData>
        </a:graphic>
      </p:graphicFrame>
    </p:spTree>
  </p:cSld>
  <p:clrMapOvr>
    <a:masterClrMapping/>
  </p:clrMapOvr>
  <p:transition spd="med">
    <p:fade/>
  </p:transition>
</p:sld>
</file>

<file path=ppt/slides/slide12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LAB 8</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Issues Flow to the Board</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128</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2807208" y="1682496"/>
            <a:ext cx="6547104" cy="4133088"/>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pc-tasks.png"/>
          <p:cNvPicPr>
            <a:picLocks noChangeAspect="1"/>
          </p:cNvPicPr>
          <p:nvPr/>
        </p:nvPicPr>
        <p:blipFill>
          <a:blip r:embed="rId2"/>
          <a:stretch>
            <a:fillRect/>
          </a:stretch>
        </p:blipFill>
        <p:spPr>
          <a:xfrm>
            <a:off x="2862072" y="1737360"/>
            <a:ext cx="6437376" cy="4023360"/>
          </a:xfrm>
          <a:prstGeom prst="rect">
            <a:avLst/>
          </a:prstGeom>
        </p:spPr>
      </p:pic>
      <p:sp>
        <p:nvSpPr>
          <p:cNvPr id="9" name="TextBox 8"/>
          <p:cNvSpPr txBox="1"/>
          <p:nvPr/>
        </p:nvSpPr>
        <p:spPr>
          <a:xfrm>
            <a:off x="548640" y="5870448"/>
            <a:ext cx="11064240" cy="50292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  </a:t>
            </a:r>
            <a:r>
              <a:rPr sz="1250" b="0" i="0">
                <a:solidFill>
                  <a:srgbClr val="6B6862"/>
                </a:solidFill>
                <a:latin typeface="Calibri"/>
              </a:rPr>
              <a:t>todo → in_progress → in_review → done. in_review is your quality gate: approve, or request changes with specific comments.</a:t>
            </a:r>
          </a:p>
        </p:txBody>
      </p:sp>
    </p:spTree>
  </p:cSld>
  <p:clrMapOvr>
    <a:masterClrMapping/>
  </p:clrMapOvr>
  <p:transition spd="med">
    <p:fade/>
  </p:transition>
</p:sld>
</file>

<file path=ppt/slides/slide12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LAB 8</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Let the CEO build the backlog</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129</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37360"/>
            <a:ext cx="7040880" cy="4480560"/>
          </a:xfrm>
          <a:prstGeom prst="roundRect">
            <a:avLst>
              <a:gd name="adj" fmla="val 3500"/>
            </a:avLst>
          </a:prstGeom>
          <a:solidFill>
            <a:srgbClr val="2B2924"/>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49808" y="1901952"/>
            <a:ext cx="118872" cy="118872"/>
          </a:xfrm>
          <a:prstGeom prst="ellipse">
            <a:avLst/>
          </a:prstGeom>
          <a:solidFill>
            <a:srgbClr val="E06C5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69264" y="1901952"/>
            <a:ext cx="118872" cy="118872"/>
          </a:xfrm>
          <a:prstGeom prst="ellipse">
            <a:avLst/>
          </a:prstGeom>
          <a:solidFill>
            <a:srgbClr val="E5B45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88719" y="1901952"/>
            <a:ext cx="118872" cy="118872"/>
          </a:xfrm>
          <a:prstGeom prst="ellipse">
            <a:avLst/>
          </a:prstGeom>
          <a:solidFill>
            <a:srgbClr val="7DB36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463040" y="1828800"/>
            <a:ext cx="5943600" cy="274320"/>
          </a:xfrm>
          <a:prstGeom prst="rect">
            <a:avLst/>
          </a:prstGeom>
          <a:noFill/>
        </p:spPr>
        <p:txBody>
          <a:bodyPr wrap="square" lIns="36576" rIns="36576" tIns="18288" bIns="18288" anchor="t">
            <a:spAutoFit/>
          </a:bodyPr>
          <a:lstStyle/>
          <a:p>
            <a:pPr algn="l">
              <a:lnSpc>
                <a:spcPct val="112000"/>
              </a:lnSpc>
            </a:pPr>
            <a:r>
              <a:rPr sz="1000" b="0" i="0">
                <a:solidFill>
                  <a:srgbClr val="B9B4A9"/>
                </a:solidFill>
                <a:latin typeface="Calibri"/>
              </a:rPr>
              <a:t>PROMPT  ·  copy from the Lab Prompts page</a:t>
            </a:r>
          </a:p>
        </p:txBody>
      </p:sp>
      <p:sp>
        <p:nvSpPr>
          <p:cNvPr id="12" name="TextBox 11"/>
          <p:cNvSpPr txBox="1"/>
          <p:nvPr/>
        </p:nvSpPr>
        <p:spPr>
          <a:xfrm>
            <a:off x="777240" y="2194560"/>
            <a:ext cx="6583680" cy="3913632"/>
          </a:xfrm>
          <a:prstGeom prst="rect">
            <a:avLst/>
          </a:prstGeom>
          <a:noFill/>
        </p:spPr>
        <p:txBody>
          <a:bodyPr wrap="square" lIns="36576" rIns="36576" tIns="18288" bIns="18288" anchor="t">
            <a:spAutoFit/>
          </a:bodyPr>
          <a:lstStyle/>
          <a:p>
            <a:pPr algn="l">
              <a:lnSpc>
                <a:spcPct val="110000"/>
              </a:lnSpc>
            </a:pPr>
            <a:r>
              <a:rPr sz="1300" b="0" i="0">
                <a:solidFill>
                  <a:srgbClr val="F1EDE4"/>
                </a:solidFill>
                <a:latin typeface="Consolas"/>
              </a:rPr>
              <a:t>Set up the ShiokColdBrew Launch backlog.</a:t>
            </a:r>
          </a:p>
          <a:p>
            <a:pPr algn="l">
              <a:lnSpc>
                <a:spcPct val="110000"/>
              </a:lnSpc>
            </a:pPr>
            <a:r>
              <a:rPr sz="1300" b="0" i="0">
                <a:solidFill>
                  <a:srgbClr val="F1EDE4"/>
                </a:solidFill>
                <a:latin typeface="Consolas"/>
              </a:rPr>
              <a:t>Create the 7 tasks in paperclip-backlog.csv inside project "ShiokColdBrew Launch" - same titles, assignees, priorities, blocked-by links and definitions of done (paste the definition of done into each task). Tasks 1 and 2 must start from the Day 1 research brief and content calendar attached to the project. Reply with the task keys.</a:t>
            </a:r>
          </a:p>
        </p:txBody>
      </p:sp>
      <p:sp>
        <p:nvSpPr>
          <p:cNvPr id="13" name="Oval 12"/>
          <p:cNvSpPr/>
          <p:nvPr/>
        </p:nvSpPr>
        <p:spPr>
          <a:xfrm>
            <a:off x="7863840" y="177393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chat-FFFFFF.png"/>
          <p:cNvPicPr>
            <a:picLocks noChangeAspect="1"/>
          </p:cNvPicPr>
          <p:nvPr/>
        </p:nvPicPr>
        <p:blipFill>
          <a:blip r:embed="rId2"/>
          <a:stretch>
            <a:fillRect/>
          </a:stretch>
        </p:blipFill>
        <p:spPr>
          <a:xfrm>
            <a:off x="7973567" y="1883664"/>
            <a:ext cx="237744" cy="237744"/>
          </a:xfrm>
          <a:prstGeom prst="rect">
            <a:avLst/>
          </a:prstGeom>
        </p:spPr>
      </p:pic>
      <p:sp>
        <p:nvSpPr>
          <p:cNvPr id="15" name="TextBox 14"/>
          <p:cNvSpPr txBox="1"/>
          <p:nvPr/>
        </p:nvSpPr>
        <p:spPr>
          <a:xfrm>
            <a:off x="8458200" y="173736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Paste into</a:t>
            </a:r>
          </a:p>
        </p:txBody>
      </p:sp>
      <p:sp>
        <p:nvSpPr>
          <p:cNvPr id="16" name="TextBox 15"/>
          <p:cNvSpPr txBox="1"/>
          <p:nvPr/>
        </p:nvSpPr>
        <p:spPr>
          <a:xfrm>
            <a:off x="8458200" y="210312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Paperclip → New Task (assign to Ava, project ShiokColdBrew Launch)</a:t>
            </a:r>
          </a:p>
        </p:txBody>
      </p:sp>
      <p:sp>
        <p:nvSpPr>
          <p:cNvPr id="17" name="Oval 16"/>
          <p:cNvSpPr/>
          <p:nvPr/>
        </p:nvSpPr>
        <p:spPr>
          <a:xfrm>
            <a:off x="7863840" y="326745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check-FFFFFF.png"/>
          <p:cNvPicPr>
            <a:picLocks noChangeAspect="1"/>
          </p:cNvPicPr>
          <p:nvPr/>
        </p:nvPicPr>
        <p:blipFill>
          <a:blip r:embed="rId3"/>
          <a:stretch>
            <a:fillRect/>
          </a:stretch>
        </p:blipFill>
        <p:spPr>
          <a:xfrm>
            <a:off x="7973567" y="3377184"/>
            <a:ext cx="237744" cy="237744"/>
          </a:xfrm>
          <a:prstGeom prst="rect">
            <a:avLst/>
          </a:prstGeom>
        </p:spPr>
      </p:pic>
      <p:sp>
        <p:nvSpPr>
          <p:cNvPr id="19" name="TextBox 18"/>
          <p:cNvSpPr txBox="1"/>
          <p:nvPr/>
        </p:nvSpPr>
        <p:spPr>
          <a:xfrm>
            <a:off x="8458200" y="323088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Expect</a:t>
            </a:r>
          </a:p>
        </p:txBody>
      </p:sp>
      <p:sp>
        <p:nvSpPr>
          <p:cNvPr id="20" name="TextBox 19"/>
          <p:cNvSpPr txBox="1"/>
          <p:nvPr/>
        </p:nvSpPr>
        <p:spPr>
          <a:xfrm>
            <a:off x="8458200" y="359664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7 tasks with owners and blocked-by relationships.</a:t>
            </a:r>
          </a:p>
        </p:txBody>
      </p:sp>
      <p:sp>
        <p:nvSpPr>
          <p:cNvPr id="21" name="Oval 20"/>
          <p:cNvSpPr/>
          <p:nvPr/>
        </p:nvSpPr>
        <p:spPr>
          <a:xfrm>
            <a:off x="7863840" y="476097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hand-FFFFFF.png"/>
          <p:cNvPicPr>
            <a:picLocks noChangeAspect="1"/>
          </p:cNvPicPr>
          <p:nvPr/>
        </p:nvPicPr>
        <p:blipFill>
          <a:blip r:embed="rId4"/>
          <a:stretch>
            <a:fillRect/>
          </a:stretch>
        </p:blipFill>
        <p:spPr>
          <a:xfrm>
            <a:off x="7973567" y="4870704"/>
            <a:ext cx="237744" cy="237744"/>
          </a:xfrm>
          <a:prstGeom prst="rect">
            <a:avLst/>
          </a:prstGeom>
        </p:spPr>
      </p:pic>
      <p:sp>
        <p:nvSpPr>
          <p:cNvPr id="23" name="TextBox 22"/>
          <p:cNvSpPr txBox="1"/>
          <p:nvPr/>
        </p:nvSpPr>
        <p:spPr>
          <a:xfrm>
            <a:off x="8458200" y="472440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You decide</a:t>
            </a:r>
          </a:p>
        </p:txBody>
      </p:sp>
      <p:sp>
        <p:nvSpPr>
          <p:cNvPr id="24" name="TextBox 23"/>
          <p:cNvSpPr txBox="1"/>
          <p:nvPr/>
        </p:nvSpPr>
        <p:spPr>
          <a:xfrm>
            <a:off x="8458200" y="509016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Approve or send back every public deliverable; release</a:t>
            </a:r>
          </a:p>
        </p:txBody>
      </p:sp>
    </p:spTree>
  </p:cSld>
  <p:clrMapOvr>
    <a:masterClrMapping/>
  </p:clrMapOvr>
  <p:transition spd="med">
    <p:fade/>
  </p:transition>
</p:sld>
</file>

<file path=ppt/slides/slide13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LAB 8</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Run the retrospective</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130</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37360"/>
            <a:ext cx="7040880" cy="4480560"/>
          </a:xfrm>
          <a:prstGeom prst="roundRect">
            <a:avLst>
              <a:gd name="adj" fmla="val 3500"/>
            </a:avLst>
          </a:prstGeom>
          <a:solidFill>
            <a:srgbClr val="2B2924"/>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49808" y="1901952"/>
            <a:ext cx="118872" cy="118872"/>
          </a:xfrm>
          <a:prstGeom prst="ellipse">
            <a:avLst/>
          </a:prstGeom>
          <a:solidFill>
            <a:srgbClr val="E06C5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69264" y="1901952"/>
            <a:ext cx="118872" cy="118872"/>
          </a:xfrm>
          <a:prstGeom prst="ellipse">
            <a:avLst/>
          </a:prstGeom>
          <a:solidFill>
            <a:srgbClr val="E5B45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88719" y="1901952"/>
            <a:ext cx="118872" cy="118872"/>
          </a:xfrm>
          <a:prstGeom prst="ellipse">
            <a:avLst/>
          </a:prstGeom>
          <a:solidFill>
            <a:srgbClr val="7DB36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463040" y="1828800"/>
            <a:ext cx="5943600" cy="274320"/>
          </a:xfrm>
          <a:prstGeom prst="rect">
            <a:avLst/>
          </a:prstGeom>
          <a:noFill/>
        </p:spPr>
        <p:txBody>
          <a:bodyPr wrap="square" lIns="36576" rIns="36576" tIns="18288" bIns="18288" anchor="t">
            <a:spAutoFit/>
          </a:bodyPr>
          <a:lstStyle/>
          <a:p>
            <a:pPr algn="l">
              <a:lnSpc>
                <a:spcPct val="112000"/>
              </a:lnSpc>
            </a:pPr>
            <a:r>
              <a:rPr sz="1000" b="0" i="0">
                <a:solidFill>
                  <a:srgbClr val="B9B4A9"/>
                </a:solidFill>
                <a:latin typeface="Calibri"/>
              </a:rPr>
              <a:t>PROMPT  ·  copy from the Lab Prompts page</a:t>
            </a:r>
          </a:p>
        </p:txBody>
      </p:sp>
      <p:sp>
        <p:nvSpPr>
          <p:cNvPr id="12" name="TextBox 11"/>
          <p:cNvSpPr txBox="1"/>
          <p:nvPr/>
        </p:nvSpPr>
        <p:spPr>
          <a:xfrm>
            <a:off x="777240" y="2194560"/>
            <a:ext cx="6583680" cy="3913632"/>
          </a:xfrm>
          <a:prstGeom prst="rect">
            <a:avLst/>
          </a:prstGeom>
          <a:noFill/>
        </p:spPr>
        <p:txBody>
          <a:bodyPr wrap="square" lIns="36576" rIns="36576" tIns="18288" bIns="18288" anchor="t">
            <a:spAutoFit/>
          </a:bodyPr>
          <a:lstStyle/>
          <a:p>
            <a:pPr algn="l">
              <a:lnSpc>
                <a:spcPct val="110000"/>
              </a:lnSpc>
            </a:pPr>
            <a:r>
              <a:rPr sz="1300" b="0" i="0">
                <a:solidFill>
                  <a:srgbClr val="F1EDE4"/>
                </a:solidFill>
                <a:latin typeface="Consolas"/>
              </a:rPr>
              <a:t>Launch project retrospective for ShiokColdBrew Launch.</a:t>
            </a:r>
          </a:p>
          <a:p>
            <a:pPr algn="l">
              <a:lnSpc>
                <a:spcPct val="110000"/>
              </a:lnSpc>
            </a:pPr>
            <a:r>
              <a:rPr sz="1300" b="0" i="0">
                <a:solidFill>
                  <a:srgbClr val="F1EDE4"/>
                </a:solidFill>
                <a:latin typeface="Consolas"/>
              </a:rPr>
              <a:t>Report: cycle time per task, number of Board send-backs and auditor findings, spend per agent vs budget, and the three biggest quality problems we caught at review. Recommend two changes to agent instructions that would have prevented them.</a:t>
            </a:r>
          </a:p>
        </p:txBody>
      </p:sp>
      <p:sp>
        <p:nvSpPr>
          <p:cNvPr id="13" name="Oval 12"/>
          <p:cNvSpPr/>
          <p:nvPr/>
        </p:nvSpPr>
        <p:spPr>
          <a:xfrm>
            <a:off x="7863840" y="177393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chat-FFFFFF.png"/>
          <p:cNvPicPr>
            <a:picLocks noChangeAspect="1"/>
          </p:cNvPicPr>
          <p:nvPr/>
        </p:nvPicPr>
        <p:blipFill>
          <a:blip r:embed="rId2"/>
          <a:stretch>
            <a:fillRect/>
          </a:stretch>
        </p:blipFill>
        <p:spPr>
          <a:xfrm>
            <a:off x="7973567" y="1883664"/>
            <a:ext cx="237744" cy="237744"/>
          </a:xfrm>
          <a:prstGeom prst="rect">
            <a:avLst/>
          </a:prstGeom>
        </p:spPr>
      </p:pic>
      <p:sp>
        <p:nvSpPr>
          <p:cNvPr id="15" name="TextBox 14"/>
          <p:cNvSpPr txBox="1"/>
          <p:nvPr/>
        </p:nvSpPr>
        <p:spPr>
          <a:xfrm>
            <a:off x="8458200" y="173736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Paste into</a:t>
            </a:r>
          </a:p>
        </p:txBody>
      </p:sp>
      <p:sp>
        <p:nvSpPr>
          <p:cNvPr id="16" name="TextBox 15"/>
          <p:cNvSpPr txBox="1"/>
          <p:nvPr/>
        </p:nvSpPr>
        <p:spPr>
          <a:xfrm>
            <a:off x="8458200" y="210312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Paperclip → New Task (assign to Ava)</a:t>
            </a:r>
          </a:p>
        </p:txBody>
      </p:sp>
      <p:sp>
        <p:nvSpPr>
          <p:cNvPr id="17" name="Oval 16"/>
          <p:cNvSpPr/>
          <p:nvPr/>
        </p:nvSpPr>
        <p:spPr>
          <a:xfrm>
            <a:off x="7863840" y="326745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check-FFFFFF.png"/>
          <p:cNvPicPr>
            <a:picLocks noChangeAspect="1"/>
          </p:cNvPicPr>
          <p:nvPr/>
        </p:nvPicPr>
        <p:blipFill>
          <a:blip r:embed="rId3"/>
          <a:stretch>
            <a:fillRect/>
          </a:stretch>
        </p:blipFill>
        <p:spPr>
          <a:xfrm>
            <a:off x="7973567" y="3377184"/>
            <a:ext cx="237744" cy="237744"/>
          </a:xfrm>
          <a:prstGeom prst="rect">
            <a:avLst/>
          </a:prstGeom>
        </p:spPr>
      </p:pic>
      <p:sp>
        <p:nvSpPr>
          <p:cNvPr id="19" name="TextBox 18"/>
          <p:cNvSpPr txBox="1"/>
          <p:nvPr/>
        </p:nvSpPr>
        <p:spPr>
          <a:xfrm>
            <a:off x="8458200" y="323088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Expect</a:t>
            </a:r>
          </a:p>
        </p:txBody>
      </p:sp>
      <p:sp>
        <p:nvSpPr>
          <p:cNvPr id="20" name="TextBox 19"/>
          <p:cNvSpPr txBox="1"/>
          <p:nvPr/>
        </p:nvSpPr>
        <p:spPr>
          <a:xfrm>
            <a:off x="8458200" y="359664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A retrospective with metrics and two instruction changes (you will apply them in Lab 10).</a:t>
            </a:r>
          </a:p>
        </p:txBody>
      </p:sp>
      <p:sp>
        <p:nvSpPr>
          <p:cNvPr id="21" name="Oval 20"/>
          <p:cNvSpPr/>
          <p:nvPr/>
        </p:nvSpPr>
        <p:spPr>
          <a:xfrm>
            <a:off x="7863840" y="476097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hand-FFFFFF.png"/>
          <p:cNvPicPr>
            <a:picLocks noChangeAspect="1"/>
          </p:cNvPicPr>
          <p:nvPr/>
        </p:nvPicPr>
        <p:blipFill>
          <a:blip r:embed="rId4"/>
          <a:stretch>
            <a:fillRect/>
          </a:stretch>
        </p:blipFill>
        <p:spPr>
          <a:xfrm>
            <a:off x="7973567" y="4870704"/>
            <a:ext cx="237744" cy="237744"/>
          </a:xfrm>
          <a:prstGeom prst="rect">
            <a:avLst/>
          </a:prstGeom>
        </p:spPr>
      </p:pic>
      <p:sp>
        <p:nvSpPr>
          <p:cNvPr id="23" name="TextBox 22"/>
          <p:cNvSpPr txBox="1"/>
          <p:nvPr/>
        </p:nvSpPr>
        <p:spPr>
          <a:xfrm>
            <a:off x="8458200" y="472440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You decide</a:t>
            </a:r>
          </a:p>
        </p:txBody>
      </p:sp>
      <p:sp>
        <p:nvSpPr>
          <p:cNvPr id="24" name="TextBox 23"/>
          <p:cNvSpPr txBox="1"/>
          <p:nvPr/>
        </p:nvSpPr>
        <p:spPr>
          <a:xfrm>
            <a:off x="8458200" y="509016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Approve or send back every public deliverable; release</a:t>
            </a:r>
          </a:p>
        </p:txBody>
      </p:sp>
    </p:spTree>
  </p:cSld>
  <p:clrMapOvr>
    <a:masterClrMapping/>
  </p:clrMapOvr>
  <p:transition spd="med">
    <p:fade/>
  </p:transition>
</p:sld>
</file>

<file path=ppt/slides/slide131.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LAB 8</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Lab 8 — Checkpoint &amp; Reflection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131</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check-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Verify</a:t>
            </a:r>
          </a:p>
        </p:txBody>
      </p:sp>
      <p:sp>
        <p:nvSpPr>
          <p:cNvPr id="10" name="TextBox 9"/>
          <p:cNvSpPr txBox="1"/>
          <p:nvPr/>
        </p:nvSpPr>
        <p:spPr>
          <a:xfrm>
            <a:off x="1371600" y="2084831"/>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Project linked to goal 1 with 7 linked tasks, all done</a:t>
            </a:r>
          </a:p>
        </p:txBody>
      </p:sp>
      <p:sp>
        <p:nvSpPr>
          <p:cNvPr id="11" name="Oval 10"/>
          <p:cNvSpPr/>
          <p:nvPr/>
        </p:nvSpPr>
        <p:spPr>
          <a:xfrm>
            <a:off x="640080" y="2679191"/>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check-FFFFFF.png"/>
          <p:cNvPicPr>
            <a:picLocks noChangeAspect="1"/>
          </p:cNvPicPr>
          <p:nvPr/>
        </p:nvPicPr>
        <p:blipFill>
          <a:blip r:embed="rId2"/>
          <a:stretch>
            <a:fillRect/>
          </a:stretch>
        </p:blipFill>
        <p:spPr>
          <a:xfrm>
            <a:off x="771753" y="2810865"/>
            <a:ext cx="285292" cy="285292"/>
          </a:xfrm>
          <a:prstGeom prst="rect">
            <a:avLst/>
          </a:prstGeom>
        </p:spPr>
      </p:pic>
      <p:sp>
        <p:nvSpPr>
          <p:cNvPr id="13" name="TextBox 12"/>
          <p:cNvSpPr txBox="1"/>
          <p:nvPr/>
        </p:nvSpPr>
        <p:spPr>
          <a:xfrm>
            <a:off x="1371600" y="2624327"/>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Verify</a:t>
            </a:r>
          </a:p>
        </p:txBody>
      </p:sp>
      <p:sp>
        <p:nvSpPr>
          <p:cNvPr id="14" name="TextBox 13"/>
          <p:cNvSpPr txBox="1"/>
          <p:nvPr/>
        </p:nvSpPr>
        <p:spPr>
          <a:xfrm>
            <a:off x="1371600" y="2990087"/>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Reviewer = Compliance Auditor and Approver = you on tasks 3, 5, 7</a:t>
            </a:r>
          </a:p>
        </p:txBody>
      </p:sp>
      <p:sp>
        <p:nvSpPr>
          <p:cNvPr id="15" name="Oval 14"/>
          <p:cNvSpPr/>
          <p:nvPr/>
        </p:nvSpPr>
        <p:spPr>
          <a:xfrm>
            <a:off x="640080" y="358444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check-FFFFFF.png"/>
          <p:cNvPicPr>
            <a:picLocks noChangeAspect="1"/>
          </p:cNvPicPr>
          <p:nvPr/>
        </p:nvPicPr>
        <p:blipFill>
          <a:blip r:embed="rId2"/>
          <a:stretch>
            <a:fillRect/>
          </a:stretch>
        </p:blipFill>
        <p:spPr>
          <a:xfrm>
            <a:off x="771753" y="3716121"/>
            <a:ext cx="285292" cy="285292"/>
          </a:xfrm>
          <a:prstGeom prst="rect">
            <a:avLst/>
          </a:prstGeom>
        </p:spPr>
      </p:pic>
      <p:sp>
        <p:nvSpPr>
          <p:cNvPr id="17" name="TextBox 16"/>
          <p:cNvSpPr txBox="1"/>
          <p:nvPr/>
        </p:nvSpPr>
        <p:spPr>
          <a:xfrm>
            <a:off x="1371600" y="352958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Verify</a:t>
            </a:r>
          </a:p>
        </p:txBody>
      </p:sp>
      <p:sp>
        <p:nvSpPr>
          <p:cNvPr id="18" name="TextBox 17"/>
          <p:cNvSpPr txBox="1"/>
          <p:nvPr/>
        </p:nvSpPr>
        <p:spPr>
          <a:xfrm>
            <a:off x="1371600" y="3895344"/>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 1 send-back with comment visible in Audit → Activity</a:t>
            </a:r>
          </a:p>
        </p:txBody>
      </p:sp>
      <p:sp>
        <p:nvSpPr>
          <p:cNvPr id="19" name="Oval 18"/>
          <p:cNvSpPr/>
          <p:nvPr/>
        </p:nvSpPr>
        <p:spPr>
          <a:xfrm>
            <a:off x="640080" y="4489703"/>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lightbulb-FFFFFF.png"/>
          <p:cNvPicPr>
            <a:picLocks noChangeAspect="1"/>
          </p:cNvPicPr>
          <p:nvPr/>
        </p:nvPicPr>
        <p:blipFill>
          <a:blip r:embed="rId3"/>
          <a:stretch>
            <a:fillRect/>
          </a:stretch>
        </p:blipFill>
        <p:spPr>
          <a:xfrm>
            <a:off x="771753" y="4621377"/>
            <a:ext cx="285292" cy="285292"/>
          </a:xfrm>
          <a:prstGeom prst="rect">
            <a:avLst/>
          </a:prstGeom>
        </p:spPr>
      </p:pic>
      <p:sp>
        <p:nvSpPr>
          <p:cNvPr id="21" name="TextBox 20"/>
          <p:cNvSpPr txBox="1"/>
          <p:nvPr/>
        </p:nvSpPr>
        <p:spPr>
          <a:xfrm>
            <a:off x="1371600" y="4434840"/>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Concepts in action</a:t>
            </a:r>
          </a:p>
        </p:txBody>
      </p:sp>
      <p:sp>
        <p:nvSpPr>
          <p:cNvPr id="22" name="TextBox 21"/>
          <p:cNvSpPr txBox="1"/>
          <p:nvPr/>
        </p:nvSpPr>
        <p:spPr>
          <a:xfrm>
            <a:off x="1371600" y="4800599"/>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Tasks + blocked-by = an ordered workflow with owners  ·  Execution policy: agent Reviewer, then human Approver</a:t>
            </a:r>
          </a:p>
        </p:txBody>
      </p:sp>
      <p:sp>
        <p:nvSpPr>
          <p:cNvPr id="23" name="Oval 22"/>
          <p:cNvSpPr/>
          <p:nvPr/>
        </p:nvSpPr>
        <p:spPr>
          <a:xfrm>
            <a:off x="640080" y="5394959"/>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rocket-FFFFFF.png"/>
          <p:cNvPicPr>
            <a:picLocks noChangeAspect="1"/>
          </p:cNvPicPr>
          <p:nvPr/>
        </p:nvPicPr>
        <p:blipFill>
          <a:blip r:embed="rId4"/>
          <a:stretch>
            <a:fillRect/>
          </a:stretch>
        </p:blipFill>
        <p:spPr>
          <a:xfrm>
            <a:off x="771753" y="5526633"/>
            <a:ext cx="285292" cy="285292"/>
          </a:xfrm>
          <a:prstGeom prst="rect">
            <a:avLst/>
          </a:prstGeom>
        </p:spPr>
      </p:pic>
      <p:sp>
        <p:nvSpPr>
          <p:cNvPr id="25" name="TextBox 24"/>
          <p:cNvSpPr txBox="1"/>
          <p:nvPr/>
        </p:nvSpPr>
        <p:spPr>
          <a:xfrm>
            <a:off x="1371600" y="534009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Stretch challenge</a:t>
            </a:r>
          </a:p>
        </p:txBody>
      </p:sp>
      <p:sp>
        <p:nvSpPr>
          <p:cNvPr id="26" name="TextBox 25"/>
          <p:cNvSpPr txBox="1"/>
          <p:nvPr/>
        </p:nvSpPr>
        <p:spPr>
          <a:xfrm>
            <a:off x="1371600" y="5705855"/>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Add a dependency the plan missed (e.g. 'Legal check of SHIOK20 terms' before release). How does one new gate change cycle time and risk?</a:t>
            </a:r>
          </a:p>
        </p:txBody>
      </p:sp>
    </p:spTree>
  </p:cSld>
  <p:clrMapOvr>
    <a:masterClrMapping/>
  </p:clrMapOvr>
  <p:transition spd="med">
    <p:fade/>
  </p:transition>
</p:sld>
</file>

<file path=ppt/slides/slide13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LAB 9</a:t>
            </a:r>
          </a:p>
        </p:txBody>
      </p:sp>
      <p:sp>
        <p:nvSpPr>
          <p:cNvPr id="3" name="TextBox 2"/>
          <p:cNvSpPr txBox="1"/>
          <p:nvPr/>
        </p:nvSpPr>
        <p:spPr>
          <a:xfrm>
            <a:off x="548640" y="621792"/>
            <a:ext cx="11064240" cy="932688"/>
          </a:xfrm>
          <a:prstGeom prst="rect">
            <a:avLst/>
          </a:prstGeom>
          <a:noFill/>
        </p:spPr>
        <p:txBody>
          <a:bodyPr wrap="square" lIns="36576" rIns="36576" tIns="18288" bIns="18288" anchor="t">
            <a:spAutoFit/>
          </a:bodyPr>
          <a:lstStyle/>
          <a:p>
            <a:pPr algn="l">
              <a:lnSpc>
                <a:spcPct val="100000"/>
              </a:lnSpc>
            </a:pPr>
            <a:r>
              <a:rPr sz="2400" b="1" i="0">
                <a:solidFill>
                  <a:srgbClr val="21201C"/>
                </a:solidFill>
                <a:latin typeface="Cambria"/>
              </a:rPr>
              <a:t>Lab 9 — Automate the Weekly Video Pipeline with a Routine and a Board Gate</a:t>
            </a:r>
          </a:p>
        </p:txBody>
      </p:sp>
      <p:sp>
        <p:nvSpPr>
          <p:cNvPr id="4" name="TextBox 3"/>
          <p:cNvSpPr txBox="1"/>
          <p:nvPr/>
        </p:nvSpPr>
        <p:spPr>
          <a:xfrm>
            <a:off x="548640" y="1609344"/>
            <a:ext cx="11064240" cy="548640"/>
          </a:xfrm>
          <a:prstGeom prst="rect">
            <a:avLst/>
          </a:prstGeom>
          <a:noFill/>
        </p:spPr>
        <p:txBody>
          <a:bodyPr wrap="square" lIns="36576" rIns="36576" tIns="18288" bIns="18288" anchor="t">
            <a:spAutoFit/>
          </a:bodyPr>
          <a:lstStyle/>
          <a:p>
            <a:pPr algn="l">
              <a:lnSpc>
                <a:spcPct val="112000"/>
              </a:lnSpc>
            </a:pPr>
            <a:r>
              <a:rPr sz="1500" b="0" i="0">
                <a:solidFill>
                  <a:srgbClr val="21201C"/>
                </a:solidFill>
                <a:latin typeface="Calibri"/>
              </a:rPr>
              <a:t>Turn research → script → production → audit → publish-ready into a routine that fires every Monday at 10:00 — and still stops for your approval.</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132</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240280"/>
            <a:ext cx="5760720" cy="3931920"/>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822960" y="251460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clock-FFFFFF.png"/>
          <p:cNvPicPr>
            <a:picLocks noChangeAspect="1"/>
          </p:cNvPicPr>
          <p:nvPr/>
        </p:nvPicPr>
        <p:blipFill>
          <a:blip r:embed="rId2"/>
          <a:stretch>
            <a:fillRect/>
          </a:stretch>
        </p:blipFill>
        <p:spPr>
          <a:xfrm>
            <a:off x="954633" y="2646273"/>
            <a:ext cx="285292" cy="285292"/>
          </a:xfrm>
          <a:prstGeom prst="rect">
            <a:avLst/>
          </a:prstGeom>
        </p:spPr>
      </p:pic>
      <p:sp>
        <p:nvSpPr>
          <p:cNvPr id="11" name="TextBox 10"/>
          <p:cNvSpPr txBox="1"/>
          <p:nvPr/>
        </p:nvSpPr>
        <p:spPr>
          <a:xfrm>
            <a:off x="1508760" y="2532888"/>
            <a:ext cx="4572000" cy="512064"/>
          </a:xfrm>
          <a:prstGeom prst="rect">
            <a:avLst/>
          </a:prstGeom>
          <a:noFill/>
        </p:spPr>
        <p:txBody>
          <a:bodyPr wrap="square" lIns="36576" rIns="36576" tIns="18288" bIns="18288" anchor="ctr">
            <a:spAutoFit/>
          </a:bodyPr>
          <a:lstStyle/>
          <a:p>
            <a:pPr algn="l">
              <a:lnSpc>
                <a:spcPct val="112000"/>
              </a:lnSpc>
            </a:pPr>
            <a:r>
              <a:rPr sz="1800" b="1" i="0">
                <a:solidFill>
                  <a:srgbClr val="FFFFFF"/>
                </a:solidFill>
                <a:latin typeface="Cambria"/>
              </a:rPr>
              <a:t>The business scenario</a:t>
            </a:r>
          </a:p>
        </p:txBody>
      </p:sp>
      <p:sp>
        <p:nvSpPr>
          <p:cNvPr id="12" name="TextBox 11"/>
          <p:cNvSpPr txBox="1"/>
          <p:nvPr/>
        </p:nvSpPr>
        <p:spPr>
          <a:xfrm>
            <a:off x="822960" y="3246120"/>
            <a:ext cx="5257800" cy="2788920"/>
          </a:xfrm>
          <a:prstGeom prst="rect">
            <a:avLst/>
          </a:prstGeom>
          <a:noFill/>
        </p:spPr>
        <p:txBody>
          <a:bodyPr wrap="square" lIns="36576" rIns="36576" tIns="18288" bIns="18288" anchor="t">
            <a:spAutoFit/>
          </a:bodyPr>
          <a:lstStyle/>
          <a:p>
            <a:pPr algn="l">
              <a:lnSpc>
                <a:spcPct val="120000"/>
              </a:lnSpc>
            </a:pPr>
            <a:r>
              <a:rPr sz="1400" b="0" i="0">
                <a:solidFill>
                  <a:srgbClr val="C9C4B9"/>
                </a:solidFill>
                <a:latin typeface="Calibri"/>
              </a:rPr>
              <a:t>Goal 2 is one approved short video every week. You do not want to create the task by hand every Monday, but you also never want a video to go out unseen. You create the 'Weekly Kopi Short' routine: the clock creates the task, Ava delegates the pipeline, and the finished package waits for a Board approval.</a:t>
            </a:r>
          </a:p>
        </p:txBody>
      </p:sp>
      <p:sp>
        <p:nvSpPr>
          <p:cNvPr id="13" name="Rounded Rectangle 12"/>
          <p:cNvSpPr/>
          <p:nvPr/>
        </p:nvSpPr>
        <p:spPr>
          <a:xfrm>
            <a:off x="6492240" y="2240280"/>
            <a:ext cx="5120640" cy="23317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720840" y="2404872"/>
            <a:ext cx="4663440" cy="365760"/>
          </a:xfrm>
          <a:prstGeom prst="rect">
            <a:avLst/>
          </a:prstGeom>
          <a:noFill/>
        </p:spPr>
        <p:txBody>
          <a:bodyPr wrap="square" lIns="36576" rIns="36576" tIns="18288" bIns="18288" anchor="t">
            <a:spAutoFit/>
          </a:bodyPr>
          <a:lstStyle/>
          <a:p>
            <a:pPr algn="l">
              <a:lnSpc>
                <a:spcPct val="112000"/>
              </a:lnSpc>
            </a:pPr>
            <a:r>
              <a:rPr sz="1600" b="1" i="0">
                <a:solidFill>
                  <a:srgbClr val="21201C"/>
                </a:solidFill>
                <a:latin typeface="Cambria"/>
              </a:rPr>
              <a:t>You will deliver</a:t>
            </a:r>
          </a:p>
        </p:txBody>
      </p:sp>
      <p:sp>
        <p:nvSpPr>
          <p:cNvPr id="15" name="TextBox 14"/>
          <p:cNvSpPr txBox="1"/>
          <p:nvPr/>
        </p:nvSpPr>
        <p:spPr>
          <a:xfrm>
            <a:off x="6720840" y="2807208"/>
            <a:ext cx="4709160" cy="1691640"/>
          </a:xfrm>
          <a:prstGeom prst="rect">
            <a:avLst/>
          </a:prstGeom>
          <a:noFill/>
        </p:spPr>
        <p:txBody>
          <a:bodyPr wrap="square" lIns="36576" rIns="36576" tIns="18288" bIns="18288" anchor="t">
            <a:spAutoFit/>
          </a:bodyPr>
          <a:lstStyle/>
          <a:p>
            <a:pPr algn="l">
              <a:lnSpc>
                <a:spcPct val="115000"/>
              </a:lnSpc>
            </a:pPr>
            <a:r>
              <a:rPr sz="1250" b="0" i="0">
                <a:solidFill>
                  <a:srgbClr val="6B6862"/>
                </a:solidFill>
                <a:latin typeface="Calibri"/>
              </a:rPr>
              <a:t>✓  Routine 'Weekly Kopi Short' for Ava — schedule trigger every week, Monday 10:00, Asia/Singapore</a:t>
            </a:r>
          </a:p>
          <a:p>
            <a:pPr algn="l">
              <a:lnSpc>
                <a:spcPct val="115000"/>
              </a:lnSpc>
            </a:pPr>
            <a:r>
              <a:rPr sz="1250" b="0" i="0">
                <a:solidFill>
                  <a:srgbClr val="6B6862"/>
                </a:solidFill>
                <a:latin typeface="Calibri"/>
              </a:rPr>
              <a:t>✓  One manual Run that produced a complete package</a:t>
            </a:r>
          </a:p>
          <a:p>
            <a:pPr algn="l">
              <a:lnSpc>
                <a:spcPct val="115000"/>
              </a:lnSpc>
            </a:pPr>
            <a:r>
              <a:rPr sz="1250" b="0" i="0">
                <a:solidFill>
                  <a:srgbClr val="6B6862"/>
                </a:solidFill>
                <a:latin typeface="Calibri"/>
              </a:rPr>
              <a:t>✓  Publish package + video/storyboard + audit in the run's task</a:t>
            </a:r>
          </a:p>
          <a:p>
            <a:pPr algn="l">
              <a:lnSpc>
                <a:spcPct val="115000"/>
              </a:lnSpc>
            </a:pPr>
            <a:r>
              <a:rPr sz="1250" b="0" i="0">
                <a:solidFill>
                  <a:srgbClr val="6B6862"/>
                </a:solidFill>
                <a:latin typeface="Calibri"/>
              </a:rPr>
              <a:t>✓  A Board Approval request that you approved (or rejected) with a comment</a:t>
            </a:r>
          </a:p>
        </p:txBody>
      </p:sp>
      <p:sp>
        <p:nvSpPr>
          <p:cNvPr id="16" name="Rounded Rectangle 15"/>
          <p:cNvSpPr/>
          <p:nvPr/>
        </p:nvSpPr>
        <p:spPr>
          <a:xfrm>
            <a:off x="6492240" y="4727448"/>
            <a:ext cx="5120640" cy="1444752"/>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720840" y="4855464"/>
            <a:ext cx="4709160" cy="1234440"/>
          </a:xfrm>
          <a:prstGeom prst="rect">
            <a:avLst/>
          </a:prstGeom>
          <a:noFill/>
        </p:spPr>
        <p:txBody>
          <a:bodyPr wrap="square" lIns="36576" rIns="36576" tIns="18288" bIns="18288" anchor="t">
            <a:spAutoFit/>
          </a:bodyPr>
          <a:lstStyle/>
          <a:p>
            <a:pPr algn="l">
              <a:lnSpc>
                <a:spcPct val="115000"/>
              </a:lnSpc>
              <a:spcAft>
                <a:spcPts val="300"/>
              </a:spcAft>
            </a:pPr>
            <a:r>
              <a:rPr sz="1250" b="1" i="0">
                <a:solidFill>
                  <a:srgbClr val="D97757"/>
                </a:solidFill>
                <a:latin typeface="Calibri"/>
              </a:rPr>
              <a:t>Agents  </a:t>
            </a:r>
            <a:r>
              <a:rPr sz="1250" b="0" i="0">
                <a:solidFill>
                  <a:srgbClr val="6B6862"/>
                </a:solidFill>
                <a:latin typeface="Calibri"/>
              </a:rPr>
              <a:t>CEO + Researcher + Copywriter + Video Producer + Auditor</a:t>
            </a:r>
          </a:p>
          <a:p>
            <a:pPr algn="l">
              <a:lnSpc>
                <a:spcPct val="115000"/>
              </a:lnSpc>
              <a:spcAft>
                <a:spcPts val="300"/>
              </a:spcAft>
            </a:pPr>
            <a:r>
              <a:rPr sz="1250" b="1" i="0">
                <a:solidFill>
                  <a:srgbClr val="D97757"/>
                </a:solidFill>
                <a:latin typeface="Calibri"/>
              </a:rPr>
              <a:t>Human role  </a:t>
            </a:r>
            <a:r>
              <a:rPr sz="1250" b="0" i="0">
                <a:solidFill>
                  <a:srgbClr val="6B6862"/>
                </a:solidFill>
                <a:latin typeface="Calibri"/>
              </a:rPr>
              <a:t>Approve each week's video before it is published</a:t>
            </a:r>
          </a:p>
          <a:p>
            <a:pPr algn="l">
              <a:lnSpc>
                <a:spcPct val="115000"/>
              </a:lnSpc>
              <a:spcAft>
                <a:spcPts val="300"/>
              </a:spcAft>
            </a:pPr>
            <a:r>
              <a:rPr sz="1250" b="1" i="0">
                <a:solidFill>
                  <a:srgbClr val="D97757"/>
                </a:solidFill>
                <a:latin typeface="Calibri"/>
              </a:rPr>
              <a:t>Time  </a:t>
            </a:r>
            <a:r>
              <a:rPr sz="1250" b="0" i="0">
                <a:solidFill>
                  <a:srgbClr val="6B6862"/>
                </a:solidFill>
                <a:latin typeface="Calibri"/>
              </a:rPr>
              <a:t>45 min  ·  Scheduled multi-agent workflow  ·  labs/lab09-paperclip-weekly-video-routine/</a:t>
            </a:r>
          </a:p>
        </p:txBody>
      </p:sp>
    </p:spTree>
  </p:cSld>
  <p:clrMapOvr>
    <a:masterClrMapping/>
  </p:clrMapOvr>
  <p:transition spd="med">
    <p:fade/>
  </p:transition>
</p:sld>
</file>

<file path=ppt/slides/slide133.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LAB 9</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Lab 9 — How the workflow runs</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C9C4B9"/>
                </a:solidFill>
                <a:latin typeface="Calibri"/>
              </a:rPr>
              <a:t>Perception → reasoning → action, with you at the checkpoints.</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133</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sp>
        <p:nvSpPr>
          <p:cNvPr id="8" name="Rounded Rectangle 7"/>
          <p:cNvSpPr/>
          <p:nvPr/>
        </p:nvSpPr>
        <p:spPr>
          <a:xfrm>
            <a:off x="548640" y="2331720"/>
            <a:ext cx="1706879"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31520" y="2468879"/>
            <a:ext cx="1341119"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1</a:t>
            </a:r>
          </a:p>
        </p:txBody>
      </p:sp>
      <p:sp>
        <p:nvSpPr>
          <p:cNvPr id="10" name="Oval 9"/>
          <p:cNvSpPr/>
          <p:nvPr/>
        </p:nvSpPr>
        <p:spPr>
          <a:xfrm>
            <a:off x="731520"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clock-FFFFFF.png"/>
          <p:cNvPicPr>
            <a:picLocks noChangeAspect="1"/>
          </p:cNvPicPr>
          <p:nvPr/>
        </p:nvPicPr>
        <p:blipFill>
          <a:blip r:embed="rId2"/>
          <a:stretch>
            <a:fillRect/>
          </a:stretch>
        </p:blipFill>
        <p:spPr>
          <a:xfrm>
            <a:off x="845637" y="2948757"/>
            <a:ext cx="247253" cy="247253"/>
          </a:xfrm>
          <a:prstGeom prst="rect">
            <a:avLst/>
          </a:prstGeom>
        </p:spPr>
      </p:pic>
      <p:sp>
        <p:nvSpPr>
          <p:cNvPr id="12" name="TextBox 11"/>
          <p:cNvSpPr txBox="1"/>
          <p:nvPr/>
        </p:nvSpPr>
        <p:spPr>
          <a:xfrm>
            <a:off x="731520" y="3410711"/>
            <a:ext cx="1386840"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Trigger</a:t>
            </a:r>
          </a:p>
        </p:txBody>
      </p:sp>
      <p:sp>
        <p:nvSpPr>
          <p:cNvPr id="13" name="TextBox 12"/>
          <p:cNvSpPr txBox="1"/>
          <p:nvPr/>
        </p:nvSpPr>
        <p:spPr>
          <a:xfrm>
            <a:off x="731520" y="3977639"/>
            <a:ext cx="1386840"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Monday 10:00 creates the task.</a:t>
            </a:r>
          </a:p>
        </p:txBody>
      </p:sp>
      <p:cxnSp>
        <p:nvCxnSpPr>
          <p:cNvPr id="14" name="Connector 13"/>
          <p:cNvCxnSpPr/>
          <p:nvPr/>
        </p:nvCxnSpPr>
        <p:spPr>
          <a:xfrm>
            <a:off x="2264663" y="3886200"/>
            <a:ext cx="146305"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2420112" y="2331720"/>
            <a:ext cx="1706879"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2602992" y="2468879"/>
            <a:ext cx="1341119"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2</a:t>
            </a:r>
          </a:p>
        </p:txBody>
      </p:sp>
      <p:sp>
        <p:nvSpPr>
          <p:cNvPr id="17" name="Oval 16"/>
          <p:cNvSpPr/>
          <p:nvPr/>
        </p:nvSpPr>
        <p:spPr>
          <a:xfrm>
            <a:off x="2602992"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search-FFFFFF.png"/>
          <p:cNvPicPr>
            <a:picLocks noChangeAspect="1"/>
          </p:cNvPicPr>
          <p:nvPr/>
        </p:nvPicPr>
        <p:blipFill>
          <a:blip r:embed="rId3"/>
          <a:stretch>
            <a:fillRect/>
          </a:stretch>
        </p:blipFill>
        <p:spPr>
          <a:xfrm>
            <a:off x="2717109" y="2948757"/>
            <a:ext cx="247253" cy="247253"/>
          </a:xfrm>
          <a:prstGeom prst="rect">
            <a:avLst/>
          </a:prstGeom>
        </p:spPr>
      </p:pic>
      <p:sp>
        <p:nvSpPr>
          <p:cNvPr id="19" name="TextBox 18"/>
          <p:cNvSpPr txBox="1"/>
          <p:nvPr/>
        </p:nvSpPr>
        <p:spPr>
          <a:xfrm>
            <a:off x="2602992" y="3410711"/>
            <a:ext cx="1386840"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Research</a:t>
            </a:r>
          </a:p>
        </p:txBody>
      </p:sp>
      <p:sp>
        <p:nvSpPr>
          <p:cNvPr id="20" name="TextBox 19"/>
          <p:cNvSpPr txBox="1"/>
          <p:nvPr/>
        </p:nvSpPr>
        <p:spPr>
          <a:xfrm>
            <a:off x="2602992" y="3977639"/>
            <a:ext cx="1386840"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Fresh angle, 2 sources.</a:t>
            </a:r>
          </a:p>
        </p:txBody>
      </p:sp>
      <p:cxnSp>
        <p:nvCxnSpPr>
          <p:cNvPr id="21" name="Connector 20"/>
          <p:cNvCxnSpPr/>
          <p:nvPr/>
        </p:nvCxnSpPr>
        <p:spPr>
          <a:xfrm>
            <a:off x="4136135" y="3886200"/>
            <a:ext cx="146304"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4291583" y="2331720"/>
            <a:ext cx="1706879"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4474463" y="2468879"/>
            <a:ext cx="1341119"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3</a:t>
            </a:r>
          </a:p>
        </p:txBody>
      </p:sp>
      <p:sp>
        <p:nvSpPr>
          <p:cNvPr id="24" name="Oval 23"/>
          <p:cNvSpPr/>
          <p:nvPr/>
        </p:nvSpPr>
        <p:spPr>
          <a:xfrm>
            <a:off x="4474463"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Picture 24" descr="pen-FFFFFF.png"/>
          <p:cNvPicPr>
            <a:picLocks noChangeAspect="1"/>
          </p:cNvPicPr>
          <p:nvPr/>
        </p:nvPicPr>
        <p:blipFill>
          <a:blip r:embed="rId4"/>
          <a:stretch>
            <a:fillRect/>
          </a:stretch>
        </p:blipFill>
        <p:spPr>
          <a:xfrm>
            <a:off x="4588581" y="2948757"/>
            <a:ext cx="247253" cy="247253"/>
          </a:xfrm>
          <a:prstGeom prst="rect">
            <a:avLst/>
          </a:prstGeom>
        </p:spPr>
      </p:pic>
      <p:sp>
        <p:nvSpPr>
          <p:cNvPr id="26" name="TextBox 25"/>
          <p:cNvSpPr txBox="1"/>
          <p:nvPr/>
        </p:nvSpPr>
        <p:spPr>
          <a:xfrm>
            <a:off x="4474463" y="3410711"/>
            <a:ext cx="1386840"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Script</a:t>
            </a:r>
          </a:p>
        </p:txBody>
      </p:sp>
      <p:sp>
        <p:nvSpPr>
          <p:cNvPr id="27" name="TextBox 26"/>
          <p:cNvSpPr txBox="1"/>
          <p:nvPr/>
        </p:nvSpPr>
        <p:spPr>
          <a:xfrm>
            <a:off x="4474463" y="3977639"/>
            <a:ext cx="1386840"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20–30 s in brand voice.</a:t>
            </a:r>
          </a:p>
        </p:txBody>
      </p:sp>
      <p:cxnSp>
        <p:nvCxnSpPr>
          <p:cNvPr id="28" name="Connector 27"/>
          <p:cNvCxnSpPr/>
          <p:nvPr/>
        </p:nvCxnSpPr>
        <p:spPr>
          <a:xfrm>
            <a:off x="6007607" y="3886200"/>
            <a:ext cx="146304"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6163055" y="2331720"/>
            <a:ext cx="1706879"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6345935" y="2468879"/>
            <a:ext cx="1341119"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4</a:t>
            </a:r>
          </a:p>
        </p:txBody>
      </p:sp>
      <p:sp>
        <p:nvSpPr>
          <p:cNvPr id="31" name="Oval 30"/>
          <p:cNvSpPr/>
          <p:nvPr/>
        </p:nvSpPr>
        <p:spPr>
          <a:xfrm>
            <a:off x="6345935"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2" name="Picture 31" descr="film-FFFFFF.png"/>
          <p:cNvPicPr>
            <a:picLocks noChangeAspect="1"/>
          </p:cNvPicPr>
          <p:nvPr/>
        </p:nvPicPr>
        <p:blipFill>
          <a:blip r:embed="rId5"/>
          <a:stretch>
            <a:fillRect/>
          </a:stretch>
        </p:blipFill>
        <p:spPr>
          <a:xfrm>
            <a:off x="6460053" y="2948757"/>
            <a:ext cx="247253" cy="247253"/>
          </a:xfrm>
          <a:prstGeom prst="rect">
            <a:avLst/>
          </a:prstGeom>
        </p:spPr>
      </p:pic>
      <p:sp>
        <p:nvSpPr>
          <p:cNvPr id="33" name="TextBox 32"/>
          <p:cNvSpPr txBox="1"/>
          <p:nvPr/>
        </p:nvSpPr>
        <p:spPr>
          <a:xfrm>
            <a:off x="6345935" y="3410711"/>
            <a:ext cx="1386840"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Produce</a:t>
            </a:r>
          </a:p>
        </p:txBody>
      </p:sp>
      <p:sp>
        <p:nvSpPr>
          <p:cNvPr id="34" name="TextBox 33"/>
          <p:cNvSpPr txBox="1"/>
          <p:nvPr/>
        </p:nvSpPr>
        <p:spPr>
          <a:xfrm>
            <a:off x="6345935" y="3977639"/>
            <a:ext cx="1386840"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Video or 6-frame storyboard.</a:t>
            </a:r>
          </a:p>
        </p:txBody>
      </p:sp>
      <p:cxnSp>
        <p:nvCxnSpPr>
          <p:cNvPr id="35" name="Connector 34"/>
          <p:cNvCxnSpPr/>
          <p:nvPr/>
        </p:nvCxnSpPr>
        <p:spPr>
          <a:xfrm>
            <a:off x="7879079" y="3886200"/>
            <a:ext cx="146304"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8034527" y="2331720"/>
            <a:ext cx="1706879"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8217407" y="2468879"/>
            <a:ext cx="1341119"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5</a:t>
            </a:r>
          </a:p>
        </p:txBody>
      </p:sp>
      <p:sp>
        <p:nvSpPr>
          <p:cNvPr id="38" name="Oval 37"/>
          <p:cNvSpPr/>
          <p:nvPr/>
        </p:nvSpPr>
        <p:spPr>
          <a:xfrm>
            <a:off x="8217407"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9" name="Picture 38" descr="eyecheck-FFFFFF.png"/>
          <p:cNvPicPr>
            <a:picLocks noChangeAspect="1"/>
          </p:cNvPicPr>
          <p:nvPr/>
        </p:nvPicPr>
        <p:blipFill>
          <a:blip r:embed="rId6"/>
          <a:stretch>
            <a:fillRect/>
          </a:stretch>
        </p:blipFill>
        <p:spPr>
          <a:xfrm>
            <a:off x="8331525" y="2948757"/>
            <a:ext cx="247253" cy="247253"/>
          </a:xfrm>
          <a:prstGeom prst="rect">
            <a:avLst/>
          </a:prstGeom>
        </p:spPr>
      </p:pic>
      <p:sp>
        <p:nvSpPr>
          <p:cNvPr id="40" name="TextBox 39"/>
          <p:cNvSpPr txBox="1"/>
          <p:nvPr/>
        </p:nvSpPr>
        <p:spPr>
          <a:xfrm>
            <a:off x="8217407" y="3410711"/>
            <a:ext cx="1386840"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Audit</a:t>
            </a:r>
          </a:p>
        </p:txBody>
      </p:sp>
      <p:sp>
        <p:nvSpPr>
          <p:cNvPr id="41" name="TextBox 40"/>
          <p:cNvSpPr txBox="1"/>
          <p:nvPr/>
        </p:nvSpPr>
        <p:spPr>
          <a:xfrm>
            <a:off x="8217407" y="3977639"/>
            <a:ext cx="1386840"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PASS / FAIL with fixes.</a:t>
            </a:r>
          </a:p>
        </p:txBody>
      </p:sp>
      <p:cxnSp>
        <p:nvCxnSpPr>
          <p:cNvPr id="42" name="Connector 41"/>
          <p:cNvCxnSpPr/>
          <p:nvPr/>
        </p:nvCxnSpPr>
        <p:spPr>
          <a:xfrm>
            <a:off x="9750551" y="3886200"/>
            <a:ext cx="146305"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43" name="Rounded Rectangle 42"/>
          <p:cNvSpPr/>
          <p:nvPr/>
        </p:nvSpPr>
        <p:spPr>
          <a:xfrm>
            <a:off x="9905999" y="2331720"/>
            <a:ext cx="1706879" cy="3108960"/>
          </a:xfrm>
          <a:prstGeom prst="roundRect">
            <a:avLst>
              <a:gd name="adj" fmla="val 3500"/>
            </a:avLst>
          </a:prstGeom>
          <a:solidFill>
            <a:srgbClr val="C2603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10088879" y="2468879"/>
            <a:ext cx="1341119" cy="274320"/>
          </a:xfrm>
          <a:prstGeom prst="rect">
            <a:avLst/>
          </a:prstGeom>
          <a:noFill/>
        </p:spPr>
        <p:txBody>
          <a:bodyPr wrap="square" lIns="36576" rIns="36576" tIns="18288" bIns="18288" anchor="t">
            <a:spAutoFit/>
          </a:bodyPr>
          <a:lstStyle/>
          <a:p>
            <a:pPr algn="l">
              <a:lnSpc>
                <a:spcPct val="112000"/>
              </a:lnSpc>
            </a:pPr>
            <a:r>
              <a:rPr sz="950" b="1" i="0">
                <a:solidFill>
                  <a:srgbClr val="FFFFFF"/>
                </a:solidFill>
                <a:latin typeface="Calibri"/>
              </a:rPr>
              <a:t>HUMAN  ·  STEP 6</a:t>
            </a:r>
          </a:p>
        </p:txBody>
      </p:sp>
      <p:sp>
        <p:nvSpPr>
          <p:cNvPr id="45" name="Oval 44"/>
          <p:cNvSpPr/>
          <p:nvPr/>
        </p:nvSpPr>
        <p:spPr>
          <a:xfrm>
            <a:off x="10088879" y="2834639"/>
            <a:ext cx="475488" cy="475488"/>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6" name="Picture 45" descr="user-C2603F.png"/>
          <p:cNvPicPr>
            <a:picLocks noChangeAspect="1"/>
          </p:cNvPicPr>
          <p:nvPr/>
        </p:nvPicPr>
        <p:blipFill>
          <a:blip r:embed="rId7"/>
          <a:stretch>
            <a:fillRect/>
          </a:stretch>
        </p:blipFill>
        <p:spPr>
          <a:xfrm>
            <a:off x="10202997" y="2948757"/>
            <a:ext cx="247253" cy="247253"/>
          </a:xfrm>
          <a:prstGeom prst="rect">
            <a:avLst/>
          </a:prstGeom>
        </p:spPr>
      </p:pic>
      <p:sp>
        <p:nvSpPr>
          <p:cNvPr id="47" name="TextBox 46"/>
          <p:cNvSpPr txBox="1"/>
          <p:nvPr/>
        </p:nvSpPr>
        <p:spPr>
          <a:xfrm>
            <a:off x="10088879" y="3410711"/>
            <a:ext cx="1386840"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Approve</a:t>
            </a:r>
          </a:p>
        </p:txBody>
      </p:sp>
      <p:sp>
        <p:nvSpPr>
          <p:cNvPr id="48" name="TextBox 47"/>
          <p:cNvSpPr txBox="1"/>
          <p:nvPr/>
        </p:nvSpPr>
        <p:spPr>
          <a:xfrm>
            <a:off x="10088879" y="3977639"/>
            <a:ext cx="1386840" cy="1371600"/>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Board Approval before publishing.</a:t>
            </a:r>
          </a:p>
        </p:txBody>
      </p:sp>
      <p:sp>
        <p:nvSpPr>
          <p:cNvPr id="49" name="TextBox 48"/>
          <p:cNvSpPr txBox="1"/>
          <p:nvPr/>
        </p:nvSpPr>
        <p:spPr>
          <a:xfrm>
            <a:off x="548640" y="5715000"/>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Checkpoint  </a:t>
            </a:r>
            <a:r>
              <a:rPr sz="1300" b="0" i="0">
                <a:solidFill>
                  <a:srgbClr val="C9C4B9"/>
                </a:solidFill>
                <a:latin typeface="Calibri"/>
              </a:rPr>
              <a:t>A manual Run produced a full package and a Board Approval request; the routine shows a weekly Monday 10:00 Asia/Singapore trigger.</a:t>
            </a:r>
          </a:p>
        </p:txBody>
      </p:sp>
    </p:spTree>
  </p:cSld>
  <p:clrMapOvr>
    <a:masterClrMapping/>
  </p:clrMapOvr>
  <p:transition spd="med">
    <p:fade/>
  </p:transition>
</p:sld>
</file>

<file path=ppt/slides/slide13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LAB 9</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 Routine Fires the Pipeline</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134</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2763712" y="1682496"/>
            <a:ext cx="6634095" cy="4133088"/>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pc-routine-pipeline.png"/>
          <p:cNvPicPr>
            <a:picLocks noChangeAspect="1"/>
          </p:cNvPicPr>
          <p:nvPr/>
        </p:nvPicPr>
        <p:blipFill>
          <a:blip r:embed="rId2"/>
          <a:stretch>
            <a:fillRect/>
          </a:stretch>
        </p:blipFill>
        <p:spPr>
          <a:xfrm>
            <a:off x="2818576" y="1737360"/>
            <a:ext cx="6524367" cy="4023360"/>
          </a:xfrm>
          <a:prstGeom prst="rect">
            <a:avLst/>
          </a:prstGeom>
        </p:spPr>
      </p:pic>
      <p:sp>
        <p:nvSpPr>
          <p:cNvPr id="9" name="TextBox 8"/>
          <p:cNvSpPr txBox="1"/>
          <p:nvPr/>
        </p:nvSpPr>
        <p:spPr>
          <a:xfrm>
            <a:off x="548640" y="5870448"/>
            <a:ext cx="11064240" cy="50292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  </a:t>
            </a:r>
            <a:r>
              <a:rPr sz="1250" b="0" i="0">
                <a:solidFill>
                  <a:srgbClr val="6B6862"/>
                </a:solidFill>
                <a:latin typeface="Calibri"/>
              </a:rPr>
              <a:t>Work → Routines: a schedule trigger (Monday 10:00, Asia/Singapore) generates the issue; the CEO delegates each stage.</a:t>
            </a:r>
          </a:p>
        </p:txBody>
      </p:sp>
    </p:spTree>
  </p:cSld>
  <p:clrMapOvr>
    <a:masterClrMapping/>
  </p:clrMapOvr>
  <p:transition spd="med">
    <p:fade/>
  </p:transition>
</p:sld>
</file>

<file path=ppt/slides/slide13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LAB 9</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Run Now — Test Before You Trust</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135</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2763712" y="1682496"/>
            <a:ext cx="6634095" cy="4133088"/>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pc-routine-run.png"/>
          <p:cNvPicPr>
            <a:picLocks noChangeAspect="1"/>
          </p:cNvPicPr>
          <p:nvPr/>
        </p:nvPicPr>
        <p:blipFill>
          <a:blip r:embed="rId2"/>
          <a:stretch>
            <a:fillRect/>
          </a:stretch>
        </p:blipFill>
        <p:spPr>
          <a:xfrm>
            <a:off x="2818576" y="1737360"/>
            <a:ext cx="6524367" cy="4023360"/>
          </a:xfrm>
          <a:prstGeom prst="rect">
            <a:avLst/>
          </a:prstGeom>
        </p:spPr>
      </p:pic>
      <p:sp>
        <p:nvSpPr>
          <p:cNvPr id="9" name="TextBox 8"/>
          <p:cNvSpPr txBox="1"/>
          <p:nvPr/>
        </p:nvSpPr>
        <p:spPr>
          <a:xfrm>
            <a:off x="548640" y="5870448"/>
            <a:ext cx="11064240" cy="50292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  </a:t>
            </a:r>
            <a:r>
              <a:rPr sz="1250" b="0" i="0">
                <a:solidFill>
                  <a:srgbClr val="6B6862"/>
                </a:solidFill>
                <a:latin typeface="Calibri"/>
              </a:rPr>
              <a:t>Trigger the routine manually once and follow every stage before relying on the schedule.</a:t>
            </a:r>
          </a:p>
        </p:txBody>
      </p:sp>
    </p:spTree>
  </p:cSld>
  <p:clrMapOvr>
    <a:masterClrMapping/>
  </p:clrMapOvr>
  <p:transition spd="med">
    <p:fade/>
  </p:transition>
</p:sld>
</file>

<file path=ppt/slides/slide13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LAB 9</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Create the routine</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136</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37360"/>
            <a:ext cx="7040880" cy="4480560"/>
          </a:xfrm>
          <a:prstGeom prst="roundRect">
            <a:avLst>
              <a:gd name="adj" fmla="val 3500"/>
            </a:avLst>
          </a:prstGeom>
          <a:solidFill>
            <a:srgbClr val="2B2924"/>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49808" y="1901952"/>
            <a:ext cx="118872" cy="118872"/>
          </a:xfrm>
          <a:prstGeom prst="ellipse">
            <a:avLst/>
          </a:prstGeom>
          <a:solidFill>
            <a:srgbClr val="E06C5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69264" y="1901952"/>
            <a:ext cx="118872" cy="118872"/>
          </a:xfrm>
          <a:prstGeom prst="ellipse">
            <a:avLst/>
          </a:prstGeom>
          <a:solidFill>
            <a:srgbClr val="E5B45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88719" y="1901952"/>
            <a:ext cx="118872" cy="118872"/>
          </a:xfrm>
          <a:prstGeom prst="ellipse">
            <a:avLst/>
          </a:prstGeom>
          <a:solidFill>
            <a:srgbClr val="7DB36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463040" y="1828800"/>
            <a:ext cx="5943600" cy="274320"/>
          </a:xfrm>
          <a:prstGeom prst="rect">
            <a:avLst/>
          </a:prstGeom>
          <a:noFill/>
        </p:spPr>
        <p:txBody>
          <a:bodyPr wrap="square" lIns="36576" rIns="36576" tIns="18288" bIns="18288" anchor="t">
            <a:spAutoFit/>
          </a:bodyPr>
          <a:lstStyle/>
          <a:p>
            <a:pPr algn="l">
              <a:lnSpc>
                <a:spcPct val="112000"/>
              </a:lnSpc>
            </a:pPr>
            <a:r>
              <a:rPr sz="1000" b="0" i="0">
                <a:solidFill>
                  <a:srgbClr val="B9B4A9"/>
                </a:solidFill>
                <a:latin typeface="Calibri"/>
              </a:rPr>
              <a:t>PROMPT  ·  copy from the Lab Prompts page</a:t>
            </a:r>
          </a:p>
        </p:txBody>
      </p:sp>
      <p:sp>
        <p:nvSpPr>
          <p:cNvPr id="12" name="TextBox 11"/>
          <p:cNvSpPr txBox="1"/>
          <p:nvPr/>
        </p:nvSpPr>
        <p:spPr>
          <a:xfrm>
            <a:off x="777240" y="2194560"/>
            <a:ext cx="6583680" cy="3913632"/>
          </a:xfrm>
          <a:prstGeom prst="rect">
            <a:avLst/>
          </a:prstGeom>
          <a:noFill/>
        </p:spPr>
        <p:txBody>
          <a:bodyPr wrap="square" lIns="36576" rIns="36576" tIns="18288" bIns="18288" anchor="t">
            <a:spAutoFit/>
          </a:bodyPr>
          <a:lstStyle/>
          <a:p>
            <a:pPr algn="l">
              <a:lnSpc>
                <a:spcPct val="110000"/>
              </a:lnSpc>
            </a:pPr>
            <a:r>
              <a:rPr sz="1300" b="0" i="0">
                <a:solidFill>
                  <a:srgbClr val="F1EDE4"/>
                </a:solidFill>
                <a:latin typeface="Consolas"/>
              </a:rPr>
              <a:t>Produce this week's Kopi Short (research -&gt; script -&gt; production -&gt; audit -&gt; publish-ready).</a:t>
            </a:r>
          </a:p>
          <a:p>
            <a:pPr algn="l">
              <a:lnSpc>
                <a:spcPct val="110000"/>
              </a:lnSpc>
            </a:pPr>
            <a:r>
              <a:rPr sz="1300" b="0" i="0">
                <a:solidFill>
                  <a:srgbClr val="F1EDE4"/>
                </a:solidFill>
                <a:latin typeface="Consolas"/>
              </a:rPr>
              <a:t>Delegate: Market Researcher picks one fresh angle (cite 2 sources); Copywriter writes a 20-30 second script in the Kopi Kaki voice (kopi-brand-voice); Video Producer renders the video, or a 6-frame storyboard if rendering is unavailable; Compliance Auditor checks compliance-rules.md (C1-C10) and video-qa-checklist.md (V1-V9).</a:t>
            </a:r>
          </a:p>
          <a:p>
            <a:pPr algn="l">
              <a:lnSpc>
                <a:spcPct val="110000"/>
              </a:lnSpc>
            </a:pPr>
            <a:r>
              <a:rPr sz="1300" b="0" i="0">
                <a:solidFill>
                  <a:srgbClr val="F1EDE4"/>
                </a:solidFill>
                <a:latin typeface="Consolas"/>
              </a:rPr>
              <a:t>Deliver a publish package: title, description with AI disclosure, 3-5 hashtags incl. #ShiokColdBrew, thumbnail, captions.</a:t>
            </a:r>
          </a:p>
          <a:p>
            <a:pPr algn="l">
              <a:lnSpc>
                <a:spcPct val="110000"/>
              </a:lnSpc>
            </a:pPr>
            <a:r>
              <a:rPr sz="1300" b="0" i="0">
                <a:solidFill>
                  <a:srgbClr val="F1EDE4"/>
                </a:solidFill>
                <a:latin typeface="Consolas"/>
              </a:rPr>
              <a:t>Gate: before anything is published, file a Board approval request with the package attached. Do NOT publish. Stay within each agent's budget.</a:t>
            </a:r>
          </a:p>
        </p:txBody>
      </p:sp>
      <p:sp>
        <p:nvSpPr>
          <p:cNvPr id="13" name="Oval 12"/>
          <p:cNvSpPr/>
          <p:nvPr/>
        </p:nvSpPr>
        <p:spPr>
          <a:xfrm>
            <a:off x="7863840" y="177393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chat-FFFFFF.png"/>
          <p:cNvPicPr>
            <a:picLocks noChangeAspect="1"/>
          </p:cNvPicPr>
          <p:nvPr/>
        </p:nvPicPr>
        <p:blipFill>
          <a:blip r:embed="rId2"/>
          <a:stretch>
            <a:fillRect/>
          </a:stretch>
        </p:blipFill>
        <p:spPr>
          <a:xfrm>
            <a:off x="7973567" y="1883664"/>
            <a:ext cx="237744" cy="237744"/>
          </a:xfrm>
          <a:prstGeom prst="rect">
            <a:avLst/>
          </a:prstGeom>
        </p:spPr>
      </p:pic>
      <p:sp>
        <p:nvSpPr>
          <p:cNvPr id="15" name="TextBox 14"/>
          <p:cNvSpPr txBox="1"/>
          <p:nvPr/>
        </p:nvSpPr>
        <p:spPr>
          <a:xfrm>
            <a:off x="8458200" y="173736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Paste into</a:t>
            </a:r>
          </a:p>
        </p:txBody>
      </p:sp>
      <p:sp>
        <p:nvSpPr>
          <p:cNvPr id="16" name="TextBox 15"/>
          <p:cNvSpPr txBox="1"/>
          <p:nvPr/>
        </p:nvSpPr>
        <p:spPr>
          <a:xfrm>
            <a:off x="8458200" y="210312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Paperclip → Routines → Create routine → Instructions</a:t>
            </a:r>
          </a:p>
        </p:txBody>
      </p:sp>
      <p:sp>
        <p:nvSpPr>
          <p:cNvPr id="17" name="Oval 16"/>
          <p:cNvSpPr/>
          <p:nvPr/>
        </p:nvSpPr>
        <p:spPr>
          <a:xfrm>
            <a:off x="7863840" y="326745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check-FFFFFF.png"/>
          <p:cNvPicPr>
            <a:picLocks noChangeAspect="1"/>
          </p:cNvPicPr>
          <p:nvPr/>
        </p:nvPicPr>
        <p:blipFill>
          <a:blip r:embed="rId3"/>
          <a:stretch>
            <a:fillRect/>
          </a:stretch>
        </p:blipFill>
        <p:spPr>
          <a:xfrm>
            <a:off x="7973567" y="3377184"/>
            <a:ext cx="237744" cy="237744"/>
          </a:xfrm>
          <a:prstGeom prst="rect">
            <a:avLst/>
          </a:prstGeom>
        </p:spPr>
      </p:pic>
      <p:sp>
        <p:nvSpPr>
          <p:cNvPr id="19" name="TextBox 18"/>
          <p:cNvSpPr txBox="1"/>
          <p:nvPr/>
        </p:nvSpPr>
        <p:spPr>
          <a:xfrm>
            <a:off x="8458200" y="323088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Expect</a:t>
            </a:r>
          </a:p>
        </p:txBody>
      </p:sp>
      <p:sp>
        <p:nvSpPr>
          <p:cNvPr id="20" name="TextBox 19"/>
          <p:cNvSpPr txBox="1"/>
          <p:nvPr/>
        </p:nvSpPr>
        <p:spPr>
          <a:xfrm>
            <a:off x="8458200" y="359664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The routine lands on its Triggers tab.</a:t>
            </a:r>
          </a:p>
        </p:txBody>
      </p:sp>
      <p:sp>
        <p:nvSpPr>
          <p:cNvPr id="21" name="Oval 20"/>
          <p:cNvSpPr/>
          <p:nvPr/>
        </p:nvSpPr>
        <p:spPr>
          <a:xfrm>
            <a:off x="7863840" y="476097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hand-FFFFFF.png"/>
          <p:cNvPicPr>
            <a:picLocks noChangeAspect="1"/>
          </p:cNvPicPr>
          <p:nvPr/>
        </p:nvPicPr>
        <p:blipFill>
          <a:blip r:embed="rId4"/>
          <a:stretch>
            <a:fillRect/>
          </a:stretch>
        </p:blipFill>
        <p:spPr>
          <a:xfrm>
            <a:off x="7973567" y="4870704"/>
            <a:ext cx="237744" cy="237744"/>
          </a:xfrm>
          <a:prstGeom prst="rect">
            <a:avLst/>
          </a:prstGeom>
        </p:spPr>
      </p:pic>
      <p:sp>
        <p:nvSpPr>
          <p:cNvPr id="23" name="TextBox 22"/>
          <p:cNvSpPr txBox="1"/>
          <p:nvPr/>
        </p:nvSpPr>
        <p:spPr>
          <a:xfrm>
            <a:off x="8458200" y="472440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You decide</a:t>
            </a:r>
          </a:p>
        </p:txBody>
      </p:sp>
      <p:sp>
        <p:nvSpPr>
          <p:cNvPr id="24" name="TextBox 23"/>
          <p:cNvSpPr txBox="1"/>
          <p:nvPr/>
        </p:nvSpPr>
        <p:spPr>
          <a:xfrm>
            <a:off x="8458200" y="509016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Approve each week's video before it is published</a:t>
            </a:r>
          </a:p>
        </p:txBody>
      </p:sp>
    </p:spTree>
  </p:cSld>
  <p:clrMapOvr>
    <a:masterClrMapping/>
  </p:clrMapOvr>
  <p:transition spd="med">
    <p:fade/>
  </p:transition>
</p:sld>
</file>

<file path=ppt/slides/slide137.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LAB 9</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Lab 9 — Checkpoint &amp; Reflection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137</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check-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Verify</a:t>
            </a:r>
          </a:p>
        </p:txBody>
      </p:sp>
      <p:sp>
        <p:nvSpPr>
          <p:cNvPr id="10" name="TextBox 9"/>
          <p:cNvSpPr txBox="1"/>
          <p:nvPr/>
        </p:nvSpPr>
        <p:spPr>
          <a:xfrm>
            <a:off x="1371600" y="2084831"/>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Routine active with a weekly Monday 10:00 Asia/Singapore trigger</a:t>
            </a:r>
          </a:p>
        </p:txBody>
      </p:sp>
      <p:sp>
        <p:nvSpPr>
          <p:cNvPr id="11" name="Oval 10"/>
          <p:cNvSpPr/>
          <p:nvPr/>
        </p:nvSpPr>
        <p:spPr>
          <a:xfrm>
            <a:off x="640080" y="2679191"/>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check-FFFFFF.png"/>
          <p:cNvPicPr>
            <a:picLocks noChangeAspect="1"/>
          </p:cNvPicPr>
          <p:nvPr/>
        </p:nvPicPr>
        <p:blipFill>
          <a:blip r:embed="rId2"/>
          <a:stretch>
            <a:fillRect/>
          </a:stretch>
        </p:blipFill>
        <p:spPr>
          <a:xfrm>
            <a:off x="771753" y="2810865"/>
            <a:ext cx="285292" cy="285292"/>
          </a:xfrm>
          <a:prstGeom prst="rect">
            <a:avLst/>
          </a:prstGeom>
        </p:spPr>
      </p:pic>
      <p:sp>
        <p:nvSpPr>
          <p:cNvPr id="13" name="TextBox 12"/>
          <p:cNvSpPr txBox="1"/>
          <p:nvPr/>
        </p:nvSpPr>
        <p:spPr>
          <a:xfrm>
            <a:off x="1371600" y="2624327"/>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Verify</a:t>
            </a:r>
          </a:p>
        </p:txBody>
      </p:sp>
      <p:sp>
        <p:nvSpPr>
          <p:cNvPr id="14" name="TextBox 13"/>
          <p:cNvSpPr txBox="1"/>
          <p:nvPr/>
        </p:nvSpPr>
        <p:spPr>
          <a:xfrm>
            <a:off x="1371600" y="2990087"/>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Manual run created a task and completed the pipeline</a:t>
            </a:r>
          </a:p>
        </p:txBody>
      </p:sp>
      <p:sp>
        <p:nvSpPr>
          <p:cNvPr id="15" name="Oval 14"/>
          <p:cNvSpPr/>
          <p:nvPr/>
        </p:nvSpPr>
        <p:spPr>
          <a:xfrm>
            <a:off x="640080" y="358444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check-FFFFFF.png"/>
          <p:cNvPicPr>
            <a:picLocks noChangeAspect="1"/>
          </p:cNvPicPr>
          <p:nvPr/>
        </p:nvPicPr>
        <p:blipFill>
          <a:blip r:embed="rId2"/>
          <a:stretch>
            <a:fillRect/>
          </a:stretch>
        </p:blipFill>
        <p:spPr>
          <a:xfrm>
            <a:off x="771753" y="3716121"/>
            <a:ext cx="285292" cy="285292"/>
          </a:xfrm>
          <a:prstGeom prst="rect">
            <a:avLst/>
          </a:prstGeom>
        </p:spPr>
      </p:pic>
      <p:sp>
        <p:nvSpPr>
          <p:cNvPr id="17" name="TextBox 16"/>
          <p:cNvSpPr txBox="1"/>
          <p:nvPr/>
        </p:nvSpPr>
        <p:spPr>
          <a:xfrm>
            <a:off x="1371600" y="352958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Verify</a:t>
            </a:r>
          </a:p>
        </p:txBody>
      </p:sp>
      <p:sp>
        <p:nvSpPr>
          <p:cNvPr id="18" name="TextBox 17"/>
          <p:cNvSpPr txBox="1"/>
          <p:nvPr/>
        </p:nvSpPr>
        <p:spPr>
          <a:xfrm>
            <a:off x="1371600" y="3895344"/>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The generated task shows you as Approver</a:t>
            </a:r>
          </a:p>
        </p:txBody>
      </p:sp>
      <p:sp>
        <p:nvSpPr>
          <p:cNvPr id="19" name="Oval 18"/>
          <p:cNvSpPr/>
          <p:nvPr/>
        </p:nvSpPr>
        <p:spPr>
          <a:xfrm>
            <a:off x="640080" y="4489703"/>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lightbulb-FFFFFF.png"/>
          <p:cNvPicPr>
            <a:picLocks noChangeAspect="1"/>
          </p:cNvPicPr>
          <p:nvPr/>
        </p:nvPicPr>
        <p:blipFill>
          <a:blip r:embed="rId3"/>
          <a:stretch>
            <a:fillRect/>
          </a:stretch>
        </p:blipFill>
        <p:spPr>
          <a:xfrm>
            <a:off x="771753" y="4621377"/>
            <a:ext cx="285292" cy="285292"/>
          </a:xfrm>
          <a:prstGeom prst="rect">
            <a:avLst/>
          </a:prstGeom>
        </p:spPr>
      </p:pic>
      <p:sp>
        <p:nvSpPr>
          <p:cNvPr id="21" name="TextBox 20"/>
          <p:cNvSpPr txBox="1"/>
          <p:nvPr/>
        </p:nvSpPr>
        <p:spPr>
          <a:xfrm>
            <a:off x="1371600" y="4434840"/>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Concepts in action</a:t>
            </a:r>
          </a:p>
        </p:txBody>
      </p:sp>
      <p:sp>
        <p:nvSpPr>
          <p:cNvPr id="22" name="TextBox 21"/>
          <p:cNvSpPr txBox="1"/>
          <p:nvPr/>
        </p:nvSpPr>
        <p:spPr>
          <a:xfrm>
            <a:off x="1371600" y="4800599"/>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Routine = trigger + generated task (a cron for a company)  ·  Heartbeats: agents wake on schedule or on assignment</a:t>
            </a:r>
          </a:p>
        </p:txBody>
      </p:sp>
      <p:sp>
        <p:nvSpPr>
          <p:cNvPr id="23" name="Oval 22"/>
          <p:cNvSpPr/>
          <p:nvPr/>
        </p:nvSpPr>
        <p:spPr>
          <a:xfrm>
            <a:off x="640080" y="5394959"/>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rocket-FFFFFF.png"/>
          <p:cNvPicPr>
            <a:picLocks noChangeAspect="1"/>
          </p:cNvPicPr>
          <p:nvPr/>
        </p:nvPicPr>
        <p:blipFill>
          <a:blip r:embed="rId4"/>
          <a:stretch>
            <a:fillRect/>
          </a:stretch>
        </p:blipFill>
        <p:spPr>
          <a:xfrm>
            <a:off x="771753" y="5526633"/>
            <a:ext cx="285292" cy="285292"/>
          </a:xfrm>
          <a:prstGeom prst="rect">
            <a:avLst/>
          </a:prstGeom>
        </p:spPr>
      </p:pic>
      <p:sp>
        <p:nvSpPr>
          <p:cNvPr id="25" name="TextBox 24"/>
          <p:cNvSpPr txBox="1"/>
          <p:nvPr/>
        </p:nvSpPr>
        <p:spPr>
          <a:xfrm>
            <a:off x="1371600" y="534009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Stretch challenge</a:t>
            </a:r>
          </a:p>
        </p:txBody>
      </p:sp>
      <p:sp>
        <p:nvSpPr>
          <p:cNvPr id="26" name="TextBox 25"/>
          <p:cNvSpPr txBox="1"/>
          <p:nvPr/>
        </p:nvSpPr>
        <p:spPr>
          <a:xfrm>
            <a:off x="1371600" y="5705855"/>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Add a second trigger: a webhook that starts the pipeline when a competitor launches a product. What new risks does an event-driven trigger add, and what gate would you add?</a:t>
            </a:r>
          </a:p>
        </p:txBody>
      </p:sp>
    </p:spTree>
  </p:cSld>
  <p:clrMapOvr>
    <a:masterClrMapping/>
  </p:clrMapOvr>
  <p:transition spd="med">
    <p:fade/>
  </p:transition>
</p:sld>
</file>

<file path=ppt/slides/slide13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LAB 10</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2850" b="1" i="0">
                <a:solidFill>
                  <a:srgbClr val="21201C"/>
                </a:solidFill>
                <a:latin typeface="Cambria"/>
              </a:rPr>
              <a:t>Lab 10 — Govern, Measure &amp; Improve Your Human–AI Workforce</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Read the costs and the audit trail, score every agent, pause or re-budget one, fix the instructions that caused rework, and present a Board report on what the AI workforce delivered.</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138</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240280"/>
            <a:ext cx="5760720" cy="3931920"/>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822960" y="251460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gauge-FFFFFF.png"/>
          <p:cNvPicPr>
            <a:picLocks noChangeAspect="1"/>
          </p:cNvPicPr>
          <p:nvPr/>
        </p:nvPicPr>
        <p:blipFill>
          <a:blip r:embed="rId2"/>
          <a:stretch>
            <a:fillRect/>
          </a:stretch>
        </p:blipFill>
        <p:spPr>
          <a:xfrm>
            <a:off x="954633" y="2646273"/>
            <a:ext cx="285292" cy="285292"/>
          </a:xfrm>
          <a:prstGeom prst="rect">
            <a:avLst/>
          </a:prstGeom>
        </p:spPr>
      </p:pic>
      <p:sp>
        <p:nvSpPr>
          <p:cNvPr id="11" name="TextBox 10"/>
          <p:cNvSpPr txBox="1"/>
          <p:nvPr/>
        </p:nvSpPr>
        <p:spPr>
          <a:xfrm>
            <a:off x="1508760" y="2532888"/>
            <a:ext cx="4572000" cy="512064"/>
          </a:xfrm>
          <a:prstGeom prst="rect">
            <a:avLst/>
          </a:prstGeom>
          <a:noFill/>
        </p:spPr>
        <p:txBody>
          <a:bodyPr wrap="square" lIns="36576" rIns="36576" tIns="18288" bIns="18288" anchor="ctr">
            <a:spAutoFit/>
          </a:bodyPr>
          <a:lstStyle/>
          <a:p>
            <a:pPr algn="l">
              <a:lnSpc>
                <a:spcPct val="112000"/>
              </a:lnSpc>
            </a:pPr>
            <a:r>
              <a:rPr sz="1800" b="1" i="0">
                <a:solidFill>
                  <a:srgbClr val="FFFFFF"/>
                </a:solidFill>
                <a:latin typeface="Cambria"/>
              </a:rPr>
              <a:t>The business scenario</a:t>
            </a:r>
          </a:p>
        </p:txBody>
      </p:sp>
      <p:sp>
        <p:nvSpPr>
          <p:cNvPr id="12" name="TextBox 11"/>
          <p:cNvSpPr txBox="1"/>
          <p:nvPr/>
        </p:nvSpPr>
        <p:spPr>
          <a:xfrm>
            <a:off x="822960" y="3246120"/>
            <a:ext cx="5257800" cy="2788920"/>
          </a:xfrm>
          <a:prstGeom prst="rect">
            <a:avLst/>
          </a:prstGeom>
          <a:noFill/>
        </p:spPr>
        <p:txBody>
          <a:bodyPr wrap="square" lIns="36576" rIns="36576" tIns="18288" bIns="18288" anchor="t">
            <a:spAutoFit/>
          </a:bodyPr>
          <a:lstStyle/>
          <a:p>
            <a:pPr algn="l">
              <a:lnSpc>
                <a:spcPct val="120000"/>
              </a:lnSpc>
            </a:pPr>
            <a:r>
              <a:rPr sz="1400" b="0" i="0">
                <a:solidFill>
                  <a:srgbClr val="C9C4B9"/>
                </a:solidFill>
                <a:latin typeface="Calibri"/>
              </a:rPr>
              <a:t>One month in, the owners ask the Board three questions: what did the AI workforce deliver, what did it cost, and is it safe? You use Paperclip's dashboard, Audit (Activity, Runs, Costs, Budgets) and your scorecard to answer — and you act: pause or re-budget the agent in the red, improve the instructions that caused rework, and decide what humans keep doing.</a:t>
            </a:r>
          </a:p>
        </p:txBody>
      </p:sp>
      <p:sp>
        <p:nvSpPr>
          <p:cNvPr id="13" name="Rounded Rectangle 12"/>
          <p:cNvSpPr/>
          <p:nvPr/>
        </p:nvSpPr>
        <p:spPr>
          <a:xfrm>
            <a:off x="6492240" y="2240280"/>
            <a:ext cx="5120640" cy="23317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720840" y="2404872"/>
            <a:ext cx="4663440" cy="365760"/>
          </a:xfrm>
          <a:prstGeom prst="rect">
            <a:avLst/>
          </a:prstGeom>
          <a:noFill/>
        </p:spPr>
        <p:txBody>
          <a:bodyPr wrap="square" lIns="36576" rIns="36576" tIns="18288" bIns="18288" anchor="t">
            <a:spAutoFit/>
          </a:bodyPr>
          <a:lstStyle/>
          <a:p>
            <a:pPr algn="l">
              <a:lnSpc>
                <a:spcPct val="112000"/>
              </a:lnSpc>
            </a:pPr>
            <a:r>
              <a:rPr sz="1600" b="1" i="0">
                <a:solidFill>
                  <a:srgbClr val="21201C"/>
                </a:solidFill>
                <a:latin typeface="Cambria"/>
              </a:rPr>
              <a:t>You will deliver</a:t>
            </a:r>
          </a:p>
        </p:txBody>
      </p:sp>
      <p:sp>
        <p:nvSpPr>
          <p:cNvPr id="15" name="TextBox 14"/>
          <p:cNvSpPr txBox="1"/>
          <p:nvPr/>
        </p:nvSpPr>
        <p:spPr>
          <a:xfrm>
            <a:off x="6720840" y="2807208"/>
            <a:ext cx="4709160" cy="1691640"/>
          </a:xfrm>
          <a:prstGeom prst="rect">
            <a:avLst/>
          </a:prstGeom>
          <a:noFill/>
        </p:spPr>
        <p:txBody>
          <a:bodyPr wrap="square" lIns="36576" rIns="36576" tIns="18288" bIns="18288" anchor="t">
            <a:spAutoFit/>
          </a:bodyPr>
          <a:lstStyle/>
          <a:p>
            <a:pPr algn="l">
              <a:lnSpc>
                <a:spcPct val="115000"/>
              </a:lnSpc>
            </a:pPr>
            <a:r>
              <a:rPr sz="1200" b="0" i="0">
                <a:solidFill>
                  <a:srgbClr val="6B6862"/>
                </a:solidFill>
                <a:latin typeface="Calibri"/>
              </a:rPr>
              <a:t>✓  scorecard — per-agent output, quality, cost vs budget with a RAG status</a:t>
            </a:r>
          </a:p>
          <a:p>
            <a:pPr algn="l">
              <a:lnSpc>
                <a:spcPct val="115000"/>
              </a:lnSpc>
            </a:pPr>
            <a:r>
              <a:rPr sz="1200" b="0" i="0">
                <a:solidFill>
                  <a:srgbClr val="6B6862"/>
                </a:solidFill>
                <a:latin typeface="Calibri"/>
              </a:rPr>
              <a:t>✓  One agent paused or re-budgeted, with the reason in a comment</a:t>
            </a:r>
          </a:p>
          <a:p>
            <a:pPr algn="l">
              <a:lnSpc>
                <a:spcPct val="115000"/>
              </a:lnSpc>
            </a:pPr>
            <a:r>
              <a:rPr sz="1200" b="0" i="0">
                <a:solidFill>
                  <a:srgbClr val="6B6862"/>
                </a:solidFill>
                <a:latin typeface="Calibri"/>
              </a:rPr>
              <a:t>✓  Improved instructions for the agent with the most revisions and audit findings — the Copywriter in the mock data (a new Revision you can restore)</a:t>
            </a:r>
          </a:p>
          <a:p>
            <a:pPr algn="l">
              <a:lnSpc>
                <a:spcPct val="115000"/>
              </a:lnSpc>
            </a:pPr>
            <a:r>
              <a:rPr sz="1200" b="0" i="0">
                <a:solidFill>
                  <a:srgbClr val="6B6862"/>
                </a:solidFill>
                <a:latin typeface="Calibri"/>
              </a:rPr>
              <a:t>✓  board-report — value, cost, risk, human role, next-quarter decisions — approved by you</a:t>
            </a:r>
          </a:p>
        </p:txBody>
      </p:sp>
      <p:sp>
        <p:nvSpPr>
          <p:cNvPr id="16" name="Rounded Rectangle 15"/>
          <p:cNvSpPr/>
          <p:nvPr/>
        </p:nvSpPr>
        <p:spPr>
          <a:xfrm>
            <a:off x="6492240" y="4727448"/>
            <a:ext cx="5120640" cy="1444752"/>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720840" y="4855464"/>
            <a:ext cx="4709160" cy="1234440"/>
          </a:xfrm>
          <a:prstGeom prst="rect">
            <a:avLst/>
          </a:prstGeom>
          <a:noFill/>
        </p:spPr>
        <p:txBody>
          <a:bodyPr wrap="square" lIns="36576" rIns="36576" tIns="18288" bIns="18288" anchor="t">
            <a:spAutoFit/>
          </a:bodyPr>
          <a:lstStyle/>
          <a:p>
            <a:pPr algn="l">
              <a:lnSpc>
                <a:spcPct val="115000"/>
              </a:lnSpc>
              <a:spcAft>
                <a:spcPts val="300"/>
              </a:spcAft>
            </a:pPr>
            <a:r>
              <a:rPr sz="1250" b="1" i="0">
                <a:solidFill>
                  <a:srgbClr val="D97757"/>
                </a:solidFill>
                <a:latin typeface="Calibri"/>
              </a:rPr>
              <a:t>Agents  </a:t>
            </a:r>
            <a:r>
              <a:rPr sz="1250" b="0" i="0">
                <a:solidFill>
                  <a:srgbClr val="6B6862"/>
                </a:solidFill>
                <a:latin typeface="Calibri"/>
              </a:rPr>
              <a:t>Whole company (CEO + 5 specialists)</a:t>
            </a:r>
          </a:p>
          <a:p>
            <a:pPr algn="l">
              <a:lnSpc>
                <a:spcPct val="115000"/>
              </a:lnSpc>
              <a:spcAft>
                <a:spcPts val="300"/>
              </a:spcAft>
            </a:pPr>
            <a:r>
              <a:rPr sz="1250" b="1" i="0">
                <a:solidFill>
                  <a:srgbClr val="D97757"/>
                </a:solidFill>
                <a:latin typeface="Calibri"/>
              </a:rPr>
              <a:t>Human role  </a:t>
            </a:r>
            <a:r>
              <a:rPr sz="1250" b="0" i="0">
                <a:solidFill>
                  <a:srgbClr val="6B6862"/>
                </a:solidFill>
                <a:latin typeface="Calibri"/>
              </a:rPr>
              <a:t>Evaluate, intervene, improve, report — and stay accountable</a:t>
            </a:r>
          </a:p>
          <a:p>
            <a:pPr algn="l">
              <a:lnSpc>
                <a:spcPct val="115000"/>
              </a:lnSpc>
              <a:spcAft>
                <a:spcPts val="300"/>
              </a:spcAft>
            </a:pPr>
            <a:r>
              <a:rPr sz="1250" b="1" i="0">
                <a:solidFill>
                  <a:srgbClr val="D97757"/>
                </a:solidFill>
                <a:latin typeface="Calibri"/>
              </a:rPr>
              <a:t>Time  </a:t>
            </a:r>
            <a:r>
              <a:rPr sz="1250" b="0" i="0">
                <a:solidFill>
                  <a:srgbClr val="6B6862"/>
                </a:solidFill>
                <a:latin typeface="Calibri"/>
              </a:rPr>
              <a:t>45 min  ·  Workforce governance  ·  labs/lab10-paperclip-govern-measure-improve/</a:t>
            </a:r>
          </a:p>
        </p:txBody>
      </p:sp>
    </p:spTree>
  </p:cSld>
  <p:clrMapOvr>
    <a:masterClrMapping/>
  </p:clrMapOvr>
  <p:transition spd="med">
    <p:fade/>
  </p:transition>
</p:sld>
</file>

<file path=ppt/slides/slide139.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LAB 10</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Lab 10 — How the workflow runs</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C9C4B9"/>
                </a:solidFill>
                <a:latin typeface="Calibri"/>
              </a:rPr>
              <a:t>Perception → reasoning → action, with you at the checkpoints.</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139</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sp>
        <p:nvSpPr>
          <p:cNvPr id="8" name="Rounded Rectangle 7"/>
          <p:cNvSpPr/>
          <p:nvPr/>
        </p:nvSpPr>
        <p:spPr>
          <a:xfrm>
            <a:off x="548640" y="2331720"/>
            <a:ext cx="1706879"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31520" y="2468879"/>
            <a:ext cx="1341119"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1</a:t>
            </a:r>
          </a:p>
        </p:txBody>
      </p:sp>
      <p:sp>
        <p:nvSpPr>
          <p:cNvPr id="10" name="Oval 9"/>
          <p:cNvSpPr/>
          <p:nvPr/>
        </p:nvSpPr>
        <p:spPr>
          <a:xfrm>
            <a:off x="731520"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coins-FFFFFF.png"/>
          <p:cNvPicPr>
            <a:picLocks noChangeAspect="1"/>
          </p:cNvPicPr>
          <p:nvPr/>
        </p:nvPicPr>
        <p:blipFill>
          <a:blip r:embed="rId2"/>
          <a:stretch>
            <a:fillRect/>
          </a:stretch>
        </p:blipFill>
        <p:spPr>
          <a:xfrm>
            <a:off x="845637" y="2948757"/>
            <a:ext cx="247253" cy="247253"/>
          </a:xfrm>
          <a:prstGeom prst="rect">
            <a:avLst/>
          </a:prstGeom>
        </p:spPr>
      </p:pic>
      <p:sp>
        <p:nvSpPr>
          <p:cNvPr id="12" name="TextBox 11"/>
          <p:cNvSpPr txBox="1"/>
          <p:nvPr/>
        </p:nvSpPr>
        <p:spPr>
          <a:xfrm>
            <a:off x="731520" y="3410711"/>
            <a:ext cx="1386840"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Costs</a:t>
            </a:r>
          </a:p>
        </p:txBody>
      </p:sp>
      <p:sp>
        <p:nvSpPr>
          <p:cNvPr id="13" name="TextBox 12"/>
          <p:cNvSpPr txBox="1"/>
          <p:nvPr/>
        </p:nvSpPr>
        <p:spPr>
          <a:xfrm>
            <a:off x="731520" y="3977639"/>
            <a:ext cx="1386840"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Spend by agent vs budget.</a:t>
            </a:r>
          </a:p>
        </p:txBody>
      </p:sp>
      <p:cxnSp>
        <p:nvCxnSpPr>
          <p:cNvPr id="14" name="Connector 13"/>
          <p:cNvCxnSpPr/>
          <p:nvPr/>
        </p:nvCxnSpPr>
        <p:spPr>
          <a:xfrm>
            <a:off x="2264663" y="3886200"/>
            <a:ext cx="146305"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2420112" y="2331720"/>
            <a:ext cx="1706879"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2602992" y="2468879"/>
            <a:ext cx="1341119"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2</a:t>
            </a:r>
          </a:p>
        </p:txBody>
      </p:sp>
      <p:sp>
        <p:nvSpPr>
          <p:cNvPr id="17" name="Oval 16"/>
          <p:cNvSpPr/>
          <p:nvPr/>
        </p:nvSpPr>
        <p:spPr>
          <a:xfrm>
            <a:off x="2602992"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history-FFFFFF.png"/>
          <p:cNvPicPr>
            <a:picLocks noChangeAspect="1"/>
          </p:cNvPicPr>
          <p:nvPr/>
        </p:nvPicPr>
        <p:blipFill>
          <a:blip r:embed="rId3"/>
          <a:stretch>
            <a:fillRect/>
          </a:stretch>
        </p:blipFill>
        <p:spPr>
          <a:xfrm>
            <a:off x="2717109" y="2948757"/>
            <a:ext cx="247253" cy="247253"/>
          </a:xfrm>
          <a:prstGeom prst="rect">
            <a:avLst/>
          </a:prstGeom>
        </p:spPr>
      </p:pic>
      <p:sp>
        <p:nvSpPr>
          <p:cNvPr id="19" name="TextBox 18"/>
          <p:cNvSpPr txBox="1"/>
          <p:nvPr/>
        </p:nvSpPr>
        <p:spPr>
          <a:xfrm>
            <a:off x="2602992" y="3410711"/>
            <a:ext cx="1386840"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Audit trail</a:t>
            </a:r>
          </a:p>
        </p:txBody>
      </p:sp>
      <p:sp>
        <p:nvSpPr>
          <p:cNvPr id="20" name="TextBox 19"/>
          <p:cNvSpPr txBox="1"/>
          <p:nvPr/>
        </p:nvSpPr>
        <p:spPr>
          <a:xfrm>
            <a:off x="2602992" y="3977639"/>
            <a:ext cx="1386840"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Approvals, send-backs, budget events.</a:t>
            </a:r>
          </a:p>
        </p:txBody>
      </p:sp>
      <p:cxnSp>
        <p:nvCxnSpPr>
          <p:cNvPr id="21" name="Connector 20"/>
          <p:cNvCxnSpPr/>
          <p:nvPr/>
        </p:nvCxnSpPr>
        <p:spPr>
          <a:xfrm>
            <a:off x="4136135" y="3886200"/>
            <a:ext cx="146304"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4291583" y="2331720"/>
            <a:ext cx="1706879"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4474463" y="2468879"/>
            <a:ext cx="1341119"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3</a:t>
            </a:r>
          </a:p>
        </p:txBody>
      </p:sp>
      <p:sp>
        <p:nvSpPr>
          <p:cNvPr id="24" name="Oval 23"/>
          <p:cNvSpPr/>
          <p:nvPr/>
        </p:nvSpPr>
        <p:spPr>
          <a:xfrm>
            <a:off x="4474463"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Picture 24" descr="chart-FFFFFF.png"/>
          <p:cNvPicPr>
            <a:picLocks noChangeAspect="1"/>
          </p:cNvPicPr>
          <p:nvPr/>
        </p:nvPicPr>
        <p:blipFill>
          <a:blip r:embed="rId4"/>
          <a:stretch>
            <a:fillRect/>
          </a:stretch>
        </p:blipFill>
        <p:spPr>
          <a:xfrm>
            <a:off x="4588581" y="2948757"/>
            <a:ext cx="247253" cy="247253"/>
          </a:xfrm>
          <a:prstGeom prst="rect">
            <a:avLst/>
          </a:prstGeom>
        </p:spPr>
      </p:pic>
      <p:sp>
        <p:nvSpPr>
          <p:cNvPr id="26" name="TextBox 25"/>
          <p:cNvSpPr txBox="1"/>
          <p:nvPr/>
        </p:nvSpPr>
        <p:spPr>
          <a:xfrm>
            <a:off x="4474463" y="3410711"/>
            <a:ext cx="1386840"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Scorecard</a:t>
            </a:r>
          </a:p>
        </p:txBody>
      </p:sp>
      <p:sp>
        <p:nvSpPr>
          <p:cNvPr id="27" name="TextBox 26"/>
          <p:cNvSpPr txBox="1"/>
          <p:nvPr/>
        </p:nvSpPr>
        <p:spPr>
          <a:xfrm>
            <a:off x="4474463" y="3977639"/>
            <a:ext cx="1386840"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Output, quality, cost per agent.</a:t>
            </a:r>
          </a:p>
        </p:txBody>
      </p:sp>
      <p:cxnSp>
        <p:nvCxnSpPr>
          <p:cNvPr id="28" name="Connector 27"/>
          <p:cNvCxnSpPr/>
          <p:nvPr/>
        </p:nvCxnSpPr>
        <p:spPr>
          <a:xfrm>
            <a:off x="6007607" y="3886200"/>
            <a:ext cx="146304"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6163055" y="2331720"/>
            <a:ext cx="1706879" cy="3108960"/>
          </a:xfrm>
          <a:prstGeom prst="roundRect">
            <a:avLst>
              <a:gd name="adj" fmla="val 3500"/>
            </a:avLst>
          </a:prstGeom>
          <a:solidFill>
            <a:srgbClr val="C2603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6345935" y="2468879"/>
            <a:ext cx="1341119" cy="274320"/>
          </a:xfrm>
          <a:prstGeom prst="rect">
            <a:avLst/>
          </a:prstGeom>
          <a:noFill/>
        </p:spPr>
        <p:txBody>
          <a:bodyPr wrap="square" lIns="36576" rIns="36576" tIns="18288" bIns="18288" anchor="t">
            <a:spAutoFit/>
          </a:bodyPr>
          <a:lstStyle/>
          <a:p>
            <a:pPr algn="l">
              <a:lnSpc>
                <a:spcPct val="112000"/>
              </a:lnSpc>
            </a:pPr>
            <a:r>
              <a:rPr sz="950" b="1" i="0">
                <a:solidFill>
                  <a:srgbClr val="FFFFFF"/>
                </a:solidFill>
                <a:latin typeface="Calibri"/>
              </a:rPr>
              <a:t>HUMAN  ·  STEP 4</a:t>
            </a:r>
          </a:p>
        </p:txBody>
      </p:sp>
      <p:sp>
        <p:nvSpPr>
          <p:cNvPr id="31" name="Oval 30"/>
          <p:cNvSpPr/>
          <p:nvPr/>
        </p:nvSpPr>
        <p:spPr>
          <a:xfrm>
            <a:off x="6345935" y="2834639"/>
            <a:ext cx="475488" cy="475488"/>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2" name="Picture 31" descr="pause-C2603F.png"/>
          <p:cNvPicPr>
            <a:picLocks noChangeAspect="1"/>
          </p:cNvPicPr>
          <p:nvPr/>
        </p:nvPicPr>
        <p:blipFill>
          <a:blip r:embed="rId5"/>
          <a:stretch>
            <a:fillRect/>
          </a:stretch>
        </p:blipFill>
        <p:spPr>
          <a:xfrm>
            <a:off x="6460053" y="2948757"/>
            <a:ext cx="247253" cy="247253"/>
          </a:xfrm>
          <a:prstGeom prst="rect">
            <a:avLst/>
          </a:prstGeom>
        </p:spPr>
      </p:pic>
      <p:sp>
        <p:nvSpPr>
          <p:cNvPr id="33" name="TextBox 32"/>
          <p:cNvSpPr txBox="1"/>
          <p:nvPr/>
        </p:nvSpPr>
        <p:spPr>
          <a:xfrm>
            <a:off x="6345935" y="3410711"/>
            <a:ext cx="1386840"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Intervene</a:t>
            </a:r>
          </a:p>
        </p:txBody>
      </p:sp>
      <p:sp>
        <p:nvSpPr>
          <p:cNvPr id="34" name="TextBox 33"/>
          <p:cNvSpPr txBox="1"/>
          <p:nvPr/>
        </p:nvSpPr>
        <p:spPr>
          <a:xfrm>
            <a:off x="6345935" y="3977639"/>
            <a:ext cx="1386840" cy="1371600"/>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Pause / re-budget one agent.</a:t>
            </a:r>
          </a:p>
        </p:txBody>
      </p:sp>
      <p:cxnSp>
        <p:nvCxnSpPr>
          <p:cNvPr id="35" name="Connector 34"/>
          <p:cNvCxnSpPr/>
          <p:nvPr/>
        </p:nvCxnSpPr>
        <p:spPr>
          <a:xfrm>
            <a:off x="7879079" y="3886200"/>
            <a:ext cx="146304"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8034527" y="2331720"/>
            <a:ext cx="1706879" cy="3108960"/>
          </a:xfrm>
          <a:prstGeom prst="roundRect">
            <a:avLst>
              <a:gd name="adj" fmla="val 3500"/>
            </a:avLst>
          </a:prstGeom>
          <a:solidFill>
            <a:srgbClr val="C2603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8217407" y="2468879"/>
            <a:ext cx="1341119" cy="274320"/>
          </a:xfrm>
          <a:prstGeom prst="rect">
            <a:avLst/>
          </a:prstGeom>
          <a:noFill/>
        </p:spPr>
        <p:txBody>
          <a:bodyPr wrap="square" lIns="36576" rIns="36576" tIns="18288" bIns="18288" anchor="t">
            <a:spAutoFit/>
          </a:bodyPr>
          <a:lstStyle/>
          <a:p>
            <a:pPr algn="l">
              <a:lnSpc>
                <a:spcPct val="112000"/>
              </a:lnSpc>
            </a:pPr>
            <a:r>
              <a:rPr sz="950" b="1" i="0">
                <a:solidFill>
                  <a:srgbClr val="FFFFFF"/>
                </a:solidFill>
                <a:latin typeface="Calibri"/>
              </a:rPr>
              <a:t>HUMAN  ·  STEP 5</a:t>
            </a:r>
          </a:p>
        </p:txBody>
      </p:sp>
      <p:sp>
        <p:nvSpPr>
          <p:cNvPr id="38" name="Oval 37"/>
          <p:cNvSpPr/>
          <p:nvPr/>
        </p:nvSpPr>
        <p:spPr>
          <a:xfrm>
            <a:off x="8217407" y="2834639"/>
            <a:ext cx="475488" cy="475488"/>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9" name="Picture 38" descr="wand-C2603F.png"/>
          <p:cNvPicPr>
            <a:picLocks noChangeAspect="1"/>
          </p:cNvPicPr>
          <p:nvPr/>
        </p:nvPicPr>
        <p:blipFill>
          <a:blip r:embed="rId6"/>
          <a:stretch>
            <a:fillRect/>
          </a:stretch>
        </p:blipFill>
        <p:spPr>
          <a:xfrm>
            <a:off x="8331525" y="2948757"/>
            <a:ext cx="247253" cy="247253"/>
          </a:xfrm>
          <a:prstGeom prst="rect">
            <a:avLst/>
          </a:prstGeom>
        </p:spPr>
      </p:pic>
      <p:sp>
        <p:nvSpPr>
          <p:cNvPr id="40" name="TextBox 39"/>
          <p:cNvSpPr txBox="1"/>
          <p:nvPr/>
        </p:nvSpPr>
        <p:spPr>
          <a:xfrm>
            <a:off x="8217407" y="3410711"/>
            <a:ext cx="1386840"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Improve</a:t>
            </a:r>
          </a:p>
        </p:txBody>
      </p:sp>
      <p:sp>
        <p:nvSpPr>
          <p:cNvPr id="41" name="TextBox 40"/>
          <p:cNvSpPr txBox="1"/>
          <p:nvPr/>
        </p:nvSpPr>
        <p:spPr>
          <a:xfrm>
            <a:off x="8217407" y="3977639"/>
            <a:ext cx="1386840" cy="1371600"/>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Rewrite instructions that caused rework.</a:t>
            </a:r>
          </a:p>
        </p:txBody>
      </p:sp>
      <p:cxnSp>
        <p:nvCxnSpPr>
          <p:cNvPr id="42" name="Connector 41"/>
          <p:cNvCxnSpPr/>
          <p:nvPr/>
        </p:nvCxnSpPr>
        <p:spPr>
          <a:xfrm>
            <a:off x="9750551" y="3886200"/>
            <a:ext cx="146305"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43" name="Rounded Rectangle 42"/>
          <p:cNvSpPr/>
          <p:nvPr/>
        </p:nvSpPr>
        <p:spPr>
          <a:xfrm>
            <a:off x="9905999" y="2331720"/>
            <a:ext cx="1706879" cy="3108960"/>
          </a:xfrm>
          <a:prstGeom prst="roundRect">
            <a:avLst>
              <a:gd name="adj" fmla="val 3500"/>
            </a:avLst>
          </a:prstGeom>
          <a:solidFill>
            <a:srgbClr val="C2603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10088879" y="2468879"/>
            <a:ext cx="1341119" cy="274320"/>
          </a:xfrm>
          <a:prstGeom prst="rect">
            <a:avLst/>
          </a:prstGeom>
          <a:noFill/>
        </p:spPr>
        <p:txBody>
          <a:bodyPr wrap="square" lIns="36576" rIns="36576" tIns="18288" bIns="18288" anchor="t">
            <a:spAutoFit/>
          </a:bodyPr>
          <a:lstStyle/>
          <a:p>
            <a:pPr algn="l">
              <a:lnSpc>
                <a:spcPct val="112000"/>
              </a:lnSpc>
            </a:pPr>
            <a:r>
              <a:rPr sz="950" b="1" i="0">
                <a:solidFill>
                  <a:srgbClr val="FFFFFF"/>
                </a:solidFill>
                <a:latin typeface="Calibri"/>
              </a:rPr>
              <a:t>HUMAN  ·  STEP 6</a:t>
            </a:r>
          </a:p>
        </p:txBody>
      </p:sp>
      <p:sp>
        <p:nvSpPr>
          <p:cNvPr id="45" name="Oval 44"/>
          <p:cNvSpPr/>
          <p:nvPr/>
        </p:nvSpPr>
        <p:spPr>
          <a:xfrm>
            <a:off x="10088879" y="2834639"/>
            <a:ext cx="475488" cy="475488"/>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6" name="Picture 45" descr="file-C2603F.png"/>
          <p:cNvPicPr>
            <a:picLocks noChangeAspect="1"/>
          </p:cNvPicPr>
          <p:nvPr/>
        </p:nvPicPr>
        <p:blipFill>
          <a:blip r:embed="rId7"/>
          <a:stretch>
            <a:fillRect/>
          </a:stretch>
        </p:blipFill>
        <p:spPr>
          <a:xfrm>
            <a:off x="10202997" y="2948757"/>
            <a:ext cx="247253" cy="247253"/>
          </a:xfrm>
          <a:prstGeom prst="rect">
            <a:avLst/>
          </a:prstGeom>
        </p:spPr>
      </p:pic>
      <p:sp>
        <p:nvSpPr>
          <p:cNvPr id="47" name="TextBox 46"/>
          <p:cNvSpPr txBox="1"/>
          <p:nvPr/>
        </p:nvSpPr>
        <p:spPr>
          <a:xfrm>
            <a:off x="10088879" y="3410711"/>
            <a:ext cx="1386840"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Report</a:t>
            </a:r>
          </a:p>
        </p:txBody>
      </p:sp>
      <p:sp>
        <p:nvSpPr>
          <p:cNvPr id="48" name="TextBox 47"/>
          <p:cNvSpPr txBox="1"/>
          <p:nvPr/>
        </p:nvSpPr>
        <p:spPr>
          <a:xfrm>
            <a:off x="10088879" y="3977639"/>
            <a:ext cx="1386840" cy="1371600"/>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Board report: value, cost, risk.</a:t>
            </a:r>
          </a:p>
        </p:txBody>
      </p:sp>
      <p:sp>
        <p:nvSpPr>
          <p:cNvPr id="49" name="TextBox 48"/>
          <p:cNvSpPr txBox="1"/>
          <p:nvPr/>
        </p:nvSpPr>
        <p:spPr>
          <a:xfrm>
            <a:off x="548640" y="5715000"/>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Checkpoint  </a:t>
            </a:r>
            <a:r>
              <a:rPr sz="1300" b="0" i="0">
                <a:solidFill>
                  <a:srgbClr val="C9C4B9"/>
                </a:solidFill>
                <a:latin typeface="Calibri"/>
              </a:rPr>
              <a:t>Scorecard numbers match Audit → Costs for at least two agents; one intervention and one instruction change are logged with reasons.</a:t>
            </a:r>
          </a:p>
        </p:txBody>
      </p:sp>
    </p:spTree>
  </p:cSld>
  <p:clrMapOvr>
    <a:masterClrMapping/>
  </p:clrMapOvr>
  <p:transition spd="med">
    <p:fade/>
  </p:transition>
</p:sld>
</file>

<file path=ppt/slides/slide14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LAB 10</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Month-1 Agent Scorecard (agent-scorecard.csv)</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140</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graphicFrame>
        <p:nvGraphicFramePr>
          <p:cNvPr id="7" name="Table 6"/>
          <p:cNvGraphicFramePr>
            <a:graphicFrameLocks noGrp="1"/>
          </p:cNvGraphicFramePr>
          <p:nvPr/>
        </p:nvGraphicFramePr>
        <p:xfrm>
          <a:off x="548640" y="1691640"/>
          <a:ext cx="11064240" cy="4297680"/>
        </p:xfrm>
        <a:graphic>
          <a:graphicData uri="http://schemas.openxmlformats.org/drawingml/2006/table">
            <a:tbl>
              <a:tblPr firstRow="0" bandRow="0">
                <a:tableStyleId>{5C22544A-7EE6-4342-B048-85BDC9FD1C3A}</a:tableStyleId>
              </a:tblPr>
              <a:tblGrid>
                <a:gridCol w="2377440"/>
                <a:gridCol w="1463040"/>
                <a:gridCol w="1463040"/>
                <a:gridCol w="1371600"/>
                <a:gridCol w="2194560"/>
                <a:gridCol w="2194560"/>
              </a:tblGrid>
              <a:tr h="457200">
                <a:tc>
                  <a:txBody>
                    <a:bodyPr wrap="square"/>
                    <a:lstStyle/>
                    <a:p>
                      <a:r>
                        <a:rPr b="1" sz="1550">
                          <a:solidFill>
                            <a:srgbClr val="FFFFFF"/>
                          </a:solidFill>
                          <a:latin typeface="Cambria"/>
                        </a:rPr>
                        <a:t>Agent</a:t>
                      </a:r>
                    </a:p>
                  </a:txBody>
                  <a:tcPr marL="64008" marR="64008" marT="27432" marB="27432" anchor="ctr">
                    <a:solidFill>
                      <a:srgbClr val="21201C"/>
                    </a:solidFill>
                  </a:tcPr>
                </a:tc>
                <a:tc>
                  <a:txBody>
                    <a:bodyPr wrap="square"/>
                    <a:lstStyle/>
                    <a:p>
                      <a:r>
                        <a:rPr b="1" sz="1550">
                          <a:solidFill>
                            <a:srgbClr val="FFFFFF"/>
                          </a:solidFill>
                          <a:latin typeface="Cambria"/>
                        </a:rPr>
                        <a:t>Issues done</a:t>
                      </a:r>
                    </a:p>
                  </a:txBody>
                  <a:tcPr marL="64008" marR="64008" marT="27432" marB="27432" anchor="ctr">
                    <a:solidFill>
                      <a:srgbClr val="21201C"/>
                    </a:solidFill>
                  </a:tcPr>
                </a:tc>
                <a:tc>
                  <a:txBody>
                    <a:bodyPr wrap="square"/>
                    <a:lstStyle/>
                    <a:p>
                      <a:r>
                        <a:rPr b="1" sz="1550">
                          <a:solidFill>
                            <a:srgbClr val="FFFFFF"/>
                          </a:solidFill>
                          <a:latin typeface="Cambria"/>
                        </a:rPr>
                        <a:t>Audit FAILs</a:t>
                      </a:r>
                    </a:p>
                  </a:txBody>
                  <a:tcPr marL="64008" marR="64008" marT="27432" marB="27432" anchor="ctr">
                    <a:solidFill>
                      <a:srgbClr val="21201C"/>
                    </a:solidFill>
                  </a:tcPr>
                </a:tc>
                <a:tc>
                  <a:txBody>
                    <a:bodyPr wrap="square"/>
                    <a:lstStyle/>
                    <a:p>
                      <a:r>
                        <a:rPr b="1" sz="1550">
                          <a:solidFill>
                            <a:srgbClr val="FFFFFF"/>
                          </a:solidFill>
                          <a:latin typeface="Cambria"/>
                        </a:rPr>
                        <a:t>Revisions</a:t>
                      </a:r>
                    </a:p>
                  </a:txBody>
                  <a:tcPr marL="64008" marR="64008" marT="27432" marB="27432" anchor="ctr">
                    <a:solidFill>
                      <a:srgbClr val="21201C"/>
                    </a:solidFill>
                  </a:tcPr>
                </a:tc>
                <a:tc>
                  <a:txBody>
                    <a:bodyPr wrap="square"/>
                    <a:lstStyle/>
                    <a:p>
                      <a:r>
                        <a:rPr b="1" sz="1550">
                          <a:solidFill>
                            <a:srgbClr val="FFFFFF"/>
                          </a:solidFill>
                          <a:latin typeface="Cambria"/>
                        </a:rPr>
                        <a:t>Spend / budget (USD)</a:t>
                      </a:r>
                    </a:p>
                  </a:txBody>
                  <a:tcPr marL="64008" marR="64008" marT="27432" marB="27432" anchor="ctr">
                    <a:solidFill>
                      <a:srgbClr val="21201C"/>
                    </a:solidFill>
                  </a:tcPr>
                </a:tc>
                <a:tc>
                  <a:txBody>
                    <a:bodyPr wrap="square"/>
                    <a:lstStyle/>
                    <a:p>
                      <a:r>
                        <a:rPr b="1" sz="1550">
                          <a:solidFill>
                            <a:srgbClr val="FFFFFF"/>
                          </a:solidFill>
                          <a:latin typeface="Cambria"/>
                        </a:rPr>
                        <a:t>Status</a:t>
                      </a:r>
                    </a:p>
                  </a:txBody>
                  <a:tcPr marL="64008" marR="64008" marT="27432" marB="27432" anchor="ctr">
                    <a:solidFill>
                      <a:srgbClr val="21201C"/>
                    </a:solidFill>
                  </a:tcPr>
                </a:tc>
              </a:tr>
              <a:tr h="640080">
                <a:tc>
                  <a:txBody>
                    <a:bodyPr wrap="square"/>
                    <a:lstStyle/>
                    <a:p>
                      <a:r>
                        <a:rPr b="1" sz="1500">
                          <a:solidFill>
                            <a:srgbClr val="21201C"/>
                          </a:solidFill>
                          <a:latin typeface="Cambria"/>
                        </a:rPr>
                        <a:t>Ava (CEO)</a:t>
                      </a:r>
                    </a:p>
                  </a:txBody>
                  <a:tcPr marL="64008" marR="64008" marT="27432" marB="27432" anchor="ctr">
                    <a:solidFill>
                      <a:srgbClr val="FFFFFF"/>
                    </a:solidFill>
                  </a:tcPr>
                </a:tc>
                <a:tc>
                  <a:txBody>
                    <a:bodyPr wrap="square"/>
                    <a:lstStyle/>
                    <a:p>
                      <a:r>
                        <a:rPr b="0" sz="1500">
                          <a:solidFill>
                            <a:srgbClr val="6B6862"/>
                          </a:solidFill>
                          <a:latin typeface="Calibri"/>
                        </a:rPr>
                        <a:t>13 / 14</a:t>
                      </a:r>
                    </a:p>
                  </a:txBody>
                  <a:tcPr marL="64008" marR="64008" marT="27432" marB="27432" anchor="ctr">
                    <a:solidFill>
                      <a:srgbClr val="FFFFFF"/>
                    </a:solidFill>
                  </a:tcPr>
                </a:tc>
                <a:tc>
                  <a:txBody>
                    <a:bodyPr wrap="square"/>
                    <a:lstStyle/>
                    <a:p>
                      <a:r>
                        <a:rPr b="0" sz="1500">
                          <a:solidFill>
                            <a:srgbClr val="6B6862"/>
                          </a:solidFill>
                          <a:latin typeface="Calibri"/>
                        </a:rPr>
                        <a:t>0</a:t>
                      </a:r>
                    </a:p>
                  </a:txBody>
                  <a:tcPr marL="64008" marR="64008" marT="27432" marB="27432" anchor="ctr">
                    <a:solidFill>
                      <a:srgbClr val="FFFFFF"/>
                    </a:solidFill>
                  </a:tcPr>
                </a:tc>
                <a:tc>
                  <a:txBody>
                    <a:bodyPr wrap="square"/>
                    <a:lstStyle/>
                    <a:p>
                      <a:r>
                        <a:rPr b="0" sz="1500">
                          <a:solidFill>
                            <a:srgbClr val="6B6862"/>
                          </a:solidFill>
                          <a:latin typeface="Calibri"/>
                        </a:rPr>
                        <a:t>1</a:t>
                      </a:r>
                    </a:p>
                  </a:txBody>
                  <a:tcPr marL="64008" marR="64008" marT="27432" marB="27432" anchor="ctr">
                    <a:solidFill>
                      <a:srgbClr val="FFFFFF"/>
                    </a:solidFill>
                  </a:tcPr>
                </a:tc>
                <a:tc>
                  <a:txBody>
                    <a:bodyPr wrap="square"/>
                    <a:lstStyle/>
                    <a:p>
                      <a:r>
                        <a:rPr b="0" sz="1500">
                          <a:solidFill>
                            <a:srgbClr val="6B6862"/>
                          </a:solidFill>
                          <a:latin typeface="Calibri"/>
                        </a:rPr>
                        <a:t>11.20 / 15</a:t>
                      </a:r>
                    </a:p>
                  </a:txBody>
                  <a:tcPr marL="64008" marR="64008" marT="27432" marB="27432" anchor="ctr">
                    <a:solidFill>
                      <a:srgbClr val="FFFFFF"/>
                    </a:solidFill>
                  </a:tcPr>
                </a:tc>
                <a:tc>
                  <a:txBody>
                    <a:bodyPr wrap="square"/>
                    <a:lstStyle/>
                    <a:p>
                      <a:r>
                        <a:rPr b="0" sz="1500">
                          <a:solidFill>
                            <a:srgbClr val="6B6862"/>
                          </a:solidFill>
                          <a:latin typeface="Calibri"/>
                        </a:rPr>
                        <a:t>Green</a:t>
                      </a:r>
                    </a:p>
                  </a:txBody>
                  <a:tcPr marL="64008" marR="64008" marT="27432" marB="27432" anchor="ctr">
                    <a:solidFill>
                      <a:srgbClr val="F6E7DF"/>
                    </a:solidFill>
                  </a:tcPr>
                </a:tc>
              </a:tr>
              <a:tr h="640080">
                <a:tc>
                  <a:txBody>
                    <a:bodyPr wrap="square"/>
                    <a:lstStyle/>
                    <a:p>
                      <a:r>
                        <a:rPr b="1" sz="1500">
                          <a:solidFill>
                            <a:srgbClr val="21201C"/>
                          </a:solidFill>
                          <a:latin typeface="Cambria"/>
                        </a:rPr>
                        <a:t>Market Researcher</a:t>
                      </a:r>
                    </a:p>
                  </a:txBody>
                  <a:tcPr marL="64008" marR="64008" marT="27432" marB="27432" anchor="ctr">
                    <a:solidFill>
                      <a:srgbClr val="F3F1EB"/>
                    </a:solidFill>
                  </a:tcPr>
                </a:tc>
                <a:tc>
                  <a:txBody>
                    <a:bodyPr wrap="square"/>
                    <a:lstStyle/>
                    <a:p>
                      <a:r>
                        <a:rPr b="0" sz="1500">
                          <a:solidFill>
                            <a:srgbClr val="6B6862"/>
                          </a:solidFill>
                          <a:latin typeface="Calibri"/>
                        </a:rPr>
                        <a:t>9 / 9</a:t>
                      </a:r>
                    </a:p>
                  </a:txBody>
                  <a:tcPr marL="64008" marR="64008" marT="27432" marB="27432" anchor="ctr">
                    <a:solidFill>
                      <a:srgbClr val="F3F1EB"/>
                    </a:solidFill>
                  </a:tcPr>
                </a:tc>
                <a:tc>
                  <a:txBody>
                    <a:bodyPr wrap="square"/>
                    <a:lstStyle/>
                    <a:p>
                      <a:r>
                        <a:rPr b="0" sz="1500">
                          <a:solidFill>
                            <a:srgbClr val="6B6862"/>
                          </a:solidFill>
                          <a:latin typeface="Calibri"/>
                        </a:rPr>
                        <a:t>0</a:t>
                      </a:r>
                    </a:p>
                  </a:txBody>
                  <a:tcPr marL="64008" marR="64008" marT="27432" marB="27432" anchor="ctr">
                    <a:solidFill>
                      <a:srgbClr val="F3F1EB"/>
                    </a:solidFill>
                  </a:tcPr>
                </a:tc>
                <a:tc>
                  <a:txBody>
                    <a:bodyPr wrap="square"/>
                    <a:lstStyle/>
                    <a:p>
                      <a:r>
                        <a:rPr b="0" sz="1500">
                          <a:solidFill>
                            <a:srgbClr val="6B6862"/>
                          </a:solidFill>
                          <a:latin typeface="Calibri"/>
                        </a:rPr>
                        <a:t>0</a:t>
                      </a:r>
                    </a:p>
                  </a:txBody>
                  <a:tcPr marL="64008" marR="64008" marT="27432" marB="27432" anchor="ctr">
                    <a:solidFill>
                      <a:srgbClr val="F3F1EB"/>
                    </a:solidFill>
                  </a:tcPr>
                </a:tc>
                <a:tc>
                  <a:txBody>
                    <a:bodyPr wrap="square"/>
                    <a:lstStyle/>
                    <a:p>
                      <a:r>
                        <a:rPr b="0" sz="1500">
                          <a:solidFill>
                            <a:srgbClr val="6B6862"/>
                          </a:solidFill>
                          <a:latin typeface="Calibri"/>
                        </a:rPr>
                        <a:t>6.10 / 8</a:t>
                      </a:r>
                    </a:p>
                  </a:txBody>
                  <a:tcPr marL="64008" marR="64008" marT="27432" marB="27432" anchor="ctr">
                    <a:solidFill>
                      <a:srgbClr val="F3F1EB"/>
                    </a:solidFill>
                  </a:tcPr>
                </a:tc>
                <a:tc>
                  <a:txBody>
                    <a:bodyPr wrap="square"/>
                    <a:lstStyle/>
                    <a:p>
                      <a:r>
                        <a:rPr b="0" sz="1500">
                          <a:solidFill>
                            <a:srgbClr val="6B6862"/>
                          </a:solidFill>
                          <a:latin typeface="Calibri"/>
                        </a:rPr>
                        <a:t>Green</a:t>
                      </a:r>
                    </a:p>
                  </a:txBody>
                  <a:tcPr marL="64008" marR="64008" marT="27432" marB="27432" anchor="ctr">
                    <a:solidFill>
                      <a:srgbClr val="F6E7DF"/>
                    </a:solidFill>
                  </a:tcPr>
                </a:tc>
              </a:tr>
              <a:tr h="640080">
                <a:tc>
                  <a:txBody>
                    <a:bodyPr wrap="square"/>
                    <a:lstStyle/>
                    <a:p>
                      <a:r>
                        <a:rPr b="1" sz="1500">
                          <a:solidFill>
                            <a:srgbClr val="21201C"/>
                          </a:solidFill>
                          <a:latin typeface="Cambria"/>
                        </a:rPr>
                        <a:t>Content Strategist</a:t>
                      </a:r>
                    </a:p>
                  </a:txBody>
                  <a:tcPr marL="64008" marR="64008" marT="27432" marB="27432" anchor="ctr">
                    <a:solidFill>
                      <a:srgbClr val="FFFFFF"/>
                    </a:solidFill>
                  </a:tcPr>
                </a:tc>
                <a:tc>
                  <a:txBody>
                    <a:bodyPr wrap="square"/>
                    <a:lstStyle/>
                    <a:p>
                      <a:r>
                        <a:rPr b="0" sz="1500">
                          <a:solidFill>
                            <a:srgbClr val="6B6862"/>
                          </a:solidFill>
                          <a:latin typeface="Calibri"/>
                        </a:rPr>
                        <a:t>6 / 7</a:t>
                      </a:r>
                    </a:p>
                  </a:txBody>
                  <a:tcPr marL="64008" marR="64008" marT="27432" marB="27432" anchor="ctr">
                    <a:solidFill>
                      <a:srgbClr val="FFFFFF"/>
                    </a:solidFill>
                  </a:tcPr>
                </a:tc>
                <a:tc>
                  <a:txBody>
                    <a:bodyPr wrap="square"/>
                    <a:lstStyle/>
                    <a:p>
                      <a:r>
                        <a:rPr b="0" sz="1500">
                          <a:solidFill>
                            <a:srgbClr val="6B6862"/>
                          </a:solidFill>
                          <a:latin typeface="Calibri"/>
                        </a:rPr>
                        <a:t>1</a:t>
                      </a:r>
                    </a:p>
                  </a:txBody>
                  <a:tcPr marL="64008" marR="64008" marT="27432" marB="27432" anchor="ctr">
                    <a:solidFill>
                      <a:srgbClr val="FFFFFF"/>
                    </a:solidFill>
                  </a:tcPr>
                </a:tc>
                <a:tc>
                  <a:txBody>
                    <a:bodyPr wrap="square"/>
                    <a:lstStyle/>
                    <a:p>
                      <a:r>
                        <a:rPr b="0" sz="1500">
                          <a:solidFill>
                            <a:srgbClr val="6B6862"/>
                          </a:solidFill>
                          <a:latin typeface="Calibri"/>
                        </a:rPr>
                        <a:t>1</a:t>
                      </a:r>
                    </a:p>
                  </a:txBody>
                  <a:tcPr marL="64008" marR="64008" marT="27432" marB="27432" anchor="ctr">
                    <a:solidFill>
                      <a:srgbClr val="FFFFFF"/>
                    </a:solidFill>
                  </a:tcPr>
                </a:tc>
                <a:tc>
                  <a:txBody>
                    <a:bodyPr wrap="square"/>
                    <a:lstStyle/>
                    <a:p>
                      <a:r>
                        <a:rPr b="0" sz="1500">
                          <a:solidFill>
                            <a:srgbClr val="6B6862"/>
                          </a:solidFill>
                          <a:latin typeface="Calibri"/>
                        </a:rPr>
                        <a:t>7.90 / 8</a:t>
                      </a:r>
                    </a:p>
                  </a:txBody>
                  <a:tcPr marL="64008" marR="64008" marT="27432" marB="27432" anchor="ctr">
                    <a:solidFill>
                      <a:srgbClr val="FFFFFF"/>
                    </a:solidFill>
                  </a:tcPr>
                </a:tc>
                <a:tc>
                  <a:txBody>
                    <a:bodyPr wrap="square"/>
                    <a:lstStyle/>
                    <a:p>
                      <a:r>
                        <a:rPr b="0" sz="1500">
                          <a:solidFill>
                            <a:srgbClr val="6B6862"/>
                          </a:solidFill>
                          <a:latin typeface="Calibri"/>
                        </a:rPr>
                        <a:t>Amber — 99% of budget</a:t>
                      </a:r>
                    </a:p>
                  </a:txBody>
                  <a:tcPr marL="64008" marR="64008" marT="27432" marB="27432" anchor="ctr">
                    <a:solidFill>
                      <a:srgbClr val="F6E7DF"/>
                    </a:solidFill>
                  </a:tcPr>
                </a:tc>
              </a:tr>
              <a:tr h="640080">
                <a:tc>
                  <a:txBody>
                    <a:bodyPr wrap="square"/>
                    <a:lstStyle/>
                    <a:p>
                      <a:r>
                        <a:rPr b="1" sz="1500">
                          <a:solidFill>
                            <a:srgbClr val="21201C"/>
                          </a:solidFill>
                          <a:latin typeface="Cambria"/>
                        </a:rPr>
                        <a:t>Copywriter</a:t>
                      </a:r>
                    </a:p>
                  </a:txBody>
                  <a:tcPr marL="64008" marR="64008" marT="27432" marB="27432" anchor="ctr">
                    <a:solidFill>
                      <a:srgbClr val="F3F1EB"/>
                    </a:solidFill>
                  </a:tcPr>
                </a:tc>
                <a:tc>
                  <a:txBody>
                    <a:bodyPr wrap="square"/>
                    <a:lstStyle/>
                    <a:p>
                      <a:r>
                        <a:rPr b="0" sz="1500">
                          <a:solidFill>
                            <a:srgbClr val="6B6862"/>
                          </a:solidFill>
                          <a:latin typeface="Calibri"/>
                        </a:rPr>
                        <a:t>18 / 22</a:t>
                      </a:r>
                    </a:p>
                  </a:txBody>
                  <a:tcPr marL="64008" marR="64008" marT="27432" marB="27432" anchor="ctr">
                    <a:solidFill>
                      <a:srgbClr val="F3F1EB"/>
                    </a:solidFill>
                  </a:tcPr>
                </a:tc>
                <a:tc>
                  <a:txBody>
                    <a:bodyPr wrap="square"/>
                    <a:lstStyle/>
                    <a:p>
                      <a:r>
                        <a:rPr b="0" sz="1500">
                          <a:solidFill>
                            <a:srgbClr val="6B6862"/>
                          </a:solidFill>
                          <a:latin typeface="Calibri"/>
                        </a:rPr>
                        <a:t>4</a:t>
                      </a:r>
                    </a:p>
                  </a:txBody>
                  <a:tcPr marL="64008" marR="64008" marT="27432" marB="27432" anchor="ctr">
                    <a:solidFill>
                      <a:srgbClr val="F3F1EB"/>
                    </a:solidFill>
                  </a:tcPr>
                </a:tc>
                <a:tc>
                  <a:txBody>
                    <a:bodyPr wrap="square"/>
                    <a:lstStyle/>
                    <a:p>
                      <a:r>
                        <a:rPr b="0" sz="1500">
                          <a:solidFill>
                            <a:srgbClr val="6B6862"/>
                          </a:solidFill>
                          <a:latin typeface="Calibri"/>
                        </a:rPr>
                        <a:t>3</a:t>
                      </a:r>
                    </a:p>
                  </a:txBody>
                  <a:tcPr marL="64008" marR="64008" marT="27432" marB="27432" anchor="ctr">
                    <a:solidFill>
                      <a:srgbClr val="F3F1EB"/>
                    </a:solidFill>
                  </a:tcPr>
                </a:tc>
                <a:tc>
                  <a:txBody>
                    <a:bodyPr wrap="square"/>
                    <a:lstStyle/>
                    <a:p>
                      <a:r>
                        <a:rPr b="0" sz="1500">
                          <a:solidFill>
                            <a:srgbClr val="6B6862"/>
                          </a:solidFill>
                          <a:latin typeface="Calibri"/>
                        </a:rPr>
                        <a:t>5.30 / 8</a:t>
                      </a:r>
                    </a:p>
                  </a:txBody>
                  <a:tcPr marL="64008" marR="64008" marT="27432" marB="27432" anchor="ctr">
                    <a:solidFill>
                      <a:srgbClr val="F3F1EB"/>
                    </a:solidFill>
                  </a:tcPr>
                </a:tc>
                <a:tc>
                  <a:txBody>
                    <a:bodyPr wrap="square"/>
                    <a:lstStyle/>
                    <a:p>
                      <a:r>
                        <a:rPr b="0" sz="1500">
                          <a:solidFill>
                            <a:srgbClr val="6B6862"/>
                          </a:solidFill>
                          <a:latin typeface="Calibri"/>
                        </a:rPr>
                        <a:t>Amber — quality</a:t>
                      </a:r>
                    </a:p>
                  </a:txBody>
                  <a:tcPr marL="64008" marR="64008" marT="27432" marB="27432" anchor="ctr">
                    <a:solidFill>
                      <a:srgbClr val="F6E7DF"/>
                    </a:solidFill>
                  </a:tcPr>
                </a:tc>
              </a:tr>
              <a:tr h="640080">
                <a:tc>
                  <a:txBody>
                    <a:bodyPr wrap="square"/>
                    <a:lstStyle/>
                    <a:p>
                      <a:r>
                        <a:rPr b="1" sz="1500">
                          <a:solidFill>
                            <a:srgbClr val="21201C"/>
                          </a:solidFill>
                          <a:latin typeface="Cambria"/>
                        </a:rPr>
                        <a:t>Video Producer</a:t>
                      </a:r>
                    </a:p>
                  </a:txBody>
                  <a:tcPr marL="64008" marR="64008" marT="27432" marB="27432" anchor="ctr">
                    <a:solidFill>
                      <a:srgbClr val="FFFFFF"/>
                    </a:solidFill>
                  </a:tcPr>
                </a:tc>
                <a:tc>
                  <a:txBody>
                    <a:bodyPr wrap="square"/>
                    <a:lstStyle/>
                    <a:p>
                      <a:r>
                        <a:rPr b="0" sz="1500">
                          <a:solidFill>
                            <a:srgbClr val="6B6862"/>
                          </a:solidFill>
                          <a:latin typeface="Calibri"/>
                        </a:rPr>
                        <a:t>3 / 5</a:t>
                      </a:r>
                    </a:p>
                  </a:txBody>
                  <a:tcPr marL="64008" marR="64008" marT="27432" marB="27432" anchor="ctr">
                    <a:solidFill>
                      <a:srgbClr val="FFFFFF"/>
                    </a:solidFill>
                  </a:tcPr>
                </a:tc>
                <a:tc>
                  <a:txBody>
                    <a:bodyPr wrap="square"/>
                    <a:lstStyle/>
                    <a:p>
                      <a:r>
                        <a:rPr b="0" sz="1500">
                          <a:solidFill>
                            <a:srgbClr val="6B6862"/>
                          </a:solidFill>
                          <a:latin typeface="Calibri"/>
                        </a:rPr>
                        <a:t>2</a:t>
                      </a:r>
                    </a:p>
                  </a:txBody>
                  <a:tcPr marL="64008" marR="64008" marT="27432" marB="27432" anchor="ctr">
                    <a:solidFill>
                      <a:srgbClr val="FFFFFF"/>
                    </a:solidFill>
                  </a:tcPr>
                </a:tc>
                <a:tc>
                  <a:txBody>
                    <a:bodyPr wrap="square"/>
                    <a:lstStyle/>
                    <a:p>
                      <a:r>
                        <a:rPr b="0" sz="1500">
                          <a:solidFill>
                            <a:srgbClr val="6B6862"/>
                          </a:solidFill>
                          <a:latin typeface="Calibri"/>
                        </a:rPr>
                        <a:t>2</a:t>
                      </a:r>
                    </a:p>
                  </a:txBody>
                  <a:tcPr marL="64008" marR="64008" marT="27432" marB="27432" anchor="ctr">
                    <a:solidFill>
                      <a:srgbClr val="FFFFFF"/>
                    </a:solidFill>
                  </a:tcPr>
                </a:tc>
                <a:tc>
                  <a:txBody>
                    <a:bodyPr wrap="square"/>
                    <a:lstStyle/>
                    <a:p>
                      <a:r>
                        <a:rPr b="0" sz="1500">
                          <a:solidFill>
                            <a:srgbClr val="6B6862"/>
                          </a:solidFill>
                          <a:latin typeface="Calibri"/>
                        </a:rPr>
                        <a:t>10.40 / 10</a:t>
                      </a:r>
                    </a:p>
                  </a:txBody>
                  <a:tcPr marL="64008" marR="64008" marT="27432" marB="27432" anchor="ctr">
                    <a:solidFill>
                      <a:srgbClr val="FFFFFF"/>
                    </a:solidFill>
                  </a:tcPr>
                </a:tc>
                <a:tc>
                  <a:txBody>
                    <a:bodyPr wrap="square"/>
                    <a:lstStyle/>
                    <a:p>
                      <a:r>
                        <a:rPr b="0" sz="1500">
                          <a:solidFill>
                            <a:srgbClr val="6B6862"/>
                          </a:solidFill>
                          <a:latin typeface="Calibri"/>
                        </a:rPr>
                        <a:t>Red — over budget</a:t>
                      </a:r>
                    </a:p>
                  </a:txBody>
                  <a:tcPr marL="64008" marR="64008" marT="27432" marB="27432" anchor="ctr">
                    <a:solidFill>
                      <a:srgbClr val="F6E7DF"/>
                    </a:solidFill>
                  </a:tcPr>
                </a:tc>
              </a:tr>
              <a:tr h="640080">
                <a:tc>
                  <a:txBody>
                    <a:bodyPr wrap="square"/>
                    <a:lstStyle/>
                    <a:p>
                      <a:r>
                        <a:rPr b="1" sz="1500">
                          <a:solidFill>
                            <a:srgbClr val="21201C"/>
                          </a:solidFill>
                          <a:latin typeface="Cambria"/>
                        </a:rPr>
                        <a:t>Compliance Auditor</a:t>
                      </a:r>
                    </a:p>
                  </a:txBody>
                  <a:tcPr marL="64008" marR="64008" marT="27432" marB="27432" anchor="ctr">
                    <a:solidFill>
                      <a:srgbClr val="F3F1EB"/>
                    </a:solidFill>
                  </a:tcPr>
                </a:tc>
                <a:tc>
                  <a:txBody>
                    <a:bodyPr wrap="square"/>
                    <a:lstStyle/>
                    <a:p>
                      <a:r>
                        <a:rPr b="0" sz="1500">
                          <a:solidFill>
                            <a:srgbClr val="6B6862"/>
                          </a:solidFill>
                          <a:latin typeface="Calibri"/>
                        </a:rPr>
                        <a:t>27 / 27</a:t>
                      </a:r>
                    </a:p>
                  </a:txBody>
                  <a:tcPr marL="64008" marR="64008" marT="27432" marB="27432" anchor="ctr">
                    <a:solidFill>
                      <a:srgbClr val="F3F1EB"/>
                    </a:solidFill>
                  </a:tcPr>
                </a:tc>
                <a:tc>
                  <a:txBody>
                    <a:bodyPr wrap="square"/>
                    <a:lstStyle/>
                    <a:p>
                      <a:r>
                        <a:rPr b="0" sz="1500">
                          <a:solidFill>
                            <a:srgbClr val="6B6862"/>
                          </a:solidFill>
                          <a:latin typeface="Calibri"/>
                        </a:rPr>
                        <a:t>0</a:t>
                      </a:r>
                    </a:p>
                  </a:txBody>
                  <a:tcPr marL="64008" marR="64008" marT="27432" marB="27432" anchor="ctr">
                    <a:solidFill>
                      <a:srgbClr val="F3F1EB"/>
                    </a:solidFill>
                  </a:tcPr>
                </a:tc>
                <a:tc>
                  <a:txBody>
                    <a:bodyPr wrap="square"/>
                    <a:lstStyle/>
                    <a:p>
                      <a:r>
                        <a:rPr b="0" sz="1500">
                          <a:solidFill>
                            <a:srgbClr val="6B6862"/>
                          </a:solidFill>
                          <a:latin typeface="Calibri"/>
                        </a:rPr>
                        <a:t>0</a:t>
                      </a:r>
                    </a:p>
                  </a:txBody>
                  <a:tcPr marL="64008" marR="64008" marT="27432" marB="27432" anchor="ctr">
                    <a:solidFill>
                      <a:srgbClr val="F3F1EB"/>
                    </a:solidFill>
                  </a:tcPr>
                </a:tc>
                <a:tc>
                  <a:txBody>
                    <a:bodyPr wrap="square"/>
                    <a:lstStyle/>
                    <a:p>
                      <a:r>
                        <a:rPr b="0" sz="1500">
                          <a:solidFill>
                            <a:srgbClr val="6B6862"/>
                          </a:solidFill>
                          <a:latin typeface="Calibri"/>
                        </a:rPr>
                        <a:t>2.20 / 5</a:t>
                      </a:r>
                    </a:p>
                  </a:txBody>
                  <a:tcPr marL="64008" marR="64008" marT="27432" marB="27432" anchor="ctr">
                    <a:solidFill>
                      <a:srgbClr val="F3F1EB"/>
                    </a:solidFill>
                  </a:tcPr>
                </a:tc>
                <a:tc>
                  <a:txBody>
                    <a:bodyPr wrap="square"/>
                    <a:lstStyle/>
                    <a:p>
                      <a:r>
                        <a:rPr b="0" sz="1500">
                          <a:solidFill>
                            <a:srgbClr val="6B6862"/>
                          </a:solidFill>
                          <a:latin typeface="Calibri"/>
                        </a:rPr>
                        <a:t>Green</a:t>
                      </a:r>
                    </a:p>
                  </a:txBody>
                  <a:tcPr marL="64008" marR="64008" marT="27432" marB="27432" anchor="ctr">
                    <a:solidFill>
                      <a:srgbClr val="F6E7DF"/>
                    </a:solidFill>
                  </a:tcPr>
                </a:tc>
              </a:tr>
            </a:tbl>
          </a:graphicData>
        </a:graphic>
      </p:graphicFrame>
    </p:spTree>
  </p:cSld>
  <p:clrMapOvr>
    <a:masterClrMapping/>
  </p:clrMapOvr>
  <p:transition spd="med">
    <p:fade/>
  </p:transition>
</p:sld>
</file>

<file path=ppt/slides/slide14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LAB 10</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Agents, Budgets and Status</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141</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2807208" y="1682496"/>
            <a:ext cx="6547104" cy="4133088"/>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pc-agents.png"/>
          <p:cNvPicPr>
            <a:picLocks noChangeAspect="1"/>
          </p:cNvPicPr>
          <p:nvPr/>
        </p:nvPicPr>
        <p:blipFill>
          <a:blip r:embed="rId2"/>
          <a:stretch>
            <a:fillRect/>
          </a:stretch>
        </p:blipFill>
        <p:spPr>
          <a:xfrm>
            <a:off x="2862072" y="1737360"/>
            <a:ext cx="6437376" cy="4023360"/>
          </a:xfrm>
          <a:prstGeom prst="rect">
            <a:avLst/>
          </a:prstGeom>
        </p:spPr>
      </p:pic>
      <p:sp>
        <p:nvSpPr>
          <p:cNvPr id="9" name="TextBox 8"/>
          <p:cNvSpPr txBox="1"/>
          <p:nvPr/>
        </p:nvSpPr>
        <p:spPr>
          <a:xfrm>
            <a:off x="548640" y="5870448"/>
            <a:ext cx="11064240" cy="50292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  </a:t>
            </a:r>
            <a:r>
              <a:rPr sz="1250" b="0" i="0">
                <a:solidFill>
                  <a:srgbClr val="6B6862"/>
                </a:solidFill>
                <a:latin typeface="Calibri"/>
              </a:rPr>
              <a:t>Pause is reversible; terminate is not. Fix the instructions that caused rework — improve the harness.</a:t>
            </a:r>
          </a:p>
        </p:txBody>
      </p:sp>
    </p:spTree>
  </p:cSld>
  <p:clrMapOvr>
    <a:masterClrMapping/>
  </p:clrMapOvr>
  <p:transition spd="med">
    <p:fade/>
  </p:transition>
</p:sld>
</file>

<file path=ppt/slides/slide14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LAB 10</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Build the scorecard with the CEO</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142</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37360"/>
            <a:ext cx="7040880" cy="4480560"/>
          </a:xfrm>
          <a:prstGeom prst="roundRect">
            <a:avLst>
              <a:gd name="adj" fmla="val 3500"/>
            </a:avLst>
          </a:prstGeom>
          <a:solidFill>
            <a:srgbClr val="2B2924"/>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49808" y="1901952"/>
            <a:ext cx="118872" cy="118872"/>
          </a:xfrm>
          <a:prstGeom prst="ellipse">
            <a:avLst/>
          </a:prstGeom>
          <a:solidFill>
            <a:srgbClr val="E06C5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69264" y="1901952"/>
            <a:ext cx="118872" cy="118872"/>
          </a:xfrm>
          <a:prstGeom prst="ellipse">
            <a:avLst/>
          </a:prstGeom>
          <a:solidFill>
            <a:srgbClr val="E5B45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88719" y="1901952"/>
            <a:ext cx="118872" cy="118872"/>
          </a:xfrm>
          <a:prstGeom prst="ellipse">
            <a:avLst/>
          </a:prstGeom>
          <a:solidFill>
            <a:srgbClr val="7DB36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463040" y="1828800"/>
            <a:ext cx="5943600" cy="274320"/>
          </a:xfrm>
          <a:prstGeom prst="rect">
            <a:avLst/>
          </a:prstGeom>
          <a:noFill/>
        </p:spPr>
        <p:txBody>
          <a:bodyPr wrap="square" lIns="36576" rIns="36576" tIns="18288" bIns="18288" anchor="t">
            <a:spAutoFit/>
          </a:bodyPr>
          <a:lstStyle/>
          <a:p>
            <a:pPr algn="l">
              <a:lnSpc>
                <a:spcPct val="112000"/>
              </a:lnSpc>
            </a:pPr>
            <a:r>
              <a:rPr sz="1000" b="0" i="0">
                <a:solidFill>
                  <a:srgbClr val="B9B4A9"/>
                </a:solidFill>
                <a:latin typeface="Calibri"/>
              </a:rPr>
              <a:t>PROMPT  ·  copy from the Lab Prompts page</a:t>
            </a:r>
          </a:p>
        </p:txBody>
      </p:sp>
      <p:sp>
        <p:nvSpPr>
          <p:cNvPr id="12" name="TextBox 11"/>
          <p:cNvSpPr txBox="1"/>
          <p:nvPr/>
        </p:nvSpPr>
        <p:spPr>
          <a:xfrm>
            <a:off x="777240" y="2194560"/>
            <a:ext cx="6583680" cy="3913632"/>
          </a:xfrm>
          <a:prstGeom prst="rect">
            <a:avLst/>
          </a:prstGeom>
          <a:noFill/>
        </p:spPr>
        <p:txBody>
          <a:bodyPr wrap="square" lIns="36576" rIns="36576" tIns="18288" bIns="18288" anchor="t">
            <a:spAutoFit/>
          </a:bodyPr>
          <a:lstStyle/>
          <a:p>
            <a:pPr algn="l">
              <a:lnSpc>
                <a:spcPct val="110000"/>
              </a:lnSpc>
            </a:pPr>
            <a:r>
              <a:rPr sz="1300" b="0" i="0">
                <a:solidFill>
                  <a:srgbClr val="F1EDE4"/>
                </a:solidFill>
                <a:latin typeface="Consolas"/>
              </a:rPr>
              <a:t>Monthly agent scorecard.</a:t>
            </a:r>
          </a:p>
          <a:p>
            <a:pPr algn="l">
              <a:lnSpc>
                <a:spcPct val="110000"/>
              </a:lnSpc>
            </a:pPr>
            <a:r>
              <a:rPr sz="1300" b="0" i="0">
                <a:solidFill>
                  <a:srgbClr val="F1EDE4"/>
                </a:solidFill>
                <a:latin typeface="Consolas"/>
              </a:rPr>
              <a:t>Using Paperclip's costs and activity data plus agent-scorecard.csv, produce a scorecard with one row per agent: tasks done, Board send-backs, audit findings, spend vs budget, cost per completed task, and a RAG status (green/amber/red) with a one-line reason. Show your calculations.</a:t>
            </a:r>
          </a:p>
        </p:txBody>
      </p:sp>
      <p:sp>
        <p:nvSpPr>
          <p:cNvPr id="13" name="Oval 12"/>
          <p:cNvSpPr/>
          <p:nvPr/>
        </p:nvSpPr>
        <p:spPr>
          <a:xfrm>
            <a:off x="7863840" y="177393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chat-FFFFFF.png"/>
          <p:cNvPicPr>
            <a:picLocks noChangeAspect="1"/>
          </p:cNvPicPr>
          <p:nvPr/>
        </p:nvPicPr>
        <p:blipFill>
          <a:blip r:embed="rId2"/>
          <a:stretch>
            <a:fillRect/>
          </a:stretch>
        </p:blipFill>
        <p:spPr>
          <a:xfrm>
            <a:off x="7973567" y="1883664"/>
            <a:ext cx="237744" cy="237744"/>
          </a:xfrm>
          <a:prstGeom prst="rect">
            <a:avLst/>
          </a:prstGeom>
        </p:spPr>
      </p:pic>
      <p:sp>
        <p:nvSpPr>
          <p:cNvPr id="15" name="TextBox 14"/>
          <p:cNvSpPr txBox="1"/>
          <p:nvPr/>
        </p:nvSpPr>
        <p:spPr>
          <a:xfrm>
            <a:off x="8458200" y="173736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Paste into</a:t>
            </a:r>
          </a:p>
        </p:txBody>
      </p:sp>
      <p:sp>
        <p:nvSpPr>
          <p:cNvPr id="16" name="TextBox 15"/>
          <p:cNvSpPr txBox="1"/>
          <p:nvPr/>
        </p:nvSpPr>
        <p:spPr>
          <a:xfrm>
            <a:off x="8458200" y="210312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Paperclip → New Task (assign to Ava; Approvers → Assign to me)</a:t>
            </a:r>
          </a:p>
        </p:txBody>
      </p:sp>
      <p:sp>
        <p:nvSpPr>
          <p:cNvPr id="17" name="Oval 16"/>
          <p:cNvSpPr/>
          <p:nvPr/>
        </p:nvSpPr>
        <p:spPr>
          <a:xfrm>
            <a:off x="7863840" y="326745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check-FFFFFF.png"/>
          <p:cNvPicPr>
            <a:picLocks noChangeAspect="1"/>
          </p:cNvPicPr>
          <p:nvPr/>
        </p:nvPicPr>
        <p:blipFill>
          <a:blip r:embed="rId3"/>
          <a:stretch>
            <a:fillRect/>
          </a:stretch>
        </p:blipFill>
        <p:spPr>
          <a:xfrm>
            <a:off x="7973567" y="3377184"/>
            <a:ext cx="237744" cy="237744"/>
          </a:xfrm>
          <a:prstGeom prst="rect">
            <a:avLst/>
          </a:prstGeom>
        </p:spPr>
      </p:pic>
      <p:sp>
        <p:nvSpPr>
          <p:cNvPr id="19" name="TextBox 18"/>
          <p:cNvSpPr txBox="1"/>
          <p:nvPr/>
        </p:nvSpPr>
        <p:spPr>
          <a:xfrm>
            <a:off x="8458200" y="323088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Expect</a:t>
            </a:r>
          </a:p>
        </p:txBody>
      </p:sp>
      <p:sp>
        <p:nvSpPr>
          <p:cNvPr id="20" name="TextBox 19"/>
          <p:cNvSpPr txBox="1"/>
          <p:nvPr/>
        </p:nvSpPr>
        <p:spPr>
          <a:xfrm>
            <a:off x="8458200" y="359664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A scorecard you can spot-check against Audit → Costs.</a:t>
            </a:r>
          </a:p>
        </p:txBody>
      </p:sp>
      <p:sp>
        <p:nvSpPr>
          <p:cNvPr id="21" name="Oval 20"/>
          <p:cNvSpPr/>
          <p:nvPr/>
        </p:nvSpPr>
        <p:spPr>
          <a:xfrm>
            <a:off x="7863840" y="476097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hand-FFFFFF.png"/>
          <p:cNvPicPr>
            <a:picLocks noChangeAspect="1"/>
          </p:cNvPicPr>
          <p:nvPr/>
        </p:nvPicPr>
        <p:blipFill>
          <a:blip r:embed="rId4"/>
          <a:stretch>
            <a:fillRect/>
          </a:stretch>
        </p:blipFill>
        <p:spPr>
          <a:xfrm>
            <a:off x="7973567" y="4870704"/>
            <a:ext cx="237744" cy="237744"/>
          </a:xfrm>
          <a:prstGeom prst="rect">
            <a:avLst/>
          </a:prstGeom>
        </p:spPr>
      </p:pic>
      <p:sp>
        <p:nvSpPr>
          <p:cNvPr id="23" name="TextBox 22"/>
          <p:cNvSpPr txBox="1"/>
          <p:nvPr/>
        </p:nvSpPr>
        <p:spPr>
          <a:xfrm>
            <a:off x="8458200" y="472440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You decide</a:t>
            </a:r>
          </a:p>
        </p:txBody>
      </p:sp>
      <p:sp>
        <p:nvSpPr>
          <p:cNvPr id="24" name="TextBox 23"/>
          <p:cNvSpPr txBox="1"/>
          <p:nvPr/>
        </p:nvSpPr>
        <p:spPr>
          <a:xfrm>
            <a:off x="8458200" y="509016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Evaluate, intervene, improve, report — and stay accountable</a:t>
            </a:r>
          </a:p>
        </p:txBody>
      </p:sp>
    </p:spTree>
  </p:cSld>
  <p:clrMapOvr>
    <a:masterClrMapping/>
  </p:clrMapOvr>
  <p:transition spd="med">
    <p:fade/>
  </p:transition>
</p:sld>
</file>

<file path=ppt/slides/slide14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LAB 10</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Improve the harness, not the blame</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143</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37360"/>
            <a:ext cx="7040880" cy="4480560"/>
          </a:xfrm>
          <a:prstGeom prst="roundRect">
            <a:avLst>
              <a:gd name="adj" fmla="val 3500"/>
            </a:avLst>
          </a:prstGeom>
          <a:solidFill>
            <a:srgbClr val="2B2924"/>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49808" y="1901952"/>
            <a:ext cx="118872" cy="118872"/>
          </a:xfrm>
          <a:prstGeom prst="ellipse">
            <a:avLst/>
          </a:prstGeom>
          <a:solidFill>
            <a:srgbClr val="E06C5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69264" y="1901952"/>
            <a:ext cx="118872" cy="118872"/>
          </a:xfrm>
          <a:prstGeom prst="ellipse">
            <a:avLst/>
          </a:prstGeom>
          <a:solidFill>
            <a:srgbClr val="E5B45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88719" y="1901952"/>
            <a:ext cx="118872" cy="118872"/>
          </a:xfrm>
          <a:prstGeom prst="ellipse">
            <a:avLst/>
          </a:prstGeom>
          <a:solidFill>
            <a:srgbClr val="7DB36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463040" y="1828800"/>
            <a:ext cx="5943600" cy="274320"/>
          </a:xfrm>
          <a:prstGeom prst="rect">
            <a:avLst/>
          </a:prstGeom>
          <a:noFill/>
        </p:spPr>
        <p:txBody>
          <a:bodyPr wrap="square" lIns="36576" rIns="36576" tIns="18288" bIns="18288" anchor="t">
            <a:spAutoFit/>
          </a:bodyPr>
          <a:lstStyle/>
          <a:p>
            <a:pPr algn="l">
              <a:lnSpc>
                <a:spcPct val="112000"/>
              </a:lnSpc>
            </a:pPr>
            <a:r>
              <a:rPr sz="1000" b="0" i="0">
                <a:solidFill>
                  <a:srgbClr val="B9B4A9"/>
                </a:solidFill>
                <a:latin typeface="Calibri"/>
              </a:rPr>
              <a:t>PROMPT  ·  copy from the Lab Prompts page</a:t>
            </a:r>
          </a:p>
        </p:txBody>
      </p:sp>
      <p:sp>
        <p:nvSpPr>
          <p:cNvPr id="12" name="TextBox 11"/>
          <p:cNvSpPr txBox="1"/>
          <p:nvPr/>
        </p:nvSpPr>
        <p:spPr>
          <a:xfrm>
            <a:off x="777240" y="2194560"/>
            <a:ext cx="6583680" cy="3913632"/>
          </a:xfrm>
          <a:prstGeom prst="rect">
            <a:avLst/>
          </a:prstGeom>
          <a:noFill/>
        </p:spPr>
        <p:txBody>
          <a:bodyPr wrap="square" lIns="36576" rIns="36576" tIns="18288" bIns="18288" anchor="t">
            <a:spAutoFit/>
          </a:bodyPr>
          <a:lstStyle/>
          <a:p>
            <a:pPr algn="l">
              <a:lnSpc>
                <a:spcPct val="110000"/>
              </a:lnSpc>
            </a:pPr>
            <a:r>
              <a:rPr sz="1300" b="0" i="0">
                <a:solidFill>
                  <a:srgbClr val="F1EDE4"/>
                </a:solidFill>
                <a:latin typeface="Consolas"/>
              </a:rPr>
              <a:t>Add to your rules:</a:t>
            </a:r>
          </a:p>
          <a:p>
            <a:pPr algn="l">
              <a:lnSpc>
                <a:spcPct val="110000"/>
              </a:lnSpc>
            </a:pPr>
            <a:r>
              <a:rPr sz="1300" b="0" i="0">
                <a:solidFill>
                  <a:srgbClr val="F1EDE4"/>
                </a:solidFill>
                <a:latin typeface="Consolas"/>
              </a:rPr>
              <a:t>- Before submitting any caption, run the kopi-brand-voice self-check and fix every FAIL; attach the table to the task.</a:t>
            </a:r>
          </a:p>
          <a:p>
            <a:pPr algn="l">
              <a:lnSpc>
                <a:spcPct val="110000"/>
              </a:lnSpc>
            </a:pPr>
            <a:r>
              <a:rPr sz="1300" b="0" i="0">
                <a:solidFill>
                  <a:srgbClr val="F1EDE4"/>
                </a:solidFill>
                <a:latin typeface="Consolas"/>
              </a:rPr>
              <a:t>- Never write health or halal claims (C1, C4). Any post with SHIOK20 must show its exact terms (C3).</a:t>
            </a:r>
          </a:p>
          <a:p>
            <a:pPr algn="l">
              <a:lnSpc>
                <a:spcPct val="110000"/>
              </a:lnSpc>
            </a:pPr>
            <a:r>
              <a:rPr sz="1300" b="0" i="0">
                <a:solidFill>
                  <a:srgbClr val="F1EDE4"/>
                </a:solidFill>
                <a:latin typeface="Consolas"/>
              </a:rPr>
              <a:t>- If the same rule fails twice on one task, stop and ask the Content Strategist instead of resubmitting.</a:t>
            </a:r>
          </a:p>
        </p:txBody>
      </p:sp>
      <p:sp>
        <p:nvSpPr>
          <p:cNvPr id="13" name="Oval 12"/>
          <p:cNvSpPr/>
          <p:nvPr/>
        </p:nvSpPr>
        <p:spPr>
          <a:xfrm>
            <a:off x="7863840" y="177393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chat-FFFFFF.png"/>
          <p:cNvPicPr>
            <a:picLocks noChangeAspect="1"/>
          </p:cNvPicPr>
          <p:nvPr/>
        </p:nvPicPr>
        <p:blipFill>
          <a:blip r:embed="rId2"/>
          <a:stretch>
            <a:fillRect/>
          </a:stretch>
        </p:blipFill>
        <p:spPr>
          <a:xfrm>
            <a:off x="7973567" y="1883664"/>
            <a:ext cx="237744" cy="237744"/>
          </a:xfrm>
          <a:prstGeom prst="rect">
            <a:avLst/>
          </a:prstGeom>
        </p:spPr>
      </p:pic>
      <p:sp>
        <p:nvSpPr>
          <p:cNvPr id="15" name="TextBox 14"/>
          <p:cNvSpPr txBox="1"/>
          <p:nvPr/>
        </p:nvSpPr>
        <p:spPr>
          <a:xfrm>
            <a:off x="8458200" y="173736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Paste into</a:t>
            </a:r>
          </a:p>
        </p:txBody>
      </p:sp>
      <p:sp>
        <p:nvSpPr>
          <p:cNvPr id="16" name="TextBox 15"/>
          <p:cNvSpPr txBox="1"/>
          <p:nvPr/>
        </p:nvSpPr>
        <p:spPr>
          <a:xfrm>
            <a:off x="8458200" y="210312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Paperclip → Agents → Copywriter → Instructions (AGENTS.md)</a:t>
            </a:r>
          </a:p>
        </p:txBody>
      </p:sp>
      <p:sp>
        <p:nvSpPr>
          <p:cNvPr id="17" name="Oval 16"/>
          <p:cNvSpPr/>
          <p:nvPr/>
        </p:nvSpPr>
        <p:spPr>
          <a:xfrm>
            <a:off x="7863840" y="326745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check-FFFFFF.png"/>
          <p:cNvPicPr>
            <a:picLocks noChangeAspect="1"/>
          </p:cNvPicPr>
          <p:nvPr/>
        </p:nvPicPr>
        <p:blipFill>
          <a:blip r:embed="rId3"/>
          <a:stretch>
            <a:fillRect/>
          </a:stretch>
        </p:blipFill>
        <p:spPr>
          <a:xfrm>
            <a:off x="7973567" y="3377184"/>
            <a:ext cx="237744" cy="237744"/>
          </a:xfrm>
          <a:prstGeom prst="rect">
            <a:avLst/>
          </a:prstGeom>
        </p:spPr>
      </p:pic>
      <p:sp>
        <p:nvSpPr>
          <p:cNvPr id="19" name="TextBox 18"/>
          <p:cNvSpPr txBox="1"/>
          <p:nvPr/>
        </p:nvSpPr>
        <p:spPr>
          <a:xfrm>
            <a:off x="8458200" y="323088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Expect</a:t>
            </a:r>
          </a:p>
        </p:txBody>
      </p:sp>
      <p:sp>
        <p:nvSpPr>
          <p:cNvPr id="20" name="TextBox 19"/>
          <p:cNvSpPr txBox="1"/>
          <p:nvPr/>
        </p:nvSpPr>
        <p:spPr>
          <a:xfrm>
            <a:off x="8458200" y="359664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Saved as a new Revision (Governance → Revisions → Restore is your undo). Resume the Video Producer if you paused it.</a:t>
            </a:r>
          </a:p>
        </p:txBody>
      </p:sp>
      <p:sp>
        <p:nvSpPr>
          <p:cNvPr id="21" name="Oval 20"/>
          <p:cNvSpPr/>
          <p:nvPr/>
        </p:nvSpPr>
        <p:spPr>
          <a:xfrm>
            <a:off x="7863840" y="476097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hand-FFFFFF.png"/>
          <p:cNvPicPr>
            <a:picLocks noChangeAspect="1"/>
          </p:cNvPicPr>
          <p:nvPr/>
        </p:nvPicPr>
        <p:blipFill>
          <a:blip r:embed="rId4"/>
          <a:stretch>
            <a:fillRect/>
          </a:stretch>
        </p:blipFill>
        <p:spPr>
          <a:xfrm>
            <a:off x="7973567" y="4870704"/>
            <a:ext cx="237744" cy="237744"/>
          </a:xfrm>
          <a:prstGeom prst="rect">
            <a:avLst/>
          </a:prstGeom>
        </p:spPr>
      </p:pic>
      <p:sp>
        <p:nvSpPr>
          <p:cNvPr id="23" name="TextBox 22"/>
          <p:cNvSpPr txBox="1"/>
          <p:nvPr/>
        </p:nvSpPr>
        <p:spPr>
          <a:xfrm>
            <a:off x="8458200" y="472440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You decide</a:t>
            </a:r>
          </a:p>
        </p:txBody>
      </p:sp>
      <p:sp>
        <p:nvSpPr>
          <p:cNvPr id="24" name="TextBox 23"/>
          <p:cNvSpPr txBox="1"/>
          <p:nvPr/>
        </p:nvSpPr>
        <p:spPr>
          <a:xfrm>
            <a:off x="8458200" y="509016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Evaluate, intervene, improve, report — and stay accountable</a:t>
            </a:r>
          </a:p>
        </p:txBody>
      </p:sp>
    </p:spTree>
  </p:cSld>
  <p:clrMapOvr>
    <a:masterClrMapping/>
  </p:clrMapOvr>
  <p:transition spd="med">
    <p:fade/>
  </p:transition>
</p:sld>
</file>

<file path=ppt/slides/slide144.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LAB 10</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Lab 10 — Checkpoint &amp; Reflection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144</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check-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Verify</a:t>
            </a:r>
          </a:p>
        </p:txBody>
      </p:sp>
      <p:sp>
        <p:nvSpPr>
          <p:cNvPr id="10" name="TextBox 9"/>
          <p:cNvSpPr txBox="1"/>
          <p:nvPr/>
        </p:nvSpPr>
        <p:spPr>
          <a:xfrm>
            <a:off x="1371600" y="2084831"/>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Scorecard values match Audit → Costs for ≥ 2 agents</a:t>
            </a:r>
          </a:p>
        </p:txBody>
      </p:sp>
      <p:sp>
        <p:nvSpPr>
          <p:cNvPr id="11" name="Oval 10"/>
          <p:cNvSpPr/>
          <p:nvPr/>
        </p:nvSpPr>
        <p:spPr>
          <a:xfrm>
            <a:off x="640080" y="2679191"/>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check-FFFFFF.png"/>
          <p:cNvPicPr>
            <a:picLocks noChangeAspect="1"/>
          </p:cNvPicPr>
          <p:nvPr/>
        </p:nvPicPr>
        <p:blipFill>
          <a:blip r:embed="rId2"/>
          <a:stretch>
            <a:fillRect/>
          </a:stretch>
        </p:blipFill>
        <p:spPr>
          <a:xfrm>
            <a:off x="771753" y="2810865"/>
            <a:ext cx="285292" cy="285292"/>
          </a:xfrm>
          <a:prstGeom prst="rect">
            <a:avLst/>
          </a:prstGeom>
        </p:spPr>
      </p:pic>
      <p:sp>
        <p:nvSpPr>
          <p:cNvPr id="13" name="TextBox 12"/>
          <p:cNvSpPr txBox="1"/>
          <p:nvPr/>
        </p:nvSpPr>
        <p:spPr>
          <a:xfrm>
            <a:off x="1371600" y="2624327"/>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Verify</a:t>
            </a:r>
          </a:p>
        </p:txBody>
      </p:sp>
      <p:sp>
        <p:nvSpPr>
          <p:cNvPr id="14" name="TextBox 13"/>
          <p:cNvSpPr txBox="1"/>
          <p:nvPr/>
        </p:nvSpPr>
        <p:spPr>
          <a:xfrm>
            <a:off x="1371600" y="2990087"/>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A pause or budget change with a written reason</a:t>
            </a:r>
          </a:p>
        </p:txBody>
      </p:sp>
      <p:sp>
        <p:nvSpPr>
          <p:cNvPr id="15" name="Oval 14"/>
          <p:cNvSpPr/>
          <p:nvPr/>
        </p:nvSpPr>
        <p:spPr>
          <a:xfrm>
            <a:off x="640080" y="358444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check-FFFFFF.png"/>
          <p:cNvPicPr>
            <a:picLocks noChangeAspect="1"/>
          </p:cNvPicPr>
          <p:nvPr/>
        </p:nvPicPr>
        <p:blipFill>
          <a:blip r:embed="rId2"/>
          <a:stretch>
            <a:fillRect/>
          </a:stretch>
        </p:blipFill>
        <p:spPr>
          <a:xfrm>
            <a:off x="771753" y="3716121"/>
            <a:ext cx="285292" cy="285292"/>
          </a:xfrm>
          <a:prstGeom prst="rect">
            <a:avLst/>
          </a:prstGeom>
        </p:spPr>
      </p:pic>
      <p:sp>
        <p:nvSpPr>
          <p:cNvPr id="17" name="TextBox 16"/>
          <p:cNvSpPr txBox="1"/>
          <p:nvPr/>
        </p:nvSpPr>
        <p:spPr>
          <a:xfrm>
            <a:off x="1371600" y="352958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Verify</a:t>
            </a:r>
          </a:p>
        </p:txBody>
      </p:sp>
      <p:sp>
        <p:nvSpPr>
          <p:cNvPr id="18" name="TextBox 17"/>
          <p:cNvSpPr txBox="1"/>
          <p:nvPr/>
        </p:nvSpPr>
        <p:spPr>
          <a:xfrm>
            <a:off x="1371600" y="3895344"/>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New Revision of the Copywriter's instructions</a:t>
            </a:r>
          </a:p>
        </p:txBody>
      </p:sp>
      <p:sp>
        <p:nvSpPr>
          <p:cNvPr id="19" name="Oval 18"/>
          <p:cNvSpPr/>
          <p:nvPr/>
        </p:nvSpPr>
        <p:spPr>
          <a:xfrm>
            <a:off x="640080" y="4489703"/>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lightbulb-FFFFFF.png"/>
          <p:cNvPicPr>
            <a:picLocks noChangeAspect="1"/>
          </p:cNvPicPr>
          <p:nvPr/>
        </p:nvPicPr>
        <p:blipFill>
          <a:blip r:embed="rId3"/>
          <a:stretch>
            <a:fillRect/>
          </a:stretch>
        </p:blipFill>
        <p:spPr>
          <a:xfrm>
            <a:off x="771753" y="4621377"/>
            <a:ext cx="285292" cy="285292"/>
          </a:xfrm>
          <a:prstGeom prst="rect">
            <a:avLst/>
          </a:prstGeom>
        </p:spPr>
      </p:pic>
      <p:sp>
        <p:nvSpPr>
          <p:cNvPr id="21" name="TextBox 20"/>
          <p:cNvSpPr txBox="1"/>
          <p:nvPr/>
        </p:nvSpPr>
        <p:spPr>
          <a:xfrm>
            <a:off x="1371600" y="4434840"/>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Concepts in action</a:t>
            </a:r>
          </a:p>
        </p:txBody>
      </p:sp>
      <p:sp>
        <p:nvSpPr>
          <p:cNvPr id="22" name="TextBox 21"/>
          <p:cNvSpPr txBox="1"/>
          <p:nvPr/>
        </p:nvSpPr>
        <p:spPr>
          <a:xfrm>
            <a:off x="1371600" y="4800599"/>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Evaluate on utility, quality, cost and safety  ·  Budget controls: 80% warning, 100% auto-pause</a:t>
            </a:r>
          </a:p>
        </p:txBody>
      </p:sp>
      <p:sp>
        <p:nvSpPr>
          <p:cNvPr id="23" name="Oval 22"/>
          <p:cNvSpPr/>
          <p:nvPr/>
        </p:nvSpPr>
        <p:spPr>
          <a:xfrm>
            <a:off x="640080" y="5394959"/>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rocket-FFFFFF.png"/>
          <p:cNvPicPr>
            <a:picLocks noChangeAspect="1"/>
          </p:cNvPicPr>
          <p:nvPr/>
        </p:nvPicPr>
        <p:blipFill>
          <a:blip r:embed="rId4"/>
          <a:stretch>
            <a:fillRect/>
          </a:stretch>
        </p:blipFill>
        <p:spPr>
          <a:xfrm>
            <a:off x="771753" y="5526633"/>
            <a:ext cx="285292" cy="285292"/>
          </a:xfrm>
          <a:prstGeom prst="rect">
            <a:avLst/>
          </a:prstGeom>
        </p:spPr>
      </p:pic>
      <p:sp>
        <p:nvSpPr>
          <p:cNvPr id="25" name="TextBox 24"/>
          <p:cNvSpPr txBox="1"/>
          <p:nvPr/>
        </p:nvSpPr>
        <p:spPr>
          <a:xfrm>
            <a:off x="1371600" y="534009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Stretch challenge</a:t>
            </a:r>
          </a:p>
        </p:txBody>
      </p:sp>
      <p:sp>
        <p:nvSpPr>
          <p:cNvPr id="26" name="TextBox 25"/>
          <p:cNvSpPr txBox="1"/>
          <p:nvPr/>
        </p:nvSpPr>
        <p:spPr>
          <a:xfrm>
            <a:off x="1371600" y="5705855"/>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Decide the autonomy level (L1 Operator → L5 Observer) for each agent next quarter and justify it in one line each.</a:t>
            </a:r>
          </a:p>
        </p:txBody>
      </p:sp>
    </p:spTree>
  </p:cSld>
  <p:clrMapOvr>
    <a:masterClrMapping/>
  </p:clrMapOvr>
  <p:transition spd="med">
    <p:fade/>
  </p:transition>
</p:sld>
</file>

<file path=ppt/slides/slide145.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SUMMARY</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What You Governed on Day 2</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145</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sp>
        <p:nvSpPr>
          <p:cNvPr id="7" name="Rounded Rectangle 6"/>
          <p:cNvSpPr/>
          <p:nvPr/>
        </p:nvSpPr>
        <p:spPr>
          <a:xfrm>
            <a:off x="548640" y="1691640"/>
            <a:ext cx="2628900" cy="4069079"/>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77240" y="18745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building-FFFFFF.png"/>
          <p:cNvPicPr>
            <a:picLocks noChangeAspect="1"/>
          </p:cNvPicPr>
          <p:nvPr/>
        </p:nvPicPr>
        <p:blipFill>
          <a:blip r:embed="rId2"/>
          <a:stretch>
            <a:fillRect/>
          </a:stretch>
        </p:blipFill>
        <p:spPr>
          <a:xfrm>
            <a:off x="900135" y="1997415"/>
            <a:ext cx="266273" cy="266273"/>
          </a:xfrm>
          <a:prstGeom prst="rect">
            <a:avLst/>
          </a:prstGeom>
        </p:spPr>
      </p:pic>
      <p:sp>
        <p:nvSpPr>
          <p:cNvPr id="10" name="TextBox 9"/>
          <p:cNvSpPr txBox="1"/>
          <p:nvPr/>
        </p:nvSpPr>
        <p:spPr>
          <a:xfrm>
            <a:off x="777240" y="2514600"/>
            <a:ext cx="2171700" cy="384048"/>
          </a:xfrm>
          <a:prstGeom prst="rect">
            <a:avLst/>
          </a:prstGeom>
          <a:noFill/>
        </p:spPr>
        <p:txBody>
          <a:bodyPr wrap="square" lIns="36576" rIns="36576" tIns="18288" bIns="18288" anchor="t">
            <a:spAutoFit/>
          </a:bodyPr>
          <a:lstStyle/>
          <a:p>
            <a:pPr algn="l">
              <a:lnSpc>
                <a:spcPct val="112000"/>
              </a:lnSpc>
            </a:pPr>
            <a:r>
              <a:rPr sz="1500" b="1" i="0">
                <a:solidFill>
                  <a:srgbClr val="FFFFFF"/>
                </a:solidFill>
                <a:latin typeface="Cambria"/>
              </a:rPr>
              <a:t>A company</a:t>
            </a:r>
          </a:p>
        </p:txBody>
      </p:sp>
      <p:sp>
        <p:nvSpPr>
          <p:cNvPr id="11" name="TextBox 10"/>
          <p:cNvSpPr txBox="1"/>
          <p:nvPr/>
        </p:nvSpPr>
        <p:spPr>
          <a:xfrm>
            <a:off x="777240" y="2935224"/>
            <a:ext cx="2171700" cy="271576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Mission, goals, budget and a CEO you approved.</a:t>
            </a:r>
          </a:p>
        </p:txBody>
      </p:sp>
      <p:sp>
        <p:nvSpPr>
          <p:cNvPr id="12" name="Rounded Rectangle 11"/>
          <p:cNvSpPr/>
          <p:nvPr/>
        </p:nvSpPr>
        <p:spPr>
          <a:xfrm>
            <a:off x="3360420" y="1691640"/>
            <a:ext cx="2628900" cy="4069079"/>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3589020" y="18745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users-FFFFFF.png"/>
          <p:cNvPicPr>
            <a:picLocks noChangeAspect="1"/>
          </p:cNvPicPr>
          <p:nvPr/>
        </p:nvPicPr>
        <p:blipFill>
          <a:blip r:embed="rId3"/>
          <a:stretch>
            <a:fillRect/>
          </a:stretch>
        </p:blipFill>
        <p:spPr>
          <a:xfrm>
            <a:off x="3711915" y="1997415"/>
            <a:ext cx="266273" cy="266273"/>
          </a:xfrm>
          <a:prstGeom prst="rect">
            <a:avLst/>
          </a:prstGeom>
        </p:spPr>
      </p:pic>
      <p:sp>
        <p:nvSpPr>
          <p:cNvPr id="15" name="TextBox 14"/>
          <p:cNvSpPr txBox="1"/>
          <p:nvPr/>
        </p:nvSpPr>
        <p:spPr>
          <a:xfrm>
            <a:off x="3589020" y="2514600"/>
            <a:ext cx="2171700" cy="384048"/>
          </a:xfrm>
          <a:prstGeom prst="rect">
            <a:avLst/>
          </a:prstGeom>
          <a:noFill/>
        </p:spPr>
        <p:txBody>
          <a:bodyPr wrap="square" lIns="36576" rIns="36576" tIns="18288" bIns="18288" anchor="t">
            <a:spAutoFit/>
          </a:bodyPr>
          <a:lstStyle/>
          <a:p>
            <a:pPr algn="l">
              <a:lnSpc>
                <a:spcPct val="112000"/>
              </a:lnSpc>
            </a:pPr>
            <a:r>
              <a:rPr sz="1500" b="1" i="0">
                <a:solidFill>
                  <a:srgbClr val="FFFFFF"/>
                </a:solidFill>
                <a:latin typeface="Cambria"/>
              </a:rPr>
              <a:t>A team</a:t>
            </a:r>
          </a:p>
        </p:txBody>
      </p:sp>
      <p:sp>
        <p:nvSpPr>
          <p:cNvPr id="16" name="TextBox 15"/>
          <p:cNvSpPr txBox="1"/>
          <p:nvPr/>
        </p:nvSpPr>
        <p:spPr>
          <a:xfrm>
            <a:off x="3589020" y="2935224"/>
            <a:ext cx="2171700" cy="271576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Specialists with mandates, budgets, secrets and an independent auditor.</a:t>
            </a:r>
          </a:p>
        </p:txBody>
      </p:sp>
      <p:sp>
        <p:nvSpPr>
          <p:cNvPr id="17" name="Rounded Rectangle 16"/>
          <p:cNvSpPr/>
          <p:nvPr/>
        </p:nvSpPr>
        <p:spPr>
          <a:xfrm>
            <a:off x="6172200" y="1691640"/>
            <a:ext cx="2628900" cy="4069079"/>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6400800" y="18745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 name="Picture 18" descr="rocket-FFFFFF.png"/>
          <p:cNvPicPr>
            <a:picLocks noChangeAspect="1"/>
          </p:cNvPicPr>
          <p:nvPr/>
        </p:nvPicPr>
        <p:blipFill>
          <a:blip r:embed="rId4"/>
          <a:stretch>
            <a:fillRect/>
          </a:stretch>
        </p:blipFill>
        <p:spPr>
          <a:xfrm>
            <a:off x="6523695" y="1997415"/>
            <a:ext cx="266273" cy="266273"/>
          </a:xfrm>
          <a:prstGeom prst="rect">
            <a:avLst/>
          </a:prstGeom>
        </p:spPr>
      </p:pic>
      <p:sp>
        <p:nvSpPr>
          <p:cNvPr id="20" name="TextBox 19"/>
          <p:cNvSpPr txBox="1"/>
          <p:nvPr/>
        </p:nvSpPr>
        <p:spPr>
          <a:xfrm>
            <a:off x="6400800" y="2514600"/>
            <a:ext cx="2171700" cy="384048"/>
          </a:xfrm>
          <a:prstGeom prst="rect">
            <a:avLst/>
          </a:prstGeom>
          <a:noFill/>
        </p:spPr>
        <p:txBody>
          <a:bodyPr wrap="square" lIns="36576" rIns="36576" tIns="18288" bIns="18288" anchor="t">
            <a:spAutoFit/>
          </a:bodyPr>
          <a:lstStyle/>
          <a:p>
            <a:pPr algn="l">
              <a:lnSpc>
                <a:spcPct val="112000"/>
              </a:lnSpc>
            </a:pPr>
            <a:r>
              <a:rPr sz="1500" b="1" i="0">
                <a:solidFill>
                  <a:srgbClr val="FFFFFF"/>
                </a:solidFill>
                <a:latin typeface="Cambria"/>
              </a:rPr>
              <a:t>Delivery</a:t>
            </a:r>
          </a:p>
        </p:txBody>
      </p:sp>
      <p:sp>
        <p:nvSpPr>
          <p:cNvPr id="21" name="TextBox 20"/>
          <p:cNvSpPr txBox="1"/>
          <p:nvPr/>
        </p:nvSpPr>
        <p:spPr>
          <a:xfrm>
            <a:off x="6400800" y="2935224"/>
            <a:ext cx="2171700" cy="271576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A launch project and a weekly routine — all through Board review.</a:t>
            </a:r>
          </a:p>
        </p:txBody>
      </p:sp>
      <p:sp>
        <p:nvSpPr>
          <p:cNvPr id="22" name="Rounded Rectangle 21"/>
          <p:cNvSpPr/>
          <p:nvPr/>
        </p:nvSpPr>
        <p:spPr>
          <a:xfrm>
            <a:off x="8983980" y="1691640"/>
            <a:ext cx="2628900" cy="4069079"/>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9212580" y="18745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gavel-FFFFFF.png"/>
          <p:cNvPicPr>
            <a:picLocks noChangeAspect="1"/>
          </p:cNvPicPr>
          <p:nvPr/>
        </p:nvPicPr>
        <p:blipFill>
          <a:blip r:embed="rId5"/>
          <a:stretch>
            <a:fillRect/>
          </a:stretch>
        </p:blipFill>
        <p:spPr>
          <a:xfrm>
            <a:off x="9335475" y="1997415"/>
            <a:ext cx="266273" cy="266273"/>
          </a:xfrm>
          <a:prstGeom prst="rect">
            <a:avLst/>
          </a:prstGeom>
        </p:spPr>
      </p:pic>
      <p:sp>
        <p:nvSpPr>
          <p:cNvPr id="25" name="TextBox 24"/>
          <p:cNvSpPr txBox="1"/>
          <p:nvPr/>
        </p:nvSpPr>
        <p:spPr>
          <a:xfrm>
            <a:off x="9212580" y="2514600"/>
            <a:ext cx="2171700" cy="384048"/>
          </a:xfrm>
          <a:prstGeom prst="rect">
            <a:avLst/>
          </a:prstGeom>
          <a:noFill/>
        </p:spPr>
        <p:txBody>
          <a:bodyPr wrap="square" lIns="36576" rIns="36576" tIns="18288" bIns="18288" anchor="t">
            <a:spAutoFit/>
          </a:bodyPr>
          <a:lstStyle/>
          <a:p>
            <a:pPr algn="l">
              <a:lnSpc>
                <a:spcPct val="112000"/>
              </a:lnSpc>
            </a:pPr>
            <a:r>
              <a:rPr sz="1500" b="1" i="0">
                <a:solidFill>
                  <a:srgbClr val="FFFFFF"/>
                </a:solidFill>
                <a:latin typeface="Cambria"/>
              </a:rPr>
              <a:t>Governance</a:t>
            </a:r>
          </a:p>
        </p:txBody>
      </p:sp>
      <p:sp>
        <p:nvSpPr>
          <p:cNvPr id="26" name="TextBox 25"/>
          <p:cNvSpPr txBox="1"/>
          <p:nvPr/>
        </p:nvSpPr>
        <p:spPr>
          <a:xfrm>
            <a:off x="9212580" y="2935224"/>
            <a:ext cx="2171700" cy="271576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Costs, audit trail, scorecard, interventions and a Board report.</a:t>
            </a:r>
          </a:p>
        </p:txBody>
      </p:sp>
    </p:spTree>
  </p:cSld>
  <p:clrMapOvr>
    <a:masterClrMapping/>
  </p:clrMapOvr>
  <p:transition spd="med">
    <p:fade/>
  </p:transition>
</p:sld>
</file>

<file path=ppt/slides/slide146.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Oval 1"/>
          <p:cNvSpPr/>
          <p:nvPr/>
        </p:nvSpPr>
        <p:spPr>
          <a:xfrm>
            <a:off x="-1554480" y="4572000"/>
            <a:ext cx="4023360" cy="402336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822960" y="1828800"/>
            <a:ext cx="6949440" cy="457200"/>
          </a:xfrm>
          <a:prstGeom prst="rect">
            <a:avLst/>
          </a:prstGeom>
          <a:noFill/>
        </p:spPr>
        <p:txBody>
          <a:bodyPr wrap="square" lIns="36576" rIns="36576" tIns="18288" bIns="18288" anchor="t">
            <a:spAutoFit/>
          </a:bodyPr>
          <a:lstStyle/>
          <a:p>
            <a:pPr algn="l">
              <a:lnSpc>
                <a:spcPct val="112000"/>
              </a:lnSpc>
            </a:pPr>
            <a:r>
              <a:rPr sz="1800" b="1" i="0">
                <a:solidFill>
                  <a:srgbClr val="D97757"/>
                </a:solidFill>
                <a:latin typeface="Calibri"/>
              </a:rPr>
              <a:t>WRAP-UP</a:t>
            </a:r>
          </a:p>
        </p:txBody>
      </p:sp>
      <p:sp>
        <p:nvSpPr>
          <p:cNvPr id="4" name="TextBox 3"/>
          <p:cNvSpPr txBox="1"/>
          <p:nvPr/>
        </p:nvSpPr>
        <p:spPr>
          <a:xfrm>
            <a:off x="777240" y="2331720"/>
            <a:ext cx="7223760" cy="2011680"/>
          </a:xfrm>
          <a:prstGeom prst="rect">
            <a:avLst/>
          </a:prstGeom>
          <a:noFill/>
        </p:spPr>
        <p:txBody>
          <a:bodyPr wrap="square" lIns="36576" rIns="36576" tIns="18288" bIns="18288" anchor="t">
            <a:spAutoFit/>
          </a:bodyPr>
          <a:lstStyle/>
          <a:p>
            <a:pPr algn="l">
              <a:lnSpc>
                <a:spcPct val="104000"/>
              </a:lnSpc>
            </a:pPr>
            <a:r>
              <a:rPr sz="4000" b="1" i="0">
                <a:solidFill>
                  <a:srgbClr val="FFFFFF"/>
                </a:solidFill>
                <a:latin typeface="Cambria"/>
              </a:rPr>
              <a:t>Course Summary &amp; Next Steps</a:t>
            </a:r>
          </a:p>
        </p:txBody>
      </p:sp>
      <p:sp>
        <p:nvSpPr>
          <p:cNvPr id="5" name="Rounded Rectangle 4"/>
          <p:cNvSpPr/>
          <p:nvPr/>
        </p:nvSpPr>
        <p:spPr>
          <a:xfrm>
            <a:off x="8183879" y="2016251"/>
            <a:ext cx="3520440" cy="2459736"/>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366760" y="2244851"/>
            <a:ext cx="457200" cy="384048"/>
          </a:xfrm>
          <a:prstGeom prst="rect">
            <a:avLst/>
          </a:prstGeom>
          <a:noFill/>
        </p:spPr>
        <p:txBody>
          <a:bodyPr wrap="square" lIns="36576" rIns="36576" tIns="18288" bIns="18288" anchor="t">
            <a:spAutoFit/>
          </a:bodyPr>
          <a:lstStyle/>
          <a:p>
            <a:pPr algn="l">
              <a:lnSpc>
                <a:spcPct val="112000"/>
              </a:lnSpc>
            </a:pPr>
            <a:r>
              <a:rPr sz="1700" b="1" i="0">
                <a:solidFill>
                  <a:srgbClr val="D97757"/>
                </a:solidFill>
                <a:latin typeface="Cambria"/>
              </a:rPr>
              <a:t>1</a:t>
            </a:r>
          </a:p>
        </p:txBody>
      </p:sp>
      <p:sp>
        <p:nvSpPr>
          <p:cNvPr id="7" name="TextBox 6"/>
          <p:cNvSpPr txBox="1"/>
          <p:nvPr/>
        </p:nvSpPr>
        <p:spPr>
          <a:xfrm>
            <a:off x="8823960" y="2244851"/>
            <a:ext cx="2743200" cy="512064"/>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Key takeaways</a:t>
            </a:r>
          </a:p>
        </p:txBody>
      </p:sp>
      <p:sp>
        <p:nvSpPr>
          <p:cNvPr id="8" name="TextBox 7"/>
          <p:cNvSpPr txBox="1"/>
          <p:nvPr/>
        </p:nvSpPr>
        <p:spPr>
          <a:xfrm>
            <a:off x="8366760" y="2756915"/>
            <a:ext cx="457200" cy="384048"/>
          </a:xfrm>
          <a:prstGeom prst="rect">
            <a:avLst/>
          </a:prstGeom>
          <a:noFill/>
        </p:spPr>
        <p:txBody>
          <a:bodyPr wrap="square" lIns="36576" rIns="36576" tIns="18288" bIns="18288" anchor="t">
            <a:spAutoFit/>
          </a:bodyPr>
          <a:lstStyle/>
          <a:p>
            <a:pPr algn="l">
              <a:lnSpc>
                <a:spcPct val="112000"/>
              </a:lnSpc>
            </a:pPr>
            <a:r>
              <a:rPr sz="1700" b="1" i="0">
                <a:solidFill>
                  <a:srgbClr val="D97757"/>
                </a:solidFill>
                <a:latin typeface="Cambria"/>
              </a:rPr>
              <a:t>2</a:t>
            </a:r>
          </a:p>
        </p:txBody>
      </p:sp>
      <p:sp>
        <p:nvSpPr>
          <p:cNvPr id="9" name="TextBox 8"/>
          <p:cNvSpPr txBox="1"/>
          <p:nvPr/>
        </p:nvSpPr>
        <p:spPr>
          <a:xfrm>
            <a:off x="8823960" y="2756915"/>
            <a:ext cx="2743200" cy="512064"/>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Practice exam</a:t>
            </a:r>
          </a:p>
        </p:txBody>
      </p:sp>
      <p:sp>
        <p:nvSpPr>
          <p:cNvPr id="10" name="TextBox 9"/>
          <p:cNvSpPr txBox="1"/>
          <p:nvPr/>
        </p:nvSpPr>
        <p:spPr>
          <a:xfrm>
            <a:off x="8366760" y="3268979"/>
            <a:ext cx="457200" cy="384048"/>
          </a:xfrm>
          <a:prstGeom prst="rect">
            <a:avLst/>
          </a:prstGeom>
          <a:noFill/>
        </p:spPr>
        <p:txBody>
          <a:bodyPr wrap="square" lIns="36576" rIns="36576" tIns="18288" bIns="18288" anchor="t">
            <a:spAutoFit/>
          </a:bodyPr>
          <a:lstStyle/>
          <a:p>
            <a:pPr algn="l">
              <a:lnSpc>
                <a:spcPct val="112000"/>
              </a:lnSpc>
            </a:pPr>
            <a:r>
              <a:rPr sz="1700" b="1" i="0">
                <a:solidFill>
                  <a:srgbClr val="D97757"/>
                </a:solidFill>
                <a:latin typeface="Cambria"/>
              </a:rPr>
              <a:t>3</a:t>
            </a:r>
          </a:p>
        </p:txBody>
      </p:sp>
      <p:sp>
        <p:nvSpPr>
          <p:cNvPr id="11" name="TextBox 10"/>
          <p:cNvSpPr txBox="1"/>
          <p:nvPr/>
        </p:nvSpPr>
        <p:spPr>
          <a:xfrm>
            <a:off x="8823960" y="3268979"/>
            <a:ext cx="2743200" cy="512064"/>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Assessment</a:t>
            </a:r>
          </a:p>
        </p:txBody>
      </p:sp>
      <p:sp>
        <p:nvSpPr>
          <p:cNvPr id="12" name="TextBox 11"/>
          <p:cNvSpPr txBox="1"/>
          <p:nvPr/>
        </p:nvSpPr>
        <p:spPr>
          <a:xfrm>
            <a:off x="8366760" y="3781044"/>
            <a:ext cx="457200" cy="384048"/>
          </a:xfrm>
          <a:prstGeom prst="rect">
            <a:avLst/>
          </a:prstGeom>
          <a:noFill/>
        </p:spPr>
        <p:txBody>
          <a:bodyPr wrap="square" lIns="36576" rIns="36576" tIns="18288" bIns="18288" anchor="t">
            <a:spAutoFit/>
          </a:bodyPr>
          <a:lstStyle/>
          <a:p>
            <a:pPr algn="l">
              <a:lnSpc>
                <a:spcPct val="112000"/>
              </a:lnSpc>
            </a:pPr>
            <a:r>
              <a:rPr sz="1700" b="1" i="0">
                <a:solidFill>
                  <a:srgbClr val="D97757"/>
                </a:solidFill>
                <a:latin typeface="Cambria"/>
              </a:rPr>
              <a:t>4</a:t>
            </a:r>
          </a:p>
        </p:txBody>
      </p:sp>
      <p:sp>
        <p:nvSpPr>
          <p:cNvPr id="13" name="TextBox 12"/>
          <p:cNvSpPr txBox="1"/>
          <p:nvPr/>
        </p:nvSpPr>
        <p:spPr>
          <a:xfrm>
            <a:off x="8823960" y="3781044"/>
            <a:ext cx="2743200" cy="512064"/>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Digital attendance</a:t>
            </a:r>
          </a:p>
        </p:txBody>
      </p:sp>
      <p:sp>
        <p:nvSpPr>
          <p:cNvPr id="14" name="TextBox 13"/>
          <p:cNvSpPr txBox="1"/>
          <p:nvPr/>
        </p:nvSpPr>
        <p:spPr>
          <a:xfrm>
            <a:off x="5852160" y="6473952"/>
            <a:ext cx="58521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 Tertiary Infotech Academy Pte Ltd  ·  TGS-2024043854</a:t>
            </a:r>
          </a:p>
        </p:txBody>
      </p:sp>
    </p:spTree>
  </p:cSld>
  <p:clrMapOvr>
    <a:masterClrMapping/>
  </p:clrMapOvr>
  <p:transition spd="med">
    <p:fade/>
  </p:transition>
</p:sld>
</file>

<file path=ppt/slides/slide14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WRAP-UP</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Summary &amp; Q&amp;A</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147</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691640"/>
            <a:ext cx="2628900" cy="406907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77240" y="18745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brain-FFFFFF.png"/>
          <p:cNvPicPr>
            <a:picLocks noChangeAspect="1"/>
          </p:cNvPicPr>
          <p:nvPr/>
        </p:nvPicPr>
        <p:blipFill>
          <a:blip r:embed="rId2"/>
          <a:stretch>
            <a:fillRect/>
          </a:stretch>
        </p:blipFill>
        <p:spPr>
          <a:xfrm>
            <a:off x="900135" y="1997415"/>
            <a:ext cx="266273" cy="266273"/>
          </a:xfrm>
          <a:prstGeom prst="rect">
            <a:avLst/>
          </a:prstGeom>
        </p:spPr>
      </p:pic>
      <p:sp>
        <p:nvSpPr>
          <p:cNvPr id="10" name="TextBox 9"/>
          <p:cNvSpPr txBox="1"/>
          <p:nvPr/>
        </p:nvSpPr>
        <p:spPr>
          <a:xfrm>
            <a:off x="777240" y="2514600"/>
            <a:ext cx="2171700" cy="384048"/>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Topic 1</a:t>
            </a:r>
          </a:p>
        </p:txBody>
      </p:sp>
      <p:sp>
        <p:nvSpPr>
          <p:cNvPr id="11" name="TextBox 10"/>
          <p:cNvSpPr txBox="1"/>
          <p:nvPr/>
        </p:nvSpPr>
        <p:spPr>
          <a:xfrm>
            <a:off x="777240" y="2935224"/>
            <a:ext cx="2171700" cy="2715767"/>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Agents loop through perception, reasoning and action; the harness and the human make them reliable.</a:t>
            </a:r>
          </a:p>
        </p:txBody>
      </p:sp>
      <p:sp>
        <p:nvSpPr>
          <p:cNvPr id="12" name="Rounded Rectangle 11"/>
          <p:cNvSpPr/>
          <p:nvPr/>
        </p:nvSpPr>
        <p:spPr>
          <a:xfrm>
            <a:off x="3360420" y="1691640"/>
            <a:ext cx="2628900" cy="406907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3589020" y="18745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robot-FFFFFF.png"/>
          <p:cNvPicPr>
            <a:picLocks noChangeAspect="1"/>
          </p:cNvPicPr>
          <p:nvPr/>
        </p:nvPicPr>
        <p:blipFill>
          <a:blip r:embed="rId3"/>
          <a:stretch>
            <a:fillRect/>
          </a:stretch>
        </p:blipFill>
        <p:spPr>
          <a:xfrm>
            <a:off x="3711915" y="1997415"/>
            <a:ext cx="266273" cy="266273"/>
          </a:xfrm>
          <a:prstGeom prst="rect">
            <a:avLst/>
          </a:prstGeom>
        </p:spPr>
      </p:pic>
      <p:sp>
        <p:nvSpPr>
          <p:cNvPr id="15" name="TextBox 14"/>
          <p:cNvSpPr txBox="1"/>
          <p:nvPr/>
        </p:nvSpPr>
        <p:spPr>
          <a:xfrm>
            <a:off x="3589020" y="2514600"/>
            <a:ext cx="2171700" cy="384048"/>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Topic 2</a:t>
            </a:r>
          </a:p>
        </p:txBody>
      </p:sp>
      <p:sp>
        <p:nvSpPr>
          <p:cNvPr id="16" name="TextBox 15"/>
          <p:cNvSpPr txBox="1"/>
          <p:nvPr/>
        </p:nvSpPr>
        <p:spPr>
          <a:xfrm>
            <a:off x="3589020" y="2935224"/>
            <a:ext cx="2171700" cy="2715767"/>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Hermes took one AI employee to a supervised multi-agent team with skills, memory, cron and gates.</a:t>
            </a:r>
          </a:p>
        </p:txBody>
      </p:sp>
      <p:sp>
        <p:nvSpPr>
          <p:cNvPr id="17" name="Rounded Rectangle 16"/>
          <p:cNvSpPr/>
          <p:nvPr/>
        </p:nvSpPr>
        <p:spPr>
          <a:xfrm>
            <a:off x="6172200" y="1691640"/>
            <a:ext cx="2628900" cy="406907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6400800" y="18745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 name="Picture 18" descr="building-FFFFFF.png"/>
          <p:cNvPicPr>
            <a:picLocks noChangeAspect="1"/>
          </p:cNvPicPr>
          <p:nvPr/>
        </p:nvPicPr>
        <p:blipFill>
          <a:blip r:embed="rId4"/>
          <a:stretch>
            <a:fillRect/>
          </a:stretch>
        </p:blipFill>
        <p:spPr>
          <a:xfrm>
            <a:off x="6523695" y="1997415"/>
            <a:ext cx="266273" cy="266273"/>
          </a:xfrm>
          <a:prstGeom prst="rect">
            <a:avLst/>
          </a:prstGeom>
        </p:spPr>
      </p:pic>
      <p:sp>
        <p:nvSpPr>
          <p:cNvPr id="20" name="TextBox 19"/>
          <p:cNvSpPr txBox="1"/>
          <p:nvPr/>
        </p:nvSpPr>
        <p:spPr>
          <a:xfrm>
            <a:off x="6400800" y="2514600"/>
            <a:ext cx="2171700" cy="384048"/>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Topic 3</a:t>
            </a:r>
          </a:p>
        </p:txBody>
      </p:sp>
      <p:sp>
        <p:nvSpPr>
          <p:cNvPr id="21" name="TextBox 20"/>
          <p:cNvSpPr txBox="1"/>
          <p:nvPr/>
        </p:nvSpPr>
        <p:spPr>
          <a:xfrm>
            <a:off x="6400800" y="2935224"/>
            <a:ext cx="2171700" cy="2715767"/>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Paperclip ran the same work as a governed company — Board, budgets, routines, audit.</a:t>
            </a:r>
          </a:p>
        </p:txBody>
      </p:sp>
      <p:sp>
        <p:nvSpPr>
          <p:cNvPr id="22" name="Rounded Rectangle 21"/>
          <p:cNvSpPr/>
          <p:nvPr/>
        </p:nvSpPr>
        <p:spPr>
          <a:xfrm>
            <a:off x="8983980" y="1691640"/>
            <a:ext cx="2628900" cy="406907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9212580" y="18745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handshake-FFFFFF.png"/>
          <p:cNvPicPr>
            <a:picLocks noChangeAspect="1"/>
          </p:cNvPicPr>
          <p:nvPr/>
        </p:nvPicPr>
        <p:blipFill>
          <a:blip r:embed="rId5"/>
          <a:stretch>
            <a:fillRect/>
          </a:stretch>
        </p:blipFill>
        <p:spPr>
          <a:xfrm>
            <a:off x="9335475" y="1997415"/>
            <a:ext cx="266273" cy="266273"/>
          </a:xfrm>
          <a:prstGeom prst="rect">
            <a:avLst/>
          </a:prstGeom>
        </p:spPr>
      </p:pic>
      <p:sp>
        <p:nvSpPr>
          <p:cNvPr id="25" name="TextBox 24"/>
          <p:cNvSpPr txBox="1"/>
          <p:nvPr/>
        </p:nvSpPr>
        <p:spPr>
          <a:xfrm>
            <a:off x="9212580" y="2514600"/>
            <a:ext cx="2171700" cy="384048"/>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Your workforce</a:t>
            </a:r>
          </a:p>
        </p:txBody>
      </p:sp>
      <p:sp>
        <p:nvSpPr>
          <p:cNvPr id="26" name="TextBox 25"/>
          <p:cNvSpPr txBox="1"/>
          <p:nvPr/>
        </p:nvSpPr>
        <p:spPr>
          <a:xfrm>
            <a:off x="9212580" y="2935224"/>
            <a:ext cx="2171700" cy="2715767"/>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Decide per task: agent, agent team or human — and where the human approves.</a:t>
            </a:r>
          </a:p>
        </p:txBody>
      </p:sp>
    </p:spTree>
  </p:cSld>
  <p:clrMapOvr>
    <a:masterClrMapping/>
  </p:clrMapOvr>
  <p:transition spd="med">
    <p:fade/>
  </p:transition>
</p:sld>
</file>

<file path=ppt/slides/slide148.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WRAP-UP</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Continue Building Your Human–AI Workforce</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148</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server-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Run 24/7</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Move Hermes to a small VPS or Docker host so cron and Telegram keep running.</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puzzle-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Codify your SOPs</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Turn your team's checklists into SKILL.md skills and agent instructions.</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shield-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Govern from day one</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Budgets, approval gates, audit trail — follow IMDA's agentic AI framework.</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chart-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Measure</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Track cycle time, revisions, cost per deliverable and quality before you scale.</a:t>
            </a:r>
          </a:p>
        </p:txBody>
      </p:sp>
    </p:spTree>
  </p:cSld>
  <p:clrMapOvr>
    <a:masterClrMapping/>
  </p:clrMapOvr>
  <p:transition spd="med">
    <p:fade/>
  </p:transition>
</p:sld>
</file>

<file path=ppt/slides/slide14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TEST YOURSELF</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Practice Exam</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Sharpen your readiness before the final assessment.</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149</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671686" y="2185416"/>
            <a:ext cx="6520467" cy="4041648"/>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practice-exam.png"/>
          <p:cNvPicPr>
            <a:picLocks noChangeAspect="1"/>
          </p:cNvPicPr>
          <p:nvPr/>
        </p:nvPicPr>
        <p:blipFill>
          <a:blip r:embed="rId2"/>
          <a:stretch>
            <a:fillRect/>
          </a:stretch>
        </p:blipFill>
        <p:spPr>
          <a:xfrm>
            <a:off x="726550" y="2240280"/>
            <a:ext cx="6410739" cy="3931920"/>
          </a:xfrm>
          <a:prstGeom prst="rect">
            <a:avLst/>
          </a:prstGeom>
        </p:spPr>
      </p:pic>
      <p:sp>
        <p:nvSpPr>
          <p:cNvPr id="10" name="Oval 9"/>
          <p:cNvSpPr/>
          <p:nvPr/>
        </p:nvSpPr>
        <p:spPr>
          <a:xfrm>
            <a:off x="7589520" y="2377440"/>
            <a:ext cx="502920" cy="50292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globe-FFFFFF.png"/>
          <p:cNvPicPr>
            <a:picLocks noChangeAspect="1"/>
          </p:cNvPicPr>
          <p:nvPr/>
        </p:nvPicPr>
        <p:blipFill>
          <a:blip r:embed="rId3"/>
          <a:stretch>
            <a:fillRect/>
          </a:stretch>
        </p:blipFill>
        <p:spPr>
          <a:xfrm>
            <a:off x="7710220" y="2498140"/>
            <a:ext cx="261518" cy="261518"/>
          </a:xfrm>
          <a:prstGeom prst="rect">
            <a:avLst/>
          </a:prstGeom>
        </p:spPr>
      </p:pic>
      <p:sp>
        <p:nvSpPr>
          <p:cNvPr id="12" name="TextBox 11"/>
          <p:cNvSpPr txBox="1"/>
          <p:nvPr/>
        </p:nvSpPr>
        <p:spPr>
          <a:xfrm>
            <a:off x="8229600" y="2359152"/>
            <a:ext cx="3383280" cy="384048"/>
          </a:xfrm>
          <a:prstGeom prst="rect">
            <a:avLst/>
          </a:prstGeom>
          <a:noFill/>
        </p:spPr>
        <p:txBody>
          <a:bodyPr wrap="square" lIns="36576" rIns="36576" tIns="18288" bIns="18288" anchor="t">
            <a:spAutoFit/>
          </a:bodyPr>
          <a:lstStyle/>
          <a:p>
            <a:pPr algn="l">
              <a:lnSpc>
                <a:spcPct val="112000"/>
              </a:lnSpc>
            </a:pPr>
            <a:r>
              <a:rPr sz="1600" b="1" i="0">
                <a:solidFill>
                  <a:srgbClr val="21201C"/>
                </a:solidFill>
                <a:latin typeface="Cambria"/>
              </a:rPr>
              <a:t>Open the portal</a:t>
            </a:r>
          </a:p>
        </p:txBody>
      </p:sp>
      <p:sp>
        <p:nvSpPr>
          <p:cNvPr id="13" name="TextBox 12"/>
          <p:cNvSpPr txBox="1"/>
          <p:nvPr/>
        </p:nvSpPr>
        <p:spPr>
          <a:xfrm>
            <a:off x="8229600" y="2761488"/>
            <a:ext cx="3383280" cy="731520"/>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https://exams.tertiaryinfotech.com</a:t>
            </a:r>
          </a:p>
        </p:txBody>
      </p:sp>
      <p:sp>
        <p:nvSpPr>
          <p:cNvPr id="14" name="Oval 13"/>
          <p:cNvSpPr/>
          <p:nvPr/>
        </p:nvSpPr>
        <p:spPr>
          <a:xfrm>
            <a:off x="7589520" y="3611880"/>
            <a:ext cx="502920" cy="50292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Picture 14" descr="clock-FFFFFF.png"/>
          <p:cNvPicPr>
            <a:picLocks noChangeAspect="1"/>
          </p:cNvPicPr>
          <p:nvPr/>
        </p:nvPicPr>
        <p:blipFill>
          <a:blip r:embed="rId4"/>
          <a:stretch>
            <a:fillRect/>
          </a:stretch>
        </p:blipFill>
        <p:spPr>
          <a:xfrm>
            <a:off x="7710220" y="3732580"/>
            <a:ext cx="261518" cy="261518"/>
          </a:xfrm>
          <a:prstGeom prst="rect">
            <a:avLst/>
          </a:prstGeom>
        </p:spPr>
      </p:pic>
      <p:sp>
        <p:nvSpPr>
          <p:cNvPr id="16" name="TextBox 15"/>
          <p:cNvSpPr txBox="1"/>
          <p:nvPr/>
        </p:nvSpPr>
        <p:spPr>
          <a:xfrm>
            <a:off x="8229600" y="3593592"/>
            <a:ext cx="3383280" cy="384048"/>
          </a:xfrm>
          <a:prstGeom prst="rect">
            <a:avLst/>
          </a:prstGeom>
          <a:noFill/>
        </p:spPr>
        <p:txBody>
          <a:bodyPr wrap="square" lIns="36576" rIns="36576" tIns="18288" bIns="18288" anchor="t">
            <a:spAutoFit/>
          </a:bodyPr>
          <a:lstStyle/>
          <a:p>
            <a:pPr algn="l">
              <a:lnSpc>
                <a:spcPct val="112000"/>
              </a:lnSpc>
            </a:pPr>
            <a:r>
              <a:rPr sz="1600" b="1" i="0">
                <a:solidFill>
                  <a:srgbClr val="21201C"/>
                </a:solidFill>
                <a:latin typeface="Cambria"/>
              </a:rPr>
              <a:t>Time yourself</a:t>
            </a:r>
          </a:p>
        </p:txBody>
      </p:sp>
      <p:sp>
        <p:nvSpPr>
          <p:cNvPr id="17" name="TextBox 16"/>
          <p:cNvSpPr txBox="1"/>
          <p:nvPr/>
        </p:nvSpPr>
        <p:spPr>
          <a:xfrm>
            <a:off x="8229600" y="3995928"/>
            <a:ext cx="3383280" cy="731520"/>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Attempt it under exam conditions.</a:t>
            </a:r>
          </a:p>
        </p:txBody>
      </p:sp>
      <p:sp>
        <p:nvSpPr>
          <p:cNvPr id="18" name="Oval 17"/>
          <p:cNvSpPr/>
          <p:nvPr/>
        </p:nvSpPr>
        <p:spPr>
          <a:xfrm>
            <a:off x="7589520" y="4846320"/>
            <a:ext cx="502920" cy="50292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 name="Picture 18" descr="book-FFFFFF.png"/>
          <p:cNvPicPr>
            <a:picLocks noChangeAspect="1"/>
          </p:cNvPicPr>
          <p:nvPr/>
        </p:nvPicPr>
        <p:blipFill>
          <a:blip r:embed="rId5"/>
          <a:stretch>
            <a:fillRect/>
          </a:stretch>
        </p:blipFill>
        <p:spPr>
          <a:xfrm>
            <a:off x="7710220" y="4967020"/>
            <a:ext cx="261518" cy="261518"/>
          </a:xfrm>
          <a:prstGeom prst="rect">
            <a:avLst/>
          </a:prstGeom>
        </p:spPr>
      </p:pic>
      <p:sp>
        <p:nvSpPr>
          <p:cNvPr id="20" name="TextBox 19"/>
          <p:cNvSpPr txBox="1"/>
          <p:nvPr/>
        </p:nvSpPr>
        <p:spPr>
          <a:xfrm>
            <a:off x="8229600" y="4828032"/>
            <a:ext cx="3383280" cy="384048"/>
          </a:xfrm>
          <a:prstGeom prst="rect">
            <a:avLst/>
          </a:prstGeom>
          <a:noFill/>
        </p:spPr>
        <p:txBody>
          <a:bodyPr wrap="square" lIns="36576" rIns="36576" tIns="18288" bIns="18288" anchor="t">
            <a:spAutoFit/>
          </a:bodyPr>
          <a:lstStyle/>
          <a:p>
            <a:pPr algn="l">
              <a:lnSpc>
                <a:spcPct val="112000"/>
              </a:lnSpc>
            </a:pPr>
            <a:r>
              <a:rPr sz="1600" b="1" i="0">
                <a:solidFill>
                  <a:srgbClr val="21201C"/>
                </a:solidFill>
                <a:latin typeface="Cambria"/>
              </a:rPr>
              <a:t>Review</a:t>
            </a:r>
          </a:p>
        </p:txBody>
      </p:sp>
      <p:sp>
        <p:nvSpPr>
          <p:cNvPr id="21" name="TextBox 20"/>
          <p:cNvSpPr txBox="1"/>
          <p:nvPr/>
        </p:nvSpPr>
        <p:spPr>
          <a:xfrm>
            <a:off x="8229600" y="5230368"/>
            <a:ext cx="3383280" cy="731520"/>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Read every explanation; revisit the matching lab.</a:t>
            </a:r>
          </a:p>
        </p:txBody>
      </p:sp>
    </p:spTree>
  </p:cSld>
  <p:clrMapOvr>
    <a:masterClrMapping/>
  </p:clrMapOvr>
  <p:transition spd="med">
    <p:fade/>
  </p:transition>
</p:sld>
</file>

<file path=ppt/slides/slide15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ASSESSMENT</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Final Assessment</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150</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83080"/>
            <a:ext cx="5440680" cy="31089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22959" y="205740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pen-FFFFFF.png"/>
          <p:cNvPicPr>
            <a:picLocks noChangeAspect="1"/>
          </p:cNvPicPr>
          <p:nvPr/>
        </p:nvPicPr>
        <p:blipFill>
          <a:blip r:embed="rId2"/>
          <a:stretch>
            <a:fillRect/>
          </a:stretch>
        </p:blipFill>
        <p:spPr>
          <a:xfrm>
            <a:off x="954633" y="2189073"/>
            <a:ext cx="285292" cy="285292"/>
          </a:xfrm>
          <a:prstGeom prst="rect">
            <a:avLst/>
          </a:prstGeom>
        </p:spPr>
      </p:pic>
      <p:sp>
        <p:nvSpPr>
          <p:cNvPr id="10" name="TextBox 9"/>
          <p:cNvSpPr txBox="1"/>
          <p:nvPr/>
        </p:nvSpPr>
        <p:spPr>
          <a:xfrm>
            <a:off x="1508760" y="2103120"/>
            <a:ext cx="4297680" cy="457200"/>
          </a:xfrm>
          <a:prstGeom prst="rect">
            <a:avLst/>
          </a:prstGeom>
          <a:noFill/>
        </p:spPr>
        <p:txBody>
          <a:bodyPr wrap="square" lIns="36576" rIns="36576" tIns="18288" bIns="18288" anchor="t">
            <a:spAutoFit/>
          </a:bodyPr>
          <a:lstStyle/>
          <a:p>
            <a:pPr algn="l">
              <a:lnSpc>
                <a:spcPct val="112000"/>
              </a:lnSpc>
            </a:pPr>
            <a:r>
              <a:rPr sz="1900" b="1" i="0">
                <a:solidFill>
                  <a:srgbClr val="21201C"/>
                </a:solidFill>
                <a:latin typeface="Cambria"/>
              </a:rPr>
              <a:t>Written Assessment (WA)</a:t>
            </a:r>
          </a:p>
        </p:txBody>
      </p:sp>
      <p:sp>
        <p:nvSpPr>
          <p:cNvPr id="11" name="TextBox 10"/>
          <p:cNvSpPr txBox="1"/>
          <p:nvPr/>
        </p:nvSpPr>
        <p:spPr>
          <a:xfrm>
            <a:off x="868680" y="2834640"/>
            <a:ext cx="4846320" cy="1920240"/>
          </a:xfrm>
          <a:prstGeom prst="rect">
            <a:avLst/>
          </a:prstGeom>
          <a:noFill/>
        </p:spPr>
        <p:txBody>
          <a:bodyPr wrap="square" lIns="36576" rIns="36576" tIns="18288" bIns="18288" anchor="t">
            <a:spAutoFit/>
          </a:bodyPr>
          <a:lstStyle/>
          <a:p>
            <a:pPr algn="l">
              <a:lnSpc>
                <a:spcPct val="125000"/>
              </a:lnSpc>
            </a:pPr>
            <a:r>
              <a:rPr sz="1450" b="0" i="0">
                <a:solidFill>
                  <a:srgbClr val="6B6862"/>
                </a:solidFill>
                <a:latin typeface="Calibri"/>
              </a:rPr>
              <a:t>Short-Answer Questions — 1 hour, open book. Six questions on the knowledge from Topics 1–3.</a:t>
            </a:r>
          </a:p>
        </p:txBody>
      </p:sp>
      <p:sp>
        <p:nvSpPr>
          <p:cNvPr id="12" name="Rounded Rectangle 11"/>
          <p:cNvSpPr/>
          <p:nvPr/>
        </p:nvSpPr>
        <p:spPr>
          <a:xfrm>
            <a:off x="6172200" y="1783080"/>
            <a:ext cx="5440680" cy="3108960"/>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46520" y="205740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tool-FFFFFF.png"/>
          <p:cNvPicPr>
            <a:picLocks noChangeAspect="1"/>
          </p:cNvPicPr>
          <p:nvPr/>
        </p:nvPicPr>
        <p:blipFill>
          <a:blip r:embed="rId3"/>
          <a:stretch>
            <a:fillRect/>
          </a:stretch>
        </p:blipFill>
        <p:spPr>
          <a:xfrm>
            <a:off x="6578193" y="2189073"/>
            <a:ext cx="285292" cy="285292"/>
          </a:xfrm>
          <a:prstGeom prst="rect">
            <a:avLst/>
          </a:prstGeom>
        </p:spPr>
      </p:pic>
      <p:sp>
        <p:nvSpPr>
          <p:cNvPr id="15" name="TextBox 14"/>
          <p:cNvSpPr txBox="1"/>
          <p:nvPr/>
        </p:nvSpPr>
        <p:spPr>
          <a:xfrm>
            <a:off x="7132320" y="2103120"/>
            <a:ext cx="4297680" cy="457200"/>
          </a:xfrm>
          <a:prstGeom prst="rect">
            <a:avLst/>
          </a:prstGeom>
          <a:noFill/>
        </p:spPr>
        <p:txBody>
          <a:bodyPr wrap="square" lIns="36576" rIns="36576" tIns="18288" bIns="18288" anchor="t">
            <a:spAutoFit/>
          </a:bodyPr>
          <a:lstStyle/>
          <a:p>
            <a:pPr algn="l">
              <a:lnSpc>
                <a:spcPct val="112000"/>
              </a:lnSpc>
            </a:pPr>
            <a:r>
              <a:rPr sz="1900" b="1" i="0">
                <a:solidFill>
                  <a:srgbClr val="FFFFFF"/>
                </a:solidFill>
                <a:latin typeface="Cambria"/>
              </a:rPr>
              <a:t>Practical Performance (PP)</a:t>
            </a:r>
          </a:p>
        </p:txBody>
      </p:sp>
      <p:sp>
        <p:nvSpPr>
          <p:cNvPr id="16" name="TextBox 15"/>
          <p:cNvSpPr txBox="1"/>
          <p:nvPr/>
        </p:nvSpPr>
        <p:spPr>
          <a:xfrm>
            <a:off x="6492240" y="2834640"/>
            <a:ext cx="4846320" cy="1920240"/>
          </a:xfrm>
          <a:prstGeom prst="rect">
            <a:avLst/>
          </a:prstGeom>
          <a:noFill/>
        </p:spPr>
        <p:txBody>
          <a:bodyPr wrap="square" lIns="36576" rIns="36576" tIns="18288" bIns="18288" anchor="t">
            <a:spAutoFit/>
          </a:bodyPr>
          <a:lstStyle/>
          <a:p>
            <a:pPr algn="l">
              <a:lnSpc>
                <a:spcPct val="125000"/>
              </a:lnSpc>
            </a:pPr>
            <a:r>
              <a:rPr sz="1450" b="0" i="0">
                <a:solidFill>
                  <a:srgbClr val="C9C4B9"/>
                </a:solidFill>
                <a:latin typeface="Calibri"/>
              </a:rPr>
              <a:t>Three tasks — ONE screenshot each from Lab 1 (Hermes agent), Lab 4 (multi-agent studio with its human gate) and Lab 7 (Paperclip org chart), plus written analysis. 1 hour, open book.</a:t>
            </a:r>
          </a:p>
        </p:txBody>
      </p:sp>
      <p:sp>
        <p:nvSpPr>
          <p:cNvPr id="17" name="TextBox 16"/>
          <p:cNvSpPr txBox="1"/>
          <p:nvPr/>
        </p:nvSpPr>
        <p:spPr>
          <a:xfrm>
            <a:off x="548640" y="5212080"/>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Take the Assessment digital attendance and submit your answers on the LMS at https://lms-tms.tertiaryinfotech.com/.</a:t>
            </a:r>
          </a:p>
        </p:txBody>
      </p:sp>
    </p:spTree>
  </p:cSld>
  <p:clrMapOvr>
    <a:masterClrMapping/>
  </p:clrMapOvr>
  <p:transition spd="med">
    <p:fade/>
  </p:transition>
</p:sld>
</file>

<file path=ppt/slides/slide15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ASSESSMENT</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Assessment Flow</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On assessment day, follow these five steps in order.</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151</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331720"/>
            <a:ext cx="1993392"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49808" y="2496312"/>
            <a:ext cx="1627632"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10" name="Oval 9"/>
          <p:cNvSpPr/>
          <p:nvPr/>
        </p:nvSpPr>
        <p:spPr>
          <a:xfrm>
            <a:off x="749808" y="2834639"/>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clipboard-FFFFFF.png"/>
          <p:cNvPicPr>
            <a:picLocks noChangeAspect="1"/>
          </p:cNvPicPr>
          <p:nvPr/>
        </p:nvPicPr>
        <p:blipFill>
          <a:blip r:embed="rId2"/>
          <a:stretch>
            <a:fillRect/>
          </a:stretch>
        </p:blipFill>
        <p:spPr>
          <a:xfrm>
            <a:off x="872703" y="2957535"/>
            <a:ext cx="266273" cy="266273"/>
          </a:xfrm>
          <a:prstGeom prst="rect">
            <a:avLst/>
          </a:prstGeom>
        </p:spPr>
      </p:pic>
      <p:sp>
        <p:nvSpPr>
          <p:cNvPr id="12" name="TextBox 11"/>
          <p:cNvSpPr txBox="1"/>
          <p:nvPr/>
        </p:nvSpPr>
        <p:spPr>
          <a:xfrm>
            <a:off x="749808" y="3474720"/>
            <a:ext cx="1627632"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TRAQOM</a:t>
            </a:r>
          </a:p>
        </p:txBody>
      </p:sp>
      <p:sp>
        <p:nvSpPr>
          <p:cNvPr id="13" name="TextBox 12"/>
          <p:cNvSpPr txBox="1"/>
          <p:nvPr/>
        </p:nvSpPr>
        <p:spPr>
          <a:xfrm>
            <a:off x="749808" y="3931920"/>
            <a:ext cx="1627632"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Scan the TRAQOM QR code on the LMS and complete the survey.</a:t>
            </a:r>
          </a:p>
        </p:txBody>
      </p:sp>
      <p:cxnSp>
        <p:nvCxnSpPr>
          <p:cNvPr id="14" name="Connector 13"/>
          <p:cNvCxnSpPr/>
          <p:nvPr/>
        </p:nvCxnSpPr>
        <p:spPr>
          <a:xfrm>
            <a:off x="2569464" y="3657600"/>
            <a:ext cx="219456" cy="0"/>
          </a:xfrm>
          <a:prstGeom prst="line">
            <a:avLst/>
          </a:prstGeom>
          <a:ln w="2540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2816352" y="2331720"/>
            <a:ext cx="1993392"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017520" y="2496312"/>
            <a:ext cx="1627632"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7" name="Oval 16"/>
          <p:cNvSpPr/>
          <p:nvPr/>
        </p:nvSpPr>
        <p:spPr>
          <a:xfrm>
            <a:off x="3017520" y="2834639"/>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phone-FFFFFF.png"/>
          <p:cNvPicPr>
            <a:picLocks noChangeAspect="1"/>
          </p:cNvPicPr>
          <p:nvPr/>
        </p:nvPicPr>
        <p:blipFill>
          <a:blip r:embed="rId3"/>
          <a:stretch>
            <a:fillRect/>
          </a:stretch>
        </p:blipFill>
        <p:spPr>
          <a:xfrm>
            <a:off x="3140415" y="2957535"/>
            <a:ext cx="266273" cy="266273"/>
          </a:xfrm>
          <a:prstGeom prst="rect">
            <a:avLst/>
          </a:prstGeom>
        </p:spPr>
      </p:pic>
      <p:sp>
        <p:nvSpPr>
          <p:cNvPr id="19" name="TextBox 18"/>
          <p:cNvSpPr txBox="1"/>
          <p:nvPr/>
        </p:nvSpPr>
        <p:spPr>
          <a:xfrm>
            <a:off x="3017520" y="3474720"/>
            <a:ext cx="1627632"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Attendance</a:t>
            </a:r>
          </a:p>
        </p:txBody>
      </p:sp>
      <p:sp>
        <p:nvSpPr>
          <p:cNvPr id="20" name="TextBox 19"/>
          <p:cNvSpPr txBox="1"/>
          <p:nvPr/>
        </p:nvSpPr>
        <p:spPr>
          <a:xfrm>
            <a:off x="3017520" y="3931920"/>
            <a:ext cx="1627632"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Take the Assessment digital attendance (SSG QR).</a:t>
            </a:r>
          </a:p>
        </p:txBody>
      </p:sp>
      <p:cxnSp>
        <p:nvCxnSpPr>
          <p:cNvPr id="21" name="Connector 20"/>
          <p:cNvCxnSpPr/>
          <p:nvPr/>
        </p:nvCxnSpPr>
        <p:spPr>
          <a:xfrm>
            <a:off x="4837176" y="3657600"/>
            <a:ext cx="219455" cy="0"/>
          </a:xfrm>
          <a:prstGeom prst="line">
            <a:avLst/>
          </a:prstGeom>
          <a:ln w="2540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5084064" y="2331720"/>
            <a:ext cx="1993392"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5285231" y="2496312"/>
            <a:ext cx="1627632"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4" name="Oval 23"/>
          <p:cNvSpPr/>
          <p:nvPr/>
        </p:nvSpPr>
        <p:spPr>
          <a:xfrm>
            <a:off x="5285231" y="2834639"/>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Picture 24" descr="pen-FFFFFF.png"/>
          <p:cNvPicPr>
            <a:picLocks noChangeAspect="1"/>
          </p:cNvPicPr>
          <p:nvPr/>
        </p:nvPicPr>
        <p:blipFill>
          <a:blip r:embed="rId4"/>
          <a:stretch>
            <a:fillRect/>
          </a:stretch>
        </p:blipFill>
        <p:spPr>
          <a:xfrm>
            <a:off x="5408127" y="2957535"/>
            <a:ext cx="266273" cy="266273"/>
          </a:xfrm>
          <a:prstGeom prst="rect">
            <a:avLst/>
          </a:prstGeom>
        </p:spPr>
      </p:pic>
      <p:sp>
        <p:nvSpPr>
          <p:cNvPr id="26" name="TextBox 25"/>
          <p:cNvSpPr txBox="1"/>
          <p:nvPr/>
        </p:nvSpPr>
        <p:spPr>
          <a:xfrm>
            <a:off x="5285231" y="3474720"/>
            <a:ext cx="1627632"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Assessment</a:t>
            </a:r>
          </a:p>
        </p:txBody>
      </p:sp>
      <p:sp>
        <p:nvSpPr>
          <p:cNvPr id="27" name="TextBox 26"/>
          <p:cNvSpPr txBox="1"/>
          <p:nvPr/>
        </p:nvSpPr>
        <p:spPr>
          <a:xfrm>
            <a:off x="5285231" y="3931920"/>
            <a:ext cx="1627632"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Sit the WA (SAQ), then the PP — open book.</a:t>
            </a:r>
          </a:p>
        </p:txBody>
      </p:sp>
      <p:cxnSp>
        <p:nvCxnSpPr>
          <p:cNvPr id="28" name="Connector 27"/>
          <p:cNvCxnSpPr/>
          <p:nvPr/>
        </p:nvCxnSpPr>
        <p:spPr>
          <a:xfrm>
            <a:off x="7104888" y="3657600"/>
            <a:ext cx="219456" cy="0"/>
          </a:xfrm>
          <a:prstGeom prst="line">
            <a:avLst/>
          </a:prstGeom>
          <a:ln w="2540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7351775" y="2331720"/>
            <a:ext cx="1993392"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7552944" y="2496312"/>
            <a:ext cx="1627632"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31" name="Oval 30"/>
          <p:cNvSpPr/>
          <p:nvPr/>
        </p:nvSpPr>
        <p:spPr>
          <a:xfrm>
            <a:off x="7552944" y="2834639"/>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2" name="Picture 31" descr="send-FFFFFF.png"/>
          <p:cNvPicPr>
            <a:picLocks noChangeAspect="1"/>
          </p:cNvPicPr>
          <p:nvPr/>
        </p:nvPicPr>
        <p:blipFill>
          <a:blip r:embed="rId5"/>
          <a:stretch>
            <a:fillRect/>
          </a:stretch>
        </p:blipFill>
        <p:spPr>
          <a:xfrm>
            <a:off x="7675839" y="2957535"/>
            <a:ext cx="266273" cy="266273"/>
          </a:xfrm>
          <a:prstGeom prst="rect">
            <a:avLst/>
          </a:prstGeom>
        </p:spPr>
      </p:pic>
      <p:sp>
        <p:nvSpPr>
          <p:cNvPr id="33" name="TextBox 32"/>
          <p:cNvSpPr txBox="1"/>
          <p:nvPr/>
        </p:nvSpPr>
        <p:spPr>
          <a:xfrm>
            <a:off x="7552944" y="3474720"/>
            <a:ext cx="1627632"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Submit</a:t>
            </a:r>
          </a:p>
        </p:txBody>
      </p:sp>
      <p:sp>
        <p:nvSpPr>
          <p:cNvPr id="34" name="TextBox 33"/>
          <p:cNvSpPr txBox="1"/>
          <p:nvPr/>
        </p:nvSpPr>
        <p:spPr>
          <a:xfrm>
            <a:off x="7552944" y="3931920"/>
            <a:ext cx="1627632"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Upload your answers on the LMS.</a:t>
            </a:r>
          </a:p>
        </p:txBody>
      </p:sp>
      <p:cxnSp>
        <p:nvCxnSpPr>
          <p:cNvPr id="35" name="Connector 34"/>
          <p:cNvCxnSpPr/>
          <p:nvPr/>
        </p:nvCxnSpPr>
        <p:spPr>
          <a:xfrm>
            <a:off x="9372599" y="3657600"/>
            <a:ext cx="219457" cy="0"/>
          </a:xfrm>
          <a:prstGeom prst="line">
            <a:avLst/>
          </a:prstGeom>
          <a:ln w="2540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9619488" y="2331720"/>
            <a:ext cx="1993392"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9820656" y="2496312"/>
            <a:ext cx="1627632"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5</a:t>
            </a:r>
          </a:p>
        </p:txBody>
      </p:sp>
      <p:sp>
        <p:nvSpPr>
          <p:cNvPr id="38" name="Oval 37"/>
          <p:cNvSpPr/>
          <p:nvPr/>
        </p:nvSpPr>
        <p:spPr>
          <a:xfrm>
            <a:off x="9820656" y="2834639"/>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9" name="Picture 38" descr="check-FFFFFF.png"/>
          <p:cNvPicPr>
            <a:picLocks noChangeAspect="1"/>
          </p:cNvPicPr>
          <p:nvPr/>
        </p:nvPicPr>
        <p:blipFill>
          <a:blip r:embed="rId6"/>
          <a:stretch>
            <a:fillRect/>
          </a:stretch>
        </p:blipFill>
        <p:spPr>
          <a:xfrm>
            <a:off x="9943551" y="2957535"/>
            <a:ext cx="266273" cy="266273"/>
          </a:xfrm>
          <a:prstGeom prst="rect">
            <a:avLst/>
          </a:prstGeom>
        </p:spPr>
      </p:pic>
      <p:sp>
        <p:nvSpPr>
          <p:cNvPr id="40" name="TextBox 39"/>
          <p:cNvSpPr txBox="1"/>
          <p:nvPr/>
        </p:nvSpPr>
        <p:spPr>
          <a:xfrm>
            <a:off x="9820656" y="3474720"/>
            <a:ext cx="1627632"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Sign the record</a:t>
            </a:r>
          </a:p>
        </p:txBody>
      </p:sp>
      <p:sp>
        <p:nvSpPr>
          <p:cNvPr id="41" name="TextBox 40"/>
          <p:cNvSpPr txBox="1"/>
          <p:nvPr/>
        </p:nvSpPr>
        <p:spPr>
          <a:xfrm>
            <a:off x="9820656" y="3931920"/>
            <a:ext cx="1627632"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Sign the Assessment Summary Record.</a:t>
            </a:r>
          </a:p>
        </p:txBody>
      </p:sp>
    </p:spTree>
  </p:cSld>
  <p:clrMapOvr>
    <a:masterClrMapping/>
  </p:clrMapOvr>
  <p:transition spd="med">
    <p:fade/>
  </p:transition>
</p:sld>
</file>

<file path=ppt/slides/slide152.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BEFORE YOU GO</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Certification, TRAQOM Survey &amp; Digital Attendance</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152</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sp>
        <p:nvSpPr>
          <p:cNvPr id="7" name="Rounded Rectangle 6"/>
          <p:cNvSpPr/>
          <p:nvPr/>
        </p:nvSpPr>
        <p:spPr>
          <a:xfrm>
            <a:off x="548640" y="1783080"/>
            <a:ext cx="5486400" cy="393192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22960" y="205740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clipboard-FFFFFF.png"/>
          <p:cNvPicPr>
            <a:picLocks noChangeAspect="1"/>
          </p:cNvPicPr>
          <p:nvPr/>
        </p:nvPicPr>
        <p:blipFill>
          <a:blip r:embed="rId2"/>
          <a:stretch>
            <a:fillRect/>
          </a:stretch>
        </p:blipFill>
        <p:spPr>
          <a:xfrm>
            <a:off x="954633" y="2189073"/>
            <a:ext cx="285292" cy="285292"/>
          </a:xfrm>
          <a:prstGeom prst="rect">
            <a:avLst/>
          </a:prstGeom>
        </p:spPr>
      </p:pic>
      <p:sp>
        <p:nvSpPr>
          <p:cNvPr id="10" name="TextBox 9"/>
          <p:cNvSpPr txBox="1"/>
          <p:nvPr/>
        </p:nvSpPr>
        <p:spPr>
          <a:xfrm>
            <a:off x="1508760" y="2103120"/>
            <a:ext cx="4297680" cy="457200"/>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TRAQOM Survey (mandatory)</a:t>
            </a:r>
          </a:p>
        </p:txBody>
      </p:sp>
      <p:sp>
        <p:nvSpPr>
          <p:cNvPr id="11" name="TextBox 10"/>
          <p:cNvSpPr txBox="1"/>
          <p:nvPr/>
        </p:nvSpPr>
        <p:spPr>
          <a:xfrm>
            <a:off x="868680" y="2880360"/>
            <a:ext cx="4937760" cy="2651760"/>
          </a:xfrm>
          <a:prstGeom prst="rect">
            <a:avLst/>
          </a:prstGeom>
          <a:noFill/>
        </p:spPr>
        <p:txBody>
          <a:bodyPr wrap="square" lIns="36576" rIns="36576" tIns="18288" bIns="18288" anchor="t">
            <a:spAutoFit/>
          </a:bodyPr>
          <a:lstStyle/>
          <a:p>
            <a:pPr algn="l">
              <a:lnSpc>
                <a:spcPct val="125000"/>
              </a:lnSpc>
            </a:pPr>
            <a:r>
              <a:rPr sz="1500" b="0" i="0">
                <a:solidFill>
                  <a:srgbClr val="C9C4B9"/>
                </a:solidFill>
                <a:latin typeface="Calibri"/>
              </a:rPr>
              <a:t>Complete the certification &amp; TRAQOM survey to receive your certificate.</a:t>
            </a:r>
          </a:p>
          <a:p>
            <a:pPr algn="l">
              <a:lnSpc>
                <a:spcPct val="125000"/>
              </a:lnSpc>
            </a:pPr>
          </a:p>
          <a:p>
            <a:pPr algn="l">
              <a:lnSpc>
                <a:spcPct val="125000"/>
              </a:lnSpc>
            </a:pPr>
            <a:r>
              <a:rPr sz="1500" b="0" i="0">
                <a:solidFill>
                  <a:srgbClr val="C9C4B9"/>
                </a:solidFill>
                <a:latin typeface="Calibri"/>
              </a:rPr>
              <a:t>Scan the TRAQOM QR code on the LMS.</a:t>
            </a:r>
          </a:p>
        </p:txBody>
      </p:sp>
      <p:sp>
        <p:nvSpPr>
          <p:cNvPr id="12" name="Rounded Rectangle 11"/>
          <p:cNvSpPr/>
          <p:nvPr/>
        </p:nvSpPr>
        <p:spPr>
          <a:xfrm>
            <a:off x="6263640" y="1783080"/>
            <a:ext cx="5349240" cy="393192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537960" y="205740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phone-FFFFFF.png"/>
          <p:cNvPicPr>
            <a:picLocks noChangeAspect="1"/>
          </p:cNvPicPr>
          <p:nvPr/>
        </p:nvPicPr>
        <p:blipFill>
          <a:blip r:embed="rId3"/>
          <a:stretch>
            <a:fillRect/>
          </a:stretch>
        </p:blipFill>
        <p:spPr>
          <a:xfrm>
            <a:off x="6669633" y="2189073"/>
            <a:ext cx="285292" cy="285292"/>
          </a:xfrm>
          <a:prstGeom prst="rect">
            <a:avLst/>
          </a:prstGeom>
        </p:spPr>
      </p:pic>
      <p:sp>
        <p:nvSpPr>
          <p:cNvPr id="15" name="TextBox 14"/>
          <p:cNvSpPr txBox="1"/>
          <p:nvPr/>
        </p:nvSpPr>
        <p:spPr>
          <a:xfrm>
            <a:off x="7223760" y="2103120"/>
            <a:ext cx="4206240" cy="457200"/>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Digital Attendance</a:t>
            </a:r>
          </a:p>
        </p:txBody>
      </p:sp>
      <p:sp>
        <p:nvSpPr>
          <p:cNvPr id="16" name="TextBox 15"/>
          <p:cNvSpPr txBox="1"/>
          <p:nvPr/>
        </p:nvSpPr>
        <p:spPr>
          <a:xfrm>
            <a:off x="6583680" y="2880360"/>
            <a:ext cx="4846320" cy="2651760"/>
          </a:xfrm>
          <a:prstGeom prst="rect">
            <a:avLst/>
          </a:prstGeom>
          <a:noFill/>
        </p:spPr>
        <p:txBody>
          <a:bodyPr wrap="square" lIns="36576" rIns="36576" tIns="18288" bIns="18288" anchor="t">
            <a:spAutoFit/>
          </a:bodyPr>
          <a:lstStyle/>
          <a:p>
            <a:pPr algn="l">
              <a:lnSpc>
                <a:spcPct val="125000"/>
              </a:lnSpc>
            </a:pPr>
            <a:r>
              <a:rPr sz="1500" b="0" i="0">
                <a:solidFill>
                  <a:srgbClr val="C9C4B9"/>
                </a:solidFill>
                <a:latin typeface="Calibri"/>
              </a:rPr>
              <a:t>Take the AM, PM and Assessment digital attendance — scan the SSG QR code.</a:t>
            </a:r>
          </a:p>
          <a:p>
            <a:pPr algn="l">
              <a:lnSpc>
                <a:spcPct val="125000"/>
              </a:lnSpc>
            </a:pPr>
          </a:p>
          <a:p>
            <a:pPr algn="l">
              <a:lnSpc>
                <a:spcPct val="125000"/>
              </a:lnSpc>
            </a:pPr>
            <a:r>
              <a:rPr sz="1500" b="0" i="0">
                <a:solidFill>
                  <a:srgbClr val="C9C4B9"/>
                </a:solidFill>
                <a:latin typeface="Calibri"/>
              </a:rPr>
              <a:t>Minimum 75% attendance is required for funding.</a:t>
            </a:r>
          </a:p>
        </p:txBody>
      </p:sp>
    </p:spTree>
  </p:cSld>
  <p:clrMapOvr>
    <a:masterClrMapping/>
  </p:clrMapOvr>
  <p:transition spd="med">
    <p:fade/>
  </p:transition>
</p:sld>
</file>

<file path=ppt/slides/slide153.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Oval 1"/>
          <p:cNvSpPr/>
          <p:nvPr/>
        </p:nvSpPr>
        <p:spPr>
          <a:xfrm>
            <a:off x="9509760" y="-1463040"/>
            <a:ext cx="4206240" cy="42062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0241280" y="4754880"/>
            <a:ext cx="2926080" cy="2926080"/>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822960" y="2194560"/>
            <a:ext cx="9144000" cy="1097280"/>
          </a:xfrm>
          <a:prstGeom prst="rect">
            <a:avLst/>
          </a:prstGeom>
          <a:noFill/>
        </p:spPr>
        <p:txBody>
          <a:bodyPr wrap="square" lIns="36576" rIns="36576" tIns="18288" bIns="18288" anchor="t">
            <a:spAutoFit/>
          </a:bodyPr>
          <a:lstStyle/>
          <a:p>
            <a:pPr algn="l">
              <a:lnSpc>
                <a:spcPct val="112000"/>
              </a:lnSpc>
            </a:pPr>
            <a:r>
              <a:rPr sz="5400" b="1" i="0">
                <a:solidFill>
                  <a:srgbClr val="FFFFFF"/>
                </a:solidFill>
                <a:latin typeface="Cambria"/>
              </a:rPr>
              <a:t>Thank You!</a:t>
            </a:r>
          </a:p>
        </p:txBody>
      </p:sp>
      <p:sp>
        <p:nvSpPr>
          <p:cNvPr id="5" name="TextBox 4"/>
          <p:cNvSpPr txBox="1"/>
          <p:nvPr/>
        </p:nvSpPr>
        <p:spPr>
          <a:xfrm>
            <a:off x="822960" y="3429000"/>
            <a:ext cx="9144000" cy="548640"/>
          </a:xfrm>
          <a:prstGeom prst="rect">
            <a:avLst/>
          </a:prstGeom>
          <a:noFill/>
        </p:spPr>
        <p:txBody>
          <a:bodyPr wrap="square" lIns="36576" rIns="36576" tIns="18288" bIns="18288" anchor="t">
            <a:spAutoFit/>
          </a:bodyPr>
          <a:lstStyle/>
          <a:p>
            <a:pPr algn="l">
              <a:lnSpc>
                <a:spcPct val="112000"/>
              </a:lnSpc>
            </a:pPr>
            <a:r>
              <a:rPr sz="1800" b="0" i="0">
                <a:solidFill>
                  <a:srgbClr val="C9C4B9"/>
                </a:solidFill>
                <a:latin typeface="Calibri"/>
              </a:rPr>
              <a:t>Questions? We're here to help — during and after class.</a:t>
            </a:r>
          </a:p>
        </p:txBody>
      </p:sp>
      <p:sp>
        <p:nvSpPr>
          <p:cNvPr id="6" name="TextBox 5"/>
          <p:cNvSpPr txBox="1"/>
          <p:nvPr/>
        </p:nvSpPr>
        <p:spPr>
          <a:xfrm>
            <a:off x="822960" y="6035040"/>
            <a:ext cx="10058400" cy="365760"/>
          </a:xfrm>
          <a:prstGeom prst="rect">
            <a:avLst/>
          </a:prstGeom>
          <a:noFill/>
        </p:spPr>
        <p:txBody>
          <a:bodyPr wrap="square" lIns="36576" rIns="36576" tIns="18288" bIns="18288" anchor="t">
            <a:spAutoFit/>
          </a:bodyPr>
          <a:lstStyle/>
          <a:p>
            <a:pPr algn="l">
              <a:lnSpc>
                <a:spcPct val="112000"/>
              </a:lnSpc>
            </a:pPr>
            <a:r>
              <a:rPr sz="1300" b="0" i="0">
                <a:solidFill>
                  <a:srgbClr val="B9B4A9"/>
                </a:solidFill>
                <a:latin typeface="Calibri"/>
              </a:rPr>
              <a:t>enquiry@tertiaryinfotech.com   |   +65 6100 0613   |   www.tertiarycourses.com.sg</a:t>
            </a:r>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